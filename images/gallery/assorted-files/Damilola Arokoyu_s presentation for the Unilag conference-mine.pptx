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emf" ContentType="image/x-emf"/>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bookmarkIdSeed="2">
  <p:sldMasterIdLst>
    <p:sldMasterId id="2147483648" r:id="rId1"/>
  </p:sldMasterIdLst>
  <p:notesMasterIdLst>
    <p:notesMasterId r:id="rId19"/>
  </p:notesMasterIdLst>
  <p:sldIdLst>
    <p:sldId id="256" r:id="rId2"/>
    <p:sldId id="257" r:id="rId3"/>
    <p:sldId id="258" r:id="rId4"/>
    <p:sldId id="259" r:id="rId5"/>
    <p:sldId id="269" r:id="rId6"/>
    <p:sldId id="261" r:id="rId7"/>
    <p:sldId id="270" r:id="rId8"/>
    <p:sldId id="262" r:id="rId9"/>
    <p:sldId id="271" r:id="rId10"/>
    <p:sldId id="275" r:id="rId11"/>
    <p:sldId id="276" r:id="rId12"/>
    <p:sldId id="263" r:id="rId13"/>
    <p:sldId id="277" r:id="rId14"/>
    <p:sldId id="264" r:id="rId15"/>
    <p:sldId id="265" r:id="rId16"/>
    <p:sldId id="278" r:id="rId17"/>
    <p:sldId id="266" r:id="rId18"/>
  </p:sldIdLst>
  <p:sldSz cx="18288000" cy="10287000"/>
  <p:notesSz cx="6858000" cy="9144000"/>
  <p:embeddedFontLst>
    <p:embeddedFont>
      <p:font typeface="Assistant Bold" charset="-79"/>
      <p:regular r:id="rId20"/>
    </p:embeddedFont>
    <p:embeddedFont>
      <p:font typeface="Arimo" charset="0"/>
      <p:regular r:id="rId21"/>
    </p:embeddedFont>
    <p:embeddedFont>
      <p:font typeface="Assistant" charset="-79"/>
      <p:regular r:id="rId22"/>
    </p:embeddedFont>
    <p:embeddedFont>
      <p:font typeface="Calibri" pitchFamily="34" charset="0"/>
      <p:regular r:id="rId23"/>
      <p:bold r:id="rId24"/>
      <p:italic r:id="rId25"/>
      <p:bold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45" d="100"/>
          <a:sy n="45" d="100"/>
        </p:scale>
        <p:origin x="-132" y="-20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Book2"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a:solidFill>
                  <a:sysClr val="windowText" lastClr="000000">
                    <a:lumMod val="65000"/>
                    <a:lumOff val="35000"/>
                  </a:sysClr>
                </a:solidFill>
              </a:rPr>
              <a:t>Fig 1: Conditional factor of fishes procured from major landing sites in the nine locations</a:t>
            </a:r>
          </a:p>
        </c:rich>
      </c:tx>
      <c:layout/>
      <c:overlay val="0"/>
      <c:spPr>
        <a:noFill/>
        <a:ln>
          <a:noFill/>
        </a:ln>
        <a:effectLst/>
      </c:spPr>
    </c:title>
    <c:autoTitleDeleted val="0"/>
    <c:plotArea>
      <c:layout/>
      <c:barChart>
        <c:barDir val="col"/>
        <c:grouping val="stacked"/>
        <c:varyColors val="0"/>
        <c:ser>
          <c:idx val="0"/>
          <c:order val="0"/>
          <c:tx>
            <c:strRef>
              <c:f>Sheet1!$E$2</c:f>
              <c:strCache>
                <c:ptCount val="1"/>
                <c:pt idx="0">
                  <c:v>GOOD</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Sheet1!$D$3:$D$11</c:f>
              <c:strCache>
                <c:ptCount val="9"/>
                <c:pt idx="0">
                  <c:v>Epe</c:v>
                </c:pt>
                <c:pt idx="1">
                  <c:v>Apapa</c:v>
                </c:pt>
                <c:pt idx="2">
                  <c:v>VI</c:v>
                </c:pt>
                <c:pt idx="3">
                  <c:v>Badagry</c:v>
                </c:pt>
                <c:pt idx="4">
                  <c:v>Iwopin</c:v>
                </c:pt>
                <c:pt idx="5">
                  <c:v>Aiyetoro</c:v>
                </c:pt>
                <c:pt idx="6">
                  <c:v>Nsidung</c:v>
                </c:pt>
                <c:pt idx="7">
                  <c:v>Ibaka</c:v>
                </c:pt>
                <c:pt idx="8">
                  <c:v>Oyokoroto</c:v>
                </c:pt>
              </c:strCache>
            </c:strRef>
          </c:cat>
          <c:val>
            <c:numRef>
              <c:f>Sheet1!$E$3:$E$11</c:f>
              <c:numCache>
                <c:formatCode>General</c:formatCode>
                <c:ptCount val="9"/>
                <c:pt idx="0">
                  <c:v>2</c:v>
                </c:pt>
                <c:pt idx="1">
                  <c:v>1</c:v>
                </c:pt>
                <c:pt idx="2">
                  <c:v>4</c:v>
                </c:pt>
                <c:pt idx="3">
                  <c:v>6</c:v>
                </c:pt>
                <c:pt idx="4">
                  <c:v>1</c:v>
                </c:pt>
                <c:pt idx="5">
                  <c:v>1</c:v>
                </c:pt>
                <c:pt idx="6">
                  <c:v>3</c:v>
                </c:pt>
                <c:pt idx="7">
                  <c:v>2</c:v>
                </c:pt>
                <c:pt idx="8">
                  <c:v>2</c:v>
                </c:pt>
              </c:numCache>
            </c:numRef>
          </c:val>
          <c:extLst xmlns:c16r2="http://schemas.microsoft.com/office/drawing/2015/06/chart">
            <c:ext xmlns:c16="http://schemas.microsoft.com/office/drawing/2014/chart" uri="{C3380CC4-5D6E-409C-BE32-E72D297353CC}">
              <c16:uniqueId val="{00000000-B7F9-40A7-B342-C992D4359CC2}"/>
            </c:ext>
          </c:extLst>
        </c:ser>
        <c:ser>
          <c:idx val="1"/>
          <c:order val="1"/>
          <c:tx>
            <c:strRef>
              <c:f>Sheet1!$F$2</c:f>
              <c:strCache>
                <c:ptCount val="1"/>
                <c:pt idx="0">
                  <c:v>POOR</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Sheet1!$D$3:$D$11</c:f>
              <c:strCache>
                <c:ptCount val="9"/>
                <c:pt idx="0">
                  <c:v>Epe</c:v>
                </c:pt>
                <c:pt idx="1">
                  <c:v>Apapa</c:v>
                </c:pt>
                <c:pt idx="2">
                  <c:v>VI</c:v>
                </c:pt>
                <c:pt idx="3">
                  <c:v>Badagry</c:v>
                </c:pt>
                <c:pt idx="4">
                  <c:v>Iwopin</c:v>
                </c:pt>
                <c:pt idx="5">
                  <c:v>Aiyetoro</c:v>
                </c:pt>
                <c:pt idx="6">
                  <c:v>Nsidung</c:v>
                </c:pt>
                <c:pt idx="7">
                  <c:v>Ibaka</c:v>
                </c:pt>
                <c:pt idx="8">
                  <c:v>Oyokoroto</c:v>
                </c:pt>
              </c:strCache>
            </c:strRef>
          </c:cat>
          <c:val>
            <c:numRef>
              <c:f>Sheet1!$F$3:$F$11</c:f>
              <c:numCache>
                <c:formatCode>General</c:formatCode>
                <c:ptCount val="9"/>
                <c:pt idx="0">
                  <c:v>3</c:v>
                </c:pt>
                <c:pt idx="1">
                  <c:v>2</c:v>
                </c:pt>
                <c:pt idx="2">
                  <c:v>2</c:v>
                </c:pt>
                <c:pt idx="3">
                  <c:v>7</c:v>
                </c:pt>
                <c:pt idx="4">
                  <c:v>5</c:v>
                </c:pt>
                <c:pt idx="5">
                  <c:v>4</c:v>
                </c:pt>
                <c:pt idx="6">
                  <c:v>4</c:v>
                </c:pt>
                <c:pt idx="7">
                  <c:v>6</c:v>
                </c:pt>
                <c:pt idx="8">
                  <c:v>5</c:v>
                </c:pt>
              </c:numCache>
            </c:numRef>
          </c:val>
          <c:extLst xmlns:c16r2="http://schemas.microsoft.com/office/drawing/2015/06/chart">
            <c:ext xmlns:c16="http://schemas.microsoft.com/office/drawing/2014/chart" uri="{C3380CC4-5D6E-409C-BE32-E72D297353CC}">
              <c16:uniqueId val="{00000001-B7F9-40A7-B342-C992D4359CC2}"/>
            </c:ext>
          </c:extLst>
        </c:ser>
        <c:dLbls>
          <c:showLegendKey val="0"/>
          <c:showVal val="0"/>
          <c:showCatName val="0"/>
          <c:showSerName val="0"/>
          <c:showPercent val="0"/>
          <c:showBubbleSize val="0"/>
        </c:dLbls>
        <c:gapWidth val="150"/>
        <c:overlap val="100"/>
        <c:axId val="150640512"/>
        <c:axId val="150642048"/>
      </c:barChart>
      <c:catAx>
        <c:axId val="1506405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0642048"/>
        <c:crosses val="autoZero"/>
        <c:auto val="1"/>
        <c:lblAlgn val="ctr"/>
        <c:lblOffset val="100"/>
        <c:noMultiLvlLbl val="0"/>
      </c:catAx>
      <c:valAx>
        <c:axId val="150642048"/>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0640512"/>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Fig 2: Conditional</a:t>
            </a:r>
            <a:r>
              <a:rPr lang="en-US" baseline="0"/>
              <a:t> factor of microinvertebrates procured from major landing sites in the nine locations</a:t>
            </a:r>
            <a:endParaRPr lang="en-US"/>
          </a:p>
        </c:rich>
      </c:tx>
      <c:layout/>
      <c:overlay val="0"/>
      <c:spPr>
        <a:noFill/>
        <a:ln>
          <a:noFill/>
        </a:ln>
        <a:effectLst/>
      </c:spPr>
    </c:title>
    <c:autoTitleDeleted val="0"/>
    <c:plotArea>
      <c:layout>
        <c:manualLayout>
          <c:layoutTarget val="inner"/>
          <c:xMode val="edge"/>
          <c:yMode val="edge"/>
          <c:x val="3.6877705890150964E-2"/>
          <c:y val="6.4882646168540961E-2"/>
          <c:w val="0.92205904700933461"/>
          <c:h val="0.8515058709766542"/>
        </c:manualLayout>
      </c:layout>
      <c:barChart>
        <c:barDir val="col"/>
        <c:grouping val="stacked"/>
        <c:varyColors val="0"/>
        <c:ser>
          <c:idx val="0"/>
          <c:order val="0"/>
          <c:tx>
            <c:strRef>
              <c:f>Sheet1!$F$2</c:f>
              <c:strCache>
                <c:ptCount val="1"/>
                <c:pt idx="0">
                  <c:v>GOOD</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Sheet1!$E$3:$E$11</c:f>
              <c:strCache>
                <c:ptCount val="9"/>
                <c:pt idx="0">
                  <c:v>Epe</c:v>
                </c:pt>
                <c:pt idx="1">
                  <c:v>Apapa</c:v>
                </c:pt>
                <c:pt idx="2">
                  <c:v>VI</c:v>
                </c:pt>
                <c:pt idx="3">
                  <c:v>Badagry</c:v>
                </c:pt>
                <c:pt idx="4">
                  <c:v>Iwopin</c:v>
                </c:pt>
                <c:pt idx="5">
                  <c:v>Aiyetoro</c:v>
                </c:pt>
                <c:pt idx="6">
                  <c:v>Nsidung</c:v>
                </c:pt>
                <c:pt idx="7">
                  <c:v>Ibaka</c:v>
                </c:pt>
                <c:pt idx="8">
                  <c:v>Oyokoroto</c:v>
                </c:pt>
              </c:strCache>
            </c:strRef>
          </c:cat>
          <c:val>
            <c:numRef>
              <c:f>Sheet1!$F$3:$F$11</c:f>
              <c:numCache>
                <c:formatCode>General</c:formatCode>
                <c:ptCount val="9"/>
                <c:pt idx="0">
                  <c:v>1</c:v>
                </c:pt>
                <c:pt idx="1">
                  <c:v>1</c:v>
                </c:pt>
                <c:pt idx="2">
                  <c:v>1</c:v>
                </c:pt>
                <c:pt idx="3">
                  <c:v>2</c:v>
                </c:pt>
                <c:pt idx="4">
                  <c:v>1</c:v>
                </c:pt>
                <c:pt idx="5">
                  <c:v>0</c:v>
                </c:pt>
                <c:pt idx="6">
                  <c:v>0</c:v>
                </c:pt>
                <c:pt idx="7">
                  <c:v>0</c:v>
                </c:pt>
                <c:pt idx="8">
                  <c:v>0</c:v>
                </c:pt>
              </c:numCache>
            </c:numRef>
          </c:val>
          <c:extLst xmlns:c16r2="http://schemas.microsoft.com/office/drawing/2015/06/chart">
            <c:ext xmlns:c16="http://schemas.microsoft.com/office/drawing/2014/chart" uri="{C3380CC4-5D6E-409C-BE32-E72D297353CC}">
              <c16:uniqueId val="{00000000-889C-4723-9784-7D2F0D6F22CE}"/>
            </c:ext>
          </c:extLst>
        </c:ser>
        <c:ser>
          <c:idx val="1"/>
          <c:order val="1"/>
          <c:tx>
            <c:strRef>
              <c:f>Sheet1!$G$2</c:f>
              <c:strCache>
                <c:ptCount val="1"/>
                <c:pt idx="0">
                  <c:v>POOR</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Sheet1!$E$3:$E$11</c:f>
              <c:strCache>
                <c:ptCount val="9"/>
                <c:pt idx="0">
                  <c:v>Epe</c:v>
                </c:pt>
                <c:pt idx="1">
                  <c:v>Apapa</c:v>
                </c:pt>
                <c:pt idx="2">
                  <c:v>VI</c:v>
                </c:pt>
                <c:pt idx="3">
                  <c:v>Badagry</c:v>
                </c:pt>
                <c:pt idx="4">
                  <c:v>Iwopin</c:v>
                </c:pt>
                <c:pt idx="5">
                  <c:v>Aiyetoro</c:v>
                </c:pt>
                <c:pt idx="6">
                  <c:v>Nsidung</c:v>
                </c:pt>
                <c:pt idx="7">
                  <c:v>Ibaka</c:v>
                </c:pt>
                <c:pt idx="8">
                  <c:v>Oyokoroto</c:v>
                </c:pt>
              </c:strCache>
            </c:strRef>
          </c:cat>
          <c:val>
            <c:numRef>
              <c:f>Sheet1!$G$3:$G$11</c:f>
              <c:numCache>
                <c:formatCode>General</c:formatCode>
                <c:ptCount val="9"/>
                <c:pt idx="0">
                  <c:v>1</c:v>
                </c:pt>
                <c:pt idx="1">
                  <c:v>1</c:v>
                </c:pt>
                <c:pt idx="2">
                  <c:v>1</c:v>
                </c:pt>
                <c:pt idx="3">
                  <c:v>0</c:v>
                </c:pt>
                <c:pt idx="4">
                  <c:v>5</c:v>
                </c:pt>
                <c:pt idx="5">
                  <c:v>1</c:v>
                </c:pt>
                <c:pt idx="6">
                  <c:v>2</c:v>
                </c:pt>
                <c:pt idx="7">
                  <c:v>1</c:v>
                </c:pt>
                <c:pt idx="8">
                  <c:v>1</c:v>
                </c:pt>
              </c:numCache>
            </c:numRef>
          </c:val>
          <c:extLst xmlns:c16r2="http://schemas.microsoft.com/office/drawing/2015/06/chart">
            <c:ext xmlns:c16="http://schemas.microsoft.com/office/drawing/2014/chart" uri="{C3380CC4-5D6E-409C-BE32-E72D297353CC}">
              <c16:uniqueId val="{00000001-889C-4723-9784-7D2F0D6F22CE}"/>
            </c:ext>
          </c:extLst>
        </c:ser>
        <c:dLbls>
          <c:showLegendKey val="0"/>
          <c:showVal val="0"/>
          <c:showCatName val="0"/>
          <c:showSerName val="0"/>
          <c:showPercent val="0"/>
          <c:showBubbleSize val="0"/>
        </c:dLbls>
        <c:gapWidth val="150"/>
        <c:overlap val="100"/>
        <c:axId val="166299904"/>
        <c:axId val="166309888"/>
      </c:barChart>
      <c:catAx>
        <c:axId val="166299904"/>
        <c:scaling>
          <c:orientation val="minMax"/>
        </c:scaling>
        <c:delete val="0"/>
        <c:axPos val="b"/>
        <c:numFmt formatCode="General" sourceLinked="1"/>
        <c:majorTickMark val="none"/>
        <c:minorTickMark val="none"/>
        <c:tickLblPos val="nextTo"/>
        <c:txPr>
          <a:bodyPr rot="-60000000" vert="horz"/>
          <a:lstStyle/>
          <a:p>
            <a:pPr>
              <a:defRPr/>
            </a:pPr>
            <a:endParaRPr lang="en-US"/>
          </a:p>
        </c:txPr>
        <c:crossAx val="166309888"/>
        <c:crosses val="autoZero"/>
        <c:auto val="1"/>
        <c:lblAlgn val="ctr"/>
        <c:lblOffset val="100"/>
        <c:noMultiLvlLbl val="0"/>
      </c:catAx>
      <c:valAx>
        <c:axId val="166309888"/>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29990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CCE06D0-723B-44C3-91EB-1800AE4A04CB}" type="datetimeFigureOut">
              <a:rPr lang="en-US" smtClean="0"/>
              <a:t>10/30/2025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ABCDB83-A7F7-47DB-BECB-86778DD72D41}" type="slidenum">
              <a:rPr lang="en-US" smtClean="0"/>
              <a:t>‹#›</a:t>
            </a:fld>
            <a:endParaRPr lang="en-US"/>
          </a:p>
        </p:txBody>
      </p:sp>
    </p:spTree>
    <p:extLst>
      <p:ext uri="{BB962C8B-B14F-4D97-AF65-F5344CB8AC3E}">
        <p14:creationId xmlns:p14="http://schemas.microsoft.com/office/powerpoint/2010/main" val="562171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B5D2B74-4FB5-41EC-B53C-5C22B2C07E3C}" type="datetime1">
              <a:rPr lang="en-US" smtClean="0"/>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BAC5158-C143-4B28-B4BF-4EEA8ECEBBF2}" type="datetime1">
              <a:rPr lang="en-US" smtClean="0"/>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5B44A56-D1B6-450D-AE71-25BD34751793}" type="datetime1">
              <a:rPr lang="en-US" smtClean="0"/>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C745E91-498A-4A4F-B0FB-BE1E20EA6F10}" type="datetime1">
              <a:rPr lang="en-US" smtClean="0"/>
              <a:t>10/30/2025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B06A13D-FE30-4447-90E5-BF2A87A33125}" type="datetime1">
              <a:rPr lang="en-US" smtClean="0"/>
              <a:t>10/30/2025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B1EEFA6-D9FD-4AF1-B883-0543DF32F7CE}" type="datetime1">
              <a:rPr lang="en-US" smtClean="0"/>
              <a:t>10/30/2025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77FB4F-17B8-4B0C-AD4A-EEB3AEF004D7}" type="datetime1">
              <a:rPr lang="en-US" smtClean="0"/>
              <a:t>10/30/2025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DF211C9-DB1F-4823-A1D2-D81D0A480166}" type="datetime1">
              <a:rPr lang="en-US" smtClean="0"/>
              <a:t>10/30/2025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A884A5A-77D1-4F31-9B45-83E3752F443D}" type="datetime1">
              <a:rPr lang="en-US" smtClean="0"/>
              <a:t>10/30/2025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F4B1300-B9E4-4ADC-A539-E4AB93D6E11E}" type="datetime1">
              <a:rPr lang="en-US" smtClean="0"/>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AD3A55A-17DE-4D35-B541-4A5AE77B0EAD}" type="datetime1">
              <a:rPr lang="en-US" smtClean="0"/>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3A335A-0A5B-4777-B02A-4E5F82D1C93E}" type="datetime1">
              <a:rPr lang="en-US" smtClean="0"/>
              <a:t>10/30/2025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8.jp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6.jpg"/><Relationship Id="rId5" Type="http://schemas.openxmlformats.org/officeDocument/2006/relationships/image" Target="../media/image3.png"/><Relationship Id="rId10" Type="http://schemas.openxmlformats.org/officeDocument/2006/relationships/hyperlink" Target="mailto:damilolarokoyu@gmail.com" TargetMode="External"/><Relationship Id="rId4" Type="http://schemas.openxmlformats.org/officeDocument/2006/relationships/image" Target="../media/image3.svg"/><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1.jpeg"/><Relationship Id="rId7" Type="http://schemas.openxmlformats.org/officeDocument/2006/relationships/image" Target="../media/image15.jpeg"/><Relationship Id="rId2" Type="http://schemas.openxmlformats.org/officeDocument/2006/relationships/image" Target="../media/image10.jpeg"/><Relationship Id="rId1" Type="http://schemas.openxmlformats.org/officeDocument/2006/relationships/slideLayout" Target="../slideLayouts/slideLayout7.xml"/><Relationship Id="rId6" Type="http://schemas.openxmlformats.org/officeDocument/2006/relationships/image" Target="../media/image14.jpeg"/><Relationship Id="rId5" Type="http://schemas.openxmlformats.org/officeDocument/2006/relationships/image" Target="../media/image13.jpeg"/><Relationship Id="rId10" Type="http://schemas.openxmlformats.org/officeDocument/2006/relationships/image" Target="../media/image18.jpeg"/><Relationship Id="rId4" Type="http://schemas.openxmlformats.org/officeDocument/2006/relationships/image" Target="../media/image12.jpeg"/><Relationship Id="rId9" Type="http://schemas.openxmlformats.org/officeDocument/2006/relationships/image" Target="../media/image17.jpe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19.emf"/><Relationship Id="rId4" Type="http://schemas.openxmlformats.org/officeDocument/2006/relationships/package" Target="../embeddings/Microsoft_Excel_Worksheet1.xlsx"/></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19.emf"/><Relationship Id="rId4" Type="http://schemas.openxmlformats.org/officeDocument/2006/relationships/package" Target="../embeddings/Microsoft_Excel_Worksheet2.xlsx"/></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21.jpg"/><Relationship Id="rId3" Type="http://schemas.openxmlformats.org/officeDocument/2006/relationships/image" Target="../media/image4.png"/><Relationship Id="rId7" Type="http://schemas.openxmlformats.org/officeDocument/2006/relationships/image" Target="../media/image20.jp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24.jpg"/><Relationship Id="rId5" Type="http://schemas.openxmlformats.org/officeDocument/2006/relationships/image" Target="../media/image3.png"/><Relationship Id="rId10" Type="http://schemas.openxmlformats.org/officeDocument/2006/relationships/image" Target="../media/image23.jpg"/><Relationship Id="rId4" Type="http://schemas.openxmlformats.org/officeDocument/2006/relationships/image" Target="../media/image7.svg"/><Relationship Id="rId9" Type="http://schemas.openxmlformats.org/officeDocument/2006/relationships/image" Target="../media/image22.jp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7.sv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7.sv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7.svg"/></Relationships>
</file>

<file path=ppt/slides/_rels/slide17.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429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5597" r="-15597"/>
            </a:stretch>
          </a:blipFill>
        </p:spPr>
      </p:sp>
      <p:grpSp>
        <p:nvGrpSpPr>
          <p:cNvPr id="3" name="Group 3"/>
          <p:cNvGrpSpPr/>
          <p:nvPr/>
        </p:nvGrpSpPr>
        <p:grpSpPr>
          <a:xfrm>
            <a:off x="-235271" y="4565874"/>
            <a:ext cx="5902101" cy="7974702"/>
            <a:chOff x="0" y="0"/>
            <a:chExt cx="7869467" cy="10632936"/>
          </a:xfrm>
        </p:grpSpPr>
        <p:sp>
          <p:nvSpPr>
            <p:cNvPr id="4" name="Freeform 4"/>
            <p:cNvSpPr/>
            <p:nvPr/>
          </p:nvSpPr>
          <p:spPr>
            <a:xfrm>
              <a:off x="0" y="0"/>
              <a:ext cx="7869467" cy="7869467"/>
            </a:xfrm>
            <a:custGeom>
              <a:avLst/>
              <a:gdLst/>
              <a:ahLst/>
              <a:cxnLst/>
              <a:rect l="l" t="t" r="r" b="b"/>
              <a:pathLst>
                <a:path w="7869467" h="7869467">
                  <a:moveTo>
                    <a:pt x="0" y="0"/>
                  </a:moveTo>
                  <a:lnTo>
                    <a:pt x="7869467" y="0"/>
                  </a:lnTo>
                  <a:lnTo>
                    <a:pt x="7869467" y="7869467"/>
                  </a:lnTo>
                  <a:lnTo>
                    <a:pt x="0" y="7869467"/>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5" name="Freeform 5"/>
            <p:cNvSpPr/>
            <p:nvPr/>
          </p:nvSpPr>
          <p:spPr>
            <a:xfrm>
              <a:off x="313695" y="6497867"/>
              <a:ext cx="7555772" cy="4135068"/>
            </a:xfrm>
            <a:custGeom>
              <a:avLst/>
              <a:gdLst/>
              <a:ahLst/>
              <a:cxnLst/>
              <a:rect l="l" t="t" r="r" b="b"/>
              <a:pathLst>
                <a:path w="7555772" h="4135068">
                  <a:moveTo>
                    <a:pt x="0" y="0"/>
                  </a:moveTo>
                  <a:lnTo>
                    <a:pt x="7555772" y="0"/>
                  </a:lnTo>
                  <a:lnTo>
                    <a:pt x="7555772" y="4135069"/>
                  </a:lnTo>
                  <a:lnTo>
                    <a:pt x="0" y="4135069"/>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grpSp>
      <p:grpSp>
        <p:nvGrpSpPr>
          <p:cNvPr id="6" name="Group 6"/>
          <p:cNvGrpSpPr/>
          <p:nvPr/>
        </p:nvGrpSpPr>
        <p:grpSpPr>
          <a:xfrm rot="-10800000">
            <a:off x="12385899" y="-2324099"/>
            <a:ext cx="5902101" cy="7974702"/>
            <a:chOff x="0" y="0"/>
            <a:chExt cx="7869467" cy="10632936"/>
          </a:xfrm>
        </p:grpSpPr>
        <p:sp>
          <p:nvSpPr>
            <p:cNvPr id="7" name="Freeform 7"/>
            <p:cNvSpPr/>
            <p:nvPr/>
          </p:nvSpPr>
          <p:spPr>
            <a:xfrm>
              <a:off x="0" y="0"/>
              <a:ext cx="7869467" cy="7869467"/>
            </a:xfrm>
            <a:custGeom>
              <a:avLst/>
              <a:gdLst/>
              <a:ahLst/>
              <a:cxnLst/>
              <a:rect l="l" t="t" r="r" b="b"/>
              <a:pathLst>
                <a:path w="7869467" h="7869467">
                  <a:moveTo>
                    <a:pt x="0" y="0"/>
                  </a:moveTo>
                  <a:lnTo>
                    <a:pt x="7869467" y="0"/>
                  </a:lnTo>
                  <a:lnTo>
                    <a:pt x="7869467" y="7869467"/>
                  </a:lnTo>
                  <a:lnTo>
                    <a:pt x="0" y="7869467"/>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8" name="Freeform 8"/>
            <p:cNvSpPr/>
            <p:nvPr/>
          </p:nvSpPr>
          <p:spPr>
            <a:xfrm>
              <a:off x="313695" y="6497867"/>
              <a:ext cx="7555772" cy="4135068"/>
            </a:xfrm>
            <a:custGeom>
              <a:avLst/>
              <a:gdLst/>
              <a:ahLst/>
              <a:cxnLst/>
              <a:rect l="l" t="t" r="r" b="b"/>
              <a:pathLst>
                <a:path w="7555772" h="4135068">
                  <a:moveTo>
                    <a:pt x="0" y="0"/>
                  </a:moveTo>
                  <a:lnTo>
                    <a:pt x="7555772" y="0"/>
                  </a:lnTo>
                  <a:lnTo>
                    <a:pt x="7555772" y="4135069"/>
                  </a:lnTo>
                  <a:lnTo>
                    <a:pt x="0" y="4135069"/>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grpSp>
      <p:sp>
        <p:nvSpPr>
          <p:cNvPr id="9" name="Freeform 9"/>
          <p:cNvSpPr/>
          <p:nvPr/>
        </p:nvSpPr>
        <p:spPr>
          <a:xfrm>
            <a:off x="-2672315" y="-776716"/>
            <a:ext cx="4054948" cy="4114800"/>
          </a:xfrm>
          <a:custGeom>
            <a:avLst/>
            <a:gdLst/>
            <a:ahLst/>
            <a:cxnLst/>
            <a:rect l="l" t="t" r="r" b="b"/>
            <a:pathLst>
              <a:path w="4054948" h="4114800">
                <a:moveTo>
                  <a:pt x="0" y="0"/>
                </a:moveTo>
                <a:lnTo>
                  <a:pt x="4054948" y="0"/>
                </a:lnTo>
                <a:lnTo>
                  <a:pt x="4054948" y="4114800"/>
                </a:lnTo>
                <a:lnTo>
                  <a:pt x="0" y="4114800"/>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10" name="Freeform 10"/>
          <p:cNvSpPr/>
          <p:nvPr/>
        </p:nvSpPr>
        <p:spPr>
          <a:xfrm flipH="1" flipV="1">
            <a:off x="16884370" y="7044598"/>
            <a:ext cx="4054948" cy="4114800"/>
          </a:xfrm>
          <a:custGeom>
            <a:avLst/>
            <a:gdLst/>
            <a:ahLst/>
            <a:cxnLst/>
            <a:rect l="l" t="t" r="r" b="b"/>
            <a:pathLst>
              <a:path w="4054948" h="4114800">
                <a:moveTo>
                  <a:pt x="4054949" y="4114800"/>
                </a:moveTo>
                <a:lnTo>
                  <a:pt x="0" y="4114800"/>
                </a:lnTo>
                <a:lnTo>
                  <a:pt x="0" y="0"/>
                </a:lnTo>
                <a:lnTo>
                  <a:pt x="4054949" y="0"/>
                </a:lnTo>
                <a:lnTo>
                  <a:pt x="4054949" y="4114800"/>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11" name="TextBox 11"/>
          <p:cNvSpPr txBox="1"/>
          <p:nvPr/>
        </p:nvSpPr>
        <p:spPr>
          <a:xfrm>
            <a:off x="3352800" y="9452875"/>
            <a:ext cx="11984149" cy="577081"/>
          </a:xfrm>
          <a:prstGeom prst="rect">
            <a:avLst/>
          </a:prstGeom>
        </p:spPr>
        <p:txBody>
          <a:bodyPr wrap="square" lIns="0" tIns="0" rIns="0" bIns="0" rtlCol="0" anchor="t">
            <a:spAutoFit/>
          </a:bodyPr>
          <a:lstStyle/>
          <a:p>
            <a:pPr algn="ctr">
              <a:lnSpc>
                <a:spcPts val="4481"/>
              </a:lnSpc>
            </a:pPr>
            <a:r>
              <a:rPr lang="en-US" sz="2000" spc="67" dirty="0">
                <a:solidFill>
                  <a:srgbClr val="0D1C38"/>
                </a:solidFill>
                <a:latin typeface="Arimo" charset="0"/>
                <a:ea typeface="Arimo" charset="0"/>
                <a:cs typeface="Arimo" charset="0"/>
                <a:sym typeface="Assistant"/>
              </a:rPr>
              <a:t>Presented </a:t>
            </a:r>
            <a:r>
              <a:rPr lang="en-US" sz="2000" spc="67" dirty="0" smtClean="0">
                <a:solidFill>
                  <a:srgbClr val="0D1C38"/>
                </a:solidFill>
                <a:latin typeface="Arimo" charset="0"/>
                <a:ea typeface="Arimo" charset="0"/>
                <a:cs typeface="Arimo" charset="0"/>
                <a:sym typeface="Assistant"/>
              </a:rPr>
              <a:t>at the 18</a:t>
            </a:r>
            <a:r>
              <a:rPr lang="en-US" sz="2000" spc="67" baseline="30000" dirty="0" smtClean="0">
                <a:solidFill>
                  <a:srgbClr val="0D1C38"/>
                </a:solidFill>
                <a:latin typeface="Arimo" charset="0"/>
                <a:ea typeface="Arimo" charset="0"/>
                <a:cs typeface="Arimo" charset="0"/>
                <a:sym typeface="Assistant"/>
              </a:rPr>
              <a:t>th</a:t>
            </a:r>
            <a:r>
              <a:rPr lang="en-US" sz="2000" spc="67" dirty="0" smtClean="0">
                <a:solidFill>
                  <a:srgbClr val="0D1C38"/>
                </a:solidFill>
                <a:latin typeface="Arimo" charset="0"/>
                <a:ea typeface="Arimo" charset="0"/>
                <a:cs typeface="Arimo" charset="0"/>
                <a:sym typeface="Assistant"/>
              </a:rPr>
              <a:t> UNILAG ANNUAL RESERARCH CONFERENCE</a:t>
            </a:r>
            <a:endParaRPr lang="en-US" sz="2000" spc="67" dirty="0">
              <a:solidFill>
                <a:srgbClr val="0D1C38"/>
              </a:solidFill>
              <a:latin typeface="Arimo" charset="0"/>
              <a:ea typeface="Arimo" charset="0"/>
              <a:cs typeface="Arimo" charset="0"/>
              <a:sym typeface="Assistant"/>
            </a:endParaRPr>
          </a:p>
        </p:txBody>
      </p:sp>
      <p:sp>
        <p:nvSpPr>
          <p:cNvPr id="12" name="TextBox 12"/>
          <p:cNvSpPr txBox="1"/>
          <p:nvPr/>
        </p:nvSpPr>
        <p:spPr>
          <a:xfrm>
            <a:off x="1752600" y="1714500"/>
            <a:ext cx="14030005" cy="5909310"/>
          </a:xfrm>
          <a:prstGeom prst="rect">
            <a:avLst/>
          </a:prstGeom>
        </p:spPr>
        <p:txBody>
          <a:bodyPr wrap="square" lIns="0" tIns="0" rIns="0" bIns="0" rtlCol="0" anchor="t">
            <a:spAutoFit/>
          </a:bodyPr>
          <a:lstStyle/>
          <a:p>
            <a:pPr algn="just"/>
            <a:r>
              <a:rPr lang="en-US" sz="3200" b="1" dirty="0">
                <a:solidFill>
                  <a:schemeClr val="accent1">
                    <a:lumMod val="50000"/>
                  </a:schemeClr>
                </a:solidFill>
                <a:latin typeface="Arimo" charset="0"/>
                <a:ea typeface="Arimo" charset="0"/>
                <a:cs typeface="Arimo" charset="0"/>
              </a:rPr>
              <a:t>ASSESSMENT OF MICROPLASTICS POLLUTION IN COMMERCIAL FISHERIES PROCURED FROM MAJOR LANDING SITES ACROSS SIX </a:t>
            </a:r>
            <a:r>
              <a:rPr lang="en-US" sz="3200" b="1" dirty="0" smtClean="0">
                <a:solidFill>
                  <a:schemeClr val="accent1">
                    <a:lumMod val="50000"/>
                  </a:schemeClr>
                </a:solidFill>
                <a:latin typeface="Arimo" charset="0"/>
                <a:ea typeface="Arimo" charset="0"/>
                <a:cs typeface="Arimo" charset="0"/>
              </a:rPr>
              <a:t>COASTAL STATES IN </a:t>
            </a:r>
            <a:r>
              <a:rPr lang="en-US" sz="3200" b="1" dirty="0">
                <a:solidFill>
                  <a:schemeClr val="accent1">
                    <a:lumMod val="50000"/>
                  </a:schemeClr>
                </a:solidFill>
                <a:latin typeface="Arimo" charset="0"/>
                <a:ea typeface="Arimo" charset="0"/>
                <a:cs typeface="Arimo" charset="0"/>
              </a:rPr>
              <a:t>NIGERIA.</a:t>
            </a:r>
            <a:endParaRPr lang="en-US" sz="3200" dirty="0">
              <a:solidFill>
                <a:schemeClr val="accent1">
                  <a:lumMod val="50000"/>
                </a:schemeClr>
              </a:solidFill>
              <a:latin typeface="Arimo" charset="0"/>
              <a:ea typeface="Arimo" charset="0"/>
              <a:cs typeface="Arimo" charset="0"/>
            </a:endParaRPr>
          </a:p>
          <a:p>
            <a:r>
              <a:rPr lang="en-US" sz="3200" baseline="30000" dirty="0">
                <a:solidFill>
                  <a:schemeClr val="accent1">
                    <a:lumMod val="50000"/>
                  </a:schemeClr>
                </a:solidFill>
                <a:latin typeface="Arimo" charset="0"/>
                <a:ea typeface="Arimo" charset="0"/>
                <a:cs typeface="Arimo" charset="0"/>
              </a:rPr>
              <a:t> </a:t>
            </a:r>
            <a:endParaRPr lang="en-US" sz="3200" dirty="0">
              <a:solidFill>
                <a:schemeClr val="accent1">
                  <a:lumMod val="50000"/>
                </a:schemeClr>
              </a:solidFill>
              <a:latin typeface="Arimo" charset="0"/>
              <a:ea typeface="Arimo" charset="0"/>
              <a:cs typeface="Arimo" charset="0"/>
            </a:endParaRPr>
          </a:p>
          <a:p>
            <a:r>
              <a:rPr lang="en-US" sz="3200" baseline="30000" dirty="0" smtClean="0">
                <a:solidFill>
                  <a:schemeClr val="accent1">
                    <a:lumMod val="50000"/>
                  </a:schemeClr>
                </a:solidFill>
                <a:latin typeface="Arimo" charset="0"/>
                <a:ea typeface="Arimo" charset="0"/>
                <a:cs typeface="Arimo" charset="0"/>
              </a:rPr>
              <a:t>1*</a:t>
            </a:r>
            <a:r>
              <a:rPr lang="en-US" sz="3200" dirty="0" err="1" smtClean="0">
                <a:solidFill>
                  <a:schemeClr val="accent1">
                    <a:lumMod val="50000"/>
                  </a:schemeClr>
                </a:solidFill>
                <a:latin typeface="Arimo" charset="0"/>
                <a:ea typeface="Arimo" charset="0"/>
                <a:cs typeface="Arimo" charset="0"/>
              </a:rPr>
              <a:t>Arokoyu</a:t>
            </a:r>
            <a:r>
              <a:rPr lang="en-US" sz="3200" dirty="0" smtClean="0">
                <a:solidFill>
                  <a:schemeClr val="accent1">
                    <a:lumMod val="50000"/>
                  </a:schemeClr>
                </a:solidFill>
                <a:latin typeface="Arimo" charset="0"/>
                <a:ea typeface="Arimo" charset="0"/>
                <a:cs typeface="Arimo" charset="0"/>
              </a:rPr>
              <a:t>, </a:t>
            </a:r>
            <a:r>
              <a:rPr lang="en-US" sz="3200" dirty="0">
                <a:solidFill>
                  <a:schemeClr val="accent1">
                    <a:lumMod val="50000"/>
                  </a:schemeClr>
                </a:solidFill>
                <a:latin typeface="Arimo" charset="0"/>
                <a:ea typeface="Arimo" charset="0"/>
                <a:cs typeface="Arimo" charset="0"/>
              </a:rPr>
              <a:t>D. and </a:t>
            </a:r>
            <a:r>
              <a:rPr lang="en-US" sz="3200" baseline="30000" dirty="0">
                <a:solidFill>
                  <a:schemeClr val="accent1">
                    <a:lumMod val="50000"/>
                  </a:schemeClr>
                </a:solidFill>
                <a:latin typeface="Arimo" charset="0"/>
                <a:ea typeface="Arimo" charset="0"/>
                <a:cs typeface="Arimo" charset="0"/>
              </a:rPr>
              <a:t>1,2</a:t>
            </a:r>
            <a:r>
              <a:rPr lang="en-US" sz="3200" dirty="0">
                <a:solidFill>
                  <a:schemeClr val="accent1">
                    <a:lumMod val="50000"/>
                  </a:schemeClr>
                </a:solidFill>
                <a:latin typeface="Arimo" charset="0"/>
                <a:ea typeface="Arimo" charset="0"/>
                <a:cs typeface="Arimo" charset="0"/>
              </a:rPr>
              <a:t>Sogbanmu, T. O. </a:t>
            </a:r>
          </a:p>
          <a:p>
            <a:r>
              <a:rPr lang="en-US" sz="3200" baseline="30000" dirty="0">
                <a:solidFill>
                  <a:schemeClr val="accent1">
                    <a:lumMod val="50000"/>
                  </a:schemeClr>
                </a:solidFill>
                <a:latin typeface="Arimo" charset="0"/>
                <a:ea typeface="Arimo" charset="0"/>
                <a:cs typeface="Arimo" charset="0"/>
              </a:rPr>
              <a:t> </a:t>
            </a:r>
            <a:endParaRPr lang="en-US" sz="3200" dirty="0">
              <a:solidFill>
                <a:schemeClr val="accent1">
                  <a:lumMod val="50000"/>
                </a:schemeClr>
              </a:solidFill>
              <a:latin typeface="Arimo" charset="0"/>
              <a:ea typeface="Arimo" charset="0"/>
              <a:cs typeface="Arimo" charset="0"/>
            </a:endParaRPr>
          </a:p>
          <a:p>
            <a:pPr algn="just"/>
            <a:r>
              <a:rPr lang="en-US" sz="3200" baseline="30000" dirty="0">
                <a:solidFill>
                  <a:schemeClr val="accent1">
                    <a:lumMod val="50000"/>
                  </a:schemeClr>
                </a:solidFill>
                <a:latin typeface="Arimo" charset="0"/>
                <a:ea typeface="Arimo" charset="0"/>
                <a:cs typeface="Arimo" charset="0"/>
              </a:rPr>
              <a:t>1</a:t>
            </a:r>
            <a:r>
              <a:rPr lang="en-US" sz="3200" dirty="0">
                <a:solidFill>
                  <a:schemeClr val="accent1">
                    <a:lumMod val="50000"/>
                  </a:schemeClr>
                </a:solidFill>
                <a:latin typeface="Arimo" charset="0"/>
                <a:ea typeface="Arimo" charset="0"/>
                <a:cs typeface="Arimo" charset="0"/>
              </a:rPr>
              <a:t>Ecotoxicology and Conservation Unit, Department of Zoology, Faculty of Science, University of Lagos, Akoka, Lagos, Nigeria</a:t>
            </a:r>
          </a:p>
          <a:p>
            <a:r>
              <a:rPr lang="en-US" sz="3200" baseline="30000" dirty="0">
                <a:solidFill>
                  <a:schemeClr val="accent1">
                    <a:lumMod val="50000"/>
                  </a:schemeClr>
                </a:solidFill>
                <a:latin typeface="Arimo" charset="0"/>
                <a:ea typeface="Arimo" charset="0"/>
                <a:cs typeface="Arimo" charset="0"/>
              </a:rPr>
              <a:t>2</a:t>
            </a:r>
            <a:r>
              <a:rPr lang="en-US" sz="3200" dirty="0">
                <a:solidFill>
                  <a:schemeClr val="accent1">
                    <a:lumMod val="50000"/>
                  </a:schemeClr>
                </a:solidFill>
                <a:latin typeface="Arimo" charset="0"/>
                <a:ea typeface="Arimo" charset="0"/>
                <a:cs typeface="Arimo" charset="0"/>
              </a:rPr>
              <a:t>Evidence Use in Environmental Policymaking in Nigeria (EUEPiN), University of Lagos, Akoka, Lagos, Nigeria</a:t>
            </a:r>
          </a:p>
          <a:p>
            <a:r>
              <a:rPr lang="en-US" sz="3200" dirty="0">
                <a:solidFill>
                  <a:schemeClr val="accent1">
                    <a:lumMod val="50000"/>
                  </a:schemeClr>
                </a:solidFill>
                <a:latin typeface="Arimo" charset="0"/>
                <a:ea typeface="Arimo" charset="0"/>
                <a:cs typeface="Arimo" charset="0"/>
              </a:rPr>
              <a:t> </a:t>
            </a:r>
          </a:p>
          <a:p>
            <a:r>
              <a:rPr lang="en-US" sz="3200" b="1" dirty="0">
                <a:solidFill>
                  <a:schemeClr val="accent1">
                    <a:lumMod val="50000"/>
                  </a:schemeClr>
                </a:solidFill>
                <a:latin typeface="Arimo" charset="0"/>
                <a:ea typeface="Arimo" charset="0"/>
                <a:cs typeface="Arimo" charset="0"/>
              </a:rPr>
              <a:t> </a:t>
            </a:r>
            <a:endParaRPr lang="en-US" sz="3200" dirty="0">
              <a:solidFill>
                <a:schemeClr val="accent1">
                  <a:lumMod val="50000"/>
                </a:schemeClr>
              </a:solidFill>
              <a:latin typeface="Arimo" charset="0"/>
              <a:ea typeface="Arimo" charset="0"/>
              <a:cs typeface="Arimo" charset="0"/>
            </a:endParaRPr>
          </a:p>
        </p:txBody>
      </p:sp>
      <p:pic>
        <p:nvPicPr>
          <p:cNvPr id="17" name="Picture 16">
            <a:extLst>
              <a:ext uri="{FF2B5EF4-FFF2-40B4-BE49-F238E27FC236}">
                <a16:creationId xmlns:a16="http://schemas.microsoft.com/office/drawing/2014/main" xmlns="" id="{256744A9-760C-1480-5E8C-DFB2CAA102F2}"/>
              </a:ext>
            </a:extLst>
          </p:cNvPr>
          <p:cNvPicPr>
            <a:picLocks noChangeAspect="1"/>
          </p:cNvPicPr>
          <p:nvPr/>
        </p:nvPicPr>
        <p:blipFill>
          <a:blip r:embed="rId9"/>
          <a:stretch>
            <a:fillRect/>
          </a:stretch>
        </p:blipFill>
        <p:spPr>
          <a:xfrm>
            <a:off x="1657991" y="38100"/>
            <a:ext cx="1390009" cy="1511939"/>
          </a:xfrm>
          <a:prstGeom prst="rect">
            <a:avLst/>
          </a:prstGeom>
        </p:spPr>
      </p:pic>
      <p:cxnSp>
        <p:nvCxnSpPr>
          <p:cNvPr id="20" name="Straight Connector 19"/>
          <p:cNvCxnSpPr/>
          <p:nvPr/>
        </p:nvCxnSpPr>
        <p:spPr>
          <a:xfrm>
            <a:off x="2352995" y="3695700"/>
            <a:ext cx="14030005" cy="0"/>
          </a:xfrm>
          <a:prstGeom prst="line">
            <a:avLst/>
          </a:prstGeom>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914400" y="8913793"/>
            <a:ext cx="12111008" cy="954107"/>
          </a:xfrm>
          <a:prstGeom prst="rect">
            <a:avLst/>
          </a:prstGeom>
          <a:noFill/>
        </p:spPr>
        <p:txBody>
          <a:bodyPr wrap="none" rtlCol="0">
            <a:spAutoFit/>
          </a:bodyPr>
          <a:lstStyle/>
          <a:p>
            <a:pPr algn="just"/>
            <a:r>
              <a:rPr lang="en-US" sz="2800" dirty="0">
                <a:solidFill>
                  <a:schemeClr val="accent1">
                    <a:lumMod val="50000"/>
                  </a:schemeClr>
                </a:solidFill>
                <a:latin typeface="Arimo" charset="0"/>
                <a:ea typeface="Arimo" charset="0"/>
                <a:cs typeface="Arimo" charset="0"/>
              </a:rPr>
              <a:t>Correspondence* </a:t>
            </a:r>
            <a:r>
              <a:rPr lang="en-US" sz="2800" dirty="0">
                <a:solidFill>
                  <a:schemeClr val="accent1">
                    <a:lumMod val="50000"/>
                  </a:schemeClr>
                </a:solidFill>
                <a:latin typeface="Arimo" charset="0"/>
                <a:ea typeface="Arimo" charset="0"/>
                <a:cs typeface="Arimo" charset="0"/>
                <a:hlinkClick r:id="rId10"/>
              </a:rPr>
              <a:t>damilolarokoyu@gmail.com</a:t>
            </a:r>
            <a:r>
              <a:rPr lang="en-US" sz="2800" dirty="0">
                <a:solidFill>
                  <a:schemeClr val="accent1">
                    <a:lumMod val="50000"/>
                  </a:schemeClr>
                </a:solidFill>
                <a:latin typeface="Arimo" charset="0"/>
                <a:ea typeface="Arimo" charset="0"/>
                <a:cs typeface="Arimo" charset="0"/>
              </a:rPr>
              <a:t> | tsogbanmu@unilag.edu.ng</a:t>
            </a:r>
          </a:p>
          <a:p>
            <a:endParaRPr lang="en-US" sz="2800" dirty="0"/>
          </a:p>
        </p:txBody>
      </p:sp>
      <p:pic>
        <p:nvPicPr>
          <p:cNvPr id="13" name="Picture 12"/>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858000" y="6875902"/>
            <a:ext cx="4876800" cy="1869196"/>
          </a:xfrm>
          <a:prstGeom prst="rect">
            <a:avLst/>
          </a:prstGeom>
        </p:spPr>
      </p:pic>
      <p:pic>
        <p:nvPicPr>
          <p:cNvPr id="14" name="Picture 13"/>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057400" y="6875902"/>
            <a:ext cx="4405585" cy="1869195"/>
          </a:xfrm>
          <a:prstGeom prst="rect">
            <a:avLst/>
          </a:prstGeom>
        </p:spPr>
      </p:pic>
      <p:pic>
        <p:nvPicPr>
          <p:cNvPr id="15" name="Picture 14"/>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2115799" y="6875902"/>
            <a:ext cx="4953001" cy="1885464"/>
          </a:xfrm>
          <a:prstGeom prst="rect">
            <a:avLst/>
          </a:prstGeom>
        </p:spPr>
      </p:pic>
      <p:sp>
        <p:nvSpPr>
          <p:cNvPr id="21" name="Right Arrow 20"/>
          <p:cNvSpPr/>
          <p:nvPr/>
        </p:nvSpPr>
        <p:spPr>
          <a:xfrm>
            <a:off x="6462985" y="7818634"/>
            <a:ext cx="395015"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p:cNvSpPr/>
          <p:nvPr/>
        </p:nvSpPr>
        <p:spPr>
          <a:xfrm>
            <a:off x="11734800" y="7810499"/>
            <a:ext cx="380999"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p:cNvGrpSpPr/>
          <p:nvPr/>
        </p:nvGrpSpPr>
        <p:grpSpPr>
          <a:xfrm>
            <a:off x="1029443" y="1028700"/>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grpSp>
        <p:nvGrpSpPr>
          <p:cNvPr id="6" name="Group 6"/>
          <p:cNvGrpSpPr/>
          <p:nvPr/>
        </p:nvGrpSpPr>
        <p:grpSpPr>
          <a:xfrm>
            <a:off x="3926126" y="4243932"/>
            <a:ext cx="792734" cy="629681"/>
            <a:chOff x="0" y="0"/>
            <a:chExt cx="208786" cy="165842"/>
          </a:xfrm>
        </p:grpSpPr>
        <p:sp>
          <p:nvSpPr>
            <p:cNvPr id="7" name="Freeform 7"/>
            <p:cNvSpPr/>
            <p:nvPr/>
          </p:nvSpPr>
          <p:spPr>
            <a:xfrm>
              <a:off x="0" y="0"/>
              <a:ext cx="208786" cy="165842"/>
            </a:xfrm>
            <a:custGeom>
              <a:avLst/>
              <a:gdLst/>
              <a:ahLst/>
              <a:cxnLst/>
              <a:rect l="l" t="t" r="r" b="b"/>
              <a:pathLst>
                <a:path w="208786" h="165842">
                  <a:moveTo>
                    <a:pt x="0" y="0"/>
                  </a:moveTo>
                  <a:lnTo>
                    <a:pt x="208786" y="0"/>
                  </a:lnTo>
                  <a:lnTo>
                    <a:pt x="208786" y="165842"/>
                  </a:lnTo>
                  <a:lnTo>
                    <a:pt x="0" y="165842"/>
                  </a:lnTo>
                  <a:close/>
                </a:path>
              </a:pathLst>
            </a:custGeom>
            <a:solidFill>
              <a:srgbClr val="78A6CB">
                <a:alpha val="33725"/>
              </a:srgbClr>
            </a:solidFill>
          </p:spPr>
        </p:sp>
        <p:sp>
          <p:nvSpPr>
            <p:cNvPr id="8" name="TextBox 8"/>
            <p:cNvSpPr txBox="1"/>
            <p:nvPr/>
          </p:nvSpPr>
          <p:spPr>
            <a:xfrm>
              <a:off x="0" y="57150"/>
              <a:ext cx="208786" cy="108692"/>
            </a:xfrm>
            <a:prstGeom prst="rect">
              <a:avLst/>
            </a:prstGeom>
          </p:spPr>
          <p:txBody>
            <a:bodyPr lIns="50800" tIns="50800" rIns="50800" bIns="50800" rtlCol="0" anchor="ctr"/>
            <a:lstStyle/>
            <a:p>
              <a:pPr algn="ctr">
                <a:lnSpc>
                  <a:spcPts val="2481"/>
                </a:lnSpc>
              </a:pPr>
              <a:endParaRPr/>
            </a:p>
          </p:txBody>
        </p:sp>
      </p:grpSp>
      <p:grpSp>
        <p:nvGrpSpPr>
          <p:cNvPr id="9" name="Group 9"/>
          <p:cNvGrpSpPr/>
          <p:nvPr/>
        </p:nvGrpSpPr>
        <p:grpSpPr>
          <a:xfrm>
            <a:off x="3926126" y="5349721"/>
            <a:ext cx="792734" cy="629681"/>
            <a:chOff x="0" y="0"/>
            <a:chExt cx="208786" cy="165842"/>
          </a:xfrm>
        </p:grpSpPr>
        <p:sp>
          <p:nvSpPr>
            <p:cNvPr id="10" name="Freeform 10"/>
            <p:cNvSpPr/>
            <p:nvPr/>
          </p:nvSpPr>
          <p:spPr>
            <a:xfrm>
              <a:off x="0" y="0"/>
              <a:ext cx="208786" cy="165842"/>
            </a:xfrm>
            <a:custGeom>
              <a:avLst/>
              <a:gdLst/>
              <a:ahLst/>
              <a:cxnLst/>
              <a:rect l="l" t="t" r="r" b="b"/>
              <a:pathLst>
                <a:path w="208786" h="165842">
                  <a:moveTo>
                    <a:pt x="0" y="0"/>
                  </a:moveTo>
                  <a:lnTo>
                    <a:pt x="208786" y="0"/>
                  </a:lnTo>
                  <a:lnTo>
                    <a:pt x="208786" y="165842"/>
                  </a:lnTo>
                  <a:lnTo>
                    <a:pt x="0" y="165842"/>
                  </a:lnTo>
                  <a:close/>
                </a:path>
              </a:pathLst>
            </a:custGeom>
            <a:solidFill>
              <a:srgbClr val="78A6CB">
                <a:alpha val="33725"/>
              </a:srgbClr>
            </a:solidFill>
          </p:spPr>
        </p:sp>
        <p:sp>
          <p:nvSpPr>
            <p:cNvPr id="11" name="TextBox 11"/>
            <p:cNvSpPr txBox="1"/>
            <p:nvPr/>
          </p:nvSpPr>
          <p:spPr>
            <a:xfrm>
              <a:off x="0" y="57150"/>
              <a:ext cx="208786" cy="108692"/>
            </a:xfrm>
            <a:prstGeom prst="rect">
              <a:avLst/>
            </a:prstGeom>
          </p:spPr>
          <p:txBody>
            <a:bodyPr lIns="50800" tIns="50800" rIns="50800" bIns="50800" rtlCol="0" anchor="ctr"/>
            <a:lstStyle/>
            <a:p>
              <a:pPr algn="ctr">
                <a:lnSpc>
                  <a:spcPts val="2481"/>
                </a:lnSpc>
              </a:pPr>
              <a:endParaRPr/>
            </a:p>
          </p:txBody>
        </p:sp>
      </p:grpSp>
      <p:grpSp>
        <p:nvGrpSpPr>
          <p:cNvPr id="12" name="Group 12"/>
          <p:cNvGrpSpPr/>
          <p:nvPr/>
        </p:nvGrpSpPr>
        <p:grpSpPr>
          <a:xfrm>
            <a:off x="3926126" y="6455652"/>
            <a:ext cx="792734" cy="629681"/>
            <a:chOff x="0" y="0"/>
            <a:chExt cx="208786" cy="165842"/>
          </a:xfrm>
        </p:grpSpPr>
        <p:sp>
          <p:nvSpPr>
            <p:cNvPr id="13" name="Freeform 13"/>
            <p:cNvSpPr/>
            <p:nvPr/>
          </p:nvSpPr>
          <p:spPr>
            <a:xfrm>
              <a:off x="0" y="0"/>
              <a:ext cx="208786" cy="165842"/>
            </a:xfrm>
            <a:custGeom>
              <a:avLst/>
              <a:gdLst/>
              <a:ahLst/>
              <a:cxnLst/>
              <a:rect l="l" t="t" r="r" b="b"/>
              <a:pathLst>
                <a:path w="208786" h="165842">
                  <a:moveTo>
                    <a:pt x="0" y="0"/>
                  </a:moveTo>
                  <a:lnTo>
                    <a:pt x="208786" y="0"/>
                  </a:lnTo>
                  <a:lnTo>
                    <a:pt x="208786" y="165842"/>
                  </a:lnTo>
                  <a:lnTo>
                    <a:pt x="0" y="165842"/>
                  </a:lnTo>
                  <a:close/>
                </a:path>
              </a:pathLst>
            </a:custGeom>
            <a:solidFill>
              <a:srgbClr val="78A6CB">
                <a:alpha val="33725"/>
              </a:srgbClr>
            </a:solidFill>
          </p:spPr>
        </p:sp>
        <p:sp>
          <p:nvSpPr>
            <p:cNvPr id="14" name="TextBox 14"/>
            <p:cNvSpPr txBox="1"/>
            <p:nvPr/>
          </p:nvSpPr>
          <p:spPr>
            <a:xfrm>
              <a:off x="0" y="57150"/>
              <a:ext cx="208786" cy="108692"/>
            </a:xfrm>
            <a:prstGeom prst="rect">
              <a:avLst/>
            </a:prstGeom>
          </p:spPr>
          <p:txBody>
            <a:bodyPr lIns="50800" tIns="50800" rIns="50800" bIns="50800" rtlCol="0" anchor="ctr"/>
            <a:lstStyle/>
            <a:p>
              <a:pPr algn="ctr">
                <a:lnSpc>
                  <a:spcPts val="2481"/>
                </a:lnSpc>
              </a:pPr>
              <a:endParaRPr/>
            </a:p>
          </p:txBody>
        </p:sp>
      </p:grpSp>
      <p:grpSp>
        <p:nvGrpSpPr>
          <p:cNvPr id="15" name="Group 15"/>
          <p:cNvGrpSpPr/>
          <p:nvPr/>
        </p:nvGrpSpPr>
        <p:grpSpPr>
          <a:xfrm>
            <a:off x="10073567" y="4226238"/>
            <a:ext cx="792734" cy="629681"/>
            <a:chOff x="0" y="0"/>
            <a:chExt cx="208786" cy="165842"/>
          </a:xfrm>
        </p:grpSpPr>
        <p:sp>
          <p:nvSpPr>
            <p:cNvPr id="16" name="Freeform 16"/>
            <p:cNvSpPr/>
            <p:nvPr/>
          </p:nvSpPr>
          <p:spPr>
            <a:xfrm>
              <a:off x="0" y="0"/>
              <a:ext cx="208786" cy="165842"/>
            </a:xfrm>
            <a:custGeom>
              <a:avLst/>
              <a:gdLst/>
              <a:ahLst/>
              <a:cxnLst/>
              <a:rect l="l" t="t" r="r" b="b"/>
              <a:pathLst>
                <a:path w="208786" h="165842">
                  <a:moveTo>
                    <a:pt x="0" y="0"/>
                  </a:moveTo>
                  <a:lnTo>
                    <a:pt x="208786" y="0"/>
                  </a:lnTo>
                  <a:lnTo>
                    <a:pt x="208786" y="165842"/>
                  </a:lnTo>
                  <a:lnTo>
                    <a:pt x="0" y="165842"/>
                  </a:lnTo>
                  <a:close/>
                </a:path>
              </a:pathLst>
            </a:custGeom>
            <a:solidFill>
              <a:srgbClr val="78A6CB">
                <a:alpha val="33725"/>
              </a:srgbClr>
            </a:solidFill>
          </p:spPr>
        </p:sp>
        <p:sp>
          <p:nvSpPr>
            <p:cNvPr id="17" name="TextBox 17"/>
            <p:cNvSpPr txBox="1"/>
            <p:nvPr/>
          </p:nvSpPr>
          <p:spPr>
            <a:xfrm>
              <a:off x="0" y="57150"/>
              <a:ext cx="208786" cy="108692"/>
            </a:xfrm>
            <a:prstGeom prst="rect">
              <a:avLst/>
            </a:prstGeom>
          </p:spPr>
          <p:txBody>
            <a:bodyPr lIns="50800" tIns="50800" rIns="50800" bIns="50800" rtlCol="0" anchor="ctr"/>
            <a:lstStyle/>
            <a:p>
              <a:pPr algn="ctr">
                <a:lnSpc>
                  <a:spcPts val="2481"/>
                </a:lnSpc>
              </a:pPr>
              <a:endParaRPr/>
            </a:p>
          </p:txBody>
        </p:sp>
      </p:grpSp>
      <p:grpSp>
        <p:nvGrpSpPr>
          <p:cNvPr id="18" name="Group 18"/>
          <p:cNvGrpSpPr/>
          <p:nvPr/>
        </p:nvGrpSpPr>
        <p:grpSpPr>
          <a:xfrm>
            <a:off x="10073567" y="5332026"/>
            <a:ext cx="792734" cy="629681"/>
            <a:chOff x="0" y="0"/>
            <a:chExt cx="208786" cy="165842"/>
          </a:xfrm>
        </p:grpSpPr>
        <p:sp>
          <p:nvSpPr>
            <p:cNvPr id="19" name="Freeform 19"/>
            <p:cNvSpPr/>
            <p:nvPr/>
          </p:nvSpPr>
          <p:spPr>
            <a:xfrm>
              <a:off x="0" y="0"/>
              <a:ext cx="208786" cy="165842"/>
            </a:xfrm>
            <a:custGeom>
              <a:avLst/>
              <a:gdLst/>
              <a:ahLst/>
              <a:cxnLst/>
              <a:rect l="l" t="t" r="r" b="b"/>
              <a:pathLst>
                <a:path w="208786" h="165842">
                  <a:moveTo>
                    <a:pt x="0" y="0"/>
                  </a:moveTo>
                  <a:lnTo>
                    <a:pt x="208786" y="0"/>
                  </a:lnTo>
                  <a:lnTo>
                    <a:pt x="208786" y="165842"/>
                  </a:lnTo>
                  <a:lnTo>
                    <a:pt x="0" y="165842"/>
                  </a:lnTo>
                  <a:close/>
                </a:path>
              </a:pathLst>
            </a:custGeom>
            <a:solidFill>
              <a:srgbClr val="78A6CB">
                <a:alpha val="33725"/>
              </a:srgbClr>
            </a:solidFill>
          </p:spPr>
        </p:sp>
        <p:sp>
          <p:nvSpPr>
            <p:cNvPr id="20" name="TextBox 20"/>
            <p:cNvSpPr txBox="1"/>
            <p:nvPr/>
          </p:nvSpPr>
          <p:spPr>
            <a:xfrm>
              <a:off x="0" y="57150"/>
              <a:ext cx="208786" cy="108692"/>
            </a:xfrm>
            <a:prstGeom prst="rect">
              <a:avLst/>
            </a:prstGeom>
          </p:spPr>
          <p:txBody>
            <a:bodyPr lIns="50800" tIns="50800" rIns="50800" bIns="50800" rtlCol="0" anchor="ctr"/>
            <a:lstStyle/>
            <a:p>
              <a:pPr algn="ctr">
                <a:lnSpc>
                  <a:spcPts val="2481"/>
                </a:lnSpc>
              </a:pPr>
              <a:endParaRPr/>
            </a:p>
          </p:txBody>
        </p:sp>
      </p:grpSp>
      <p:grpSp>
        <p:nvGrpSpPr>
          <p:cNvPr id="21" name="Group 21"/>
          <p:cNvGrpSpPr/>
          <p:nvPr/>
        </p:nvGrpSpPr>
        <p:grpSpPr>
          <a:xfrm>
            <a:off x="10073567" y="6437958"/>
            <a:ext cx="792734" cy="629681"/>
            <a:chOff x="0" y="0"/>
            <a:chExt cx="208786" cy="165842"/>
          </a:xfrm>
        </p:grpSpPr>
        <p:sp>
          <p:nvSpPr>
            <p:cNvPr id="22" name="Freeform 22"/>
            <p:cNvSpPr/>
            <p:nvPr/>
          </p:nvSpPr>
          <p:spPr>
            <a:xfrm>
              <a:off x="0" y="0"/>
              <a:ext cx="208786" cy="165842"/>
            </a:xfrm>
            <a:custGeom>
              <a:avLst/>
              <a:gdLst/>
              <a:ahLst/>
              <a:cxnLst/>
              <a:rect l="l" t="t" r="r" b="b"/>
              <a:pathLst>
                <a:path w="208786" h="165842">
                  <a:moveTo>
                    <a:pt x="0" y="0"/>
                  </a:moveTo>
                  <a:lnTo>
                    <a:pt x="208786" y="0"/>
                  </a:lnTo>
                  <a:lnTo>
                    <a:pt x="208786" y="165842"/>
                  </a:lnTo>
                  <a:lnTo>
                    <a:pt x="0" y="165842"/>
                  </a:lnTo>
                  <a:close/>
                </a:path>
              </a:pathLst>
            </a:custGeom>
            <a:solidFill>
              <a:srgbClr val="78A6CB">
                <a:alpha val="33725"/>
              </a:srgbClr>
            </a:solidFill>
          </p:spPr>
        </p:sp>
        <p:sp>
          <p:nvSpPr>
            <p:cNvPr id="23" name="TextBox 23"/>
            <p:cNvSpPr txBox="1"/>
            <p:nvPr/>
          </p:nvSpPr>
          <p:spPr>
            <a:xfrm>
              <a:off x="0" y="57150"/>
              <a:ext cx="208786" cy="108692"/>
            </a:xfrm>
            <a:prstGeom prst="rect">
              <a:avLst/>
            </a:prstGeom>
          </p:spPr>
          <p:txBody>
            <a:bodyPr lIns="50800" tIns="50800" rIns="50800" bIns="50800" rtlCol="0" anchor="ctr"/>
            <a:lstStyle/>
            <a:p>
              <a:pPr algn="ctr">
                <a:lnSpc>
                  <a:spcPts val="2481"/>
                </a:lnSpc>
              </a:pPr>
              <a:endParaRPr/>
            </a:p>
          </p:txBody>
        </p:sp>
      </p:grpSp>
      <p:grpSp>
        <p:nvGrpSpPr>
          <p:cNvPr id="27" name="Group 27"/>
          <p:cNvGrpSpPr/>
          <p:nvPr/>
        </p:nvGrpSpPr>
        <p:grpSpPr>
          <a:xfrm>
            <a:off x="3926126" y="7543889"/>
            <a:ext cx="792734" cy="629615"/>
            <a:chOff x="0" y="0"/>
            <a:chExt cx="208786" cy="165825"/>
          </a:xfrm>
        </p:grpSpPr>
        <p:sp>
          <p:nvSpPr>
            <p:cNvPr id="28" name="Freeform 28"/>
            <p:cNvSpPr/>
            <p:nvPr/>
          </p:nvSpPr>
          <p:spPr>
            <a:xfrm>
              <a:off x="0" y="0"/>
              <a:ext cx="208786" cy="165825"/>
            </a:xfrm>
            <a:custGeom>
              <a:avLst/>
              <a:gdLst/>
              <a:ahLst/>
              <a:cxnLst/>
              <a:rect l="l" t="t" r="r" b="b"/>
              <a:pathLst>
                <a:path w="208786" h="165825">
                  <a:moveTo>
                    <a:pt x="0" y="0"/>
                  </a:moveTo>
                  <a:lnTo>
                    <a:pt x="208786" y="0"/>
                  </a:lnTo>
                  <a:lnTo>
                    <a:pt x="208786" y="165825"/>
                  </a:lnTo>
                  <a:lnTo>
                    <a:pt x="0" y="165825"/>
                  </a:lnTo>
                  <a:close/>
                </a:path>
              </a:pathLst>
            </a:custGeom>
            <a:solidFill>
              <a:srgbClr val="78A6CB">
                <a:alpha val="33725"/>
              </a:srgbClr>
            </a:solidFill>
          </p:spPr>
        </p:sp>
        <p:sp>
          <p:nvSpPr>
            <p:cNvPr id="29" name="TextBox 29"/>
            <p:cNvSpPr txBox="1"/>
            <p:nvPr/>
          </p:nvSpPr>
          <p:spPr>
            <a:xfrm>
              <a:off x="0" y="57150"/>
              <a:ext cx="208786" cy="108675"/>
            </a:xfrm>
            <a:prstGeom prst="rect">
              <a:avLst/>
            </a:prstGeom>
          </p:spPr>
          <p:txBody>
            <a:bodyPr lIns="50800" tIns="50800" rIns="50800" bIns="50800" rtlCol="0" anchor="ctr"/>
            <a:lstStyle/>
            <a:p>
              <a:pPr algn="ctr">
                <a:lnSpc>
                  <a:spcPts val="2481"/>
                </a:lnSpc>
              </a:pPr>
              <a:endParaRPr/>
            </a:p>
          </p:txBody>
        </p:sp>
      </p:grpSp>
      <p:sp>
        <p:nvSpPr>
          <p:cNvPr id="30" name="Freeform 30"/>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31" name="Freeform 31"/>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32" name="Freeform 32"/>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33" name="TextBox 33"/>
          <p:cNvSpPr txBox="1"/>
          <p:nvPr/>
        </p:nvSpPr>
        <p:spPr>
          <a:xfrm>
            <a:off x="11138173" y="6134100"/>
            <a:ext cx="2806712" cy="1000274"/>
          </a:xfrm>
          <a:prstGeom prst="rect">
            <a:avLst/>
          </a:prstGeom>
        </p:spPr>
        <p:txBody>
          <a:bodyPr lIns="0" tIns="0" rIns="0" bIns="0" rtlCol="0" anchor="t">
            <a:spAutoFit/>
          </a:bodyPr>
          <a:lstStyle/>
          <a:p>
            <a:pPr algn="l">
              <a:lnSpc>
                <a:spcPts val="7800"/>
              </a:lnSpc>
            </a:pPr>
            <a:r>
              <a:rPr lang="en-US" sz="3000" spc="195" dirty="0">
                <a:solidFill>
                  <a:srgbClr val="0D1C38"/>
                </a:solidFill>
                <a:latin typeface="Arimo" charset="0"/>
                <a:ea typeface="Arimo" charset="0"/>
                <a:cs typeface="Arimo" charset="0"/>
                <a:sym typeface="Assistant"/>
              </a:rPr>
              <a:t>Reference</a:t>
            </a:r>
          </a:p>
        </p:txBody>
      </p:sp>
      <p:sp>
        <p:nvSpPr>
          <p:cNvPr id="35" name="TextBox 35"/>
          <p:cNvSpPr txBox="1"/>
          <p:nvPr/>
        </p:nvSpPr>
        <p:spPr>
          <a:xfrm>
            <a:off x="4990732" y="6225541"/>
            <a:ext cx="2806712" cy="1000274"/>
          </a:xfrm>
          <a:prstGeom prst="rect">
            <a:avLst/>
          </a:prstGeom>
        </p:spPr>
        <p:txBody>
          <a:bodyPr lIns="0" tIns="0" rIns="0" bIns="0" rtlCol="0" anchor="t">
            <a:spAutoFit/>
          </a:bodyPr>
          <a:lstStyle/>
          <a:p>
            <a:pPr algn="l">
              <a:lnSpc>
                <a:spcPts val="7800"/>
              </a:lnSpc>
            </a:pPr>
            <a:r>
              <a:rPr lang="en-US" sz="3000" spc="195" dirty="0">
                <a:solidFill>
                  <a:srgbClr val="0D1C38"/>
                </a:solidFill>
                <a:latin typeface="Assistant"/>
                <a:ea typeface="Assistant"/>
                <a:cs typeface="Assistant"/>
                <a:sym typeface="Assistant"/>
              </a:rPr>
              <a:t>Aim</a:t>
            </a:r>
          </a:p>
        </p:txBody>
      </p:sp>
      <p:sp>
        <p:nvSpPr>
          <p:cNvPr id="36" name="TextBox 36"/>
          <p:cNvSpPr txBox="1"/>
          <p:nvPr/>
        </p:nvSpPr>
        <p:spPr>
          <a:xfrm>
            <a:off x="4079588" y="7256717"/>
            <a:ext cx="485810" cy="899093"/>
          </a:xfrm>
          <a:prstGeom prst="rect">
            <a:avLst/>
          </a:prstGeom>
        </p:spPr>
        <p:txBody>
          <a:bodyPr lIns="0" tIns="0" rIns="0" bIns="0" rtlCol="0" anchor="t">
            <a:spAutoFit/>
          </a:bodyPr>
          <a:lstStyle/>
          <a:p>
            <a:pPr algn="ctr">
              <a:lnSpc>
                <a:spcPts val="7800"/>
              </a:lnSpc>
            </a:pPr>
            <a:r>
              <a:rPr lang="en-US" sz="3900" b="1" spc="195">
                <a:solidFill>
                  <a:srgbClr val="0D1C38"/>
                </a:solidFill>
                <a:latin typeface="Assistant Bold"/>
                <a:ea typeface="Assistant Bold"/>
                <a:cs typeface="Assistant Bold"/>
                <a:sym typeface="Assistant Bold"/>
              </a:rPr>
              <a:t>4.</a:t>
            </a:r>
          </a:p>
        </p:txBody>
      </p:sp>
      <p:sp>
        <p:nvSpPr>
          <p:cNvPr id="37" name="TextBox 37"/>
          <p:cNvSpPr txBox="1"/>
          <p:nvPr/>
        </p:nvSpPr>
        <p:spPr>
          <a:xfrm>
            <a:off x="11120649" y="5067300"/>
            <a:ext cx="5871951" cy="1000274"/>
          </a:xfrm>
          <a:prstGeom prst="rect">
            <a:avLst/>
          </a:prstGeom>
        </p:spPr>
        <p:txBody>
          <a:bodyPr wrap="square" lIns="0" tIns="0" rIns="0" bIns="0" rtlCol="0" anchor="t">
            <a:spAutoFit/>
          </a:bodyPr>
          <a:lstStyle/>
          <a:p>
            <a:pPr algn="l">
              <a:lnSpc>
                <a:spcPts val="7800"/>
              </a:lnSpc>
            </a:pPr>
            <a:r>
              <a:rPr lang="en-US" sz="3000" spc="195" dirty="0" smtClean="0">
                <a:solidFill>
                  <a:srgbClr val="0D1C38"/>
                </a:solidFill>
                <a:latin typeface="Arimo" charset="0"/>
                <a:ea typeface="Arimo" charset="0"/>
                <a:cs typeface="Arimo" charset="0"/>
                <a:sym typeface="Assistant"/>
              </a:rPr>
              <a:t>Conclusion</a:t>
            </a:r>
            <a:r>
              <a:rPr lang="en-US" sz="3000" spc="195" dirty="0" smtClean="0">
                <a:solidFill>
                  <a:srgbClr val="0D1C38"/>
                </a:solidFill>
                <a:latin typeface="Assistant"/>
                <a:ea typeface="Assistant"/>
                <a:cs typeface="Assistant"/>
                <a:sym typeface="Assistant"/>
              </a:rPr>
              <a:t> &amp; Recommendation </a:t>
            </a:r>
            <a:endParaRPr lang="en-US" sz="3000" spc="195" dirty="0">
              <a:solidFill>
                <a:srgbClr val="0D1C38"/>
              </a:solidFill>
              <a:latin typeface="Assistant"/>
              <a:ea typeface="Assistant"/>
              <a:cs typeface="Assistant"/>
              <a:sym typeface="Assistant"/>
            </a:endParaRPr>
          </a:p>
        </p:txBody>
      </p:sp>
      <p:sp>
        <p:nvSpPr>
          <p:cNvPr id="38" name="TextBox 38"/>
          <p:cNvSpPr txBox="1"/>
          <p:nvPr/>
        </p:nvSpPr>
        <p:spPr>
          <a:xfrm>
            <a:off x="10227029" y="6150786"/>
            <a:ext cx="485810" cy="899093"/>
          </a:xfrm>
          <a:prstGeom prst="rect">
            <a:avLst/>
          </a:prstGeom>
        </p:spPr>
        <p:txBody>
          <a:bodyPr lIns="0" tIns="0" rIns="0" bIns="0" rtlCol="0" anchor="t">
            <a:spAutoFit/>
          </a:bodyPr>
          <a:lstStyle/>
          <a:p>
            <a:pPr algn="ctr">
              <a:lnSpc>
                <a:spcPts val="7800"/>
              </a:lnSpc>
            </a:pPr>
            <a:r>
              <a:rPr lang="en-US" sz="3900" b="1" spc="195">
                <a:solidFill>
                  <a:srgbClr val="0D1C38"/>
                </a:solidFill>
                <a:latin typeface="Assistant Bold"/>
                <a:ea typeface="Assistant Bold"/>
                <a:cs typeface="Assistant Bold"/>
                <a:sym typeface="Assistant Bold"/>
              </a:rPr>
              <a:t>7.</a:t>
            </a:r>
          </a:p>
        </p:txBody>
      </p:sp>
      <p:sp>
        <p:nvSpPr>
          <p:cNvPr id="39" name="TextBox 39"/>
          <p:cNvSpPr txBox="1"/>
          <p:nvPr/>
        </p:nvSpPr>
        <p:spPr>
          <a:xfrm>
            <a:off x="4973208" y="5143500"/>
            <a:ext cx="3931454" cy="848566"/>
          </a:xfrm>
          <a:prstGeom prst="rect">
            <a:avLst/>
          </a:prstGeom>
        </p:spPr>
        <p:txBody>
          <a:bodyPr lIns="0" tIns="0" rIns="0" bIns="0" rtlCol="0" anchor="t">
            <a:spAutoFit/>
          </a:bodyPr>
          <a:lstStyle/>
          <a:p>
            <a:pPr algn="l">
              <a:lnSpc>
                <a:spcPts val="7800"/>
              </a:lnSpc>
            </a:pPr>
            <a:r>
              <a:rPr lang="en-US" sz="3000" spc="195" dirty="0">
                <a:solidFill>
                  <a:srgbClr val="0D1C38"/>
                </a:solidFill>
                <a:latin typeface="Arimo" charset="0"/>
                <a:ea typeface="Arimo" charset="0"/>
                <a:cs typeface="Arimo" charset="0"/>
                <a:sym typeface="Assistant"/>
              </a:rPr>
              <a:t>Research</a:t>
            </a:r>
            <a:r>
              <a:rPr lang="en-US" sz="3000" spc="195" dirty="0">
                <a:solidFill>
                  <a:srgbClr val="0D1C38"/>
                </a:solidFill>
                <a:latin typeface="Assistant"/>
                <a:ea typeface="Assistant"/>
                <a:cs typeface="Assistant"/>
                <a:sym typeface="Assistant"/>
              </a:rPr>
              <a:t> gaps</a:t>
            </a:r>
          </a:p>
        </p:txBody>
      </p:sp>
      <p:sp>
        <p:nvSpPr>
          <p:cNvPr id="40" name="TextBox 40"/>
          <p:cNvSpPr txBox="1"/>
          <p:nvPr/>
        </p:nvSpPr>
        <p:spPr>
          <a:xfrm>
            <a:off x="4079588" y="6168480"/>
            <a:ext cx="485810" cy="899093"/>
          </a:xfrm>
          <a:prstGeom prst="rect">
            <a:avLst/>
          </a:prstGeom>
        </p:spPr>
        <p:txBody>
          <a:bodyPr lIns="0" tIns="0" rIns="0" bIns="0" rtlCol="0" anchor="t">
            <a:spAutoFit/>
          </a:bodyPr>
          <a:lstStyle/>
          <a:p>
            <a:pPr algn="ctr">
              <a:lnSpc>
                <a:spcPts val="7800"/>
              </a:lnSpc>
            </a:pPr>
            <a:r>
              <a:rPr lang="en-US" sz="3900" b="1" spc="195" dirty="0">
                <a:solidFill>
                  <a:srgbClr val="0D1C38"/>
                </a:solidFill>
                <a:latin typeface="Assistant Bold"/>
                <a:ea typeface="Assistant Bold"/>
                <a:cs typeface="Assistant Bold"/>
                <a:sym typeface="Assistant Bold"/>
              </a:rPr>
              <a:t>3.</a:t>
            </a:r>
          </a:p>
        </p:txBody>
      </p:sp>
      <p:sp>
        <p:nvSpPr>
          <p:cNvPr id="41" name="TextBox 41"/>
          <p:cNvSpPr txBox="1"/>
          <p:nvPr/>
        </p:nvSpPr>
        <p:spPr>
          <a:xfrm>
            <a:off x="11120649" y="3924300"/>
            <a:ext cx="3241225" cy="851515"/>
          </a:xfrm>
          <a:prstGeom prst="rect">
            <a:avLst/>
          </a:prstGeom>
        </p:spPr>
        <p:txBody>
          <a:bodyPr lIns="0" tIns="0" rIns="0" bIns="0" rtlCol="0" anchor="t">
            <a:spAutoFit/>
          </a:bodyPr>
          <a:lstStyle/>
          <a:p>
            <a:pPr algn="l">
              <a:lnSpc>
                <a:spcPts val="7800"/>
              </a:lnSpc>
            </a:pPr>
            <a:r>
              <a:rPr lang="en-US" sz="3000" spc="195" dirty="0">
                <a:solidFill>
                  <a:srgbClr val="0D1C38"/>
                </a:solidFill>
                <a:latin typeface="Assistant"/>
                <a:ea typeface="Assistant"/>
                <a:cs typeface="Assistant"/>
                <a:sym typeface="Assistant"/>
              </a:rPr>
              <a:t>Result</a:t>
            </a:r>
          </a:p>
        </p:txBody>
      </p:sp>
      <p:sp>
        <p:nvSpPr>
          <p:cNvPr id="42" name="TextBox 42"/>
          <p:cNvSpPr txBox="1"/>
          <p:nvPr/>
        </p:nvSpPr>
        <p:spPr>
          <a:xfrm>
            <a:off x="10227029" y="5044855"/>
            <a:ext cx="485810" cy="899093"/>
          </a:xfrm>
          <a:prstGeom prst="rect">
            <a:avLst/>
          </a:prstGeom>
        </p:spPr>
        <p:txBody>
          <a:bodyPr lIns="0" tIns="0" rIns="0" bIns="0" rtlCol="0" anchor="t">
            <a:spAutoFit/>
          </a:bodyPr>
          <a:lstStyle/>
          <a:p>
            <a:pPr algn="ctr">
              <a:lnSpc>
                <a:spcPts val="7800"/>
              </a:lnSpc>
            </a:pPr>
            <a:r>
              <a:rPr lang="en-US" sz="3900" b="1" spc="195">
                <a:solidFill>
                  <a:srgbClr val="0D1C38"/>
                </a:solidFill>
                <a:latin typeface="Assistant Bold"/>
                <a:ea typeface="Assistant Bold"/>
                <a:cs typeface="Assistant Bold"/>
                <a:sym typeface="Assistant Bold"/>
              </a:rPr>
              <a:t>6.</a:t>
            </a:r>
          </a:p>
        </p:txBody>
      </p:sp>
      <p:sp>
        <p:nvSpPr>
          <p:cNvPr id="43" name="TextBox 43"/>
          <p:cNvSpPr txBox="1"/>
          <p:nvPr/>
        </p:nvSpPr>
        <p:spPr>
          <a:xfrm>
            <a:off x="4973208" y="4000500"/>
            <a:ext cx="3241225" cy="1000274"/>
          </a:xfrm>
          <a:prstGeom prst="rect">
            <a:avLst/>
          </a:prstGeom>
        </p:spPr>
        <p:txBody>
          <a:bodyPr lIns="0" tIns="0" rIns="0" bIns="0" rtlCol="0" anchor="t">
            <a:spAutoFit/>
          </a:bodyPr>
          <a:lstStyle/>
          <a:p>
            <a:pPr algn="l">
              <a:lnSpc>
                <a:spcPts val="7800"/>
              </a:lnSpc>
            </a:pPr>
            <a:r>
              <a:rPr lang="en-US" sz="3000" spc="195" dirty="0">
                <a:solidFill>
                  <a:srgbClr val="0D1C38"/>
                </a:solidFill>
                <a:latin typeface="Arimo" charset="0"/>
                <a:ea typeface="Arimo" charset="0"/>
                <a:cs typeface="Arimo" charset="0"/>
                <a:sym typeface="Assistant"/>
              </a:rPr>
              <a:t>Introduction</a:t>
            </a:r>
          </a:p>
        </p:txBody>
      </p:sp>
      <p:sp>
        <p:nvSpPr>
          <p:cNvPr id="44" name="TextBox 44"/>
          <p:cNvSpPr txBox="1"/>
          <p:nvPr/>
        </p:nvSpPr>
        <p:spPr>
          <a:xfrm>
            <a:off x="4079588" y="5062549"/>
            <a:ext cx="485810" cy="899093"/>
          </a:xfrm>
          <a:prstGeom prst="rect">
            <a:avLst/>
          </a:prstGeom>
        </p:spPr>
        <p:txBody>
          <a:bodyPr lIns="0" tIns="0" rIns="0" bIns="0" rtlCol="0" anchor="t">
            <a:spAutoFit/>
          </a:bodyPr>
          <a:lstStyle/>
          <a:p>
            <a:pPr algn="ctr">
              <a:lnSpc>
                <a:spcPts val="7800"/>
              </a:lnSpc>
            </a:pPr>
            <a:r>
              <a:rPr lang="en-US" sz="3900" b="1" spc="195">
                <a:solidFill>
                  <a:srgbClr val="0D1C38"/>
                </a:solidFill>
                <a:latin typeface="Assistant Bold"/>
                <a:ea typeface="Assistant Bold"/>
                <a:cs typeface="Assistant Bold"/>
                <a:sym typeface="Assistant Bold"/>
              </a:rPr>
              <a:t>2.</a:t>
            </a:r>
          </a:p>
        </p:txBody>
      </p:sp>
      <p:sp>
        <p:nvSpPr>
          <p:cNvPr id="45" name="TextBox 45"/>
          <p:cNvSpPr txBox="1"/>
          <p:nvPr/>
        </p:nvSpPr>
        <p:spPr>
          <a:xfrm>
            <a:off x="5029402" y="7343626"/>
            <a:ext cx="3657398" cy="1000274"/>
          </a:xfrm>
          <a:prstGeom prst="rect">
            <a:avLst/>
          </a:prstGeom>
        </p:spPr>
        <p:txBody>
          <a:bodyPr lIns="0" tIns="0" rIns="0" bIns="0" rtlCol="0" anchor="t">
            <a:spAutoFit/>
          </a:bodyPr>
          <a:lstStyle/>
          <a:p>
            <a:pPr algn="l">
              <a:lnSpc>
                <a:spcPts val="7800"/>
              </a:lnSpc>
            </a:pPr>
            <a:r>
              <a:rPr lang="en-US" sz="3000" spc="195" dirty="0">
                <a:solidFill>
                  <a:srgbClr val="0D1C38"/>
                </a:solidFill>
                <a:latin typeface="Arimo" charset="0"/>
                <a:ea typeface="Arimo" charset="0"/>
                <a:cs typeface="Arimo" charset="0"/>
                <a:sym typeface="Assistant"/>
              </a:rPr>
              <a:t>Methodology</a:t>
            </a:r>
          </a:p>
        </p:txBody>
      </p:sp>
      <p:sp>
        <p:nvSpPr>
          <p:cNvPr id="46" name="TextBox 46"/>
          <p:cNvSpPr txBox="1"/>
          <p:nvPr/>
        </p:nvSpPr>
        <p:spPr>
          <a:xfrm>
            <a:off x="10227029" y="3939066"/>
            <a:ext cx="485810" cy="899093"/>
          </a:xfrm>
          <a:prstGeom prst="rect">
            <a:avLst/>
          </a:prstGeom>
        </p:spPr>
        <p:txBody>
          <a:bodyPr lIns="0" tIns="0" rIns="0" bIns="0" rtlCol="0" anchor="t">
            <a:spAutoFit/>
          </a:bodyPr>
          <a:lstStyle/>
          <a:p>
            <a:pPr algn="ctr">
              <a:lnSpc>
                <a:spcPts val="7800"/>
              </a:lnSpc>
            </a:pPr>
            <a:r>
              <a:rPr lang="en-US" sz="3900" b="1" spc="195">
                <a:solidFill>
                  <a:srgbClr val="0D1C38"/>
                </a:solidFill>
                <a:latin typeface="Assistant Bold"/>
                <a:ea typeface="Assistant Bold"/>
                <a:cs typeface="Assistant Bold"/>
                <a:sym typeface="Assistant Bold"/>
              </a:rPr>
              <a:t>5.</a:t>
            </a:r>
          </a:p>
        </p:txBody>
      </p:sp>
      <p:sp>
        <p:nvSpPr>
          <p:cNvPr id="48" name="TextBox 48"/>
          <p:cNvSpPr txBox="1"/>
          <p:nvPr/>
        </p:nvSpPr>
        <p:spPr>
          <a:xfrm>
            <a:off x="4079588" y="3956760"/>
            <a:ext cx="485810" cy="899159"/>
          </a:xfrm>
          <a:prstGeom prst="rect">
            <a:avLst/>
          </a:prstGeom>
        </p:spPr>
        <p:txBody>
          <a:bodyPr lIns="0" tIns="0" rIns="0" bIns="0" rtlCol="0" anchor="t">
            <a:spAutoFit/>
          </a:bodyPr>
          <a:lstStyle/>
          <a:p>
            <a:pPr algn="ctr">
              <a:lnSpc>
                <a:spcPts val="7800"/>
              </a:lnSpc>
            </a:pPr>
            <a:r>
              <a:rPr lang="en-US" sz="3900" b="1" spc="195">
                <a:solidFill>
                  <a:srgbClr val="0D1C38"/>
                </a:solidFill>
                <a:latin typeface="Assistant Bold"/>
                <a:ea typeface="Assistant Bold"/>
                <a:cs typeface="Assistant Bold"/>
                <a:sym typeface="Assistant Bold"/>
              </a:rPr>
              <a:t>1.</a:t>
            </a:r>
          </a:p>
        </p:txBody>
      </p:sp>
      <p:sp>
        <p:nvSpPr>
          <p:cNvPr id="49" name="TextBox 49"/>
          <p:cNvSpPr txBox="1"/>
          <p:nvPr/>
        </p:nvSpPr>
        <p:spPr>
          <a:xfrm>
            <a:off x="5486682" y="2421544"/>
            <a:ext cx="7314637" cy="1061316"/>
          </a:xfrm>
          <a:prstGeom prst="rect">
            <a:avLst/>
          </a:prstGeom>
        </p:spPr>
        <p:txBody>
          <a:bodyPr lIns="0" tIns="0" rIns="0" bIns="0" rtlCol="0" anchor="t">
            <a:spAutoFit/>
          </a:bodyPr>
          <a:lstStyle/>
          <a:p>
            <a:pPr algn="ctr">
              <a:lnSpc>
                <a:spcPts val="7999"/>
              </a:lnSpc>
            </a:pPr>
            <a:r>
              <a:rPr lang="en-US" sz="9999" dirty="0" smtClean="0">
                <a:solidFill>
                  <a:srgbClr val="0D1C38"/>
                </a:solidFill>
                <a:latin typeface="Arimo"/>
                <a:ea typeface="Arimo"/>
                <a:cs typeface="Arimo"/>
                <a:sym typeface="Arimo"/>
              </a:rPr>
              <a:t>OUTLINE</a:t>
            </a:r>
            <a:endParaRPr lang="en-US" sz="9999" dirty="0">
              <a:solidFill>
                <a:srgbClr val="0D1C38"/>
              </a:solidFill>
              <a:latin typeface="Arimo"/>
              <a:ea typeface="Arimo"/>
              <a:cs typeface="Arimo"/>
              <a:sym typeface="Arimo"/>
            </a:endParaRPr>
          </a:p>
        </p:txBody>
      </p:sp>
      <p:sp>
        <p:nvSpPr>
          <p:cNvPr id="50" name="TextBox 50"/>
          <p:cNvSpPr txBox="1"/>
          <p:nvPr/>
        </p:nvSpPr>
        <p:spPr>
          <a:xfrm>
            <a:off x="13487401" y="9612852"/>
            <a:ext cx="4191000" cy="320601"/>
          </a:xfrm>
          <a:prstGeom prst="rect">
            <a:avLst/>
          </a:prstGeom>
        </p:spPr>
        <p:txBody>
          <a:bodyPr wrap="square" lIns="0" tIns="0" rIns="0" bIns="0" rtlCol="0" anchor="t">
            <a:spAutoFit/>
          </a:bodyPr>
          <a:lstStyle/>
          <a:p>
            <a:pPr algn="r">
              <a:lnSpc>
                <a:spcPts val="2541"/>
              </a:lnSpc>
            </a:pPr>
            <a:r>
              <a:rPr lang="en-US" sz="2000" spc="38" dirty="0" smtClean="0">
                <a:solidFill>
                  <a:srgbClr val="0D1C38"/>
                </a:solidFill>
                <a:latin typeface="Arimo" charset="0"/>
                <a:ea typeface="Arimo" charset="0"/>
                <a:cs typeface="Arimo" charset="0"/>
                <a:sym typeface="Assistant"/>
              </a:rPr>
              <a:t>Presented by: Damilola Arokoyu</a:t>
            </a:r>
            <a:endParaRPr lang="en-US" sz="2000" spc="38" dirty="0">
              <a:solidFill>
                <a:srgbClr val="0D1C38"/>
              </a:solidFill>
              <a:latin typeface="Arimo" charset="0"/>
              <a:ea typeface="Arimo" charset="0"/>
              <a:cs typeface="Arimo" charset="0"/>
              <a:sym typeface="Assistant"/>
            </a:endParaRPr>
          </a:p>
        </p:txBody>
      </p:sp>
      <p:sp>
        <p:nvSpPr>
          <p:cNvPr id="51" name="TextBox 51"/>
          <p:cNvSpPr txBox="1"/>
          <p:nvPr/>
        </p:nvSpPr>
        <p:spPr>
          <a:xfrm>
            <a:off x="1236515" y="9410700"/>
            <a:ext cx="5880313" cy="641201"/>
          </a:xfrm>
          <a:prstGeom prst="rect">
            <a:avLst/>
          </a:prstGeom>
        </p:spPr>
        <p:txBody>
          <a:bodyPr wrap="square" lIns="0" tIns="0" rIns="0" bIns="0" rtlCol="0" anchor="t">
            <a:spAutoFit/>
          </a:bodyPr>
          <a:lstStyle/>
          <a:p>
            <a:pPr algn="l">
              <a:lnSpc>
                <a:spcPts val="2481"/>
              </a:lnSpc>
            </a:pPr>
            <a:r>
              <a:rPr lang="en-US" sz="1600" spc="37" dirty="0" smtClean="0">
                <a:solidFill>
                  <a:srgbClr val="0D1C38"/>
                </a:solidFill>
                <a:latin typeface="Arimo" charset="0"/>
                <a:ea typeface="Arimo" charset="0"/>
                <a:cs typeface="Arimo" charset="0"/>
                <a:sym typeface="Assistant"/>
              </a:rPr>
              <a:t>Assessment of Microplastics in Commercial Fisheries procured from six Coastal states in Nigeria</a:t>
            </a:r>
            <a:endParaRPr lang="en-US" sz="1600" spc="37" dirty="0">
              <a:solidFill>
                <a:srgbClr val="0D1C38"/>
              </a:solidFill>
              <a:latin typeface="Arimo" charset="0"/>
              <a:ea typeface="Arimo" charset="0"/>
              <a:cs typeface="Arimo" charset="0"/>
              <a:sym typeface="Assistant"/>
            </a:endParaRPr>
          </a:p>
        </p:txBody>
      </p:sp>
      <p:sp>
        <p:nvSpPr>
          <p:cNvPr id="54" name="Slide Number Placeholder 53"/>
          <p:cNvSpPr>
            <a:spLocks noGrp="1"/>
          </p:cNvSpPr>
          <p:nvPr>
            <p:ph type="sldNum" sz="quarter" idx="12"/>
          </p:nvPr>
        </p:nvSpPr>
        <p:spPr/>
        <p:txBody>
          <a:bodyPr/>
          <a:lstStyle/>
          <a:p>
            <a:fld id="{B6F15528-21DE-4FAA-801E-634DDDAF4B2B}" type="slidenum">
              <a:rPr lang="en-US" smtClean="0"/>
              <a:pPr/>
              <a:t>2</a:t>
            </a:fld>
            <a:endParaRPr lang="en-US"/>
          </a:p>
        </p:txBody>
      </p:sp>
      <p:sp>
        <p:nvSpPr>
          <p:cNvPr id="55" name="TextBox 50"/>
          <p:cNvSpPr txBox="1"/>
          <p:nvPr/>
        </p:nvSpPr>
        <p:spPr>
          <a:xfrm>
            <a:off x="7620000" y="9765252"/>
            <a:ext cx="4191000" cy="298864"/>
          </a:xfrm>
          <a:prstGeom prst="rect">
            <a:avLst/>
          </a:prstGeom>
        </p:spPr>
        <p:txBody>
          <a:bodyPr wrap="square" lIns="0" tIns="0" rIns="0" bIns="0" rtlCol="0" anchor="t">
            <a:spAutoFit/>
          </a:bodyPr>
          <a:lstStyle/>
          <a:p>
            <a:pPr algn="ctr">
              <a:lnSpc>
                <a:spcPts val="2541"/>
              </a:lnSpc>
            </a:pPr>
            <a:r>
              <a:rPr lang="en-US" sz="2000" spc="38" dirty="0" smtClean="0">
                <a:solidFill>
                  <a:srgbClr val="0D1C38"/>
                </a:solidFill>
                <a:latin typeface="Arimo" charset="0"/>
                <a:ea typeface="Arimo" charset="0"/>
                <a:cs typeface="Arimo" charset="0"/>
                <a:sym typeface="Assistant"/>
              </a:rPr>
              <a:t>1</a:t>
            </a:r>
            <a:endParaRPr lang="en-US" sz="2000" spc="38" dirty="0">
              <a:solidFill>
                <a:srgbClr val="0D1C38"/>
              </a:solidFill>
              <a:latin typeface="Arimo" charset="0"/>
              <a:ea typeface="Arimo" charset="0"/>
              <a:cs typeface="Arimo" charset="0"/>
              <a:sym typeface="Assistan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p:cNvGrpSpPr/>
          <p:nvPr/>
        </p:nvGrpSpPr>
        <p:grpSpPr>
          <a:xfrm>
            <a:off x="1029443" y="1028700"/>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8" name="Freeform 8"/>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9" name="TextBox 9"/>
          <p:cNvSpPr txBox="1"/>
          <p:nvPr/>
        </p:nvSpPr>
        <p:spPr>
          <a:xfrm>
            <a:off x="1524000" y="2247900"/>
            <a:ext cx="15240000" cy="3513782"/>
          </a:xfrm>
          <a:prstGeom prst="rect">
            <a:avLst/>
          </a:prstGeom>
        </p:spPr>
        <p:txBody>
          <a:bodyPr wrap="square" lIns="0" tIns="0" rIns="0" bIns="0" rtlCol="0" anchor="t">
            <a:spAutoFit/>
          </a:bodyPr>
          <a:lstStyle/>
          <a:p>
            <a:pPr marL="342752" lvl="1" indent="-171376" algn="just">
              <a:lnSpc>
                <a:spcPct val="150000"/>
              </a:lnSpc>
              <a:buFont typeface="Arial"/>
              <a:buChar char="•"/>
            </a:pPr>
            <a:r>
              <a:rPr lang="en-US" sz="2800" spc="23" dirty="0">
                <a:solidFill>
                  <a:srgbClr val="0E182F"/>
                </a:solidFill>
                <a:latin typeface="Arimo" charset="0"/>
                <a:ea typeface="Arimo" charset="0"/>
                <a:cs typeface="Arimo" charset="0"/>
                <a:sym typeface="Assistant"/>
              </a:rPr>
              <a:t>Fisheries are a cheap, reliable global protein source and major </a:t>
            </a:r>
            <a:r>
              <a:rPr lang="en-US" sz="2800" spc="23" dirty="0" smtClean="0">
                <a:solidFill>
                  <a:srgbClr val="0E182F"/>
                </a:solidFill>
                <a:latin typeface="Arimo" charset="0"/>
                <a:ea typeface="Arimo" charset="0"/>
                <a:cs typeface="Arimo" charset="0"/>
                <a:sym typeface="Assistant"/>
              </a:rPr>
              <a:t>livelihood for  fishermen and fish farmers. (Oluwatosin </a:t>
            </a:r>
            <a:r>
              <a:rPr lang="en-US" sz="2800" i="1" spc="23" dirty="0" smtClean="0">
                <a:solidFill>
                  <a:srgbClr val="0E182F"/>
                </a:solidFill>
                <a:latin typeface="Arimo" charset="0"/>
                <a:ea typeface="Arimo" charset="0"/>
                <a:cs typeface="Arimo" charset="0"/>
                <a:sym typeface="Assistant"/>
              </a:rPr>
              <a:t>et </a:t>
            </a:r>
            <a:r>
              <a:rPr lang="en-US" sz="2800" spc="23" dirty="0" smtClean="0">
                <a:solidFill>
                  <a:srgbClr val="0E182F"/>
                </a:solidFill>
                <a:latin typeface="Arimo" charset="0"/>
                <a:ea typeface="Arimo" charset="0"/>
                <a:cs typeface="Arimo" charset="0"/>
                <a:sym typeface="Assistant"/>
              </a:rPr>
              <a:t>al., 2020).</a:t>
            </a:r>
          </a:p>
          <a:p>
            <a:pPr marL="342752" lvl="1" indent="-171376" algn="just">
              <a:lnSpc>
                <a:spcPct val="150000"/>
              </a:lnSpc>
              <a:buFont typeface="Arial"/>
              <a:buChar char="•"/>
            </a:pPr>
            <a:r>
              <a:rPr lang="en-US" sz="2800" spc="23" dirty="0" smtClean="0">
                <a:solidFill>
                  <a:srgbClr val="0E182F"/>
                </a:solidFill>
                <a:latin typeface="Arimo" charset="0"/>
                <a:ea typeface="Arimo" charset="0"/>
                <a:cs typeface="Arimo" charset="0"/>
                <a:sym typeface="Assistant"/>
              </a:rPr>
              <a:t>The indiscriminate disposal of plastic </a:t>
            </a:r>
            <a:r>
              <a:rPr lang="en-US" sz="2800" spc="23" dirty="0">
                <a:solidFill>
                  <a:srgbClr val="0E182F"/>
                </a:solidFill>
                <a:latin typeface="Arimo" charset="0"/>
                <a:ea typeface="Arimo" charset="0"/>
                <a:cs typeface="Arimo" charset="0"/>
                <a:sym typeface="Assistant"/>
              </a:rPr>
              <a:t>waste </a:t>
            </a:r>
            <a:r>
              <a:rPr lang="en-US" sz="2800" spc="23" dirty="0" smtClean="0">
                <a:solidFill>
                  <a:srgbClr val="0E182F"/>
                </a:solidFill>
                <a:latin typeface="Arimo" charset="0"/>
                <a:ea typeface="Arimo" charset="0"/>
                <a:cs typeface="Arimo" charset="0"/>
                <a:sym typeface="Assistant"/>
              </a:rPr>
              <a:t> into the ocean threatens </a:t>
            </a:r>
            <a:r>
              <a:rPr lang="en-US" sz="2800" spc="23" dirty="0">
                <a:solidFill>
                  <a:srgbClr val="0E182F"/>
                </a:solidFill>
                <a:latin typeface="Arimo" charset="0"/>
                <a:ea typeface="Arimo" charset="0"/>
                <a:cs typeface="Arimo" charset="0"/>
                <a:sym typeface="Assistant"/>
              </a:rPr>
              <a:t>fisheries and aquatic </a:t>
            </a:r>
            <a:r>
              <a:rPr lang="en-US" sz="2800" spc="23" dirty="0" smtClean="0">
                <a:solidFill>
                  <a:srgbClr val="0E182F"/>
                </a:solidFill>
                <a:latin typeface="Arimo" charset="0"/>
                <a:ea typeface="Arimo" charset="0"/>
                <a:cs typeface="Arimo" charset="0"/>
                <a:sym typeface="Assistant"/>
              </a:rPr>
              <a:t>ecosystems (Emeka Dumbill and Lesley Henderson,</a:t>
            </a:r>
            <a:r>
              <a:rPr lang="en-US" sz="2800" i="1" spc="23" dirty="0" smtClean="0">
                <a:solidFill>
                  <a:srgbClr val="0E182F"/>
                </a:solidFill>
                <a:latin typeface="Arimo" charset="0"/>
                <a:ea typeface="Arimo" charset="0"/>
                <a:cs typeface="Arimo" charset="0"/>
                <a:sym typeface="Assistant"/>
              </a:rPr>
              <a:t> </a:t>
            </a:r>
            <a:r>
              <a:rPr lang="en-US" sz="2800" spc="23" dirty="0" smtClean="0">
                <a:solidFill>
                  <a:srgbClr val="0E182F"/>
                </a:solidFill>
                <a:latin typeface="Arimo" charset="0"/>
                <a:ea typeface="Arimo" charset="0"/>
                <a:cs typeface="Arimo" charset="0"/>
                <a:sym typeface="Assistant"/>
              </a:rPr>
              <a:t>2020)</a:t>
            </a:r>
            <a:endParaRPr lang="en-US" sz="2800" spc="23" dirty="0">
              <a:solidFill>
                <a:srgbClr val="0E182F"/>
              </a:solidFill>
              <a:latin typeface="Arimo" charset="0"/>
              <a:ea typeface="Arimo" charset="0"/>
              <a:cs typeface="Arimo" charset="0"/>
              <a:sym typeface="Assistant"/>
            </a:endParaRPr>
          </a:p>
          <a:p>
            <a:pPr marL="342752" lvl="1" indent="-171376" algn="just">
              <a:lnSpc>
                <a:spcPct val="150000"/>
              </a:lnSpc>
              <a:buFont typeface="Arial"/>
              <a:buChar char="•"/>
            </a:pPr>
            <a:r>
              <a:rPr lang="en-US" sz="2800" spc="23" dirty="0">
                <a:solidFill>
                  <a:srgbClr val="0E182F"/>
                </a:solidFill>
                <a:latin typeface="Arimo" charset="0"/>
                <a:ea typeface="Arimo" charset="0"/>
                <a:cs typeface="Arimo" charset="0"/>
                <a:sym typeface="Assistant"/>
              </a:rPr>
              <a:t>Plastics degrade into microplastics </a:t>
            </a:r>
            <a:r>
              <a:rPr lang="en-US" sz="2800" spc="23" dirty="0" smtClean="0">
                <a:solidFill>
                  <a:srgbClr val="0E182F"/>
                </a:solidFill>
                <a:latin typeface="Arimo" charset="0"/>
                <a:ea typeface="Arimo" charset="0"/>
                <a:cs typeface="Arimo" charset="0"/>
                <a:sym typeface="Assistant"/>
              </a:rPr>
              <a:t>( particles that are less than  5 </a:t>
            </a:r>
            <a:r>
              <a:rPr lang="en-US" sz="2800" spc="23" dirty="0">
                <a:solidFill>
                  <a:srgbClr val="0E182F"/>
                </a:solidFill>
                <a:latin typeface="Arimo" charset="0"/>
                <a:ea typeface="Arimo" charset="0"/>
                <a:cs typeface="Arimo" charset="0"/>
                <a:sym typeface="Assistant"/>
              </a:rPr>
              <a:t>mm</a:t>
            </a:r>
            <a:r>
              <a:rPr lang="en-US" sz="2800" spc="23" dirty="0" smtClean="0">
                <a:solidFill>
                  <a:srgbClr val="0E182F"/>
                </a:solidFill>
                <a:latin typeface="Arimo" charset="0"/>
                <a:ea typeface="Arimo" charset="0"/>
                <a:cs typeface="Arimo" charset="0"/>
                <a:sym typeface="Assistant"/>
              </a:rPr>
              <a:t>) (Nweke </a:t>
            </a:r>
            <a:r>
              <a:rPr lang="en-US" sz="2800" i="1" spc="23" dirty="0" smtClean="0">
                <a:solidFill>
                  <a:srgbClr val="0E182F"/>
                </a:solidFill>
                <a:latin typeface="Arimo" charset="0"/>
                <a:ea typeface="Arimo" charset="0"/>
                <a:cs typeface="Arimo" charset="0"/>
                <a:sym typeface="Assistant"/>
              </a:rPr>
              <a:t>et al</a:t>
            </a:r>
            <a:r>
              <a:rPr lang="en-US" sz="2800" spc="23" dirty="0" smtClean="0">
                <a:solidFill>
                  <a:srgbClr val="0E182F"/>
                </a:solidFill>
                <a:latin typeface="Arimo" charset="0"/>
                <a:ea typeface="Arimo" charset="0"/>
                <a:cs typeface="Arimo" charset="0"/>
                <a:sym typeface="Assistant"/>
              </a:rPr>
              <a:t>., 2024</a:t>
            </a:r>
            <a:r>
              <a:rPr lang="en-US" sz="2800" dirty="0" smtClean="0">
                <a:latin typeface="Arimo" charset="0"/>
                <a:ea typeface="Arimo" charset="0"/>
                <a:cs typeface="Arimo" charset="0"/>
              </a:rPr>
              <a:t>).</a:t>
            </a:r>
            <a:endParaRPr lang="en-US" sz="2800" spc="23" dirty="0">
              <a:solidFill>
                <a:srgbClr val="0E182F"/>
              </a:solidFill>
              <a:latin typeface="Arimo" charset="0"/>
              <a:ea typeface="Arimo" charset="0"/>
              <a:cs typeface="Arimo" charset="0"/>
              <a:sym typeface="Assistant"/>
            </a:endParaRPr>
          </a:p>
          <a:p>
            <a:pPr marL="171376" lvl="1" algn="just">
              <a:lnSpc>
                <a:spcPts val="2222"/>
              </a:lnSpc>
            </a:pPr>
            <a:endParaRPr lang="en-US" sz="2800" spc="23" dirty="0">
              <a:solidFill>
                <a:srgbClr val="0E182F"/>
              </a:solidFill>
              <a:latin typeface="Arimo" charset="0"/>
              <a:ea typeface="Arimo" charset="0"/>
              <a:cs typeface="Arimo" charset="0"/>
              <a:sym typeface="Assistant"/>
            </a:endParaRPr>
          </a:p>
        </p:txBody>
      </p:sp>
      <p:sp>
        <p:nvSpPr>
          <p:cNvPr id="10" name="TextBox 10"/>
          <p:cNvSpPr txBox="1"/>
          <p:nvPr/>
        </p:nvSpPr>
        <p:spPr>
          <a:xfrm>
            <a:off x="4847491" y="1409700"/>
            <a:ext cx="8792309" cy="872034"/>
          </a:xfrm>
          <a:prstGeom prst="rect">
            <a:avLst/>
          </a:prstGeom>
        </p:spPr>
        <p:txBody>
          <a:bodyPr wrap="square" lIns="0" tIns="0" rIns="0" bIns="0" rtlCol="0" anchor="t">
            <a:spAutoFit/>
          </a:bodyPr>
          <a:lstStyle/>
          <a:p>
            <a:pPr algn="ctr">
              <a:lnSpc>
                <a:spcPts val="6754"/>
              </a:lnSpc>
            </a:pPr>
            <a:r>
              <a:rPr lang="en-US" sz="4000" dirty="0" smtClean="0">
                <a:solidFill>
                  <a:srgbClr val="0E182F"/>
                </a:solidFill>
                <a:latin typeface="Arimo"/>
                <a:ea typeface="Arimo"/>
                <a:cs typeface="Arimo"/>
                <a:sym typeface="Arimo"/>
              </a:rPr>
              <a:t>INTRODUCTION</a:t>
            </a:r>
            <a:endParaRPr lang="en-US" sz="4000" dirty="0">
              <a:solidFill>
                <a:srgbClr val="0E182F"/>
              </a:solidFill>
              <a:latin typeface="Arimo"/>
              <a:ea typeface="Arimo"/>
              <a:cs typeface="Arimo"/>
              <a:sym typeface="Arimo"/>
            </a:endParaRPr>
          </a:p>
        </p:txBody>
      </p:sp>
      <p:sp>
        <p:nvSpPr>
          <p:cNvPr id="11" name="TextBox 11"/>
          <p:cNvSpPr txBox="1"/>
          <p:nvPr/>
        </p:nvSpPr>
        <p:spPr>
          <a:xfrm>
            <a:off x="13030200" y="9460452"/>
            <a:ext cx="4228357" cy="320601"/>
          </a:xfrm>
          <a:prstGeom prst="rect">
            <a:avLst/>
          </a:prstGeom>
        </p:spPr>
        <p:txBody>
          <a:bodyPr wrap="square" lIns="0" tIns="0" rIns="0" bIns="0" rtlCol="0" anchor="t">
            <a:spAutoFit/>
          </a:bodyPr>
          <a:lstStyle/>
          <a:p>
            <a:pPr algn="r">
              <a:lnSpc>
                <a:spcPts val="2541"/>
              </a:lnSpc>
            </a:pPr>
            <a:r>
              <a:rPr lang="en-US" spc="38" dirty="0" err="1" smtClean="0">
                <a:solidFill>
                  <a:srgbClr val="0D1C38"/>
                </a:solidFill>
                <a:latin typeface="Assistant"/>
                <a:ea typeface="Assistant"/>
                <a:cs typeface="Assistant"/>
                <a:sym typeface="Assistant"/>
              </a:rPr>
              <a:t>Presnted</a:t>
            </a:r>
            <a:r>
              <a:rPr lang="en-US" spc="38" dirty="0" smtClean="0">
                <a:solidFill>
                  <a:srgbClr val="0D1C38"/>
                </a:solidFill>
                <a:latin typeface="Assistant"/>
                <a:ea typeface="Assistant"/>
                <a:cs typeface="Assistant"/>
                <a:sym typeface="Assistant"/>
              </a:rPr>
              <a:t> by : Damilola Arokoyu</a:t>
            </a:r>
            <a:endParaRPr lang="en-US" spc="38" dirty="0">
              <a:solidFill>
                <a:srgbClr val="0D1C38"/>
              </a:solidFill>
              <a:latin typeface="Assistant"/>
              <a:ea typeface="Assistant"/>
              <a:cs typeface="Assistant"/>
              <a:sym typeface="Assistant"/>
            </a:endParaRPr>
          </a:p>
        </p:txBody>
      </p:sp>
      <p:sp>
        <p:nvSpPr>
          <p:cNvPr id="12" name="TextBox 12"/>
          <p:cNvSpPr txBox="1"/>
          <p:nvPr/>
        </p:nvSpPr>
        <p:spPr>
          <a:xfrm>
            <a:off x="7569343" y="9696109"/>
            <a:ext cx="4927457" cy="293029"/>
          </a:xfrm>
          <a:prstGeom prst="rect">
            <a:avLst/>
          </a:prstGeom>
        </p:spPr>
        <p:txBody>
          <a:bodyPr lIns="0" tIns="0" rIns="0" bIns="0" rtlCol="0" anchor="t">
            <a:spAutoFit/>
          </a:bodyPr>
          <a:lstStyle/>
          <a:p>
            <a:pPr algn="ctr">
              <a:lnSpc>
                <a:spcPts val="2481"/>
              </a:lnSpc>
            </a:pPr>
            <a:r>
              <a:rPr lang="en-US" spc="37" dirty="0" smtClean="0">
                <a:solidFill>
                  <a:srgbClr val="0D1C38"/>
                </a:solidFill>
                <a:latin typeface="Arimo" charset="0"/>
                <a:ea typeface="Arimo" charset="0"/>
                <a:cs typeface="Arimo" charset="0"/>
                <a:sym typeface="Assistant"/>
              </a:rPr>
              <a:t>2</a:t>
            </a:r>
            <a:endParaRPr lang="en-US" spc="37" dirty="0">
              <a:solidFill>
                <a:srgbClr val="0D1C38"/>
              </a:solidFill>
              <a:latin typeface="Arimo" charset="0"/>
              <a:ea typeface="Arimo" charset="0"/>
              <a:cs typeface="Arimo" charset="0"/>
              <a:sym typeface="Assistant"/>
            </a:endParaRPr>
          </a:p>
        </p:txBody>
      </p:sp>
      <p:sp>
        <p:nvSpPr>
          <p:cNvPr id="14" name="Rectangle 13"/>
          <p:cNvSpPr/>
          <p:nvPr/>
        </p:nvSpPr>
        <p:spPr>
          <a:xfrm>
            <a:off x="1295400" y="9134366"/>
            <a:ext cx="9144000" cy="733534"/>
          </a:xfrm>
          <a:prstGeom prst="rect">
            <a:avLst/>
          </a:prstGeom>
        </p:spPr>
        <p:txBody>
          <a:bodyPr>
            <a:spAutoFit/>
          </a:bodyPr>
          <a:lstStyle/>
          <a:p>
            <a:pPr>
              <a:lnSpc>
                <a:spcPts val="2481"/>
              </a:lnSpc>
            </a:pPr>
            <a:r>
              <a:rPr lang="en-US" spc="37" dirty="0">
                <a:solidFill>
                  <a:srgbClr val="0D1C38"/>
                </a:solidFill>
                <a:latin typeface="Arimo" charset="0"/>
                <a:ea typeface="Arimo" charset="0"/>
                <a:cs typeface="Arimo" charset="0"/>
                <a:sym typeface="Assistant"/>
              </a:rPr>
              <a:t>Assessment of Microplastics in Commercial Fisheries procured from six Coastal states in Nigeria</a:t>
            </a:r>
          </a:p>
        </p:txBody>
      </p:sp>
      <p:sp>
        <p:nvSpPr>
          <p:cNvPr id="15" name="TextBox 9"/>
          <p:cNvSpPr txBox="1"/>
          <p:nvPr/>
        </p:nvSpPr>
        <p:spPr>
          <a:xfrm>
            <a:off x="1600200" y="5600700"/>
            <a:ext cx="15316200" cy="3431709"/>
          </a:xfrm>
          <a:prstGeom prst="rect">
            <a:avLst/>
          </a:prstGeom>
        </p:spPr>
        <p:txBody>
          <a:bodyPr wrap="square" lIns="0" tIns="0" rIns="0" bIns="0" rtlCol="0" anchor="t">
            <a:spAutoFit/>
          </a:bodyPr>
          <a:lstStyle/>
          <a:p>
            <a:pPr marL="342752" lvl="1" indent="-171376" algn="just">
              <a:lnSpc>
                <a:spcPts val="2222"/>
              </a:lnSpc>
              <a:buFont typeface="Arial"/>
              <a:buChar char="•"/>
            </a:pPr>
            <a:r>
              <a:rPr lang="en-US" sz="2800" spc="23" dirty="0" smtClean="0">
                <a:solidFill>
                  <a:srgbClr val="0E182F"/>
                </a:solidFill>
                <a:latin typeface="Arimo" charset="0"/>
                <a:ea typeface="Arimo" charset="0"/>
                <a:cs typeface="Arimo" charset="0"/>
                <a:sym typeface="Assistant"/>
              </a:rPr>
              <a:t>Microplastics are </a:t>
            </a:r>
            <a:r>
              <a:rPr lang="en-US" sz="2800" spc="23" dirty="0">
                <a:solidFill>
                  <a:srgbClr val="0E182F"/>
                </a:solidFill>
                <a:latin typeface="Arimo" charset="0"/>
                <a:ea typeface="Arimo" charset="0"/>
                <a:cs typeface="Arimo" charset="0"/>
                <a:sym typeface="Assistant"/>
              </a:rPr>
              <a:t>classified by size, shape, color, and </a:t>
            </a:r>
            <a:r>
              <a:rPr lang="en-US" sz="2800" spc="23" dirty="0" smtClean="0">
                <a:solidFill>
                  <a:srgbClr val="0E182F"/>
                </a:solidFill>
                <a:latin typeface="Arimo" charset="0"/>
                <a:ea typeface="Arimo" charset="0"/>
                <a:cs typeface="Arimo" charset="0"/>
                <a:sym typeface="Assistant"/>
              </a:rPr>
              <a:t>source (Idowu </a:t>
            </a:r>
            <a:r>
              <a:rPr lang="en-US" sz="2800" i="1" spc="23" dirty="0" smtClean="0">
                <a:solidFill>
                  <a:srgbClr val="0E182F"/>
                </a:solidFill>
                <a:latin typeface="Arimo" charset="0"/>
                <a:ea typeface="Arimo" charset="0"/>
                <a:cs typeface="Arimo" charset="0"/>
                <a:sym typeface="Assistant"/>
              </a:rPr>
              <a:t>et al</a:t>
            </a:r>
            <a:r>
              <a:rPr lang="en-US" sz="2800" spc="23" dirty="0" smtClean="0">
                <a:solidFill>
                  <a:srgbClr val="0E182F"/>
                </a:solidFill>
                <a:latin typeface="Arimo" charset="0"/>
                <a:ea typeface="Arimo" charset="0"/>
                <a:cs typeface="Arimo" charset="0"/>
                <a:sym typeface="Assistant"/>
              </a:rPr>
              <a:t>., 2024)</a:t>
            </a:r>
            <a:endParaRPr lang="en-US" sz="2800" spc="23" dirty="0">
              <a:solidFill>
                <a:srgbClr val="0E182F"/>
              </a:solidFill>
              <a:latin typeface="Arimo" charset="0"/>
              <a:ea typeface="Arimo" charset="0"/>
              <a:cs typeface="Arimo" charset="0"/>
              <a:sym typeface="Assistant"/>
            </a:endParaRPr>
          </a:p>
          <a:p>
            <a:pPr marL="342752" lvl="1" indent="-171376" algn="just">
              <a:lnSpc>
                <a:spcPts val="2222"/>
              </a:lnSpc>
              <a:buFont typeface="Arial"/>
              <a:buChar char="•"/>
            </a:pPr>
            <a:endParaRPr lang="en-US" sz="2800" spc="23" dirty="0">
              <a:solidFill>
                <a:srgbClr val="0E182F"/>
              </a:solidFill>
              <a:latin typeface="Arimo" charset="0"/>
              <a:ea typeface="Arimo" charset="0"/>
              <a:cs typeface="Arimo" charset="0"/>
              <a:sym typeface="Assistant"/>
            </a:endParaRPr>
          </a:p>
          <a:p>
            <a:pPr marL="342752" lvl="1" indent="-171376" algn="just">
              <a:lnSpc>
                <a:spcPts val="2222"/>
              </a:lnSpc>
              <a:buFont typeface="Arial"/>
              <a:buChar char="•"/>
            </a:pPr>
            <a:r>
              <a:rPr lang="en-US" sz="2800" spc="23" dirty="0">
                <a:solidFill>
                  <a:srgbClr val="0E182F"/>
                </a:solidFill>
                <a:latin typeface="Arimo" charset="0"/>
                <a:ea typeface="Arimo" charset="0"/>
                <a:cs typeface="Arimo" charset="0"/>
                <a:sym typeface="Assistant"/>
              </a:rPr>
              <a:t>Coastal areas have the highest microplastic </a:t>
            </a:r>
            <a:r>
              <a:rPr lang="en-US" sz="2800" spc="23" dirty="0" smtClean="0">
                <a:solidFill>
                  <a:srgbClr val="0E182F"/>
                </a:solidFill>
                <a:latin typeface="Arimo" charset="0"/>
                <a:ea typeface="Arimo" charset="0"/>
                <a:cs typeface="Arimo" charset="0"/>
                <a:sym typeface="Assistant"/>
              </a:rPr>
              <a:t>occurrence (Idowu </a:t>
            </a:r>
            <a:r>
              <a:rPr lang="en-US" sz="2800" i="1" spc="23" dirty="0" smtClean="0">
                <a:solidFill>
                  <a:srgbClr val="0E182F"/>
                </a:solidFill>
                <a:latin typeface="Arimo" charset="0"/>
                <a:ea typeface="Arimo" charset="0"/>
                <a:cs typeface="Arimo" charset="0"/>
                <a:sym typeface="Assistant"/>
              </a:rPr>
              <a:t>et al</a:t>
            </a:r>
            <a:r>
              <a:rPr lang="en-US" sz="2800" spc="23" dirty="0" smtClean="0">
                <a:solidFill>
                  <a:srgbClr val="0E182F"/>
                </a:solidFill>
                <a:latin typeface="Arimo" charset="0"/>
                <a:ea typeface="Arimo" charset="0"/>
                <a:cs typeface="Arimo" charset="0"/>
                <a:sym typeface="Assistant"/>
              </a:rPr>
              <a:t>., </a:t>
            </a:r>
            <a:r>
              <a:rPr lang="en-US" sz="2800" spc="23" dirty="0">
                <a:solidFill>
                  <a:srgbClr val="0E182F"/>
                </a:solidFill>
                <a:latin typeface="Arimo" charset="0"/>
                <a:ea typeface="Arimo" charset="0"/>
                <a:cs typeface="Arimo" charset="0"/>
                <a:sym typeface="Assistant"/>
              </a:rPr>
              <a:t>2024</a:t>
            </a:r>
            <a:r>
              <a:rPr lang="en-US" sz="2800" spc="23" dirty="0" smtClean="0">
                <a:solidFill>
                  <a:srgbClr val="0E182F"/>
                </a:solidFill>
                <a:latin typeface="Arimo" charset="0"/>
                <a:ea typeface="Arimo" charset="0"/>
                <a:cs typeface="Arimo" charset="0"/>
                <a:sym typeface="Assistant"/>
              </a:rPr>
              <a:t>)</a:t>
            </a:r>
            <a:endParaRPr lang="en-US" sz="2800" spc="23" dirty="0">
              <a:solidFill>
                <a:srgbClr val="0E182F"/>
              </a:solidFill>
              <a:latin typeface="Arimo" charset="0"/>
              <a:ea typeface="Arimo" charset="0"/>
              <a:cs typeface="Arimo" charset="0"/>
              <a:sym typeface="Assistant"/>
            </a:endParaRPr>
          </a:p>
          <a:p>
            <a:pPr marL="342752" lvl="1" indent="-171376" algn="just">
              <a:lnSpc>
                <a:spcPct val="150000"/>
              </a:lnSpc>
              <a:buFont typeface="Arial"/>
              <a:buChar char="•"/>
            </a:pPr>
            <a:r>
              <a:rPr lang="en-US" sz="2800" spc="23" dirty="0">
                <a:solidFill>
                  <a:srgbClr val="0E182F"/>
                </a:solidFill>
                <a:latin typeface="Arimo" charset="0"/>
                <a:ea typeface="Arimo" charset="0"/>
                <a:cs typeface="Arimo" charset="0"/>
                <a:sym typeface="Assistant"/>
              </a:rPr>
              <a:t> Microplastics absorb heavy metals and cause harm </a:t>
            </a:r>
            <a:r>
              <a:rPr lang="en-US" sz="2800" spc="23" dirty="0" smtClean="0">
                <a:solidFill>
                  <a:srgbClr val="0E182F"/>
                </a:solidFill>
                <a:latin typeface="Arimo" charset="0"/>
                <a:ea typeface="Arimo" charset="0"/>
                <a:cs typeface="Arimo" charset="0"/>
                <a:sym typeface="Assistant"/>
              </a:rPr>
              <a:t>to </a:t>
            </a:r>
            <a:r>
              <a:rPr lang="en-US" sz="2800" spc="23" dirty="0">
                <a:solidFill>
                  <a:srgbClr val="0E182F"/>
                </a:solidFill>
                <a:latin typeface="Arimo" charset="0"/>
                <a:ea typeface="Arimo" charset="0"/>
                <a:cs typeface="Arimo" charset="0"/>
                <a:sym typeface="Assistant"/>
              </a:rPr>
              <a:t>fishes and macro invertebrates that ingest </a:t>
            </a:r>
            <a:r>
              <a:rPr lang="en-US" sz="2800" spc="23" dirty="0" smtClean="0">
                <a:solidFill>
                  <a:srgbClr val="0E182F"/>
                </a:solidFill>
                <a:latin typeface="Arimo" charset="0"/>
                <a:ea typeface="Arimo" charset="0"/>
                <a:cs typeface="Arimo" charset="0"/>
                <a:sym typeface="Assistant"/>
              </a:rPr>
              <a:t>them </a:t>
            </a:r>
            <a:r>
              <a:rPr lang="en-US" sz="2800" spc="23" dirty="0">
                <a:solidFill>
                  <a:srgbClr val="0E182F"/>
                </a:solidFill>
                <a:latin typeface="Arimo" charset="0"/>
                <a:ea typeface="Arimo" charset="0"/>
                <a:cs typeface="Arimo" charset="0"/>
                <a:sym typeface="Assistant"/>
              </a:rPr>
              <a:t>(Emeka Dumbill and Lesley Henderson,</a:t>
            </a:r>
            <a:r>
              <a:rPr lang="en-US" sz="2800" i="1" spc="23" dirty="0">
                <a:solidFill>
                  <a:srgbClr val="0E182F"/>
                </a:solidFill>
                <a:latin typeface="Arimo" charset="0"/>
                <a:ea typeface="Arimo" charset="0"/>
                <a:cs typeface="Arimo" charset="0"/>
                <a:sym typeface="Assistant"/>
              </a:rPr>
              <a:t> </a:t>
            </a:r>
            <a:r>
              <a:rPr lang="en-US" sz="2800" spc="23" dirty="0">
                <a:solidFill>
                  <a:srgbClr val="0E182F"/>
                </a:solidFill>
                <a:latin typeface="Arimo" charset="0"/>
                <a:ea typeface="Arimo" charset="0"/>
                <a:cs typeface="Arimo" charset="0"/>
                <a:sym typeface="Assistant"/>
              </a:rPr>
              <a:t>2020</a:t>
            </a:r>
            <a:r>
              <a:rPr lang="en-US" sz="2800" spc="23" dirty="0" smtClean="0">
                <a:solidFill>
                  <a:srgbClr val="0E182F"/>
                </a:solidFill>
                <a:latin typeface="Arimo" charset="0"/>
                <a:ea typeface="Arimo" charset="0"/>
                <a:cs typeface="Arimo" charset="0"/>
                <a:sym typeface="Assistant"/>
              </a:rPr>
              <a:t>)</a:t>
            </a:r>
            <a:endParaRPr lang="en-US" sz="2800" spc="23" dirty="0">
              <a:solidFill>
                <a:srgbClr val="0E182F"/>
              </a:solidFill>
              <a:latin typeface="Arimo" charset="0"/>
              <a:ea typeface="Arimo" charset="0"/>
              <a:cs typeface="Arimo" charset="0"/>
              <a:sym typeface="Assistant"/>
            </a:endParaRPr>
          </a:p>
          <a:p>
            <a:pPr marL="342752" lvl="1" indent="-171376" algn="just">
              <a:lnSpc>
                <a:spcPct val="150000"/>
              </a:lnSpc>
              <a:buFont typeface="Arial"/>
              <a:buChar char="•"/>
            </a:pPr>
            <a:r>
              <a:rPr lang="en-US" sz="2800" spc="23" dirty="0">
                <a:solidFill>
                  <a:srgbClr val="0E182F"/>
                </a:solidFill>
                <a:latin typeface="Arimo" charset="0"/>
                <a:ea typeface="Arimo" charset="0"/>
                <a:cs typeface="Arimo" charset="0"/>
                <a:sym typeface="Assistant"/>
              </a:rPr>
              <a:t>Contaminants move up the food chain, eventually impacting humans who consume them </a:t>
            </a:r>
            <a:r>
              <a:rPr lang="en-US" sz="2800" spc="23" dirty="0" smtClean="0">
                <a:solidFill>
                  <a:srgbClr val="0E182F"/>
                </a:solidFill>
                <a:latin typeface="Arimo" charset="0"/>
                <a:ea typeface="Arimo" charset="0"/>
                <a:cs typeface="Arimo" charset="0"/>
                <a:sym typeface="Assistant"/>
              </a:rPr>
              <a:t>(Marn </a:t>
            </a:r>
            <a:r>
              <a:rPr lang="en-US" sz="2800" i="1" spc="23" dirty="0" smtClean="0">
                <a:solidFill>
                  <a:srgbClr val="0E182F"/>
                </a:solidFill>
                <a:latin typeface="Arimo" charset="0"/>
                <a:ea typeface="Arimo" charset="0"/>
                <a:cs typeface="Arimo" charset="0"/>
                <a:sym typeface="Assistant"/>
              </a:rPr>
              <a:t>et al</a:t>
            </a:r>
            <a:r>
              <a:rPr lang="en-US" sz="2800" spc="23" dirty="0" smtClean="0">
                <a:solidFill>
                  <a:srgbClr val="0E182F"/>
                </a:solidFill>
                <a:latin typeface="Arimo" charset="0"/>
                <a:ea typeface="Arimo" charset="0"/>
                <a:cs typeface="Arimo" charset="0"/>
                <a:sym typeface="Assistant"/>
              </a:rPr>
              <a:t>., 2020).</a:t>
            </a:r>
            <a:endParaRPr lang="en-US" sz="2800" spc="23" dirty="0">
              <a:solidFill>
                <a:srgbClr val="0E182F"/>
              </a:solidFill>
              <a:latin typeface="Arimo" charset="0"/>
              <a:ea typeface="Arimo" charset="0"/>
              <a:cs typeface="Arimo" charset="0"/>
              <a:sym typeface="Assistant"/>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p:cNvGrpSpPr/>
          <p:nvPr/>
        </p:nvGrpSpPr>
        <p:grpSpPr>
          <a:xfrm>
            <a:off x="1024123" y="876300"/>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7" name="Freeform 7"/>
          <p:cNvSpPr/>
          <p:nvPr/>
        </p:nvSpPr>
        <p:spPr>
          <a:xfrm>
            <a:off x="-6472170" y="3776919"/>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8" name="Freeform 8"/>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9" name="TextBox 9"/>
          <p:cNvSpPr txBox="1"/>
          <p:nvPr/>
        </p:nvSpPr>
        <p:spPr>
          <a:xfrm>
            <a:off x="1992550" y="3467100"/>
            <a:ext cx="14847649" cy="1051570"/>
          </a:xfrm>
          <a:prstGeom prst="rect">
            <a:avLst/>
          </a:prstGeom>
        </p:spPr>
        <p:txBody>
          <a:bodyPr wrap="square" lIns="0" tIns="0" rIns="0" bIns="0" rtlCol="0" anchor="t">
            <a:spAutoFit/>
          </a:bodyPr>
          <a:lstStyle/>
          <a:p>
            <a:pPr marL="626112" lvl="1" indent="-313056" algn="just">
              <a:lnSpc>
                <a:spcPts val="4060"/>
              </a:lnSpc>
              <a:buFont typeface="Arial"/>
              <a:buChar char="•"/>
            </a:pPr>
            <a:r>
              <a:rPr lang="en-US" sz="2900" spc="43" dirty="0" smtClean="0">
                <a:solidFill>
                  <a:srgbClr val="0D1C38"/>
                </a:solidFill>
                <a:latin typeface="Arimo" charset="0"/>
                <a:ea typeface="Arimo" charset="0"/>
                <a:cs typeface="Arimo" charset="0"/>
                <a:sym typeface="Assistant"/>
              </a:rPr>
              <a:t>This study fills the gap by examining  both </a:t>
            </a:r>
            <a:r>
              <a:rPr lang="en-US" sz="2900" spc="43" dirty="0">
                <a:solidFill>
                  <a:srgbClr val="0D1C38"/>
                </a:solidFill>
                <a:latin typeface="Arimo" charset="0"/>
                <a:ea typeface="Arimo" charset="0"/>
                <a:cs typeface="Arimo" charset="0"/>
                <a:sym typeface="Assistant"/>
              </a:rPr>
              <a:t> </a:t>
            </a:r>
            <a:r>
              <a:rPr lang="en-US" sz="2900" spc="43" dirty="0" smtClean="0">
                <a:solidFill>
                  <a:srgbClr val="0D1C38"/>
                </a:solidFill>
                <a:latin typeface="Arimo" charset="0"/>
                <a:ea typeface="Arimo" charset="0"/>
                <a:cs typeface="Arimo" charset="0"/>
                <a:sym typeface="Assistant"/>
              </a:rPr>
              <a:t>fish and macroinvertebrates from six coastal states in Nigeria assessing microplastics in both GIT and tissues (muscle)</a:t>
            </a:r>
            <a:endParaRPr lang="en-US" sz="2900" spc="43" dirty="0">
              <a:solidFill>
                <a:srgbClr val="0D1C38"/>
              </a:solidFill>
              <a:latin typeface="Arimo" charset="0"/>
              <a:ea typeface="Arimo" charset="0"/>
              <a:cs typeface="Arimo" charset="0"/>
              <a:sym typeface="Assistant"/>
            </a:endParaRPr>
          </a:p>
        </p:txBody>
      </p:sp>
      <p:sp>
        <p:nvSpPr>
          <p:cNvPr id="10" name="TextBox 10"/>
          <p:cNvSpPr txBox="1"/>
          <p:nvPr/>
        </p:nvSpPr>
        <p:spPr>
          <a:xfrm>
            <a:off x="1992550" y="2324100"/>
            <a:ext cx="14847650" cy="1051570"/>
          </a:xfrm>
          <a:prstGeom prst="rect">
            <a:avLst/>
          </a:prstGeom>
        </p:spPr>
        <p:txBody>
          <a:bodyPr wrap="square" lIns="0" tIns="0" rIns="0" bIns="0" rtlCol="0" anchor="t">
            <a:spAutoFit/>
          </a:bodyPr>
          <a:lstStyle/>
          <a:p>
            <a:pPr marL="626112" lvl="1" indent="-313056" algn="just">
              <a:lnSpc>
                <a:spcPts val="4060"/>
              </a:lnSpc>
              <a:buFont typeface="Arial"/>
              <a:buChar char="•"/>
            </a:pPr>
            <a:r>
              <a:rPr lang="en-US" sz="2900" spc="43" dirty="0" smtClean="0">
                <a:solidFill>
                  <a:srgbClr val="0D1C38"/>
                </a:solidFill>
                <a:latin typeface="Arimo" charset="0"/>
                <a:ea typeface="Arimo" charset="0"/>
                <a:cs typeface="Arimo" charset="0"/>
                <a:sym typeface="Assistant"/>
              </a:rPr>
              <a:t>Most studies in Nigeria assess microplastics in fish and/or from individual coastal states and focus mainly on the Gastrointestinal Tract (GIT).</a:t>
            </a:r>
            <a:endParaRPr lang="en-US" sz="2900" spc="43" dirty="0">
              <a:solidFill>
                <a:srgbClr val="0D1C38"/>
              </a:solidFill>
              <a:latin typeface="Arimo" charset="0"/>
              <a:ea typeface="Arimo" charset="0"/>
              <a:cs typeface="Arimo" charset="0"/>
              <a:sym typeface="Assistant"/>
            </a:endParaRPr>
          </a:p>
        </p:txBody>
      </p:sp>
      <p:sp>
        <p:nvSpPr>
          <p:cNvPr id="11" name="TextBox 11"/>
          <p:cNvSpPr txBox="1"/>
          <p:nvPr/>
        </p:nvSpPr>
        <p:spPr>
          <a:xfrm>
            <a:off x="6125872" y="1485900"/>
            <a:ext cx="7314637" cy="636136"/>
          </a:xfrm>
          <a:prstGeom prst="rect">
            <a:avLst/>
          </a:prstGeom>
        </p:spPr>
        <p:txBody>
          <a:bodyPr lIns="0" tIns="0" rIns="0" bIns="0" rtlCol="0" anchor="t">
            <a:spAutoFit/>
          </a:bodyPr>
          <a:lstStyle/>
          <a:p>
            <a:pPr algn="ctr">
              <a:lnSpc>
                <a:spcPts val="5440"/>
              </a:lnSpc>
            </a:pPr>
            <a:r>
              <a:rPr lang="en-US" sz="4000" dirty="0" smtClean="0">
                <a:solidFill>
                  <a:srgbClr val="0D1C38"/>
                </a:solidFill>
                <a:latin typeface="Arimo"/>
                <a:ea typeface="Arimo"/>
                <a:cs typeface="Arimo"/>
                <a:sym typeface="Arimo"/>
              </a:rPr>
              <a:t>RESEARCH GAP</a:t>
            </a:r>
            <a:endParaRPr lang="en-US" sz="4000" dirty="0">
              <a:solidFill>
                <a:srgbClr val="0D1C38"/>
              </a:solidFill>
              <a:latin typeface="Arimo"/>
              <a:ea typeface="Arimo"/>
              <a:cs typeface="Arimo"/>
              <a:sym typeface="Arimo"/>
            </a:endParaRPr>
          </a:p>
        </p:txBody>
      </p:sp>
      <p:sp>
        <p:nvSpPr>
          <p:cNvPr id="12" name="TextBox 12"/>
          <p:cNvSpPr txBox="1"/>
          <p:nvPr/>
        </p:nvSpPr>
        <p:spPr>
          <a:xfrm>
            <a:off x="13988931" y="9394899"/>
            <a:ext cx="3765669" cy="320601"/>
          </a:xfrm>
          <a:prstGeom prst="rect">
            <a:avLst/>
          </a:prstGeom>
        </p:spPr>
        <p:txBody>
          <a:bodyPr lIns="0" tIns="0" rIns="0" bIns="0" rtlCol="0" anchor="t">
            <a:spAutoFit/>
          </a:bodyPr>
          <a:lstStyle/>
          <a:p>
            <a:pPr algn="r">
              <a:lnSpc>
                <a:spcPts val="2541"/>
              </a:lnSpc>
            </a:pPr>
            <a:r>
              <a:rPr lang="en-US" spc="38" dirty="0" smtClean="0">
                <a:solidFill>
                  <a:srgbClr val="0D1C38"/>
                </a:solidFill>
                <a:latin typeface="Arimo" charset="0"/>
                <a:ea typeface="Arimo" charset="0"/>
                <a:cs typeface="Arimo" charset="0"/>
                <a:sym typeface="Assistant"/>
              </a:rPr>
              <a:t>Presented by: Damilola Arokoyu</a:t>
            </a:r>
            <a:endParaRPr lang="en-US" spc="38" dirty="0">
              <a:solidFill>
                <a:srgbClr val="0D1C38"/>
              </a:solidFill>
              <a:latin typeface="Arimo" charset="0"/>
              <a:ea typeface="Arimo" charset="0"/>
              <a:cs typeface="Arimo" charset="0"/>
              <a:sym typeface="Assistant"/>
            </a:endParaRPr>
          </a:p>
        </p:txBody>
      </p:sp>
      <p:sp>
        <p:nvSpPr>
          <p:cNvPr id="13" name="TextBox 13"/>
          <p:cNvSpPr txBox="1"/>
          <p:nvPr/>
        </p:nvSpPr>
        <p:spPr>
          <a:xfrm>
            <a:off x="7416943" y="9719064"/>
            <a:ext cx="4927457" cy="301236"/>
          </a:xfrm>
          <a:prstGeom prst="rect">
            <a:avLst/>
          </a:prstGeom>
        </p:spPr>
        <p:txBody>
          <a:bodyPr lIns="0" tIns="0" rIns="0" bIns="0" rtlCol="0" anchor="t">
            <a:spAutoFit/>
          </a:bodyPr>
          <a:lstStyle/>
          <a:p>
            <a:pPr algn="ctr">
              <a:lnSpc>
                <a:spcPts val="2481"/>
              </a:lnSpc>
            </a:pPr>
            <a:r>
              <a:rPr lang="en-US" spc="37" dirty="0" smtClean="0">
                <a:solidFill>
                  <a:srgbClr val="0D1C38"/>
                </a:solidFill>
                <a:latin typeface="Assistant"/>
                <a:ea typeface="Assistant"/>
                <a:cs typeface="Assistant"/>
                <a:sym typeface="Assistant"/>
              </a:rPr>
              <a:t>3</a:t>
            </a:r>
            <a:endParaRPr lang="en-US" spc="37" dirty="0">
              <a:solidFill>
                <a:srgbClr val="0D1C38"/>
              </a:solidFill>
              <a:latin typeface="Assistant"/>
              <a:ea typeface="Assistant"/>
              <a:cs typeface="Assistant"/>
              <a:sym typeface="Assistant"/>
            </a:endParaRPr>
          </a:p>
        </p:txBody>
      </p:sp>
      <p:sp>
        <p:nvSpPr>
          <p:cNvPr id="16" name="Slide Number Placeholder 15"/>
          <p:cNvSpPr>
            <a:spLocks noGrp="1"/>
          </p:cNvSpPr>
          <p:nvPr>
            <p:ph type="sldNum" sz="quarter" idx="12"/>
          </p:nvPr>
        </p:nvSpPr>
        <p:spPr/>
        <p:txBody>
          <a:bodyPr/>
          <a:lstStyle/>
          <a:p>
            <a:fld id="{B6F15528-21DE-4FAA-801E-634DDDAF4B2B}" type="slidenum">
              <a:rPr lang="en-US" smtClean="0"/>
              <a:pPr/>
              <a:t>4</a:t>
            </a:fld>
            <a:endParaRPr lang="en-US"/>
          </a:p>
        </p:txBody>
      </p:sp>
      <p:sp>
        <p:nvSpPr>
          <p:cNvPr id="15" name="Rectangle 14"/>
          <p:cNvSpPr/>
          <p:nvPr/>
        </p:nvSpPr>
        <p:spPr>
          <a:xfrm>
            <a:off x="1371600" y="9334500"/>
            <a:ext cx="9144000" cy="733534"/>
          </a:xfrm>
          <a:prstGeom prst="rect">
            <a:avLst/>
          </a:prstGeom>
        </p:spPr>
        <p:txBody>
          <a:bodyPr>
            <a:spAutoFit/>
          </a:bodyPr>
          <a:lstStyle/>
          <a:p>
            <a:pPr>
              <a:lnSpc>
                <a:spcPts val="2481"/>
              </a:lnSpc>
            </a:pPr>
            <a:r>
              <a:rPr lang="en-US" spc="37" dirty="0">
                <a:solidFill>
                  <a:srgbClr val="0D1C38"/>
                </a:solidFill>
                <a:latin typeface="Arimo" charset="0"/>
                <a:ea typeface="Arimo" charset="0"/>
                <a:cs typeface="Arimo" charset="0"/>
                <a:sym typeface="Assistant"/>
              </a:rPr>
              <a:t>Assessment of Microplastics in Commercial Fisheries procured from six Coastal states in Nigeria</a:t>
            </a:r>
          </a:p>
        </p:txBody>
      </p:sp>
      <p:sp>
        <p:nvSpPr>
          <p:cNvPr id="17" name="TextBox 11"/>
          <p:cNvSpPr txBox="1"/>
          <p:nvPr/>
        </p:nvSpPr>
        <p:spPr>
          <a:xfrm>
            <a:off x="6278272" y="5040764"/>
            <a:ext cx="7314637" cy="636136"/>
          </a:xfrm>
          <a:prstGeom prst="rect">
            <a:avLst/>
          </a:prstGeom>
        </p:spPr>
        <p:txBody>
          <a:bodyPr lIns="0" tIns="0" rIns="0" bIns="0" rtlCol="0" anchor="t">
            <a:spAutoFit/>
          </a:bodyPr>
          <a:lstStyle/>
          <a:p>
            <a:pPr algn="ctr">
              <a:lnSpc>
                <a:spcPts val="5440"/>
              </a:lnSpc>
            </a:pPr>
            <a:r>
              <a:rPr lang="en-US" sz="4000" dirty="0" smtClean="0">
                <a:solidFill>
                  <a:srgbClr val="0D1C38"/>
                </a:solidFill>
                <a:latin typeface="Arimo"/>
                <a:ea typeface="Arimo"/>
                <a:cs typeface="Arimo"/>
                <a:sym typeface="Arimo"/>
              </a:rPr>
              <a:t>AIMS</a:t>
            </a:r>
            <a:endParaRPr lang="en-US" sz="4000" dirty="0">
              <a:solidFill>
                <a:srgbClr val="0D1C38"/>
              </a:solidFill>
              <a:latin typeface="Arimo"/>
              <a:ea typeface="Arimo"/>
              <a:cs typeface="Arimo"/>
              <a:sym typeface="Arimo"/>
            </a:endParaRPr>
          </a:p>
        </p:txBody>
      </p:sp>
      <p:sp>
        <p:nvSpPr>
          <p:cNvPr id="18" name="TextBox 10"/>
          <p:cNvSpPr txBox="1"/>
          <p:nvPr/>
        </p:nvSpPr>
        <p:spPr>
          <a:xfrm>
            <a:off x="2133600" y="5775945"/>
            <a:ext cx="14935199" cy="1577355"/>
          </a:xfrm>
          <a:prstGeom prst="rect">
            <a:avLst/>
          </a:prstGeom>
        </p:spPr>
        <p:txBody>
          <a:bodyPr wrap="square" lIns="0" tIns="0" rIns="0" bIns="0" rtlCol="0" anchor="t">
            <a:spAutoFit/>
          </a:bodyPr>
          <a:lstStyle/>
          <a:p>
            <a:pPr marL="626112" lvl="1" indent="-313056" algn="just">
              <a:lnSpc>
                <a:spcPts val="4060"/>
              </a:lnSpc>
              <a:buFont typeface="Arial"/>
              <a:buChar char="•"/>
            </a:pPr>
            <a:r>
              <a:rPr lang="en-US" sz="2900" spc="43" dirty="0" smtClean="0">
                <a:solidFill>
                  <a:srgbClr val="0D1C38"/>
                </a:solidFill>
                <a:latin typeface="Arimo" charset="0"/>
                <a:ea typeface="Arimo" charset="0"/>
                <a:cs typeface="Arimo" charset="0"/>
                <a:sym typeface="Assistant"/>
              </a:rPr>
              <a:t>This study aims to randomly sample commercial fisheries at major landing sites across six (6) coastal states in Nigeria namely; Lagos, Ogun, Ondo, Cross river, Akwa-Ibom and Rivers states in the wet season</a:t>
            </a:r>
            <a:endParaRPr lang="en-US" sz="2900" spc="43" dirty="0">
              <a:solidFill>
                <a:srgbClr val="0D1C38"/>
              </a:solidFill>
              <a:latin typeface="Arimo" charset="0"/>
              <a:ea typeface="Arimo" charset="0"/>
              <a:cs typeface="Arimo" charset="0"/>
              <a:sym typeface="Assistant"/>
            </a:endParaRPr>
          </a:p>
        </p:txBody>
      </p:sp>
      <p:sp>
        <p:nvSpPr>
          <p:cNvPr id="19" name="TextBox 9"/>
          <p:cNvSpPr txBox="1"/>
          <p:nvPr/>
        </p:nvSpPr>
        <p:spPr>
          <a:xfrm>
            <a:off x="2057399" y="7415338"/>
            <a:ext cx="15011399" cy="1051570"/>
          </a:xfrm>
          <a:prstGeom prst="rect">
            <a:avLst/>
          </a:prstGeom>
        </p:spPr>
        <p:txBody>
          <a:bodyPr wrap="square" lIns="0" tIns="0" rIns="0" bIns="0" rtlCol="0" anchor="t">
            <a:spAutoFit/>
          </a:bodyPr>
          <a:lstStyle/>
          <a:p>
            <a:pPr marL="626112" lvl="1" indent="-313056" algn="just">
              <a:lnSpc>
                <a:spcPts val="4060"/>
              </a:lnSpc>
              <a:buFont typeface="Arial"/>
              <a:buChar char="•"/>
            </a:pPr>
            <a:r>
              <a:rPr lang="en-US" sz="2900" spc="43" dirty="0" smtClean="0">
                <a:solidFill>
                  <a:srgbClr val="0D1C38"/>
                </a:solidFill>
                <a:latin typeface="Arimo" charset="0"/>
                <a:ea typeface="Arimo" charset="0"/>
                <a:cs typeface="Arimo" charset="0"/>
                <a:sym typeface="Assistant"/>
              </a:rPr>
              <a:t>Evaluate the presence of microplastics in the Gastrointestinal tract (GIT) and tissues (muscle) of commercial fisheries sampled from the landing sites mentioned above</a:t>
            </a:r>
            <a:endParaRPr lang="en-US" sz="2900" spc="43" dirty="0">
              <a:solidFill>
                <a:srgbClr val="0D1C38"/>
              </a:solidFill>
              <a:latin typeface="Arimo" charset="0"/>
              <a:ea typeface="Arimo" charset="0"/>
              <a:cs typeface="Arimo" charset="0"/>
              <a:sym typeface="Assistant"/>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2200" y="342900"/>
            <a:ext cx="3962400" cy="838200"/>
          </a:xfrm>
        </p:spPr>
        <p:txBody>
          <a:bodyPr>
            <a:noAutofit/>
          </a:bodyPr>
          <a:lstStyle/>
          <a:p>
            <a:pPr algn="ctr"/>
            <a:r>
              <a:rPr lang="en-US" sz="3600" dirty="0" smtClean="0">
                <a:solidFill>
                  <a:schemeClr val="tx2">
                    <a:lumMod val="50000"/>
                  </a:schemeClr>
                </a:solidFill>
                <a:latin typeface="Arimo" charset="0"/>
                <a:ea typeface="Arimo" charset="0"/>
                <a:cs typeface="Arimo" charset="0"/>
              </a:rPr>
              <a:t>STUDY AREA</a:t>
            </a:r>
            <a:endParaRPr lang="en-US" sz="3600" dirty="0">
              <a:solidFill>
                <a:schemeClr val="tx2">
                  <a:lumMod val="50000"/>
                </a:schemeClr>
              </a:solidFill>
              <a:latin typeface="Arimo" charset="0"/>
              <a:ea typeface="Arimo" charset="0"/>
              <a:cs typeface="Arimo" charset="0"/>
            </a:endParaRPr>
          </a:p>
        </p:txBody>
      </p:sp>
      <p:pic>
        <p:nvPicPr>
          <p:cNvPr id="7" name="image1.png"/>
          <p:cNvPicPr preferRelativeResize="0">
            <a:picLocks noGrp="1"/>
          </p:cNvPicPr>
          <p:nvPr>
            <p:ph idx="1"/>
          </p:nvPr>
        </p:nvPicPr>
        <p:blipFill>
          <a:blip r:embed="rId2"/>
          <a:srcRect/>
          <a:stretch>
            <a:fillRect/>
          </a:stretch>
        </p:blipFill>
        <p:spPr>
          <a:xfrm>
            <a:off x="7652085" y="2887580"/>
            <a:ext cx="8680911" cy="5443086"/>
          </a:xfrm>
        </p:spPr>
      </p:pic>
      <p:sp>
        <p:nvSpPr>
          <p:cNvPr id="4" name="Text Placeholder 3"/>
          <p:cNvSpPr>
            <a:spLocks noGrp="1"/>
          </p:cNvSpPr>
          <p:nvPr>
            <p:ph type="body" sz="half" idx="2"/>
          </p:nvPr>
        </p:nvSpPr>
        <p:spPr>
          <a:xfrm>
            <a:off x="990601" y="1380019"/>
            <a:ext cx="6527800" cy="6430481"/>
          </a:xfrm>
        </p:spPr>
        <p:txBody>
          <a:bodyPr>
            <a:noAutofit/>
          </a:bodyPr>
          <a:lstStyle/>
          <a:p>
            <a:pPr algn="just"/>
            <a:r>
              <a:rPr lang="en-US" sz="2800" dirty="0">
                <a:solidFill>
                  <a:schemeClr val="tx2">
                    <a:lumMod val="50000"/>
                  </a:schemeClr>
                </a:solidFill>
                <a:latin typeface="Arimo" charset="0"/>
                <a:ea typeface="Arimo" charset="0"/>
                <a:cs typeface="Arimo" charset="0"/>
              </a:rPr>
              <a:t>The study was carried </a:t>
            </a:r>
            <a:r>
              <a:rPr lang="en-US" sz="2800" dirty="0" smtClean="0">
                <a:solidFill>
                  <a:schemeClr val="tx2">
                    <a:lumMod val="50000"/>
                  </a:schemeClr>
                </a:solidFill>
                <a:latin typeface="Arimo" charset="0"/>
                <a:ea typeface="Arimo" charset="0"/>
                <a:cs typeface="Arimo" charset="0"/>
              </a:rPr>
              <a:t>out in the wet season (May-June, 2025) in six </a:t>
            </a:r>
            <a:r>
              <a:rPr lang="en-US" sz="2800" dirty="0">
                <a:solidFill>
                  <a:schemeClr val="tx2">
                    <a:lumMod val="50000"/>
                  </a:schemeClr>
                </a:solidFill>
                <a:latin typeface="Arimo" charset="0"/>
                <a:ea typeface="Arimo" charset="0"/>
                <a:cs typeface="Arimo" charset="0"/>
              </a:rPr>
              <a:t>different states in Nigeria namely:</a:t>
            </a:r>
          </a:p>
          <a:p>
            <a:pPr algn="just"/>
            <a:r>
              <a:rPr lang="en-US" sz="2800" dirty="0">
                <a:solidFill>
                  <a:schemeClr val="tx2">
                    <a:lumMod val="50000"/>
                  </a:schemeClr>
                </a:solidFill>
                <a:latin typeface="Arimo" charset="0"/>
                <a:ea typeface="Arimo" charset="0"/>
                <a:cs typeface="Arimo" charset="0"/>
              </a:rPr>
              <a:t>Lagos, Ogun, Ondo, </a:t>
            </a:r>
            <a:r>
              <a:rPr lang="en-US" sz="2800" dirty="0" smtClean="0">
                <a:solidFill>
                  <a:schemeClr val="tx2">
                    <a:lumMod val="50000"/>
                  </a:schemeClr>
                </a:solidFill>
                <a:latin typeface="Arimo" charset="0"/>
                <a:ea typeface="Arimo" charset="0"/>
                <a:cs typeface="Arimo" charset="0"/>
              </a:rPr>
              <a:t>Akwa</a:t>
            </a:r>
            <a:r>
              <a:rPr lang="en-US" sz="2800" dirty="0">
                <a:solidFill>
                  <a:schemeClr val="tx2">
                    <a:lumMod val="50000"/>
                  </a:schemeClr>
                </a:solidFill>
                <a:latin typeface="Arimo" charset="0"/>
                <a:ea typeface="Arimo" charset="0"/>
                <a:cs typeface="Arimo" charset="0"/>
              </a:rPr>
              <a:t>-</a:t>
            </a:r>
            <a:r>
              <a:rPr lang="en-US" sz="2800" dirty="0" smtClean="0">
                <a:solidFill>
                  <a:schemeClr val="tx2">
                    <a:lumMod val="50000"/>
                  </a:schemeClr>
                </a:solidFill>
                <a:latin typeface="Arimo" charset="0"/>
                <a:ea typeface="Arimo" charset="0"/>
                <a:cs typeface="Arimo" charset="0"/>
              </a:rPr>
              <a:t>Ibom </a:t>
            </a:r>
            <a:r>
              <a:rPr lang="en-US" sz="2800" dirty="0">
                <a:solidFill>
                  <a:schemeClr val="tx2">
                    <a:lumMod val="50000"/>
                  </a:schemeClr>
                </a:solidFill>
                <a:latin typeface="Arimo" charset="0"/>
                <a:ea typeface="Arimo" charset="0"/>
                <a:cs typeface="Arimo" charset="0"/>
              </a:rPr>
              <a:t>and Rivers states. Nine key </a:t>
            </a:r>
            <a:r>
              <a:rPr lang="en-US" sz="2800" dirty="0" smtClean="0">
                <a:solidFill>
                  <a:schemeClr val="tx2">
                    <a:lumMod val="50000"/>
                  </a:schemeClr>
                </a:solidFill>
                <a:latin typeface="Arimo" charset="0"/>
                <a:ea typeface="Arimo" charset="0"/>
                <a:cs typeface="Arimo" charset="0"/>
              </a:rPr>
              <a:t>coastal </a:t>
            </a:r>
            <a:r>
              <a:rPr lang="en-US" sz="2800" dirty="0">
                <a:solidFill>
                  <a:schemeClr val="tx2">
                    <a:lumMod val="50000"/>
                  </a:schemeClr>
                </a:solidFill>
                <a:latin typeface="Arimo" charset="0"/>
                <a:ea typeface="Arimo" charset="0"/>
                <a:cs typeface="Arimo" charset="0"/>
              </a:rPr>
              <a:t>locations in each states are considered, these locations are: Epe, Epe local government area, Lagos Island, Lagos state, Badagry local government, Victoria Island, Lagos Island local government, Apapa, Apapa local government. Aiyetoro, Ilaje local government area, Ondo state, Iwopin, Ogun waterside local government area, Ogun state, Nsidung Calabar South local government area, Calabar, Cross river state, Ibaka, Mbo local government area, Uyo, Akwa-Ibom </a:t>
            </a:r>
            <a:r>
              <a:rPr lang="en-US" sz="2800" dirty="0" smtClean="0">
                <a:solidFill>
                  <a:schemeClr val="tx2">
                    <a:lumMod val="50000"/>
                  </a:schemeClr>
                </a:solidFill>
                <a:latin typeface="Arimo" charset="0"/>
                <a:ea typeface="Arimo" charset="0"/>
                <a:cs typeface="Arimo" charset="0"/>
              </a:rPr>
              <a:t>state and </a:t>
            </a:r>
            <a:r>
              <a:rPr lang="en-US" sz="2800" dirty="0">
                <a:solidFill>
                  <a:schemeClr val="tx2">
                    <a:lumMod val="50000"/>
                  </a:schemeClr>
                </a:solidFill>
                <a:latin typeface="Arimo" charset="0"/>
                <a:ea typeface="Arimo" charset="0"/>
                <a:cs typeface="Arimo" charset="0"/>
              </a:rPr>
              <a:t>Oyokoroto, Andoni local government </a:t>
            </a:r>
            <a:r>
              <a:rPr lang="en-US" sz="2800" dirty="0" smtClean="0">
                <a:solidFill>
                  <a:schemeClr val="tx2">
                    <a:lumMod val="50000"/>
                  </a:schemeClr>
                </a:solidFill>
                <a:latin typeface="Arimo" charset="0"/>
                <a:ea typeface="Arimo" charset="0"/>
                <a:cs typeface="Arimo" charset="0"/>
              </a:rPr>
              <a:t>area, Portharcourt </a:t>
            </a:r>
            <a:r>
              <a:rPr lang="en-US" sz="2800" dirty="0">
                <a:solidFill>
                  <a:schemeClr val="tx2">
                    <a:lumMod val="50000"/>
                  </a:schemeClr>
                </a:solidFill>
                <a:latin typeface="Arimo" charset="0"/>
                <a:ea typeface="Arimo" charset="0"/>
                <a:cs typeface="Arimo" charset="0"/>
              </a:rPr>
              <a:t>, Rivers state.</a:t>
            </a:r>
          </a:p>
          <a:p>
            <a:pPr algn="just"/>
            <a:endParaRPr lang="en-US" sz="2800" dirty="0">
              <a:solidFill>
                <a:schemeClr val="tx2">
                  <a:lumMod val="50000"/>
                </a:schemeClr>
              </a:solidFill>
              <a:latin typeface="Arimo" charset="0"/>
              <a:ea typeface="Arimo" charset="0"/>
              <a:cs typeface="Arimo" charset="0"/>
            </a:endParaRPr>
          </a:p>
        </p:txBody>
      </p:sp>
      <p:sp>
        <p:nvSpPr>
          <p:cNvPr id="11" name="TextBox 10"/>
          <p:cNvSpPr txBox="1"/>
          <p:nvPr/>
        </p:nvSpPr>
        <p:spPr>
          <a:xfrm>
            <a:off x="7782026" y="1790700"/>
            <a:ext cx="9515374" cy="1615827"/>
          </a:xfrm>
          <a:prstGeom prst="rect">
            <a:avLst/>
          </a:prstGeom>
          <a:noFill/>
        </p:spPr>
        <p:txBody>
          <a:bodyPr wrap="square" lIns="137160" tIns="68580" rIns="137160" bIns="68580" rtlCol="0">
            <a:spAutoFit/>
          </a:bodyPr>
          <a:lstStyle/>
          <a:p>
            <a:pPr algn="ctr"/>
            <a:r>
              <a:rPr lang="en-US" sz="3200" dirty="0">
                <a:solidFill>
                  <a:schemeClr val="tx2">
                    <a:lumMod val="50000"/>
                  </a:schemeClr>
                </a:solidFill>
                <a:latin typeface="Arimo" charset="0"/>
                <a:ea typeface="Arimo" charset="0"/>
                <a:cs typeface="Arimo" charset="0"/>
              </a:rPr>
              <a:t>Map showing the Costal areas in the six states in Nigeria</a:t>
            </a:r>
          </a:p>
          <a:p>
            <a:endParaRPr lang="en-US" sz="3200" dirty="0">
              <a:solidFill>
                <a:schemeClr val="tx2">
                  <a:lumMod val="50000"/>
                </a:schemeClr>
              </a:solidFill>
              <a:latin typeface="Arimo" charset="0"/>
              <a:ea typeface="Arimo" charset="0"/>
              <a:cs typeface="Arimo" charset="0"/>
            </a:endParaRPr>
          </a:p>
        </p:txBody>
      </p:sp>
      <p:sp>
        <p:nvSpPr>
          <p:cNvPr id="12" name="TextBox 11"/>
          <p:cNvSpPr txBox="1"/>
          <p:nvPr/>
        </p:nvSpPr>
        <p:spPr>
          <a:xfrm>
            <a:off x="8171849" y="8619423"/>
            <a:ext cx="4590803" cy="630942"/>
          </a:xfrm>
          <a:prstGeom prst="rect">
            <a:avLst/>
          </a:prstGeom>
          <a:noFill/>
        </p:spPr>
        <p:txBody>
          <a:bodyPr wrap="square" lIns="137160" tIns="68580" rIns="137160" bIns="68580" rtlCol="0">
            <a:spAutoFit/>
          </a:bodyPr>
          <a:lstStyle/>
          <a:p>
            <a:r>
              <a:rPr lang="en-US" dirty="0" smtClean="0">
                <a:solidFill>
                  <a:schemeClr val="tx2">
                    <a:lumMod val="50000"/>
                  </a:schemeClr>
                </a:solidFill>
              </a:rPr>
              <a:t> </a:t>
            </a:r>
            <a:r>
              <a:rPr lang="en-US" sz="3200" dirty="0" smtClean="0">
                <a:solidFill>
                  <a:schemeClr val="tx2">
                    <a:lumMod val="50000"/>
                  </a:schemeClr>
                </a:solidFill>
                <a:latin typeface="Arimo" charset="0"/>
                <a:ea typeface="Arimo" charset="0"/>
                <a:cs typeface="Arimo" charset="0"/>
              </a:rPr>
              <a:t>Personal </a:t>
            </a:r>
            <a:r>
              <a:rPr lang="en-US" sz="3200" dirty="0" err="1" smtClean="0">
                <a:solidFill>
                  <a:schemeClr val="tx2">
                    <a:lumMod val="50000"/>
                  </a:schemeClr>
                </a:solidFill>
                <a:latin typeface="Arimo" charset="0"/>
                <a:ea typeface="Arimo" charset="0"/>
                <a:cs typeface="Arimo" charset="0"/>
              </a:rPr>
              <a:t>comunication</a:t>
            </a:r>
            <a:endParaRPr lang="en-US" sz="3200" dirty="0">
              <a:solidFill>
                <a:schemeClr val="tx2">
                  <a:lumMod val="50000"/>
                </a:schemeClr>
              </a:solidFill>
              <a:latin typeface="Arimo" charset="0"/>
              <a:ea typeface="Arimo" charset="0"/>
              <a:cs typeface="Arimo" charset="0"/>
            </a:endParaRPr>
          </a:p>
        </p:txBody>
      </p:sp>
      <p:sp>
        <p:nvSpPr>
          <p:cNvPr id="3" name="TextBox 2"/>
          <p:cNvSpPr txBox="1"/>
          <p:nvPr/>
        </p:nvSpPr>
        <p:spPr>
          <a:xfrm>
            <a:off x="8382000" y="9791700"/>
            <a:ext cx="2085250" cy="369332"/>
          </a:xfrm>
          <a:prstGeom prst="rect">
            <a:avLst/>
          </a:prstGeom>
          <a:noFill/>
        </p:spPr>
        <p:txBody>
          <a:bodyPr wrap="square" rtlCol="0">
            <a:spAutoFit/>
          </a:bodyPr>
          <a:lstStyle/>
          <a:p>
            <a:pPr algn="ctr"/>
            <a:r>
              <a:rPr lang="en-US" dirty="0" smtClean="0">
                <a:latin typeface="Arimo" charset="0"/>
                <a:ea typeface="Arimo" charset="0"/>
                <a:cs typeface="Arimo" charset="0"/>
              </a:rPr>
              <a:t>4</a:t>
            </a:r>
            <a:endParaRPr lang="en-US" dirty="0">
              <a:latin typeface="Arimo" charset="0"/>
              <a:ea typeface="Arimo" charset="0"/>
              <a:cs typeface="Arimo" charset="0"/>
            </a:endParaRPr>
          </a:p>
        </p:txBody>
      </p:sp>
      <p:sp>
        <p:nvSpPr>
          <p:cNvPr id="8" name="TextBox 51"/>
          <p:cNvSpPr txBox="1"/>
          <p:nvPr/>
        </p:nvSpPr>
        <p:spPr>
          <a:xfrm>
            <a:off x="12115800" y="9733170"/>
            <a:ext cx="5880313" cy="287130"/>
          </a:xfrm>
          <a:prstGeom prst="rect">
            <a:avLst/>
          </a:prstGeom>
        </p:spPr>
        <p:txBody>
          <a:bodyPr wrap="square" lIns="0" tIns="0" rIns="0" bIns="0" rtlCol="0" anchor="t">
            <a:spAutoFit/>
          </a:bodyPr>
          <a:lstStyle/>
          <a:p>
            <a:pPr algn="r">
              <a:lnSpc>
                <a:spcPts val="2481"/>
              </a:lnSpc>
            </a:pPr>
            <a:r>
              <a:rPr lang="en-US" sz="1600" spc="37" dirty="0" smtClean="0">
                <a:solidFill>
                  <a:srgbClr val="0D1C38"/>
                </a:solidFill>
                <a:latin typeface="Arimo" charset="0"/>
                <a:ea typeface="Arimo" charset="0"/>
                <a:cs typeface="Arimo" charset="0"/>
                <a:sym typeface="Assistant"/>
              </a:rPr>
              <a:t>Presented by: Damilola Arokoyu</a:t>
            </a:r>
            <a:endParaRPr lang="en-US" sz="1600" spc="37" dirty="0">
              <a:solidFill>
                <a:srgbClr val="0D1C38"/>
              </a:solidFill>
              <a:latin typeface="Arimo" charset="0"/>
              <a:ea typeface="Arimo" charset="0"/>
              <a:cs typeface="Arimo" charset="0"/>
              <a:sym typeface="Assistant"/>
            </a:endParaRPr>
          </a:p>
        </p:txBody>
      </p:sp>
    </p:spTree>
    <p:extLst>
      <p:ext uri="{BB962C8B-B14F-4D97-AF65-F5344CB8AC3E}">
        <p14:creationId xmlns:p14="http://schemas.microsoft.com/office/powerpoint/2010/main" val="39925497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3810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p:cNvGrpSpPr/>
          <p:nvPr/>
        </p:nvGrpSpPr>
        <p:grpSpPr>
          <a:xfrm>
            <a:off x="1029443" y="1028700"/>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7" name="Freeform 7"/>
          <p:cNvSpPr/>
          <p:nvPr/>
        </p:nvSpPr>
        <p:spPr>
          <a:xfrm>
            <a:off x="-4051491" y="3342167"/>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1" name="TextBox 11"/>
          <p:cNvSpPr txBox="1"/>
          <p:nvPr/>
        </p:nvSpPr>
        <p:spPr>
          <a:xfrm>
            <a:off x="1752600" y="2857500"/>
            <a:ext cx="15163800" cy="6283771"/>
          </a:xfrm>
          <a:prstGeom prst="rect">
            <a:avLst/>
          </a:prstGeom>
        </p:spPr>
        <p:txBody>
          <a:bodyPr wrap="square" lIns="0" tIns="0" rIns="0" bIns="0" rtlCol="0" anchor="t">
            <a:spAutoFit/>
          </a:bodyPr>
          <a:lstStyle/>
          <a:p>
            <a:pPr marL="342900" indent="-342900" algn="just">
              <a:lnSpc>
                <a:spcPts val="3500"/>
              </a:lnSpc>
              <a:buFont typeface="Arial" pitchFamily="34" charset="0"/>
              <a:buChar char="•"/>
            </a:pPr>
            <a:r>
              <a:rPr lang="en-US" sz="3200" spc="37" dirty="0" smtClean="0">
                <a:solidFill>
                  <a:srgbClr val="0D1C38"/>
                </a:solidFill>
                <a:latin typeface="Arimo" charset="0"/>
                <a:ea typeface="Arimo" charset="0"/>
                <a:cs typeface="Arimo" charset="0"/>
                <a:sym typeface="Assistant"/>
              </a:rPr>
              <a:t>Pre-study to identify suitable coastal communities was conducted.</a:t>
            </a:r>
          </a:p>
          <a:p>
            <a:pPr algn="just">
              <a:lnSpc>
                <a:spcPts val="3500"/>
              </a:lnSpc>
            </a:pPr>
            <a:endParaRPr lang="en-US" sz="3200" spc="37" dirty="0" smtClean="0">
              <a:solidFill>
                <a:srgbClr val="0D1C38"/>
              </a:solidFill>
              <a:latin typeface="Arimo" charset="0"/>
              <a:ea typeface="Arimo" charset="0"/>
              <a:cs typeface="Arimo" charset="0"/>
              <a:sym typeface="Assistant"/>
            </a:endParaRPr>
          </a:p>
          <a:p>
            <a:pPr marL="342900" indent="-342900" algn="just">
              <a:lnSpc>
                <a:spcPts val="3500"/>
              </a:lnSpc>
              <a:buFont typeface="Arial" pitchFamily="34" charset="0"/>
              <a:buChar char="•"/>
            </a:pPr>
            <a:r>
              <a:rPr lang="en-US" sz="3200" spc="37" dirty="0" smtClean="0">
                <a:solidFill>
                  <a:srgbClr val="0D1C38"/>
                </a:solidFill>
                <a:latin typeface="Arimo" charset="0"/>
                <a:ea typeface="Arimo" charset="0"/>
                <a:cs typeface="Arimo" charset="0"/>
                <a:sym typeface="Assistant"/>
              </a:rPr>
              <a:t>An average of seven species of fishes and macroinvertebrates were procured, </a:t>
            </a:r>
            <a:r>
              <a:rPr lang="en-US" sz="3200" spc="37" dirty="0" err="1" smtClean="0">
                <a:solidFill>
                  <a:srgbClr val="0D1C38"/>
                </a:solidFill>
                <a:latin typeface="Arimo" charset="0"/>
                <a:ea typeface="Arimo" charset="0"/>
                <a:cs typeface="Arimo" charset="0"/>
                <a:sym typeface="Assistant"/>
              </a:rPr>
              <a:t>photodocumented</a:t>
            </a:r>
            <a:r>
              <a:rPr lang="en-US" sz="3200" spc="37" dirty="0" smtClean="0">
                <a:solidFill>
                  <a:srgbClr val="0D1C38"/>
                </a:solidFill>
                <a:latin typeface="Arimo" charset="0"/>
                <a:ea typeface="Arimo" charset="0"/>
                <a:cs typeface="Arimo" charset="0"/>
                <a:sym typeface="Assistant"/>
              </a:rPr>
              <a:t>, measured and weighed.</a:t>
            </a:r>
          </a:p>
          <a:p>
            <a:pPr algn="just">
              <a:lnSpc>
                <a:spcPts val="3500"/>
              </a:lnSpc>
            </a:pPr>
            <a:endParaRPr lang="en-US" sz="3200" spc="37" dirty="0" smtClean="0">
              <a:solidFill>
                <a:srgbClr val="0D1C38"/>
              </a:solidFill>
              <a:latin typeface="Arimo" charset="0"/>
              <a:ea typeface="Arimo" charset="0"/>
              <a:cs typeface="Arimo" charset="0"/>
              <a:sym typeface="Assistant"/>
            </a:endParaRPr>
          </a:p>
          <a:p>
            <a:pPr marL="342900" indent="-342900" algn="just">
              <a:lnSpc>
                <a:spcPts val="3500"/>
              </a:lnSpc>
              <a:buFont typeface="Arial" pitchFamily="34" charset="0"/>
              <a:buChar char="•"/>
            </a:pPr>
            <a:r>
              <a:rPr lang="en-US" sz="3200" spc="37" dirty="0" smtClean="0">
                <a:solidFill>
                  <a:srgbClr val="0D1C38"/>
                </a:solidFill>
                <a:latin typeface="Arimo" charset="0"/>
                <a:ea typeface="Arimo" charset="0"/>
                <a:cs typeface="Arimo" charset="0"/>
                <a:sym typeface="Assistant"/>
              </a:rPr>
              <a:t>At the laboratory, fishes and macroinvertebrates were gutted to remove their GIT content and part of their tissues (muscle).</a:t>
            </a:r>
          </a:p>
          <a:p>
            <a:pPr algn="just">
              <a:lnSpc>
                <a:spcPts val="3500"/>
              </a:lnSpc>
            </a:pPr>
            <a:endParaRPr lang="en-US" sz="3200" spc="37" dirty="0" smtClean="0">
              <a:solidFill>
                <a:srgbClr val="0D1C38"/>
              </a:solidFill>
              <a:latin typeface="Arimo" charset="0"/>
              <a:ea typeface="Arimo" charset="0"/>
              <a:cs typeface="Arimo" charset="0"/>
              <a:sym typeface="Assistant"/>
            </a:endParaRPr>
          </a:p>
          <a:p>
            <a:pPr marL="342900" indent="-342900" algn="just">
              <a:lnSpc>
                <a:spcPts val="3500"/>
              </a:lnSpc>
              <a:buFont typeface="Arial" pitchFamily="34" charset="0"/>
              <a:buChar char="•"/>
            </a:pPr>
            <a:r>
              <a:rPr lang="en-US" sz="3200" spc="37" dirty="0" smtClean="0">
                <a:solidFill>
                  <a:srgbClr val="0D1C38"/>
                </a:solidFill>
                <a:latin typeface="Arimo" charset="0"/>
                <a:ea typeface="Arimo" charset="0"/>
                <a:cs typeface="Arimo" charset="0"/>
                <a:sym typeface="Assistant"/>
              </a:rPr>
              <a:t>The retrieved GIT and tissues (muscle) were weighed, dissolved Potassium Hydroxide (KOH) and H</a:t>
            </a:r>
            <a:r>
              <a:rPr lang="en-US" sz="2400" spc="37" dirty="0" smtClean="0">
                <a:solidFill>
                  <a:srgbClr val="0D1C38"/>
                </a:solidFill>
                <a:latin typeface="Arimo" charset="0"/>
                <a:ea typeface="Arimo" charset="0"/>
                <a:cs typeface="Arimo" charset="0"/>
                <a:sym typeface="Assistant"/>
              </a:rPr>
              <a:t>2</a:t>
            </a:r>
            <a:r>
              <a:rPr lang="en-US" sz="3200" spc="37" dirty="0" smtClean="0">
                <a:solidFill>
                  <a:srgbClr val="0D1C38"/>
                </a:solidFill>
                <a:latin typeface="Arimo" charset="0"/>
                <a:ea typeface="Arimo" charset="0"/>
                <a:cs typeface="Arimo" charset="0"/>
                <a:sym typeface="Assistant"/>
              </a:rPr>
              <a:t>SO</a:t>
            </a:r>
            <a:r>
              <a:rPr lang="en-US" sz="2400" spc="37" dirty="0" smtClean="0">
                <a:solidFill>
                  <a:srgbClr val="0D1C38"/>
                </a:solidFill>
                <a:latin typeface="Arimo" charset="0"/>
                <a:ea typeface="Arimo" charset="0"/>
                <a:cs typeface="Arimo" charset="0"/>
                <a:sym typeface="Assistant"/>
              </a:rPr>
              <a:t>4</a:t>
            </a:r>
            <a:r>
              <a:rPr lang="en-US" sz="3200" spc="37" dirty="0" smtClean="0">
                <a:solidFill>
                  <a:srgbClr val="0D1C38"/>
                </a:solidFill>
                <a:latin typeface="Arimo" charset="0"/>
                <a:ea typeface="Arimo" charset="0"/>
                <a:cs typeface="Arimo" charset="0"/>
                <a:sym typeface="Assistant"/>
              </a:rPr>
              <a:t> and filtered.</a:t>
            </a:r>
          </a:p>
          <a:p>
            <a:pPr algn="just">
              <a:lnSpc>
                <a:spcPts val="3500"/>
              </a:lnSpc>
            </a:pPr>
            <a:endParaRPr lang="en-US" sz="3200" spc="37" dirty="0" smtClean="0">
              <a:solidFill>
                <a:srgbClr val="0D1C38"/>
              </a:solidFill>
              <a:latin typeface="Arimo" charset="0"/>
              <a:ea typeface="Arimo" charset="0"/>
              <a:cs typeface="Arimo" charset="0"/>
              <a:sym typeface="Assistant"/>
            </a:endParaRPr>
          </a:p>
          <a:p>
            <a:pPr marL="342900" indent="-342900" algn="just">
              <a:lnSpc>
                <a:spcPts val="3500"/>
              </a:lnSpc>
              <a:buFont typeface="Arial" pitchFamily="34" charset="0"/>
              <a:buChar char="•"/>
            </a:pPr>
            <a:r>
              <a:rPr lang="en-US" sz="3200" spc="37" dirty="0" smtClean="0">
                <a:solidFill>
                  <a:srgbClr val="0D1C38"/>
                </a:solidFill>
                <a:latin typeface="Arimo" charset="0"/>
                <a:ea typeface="Arimo" charset="0"/>
                <a:cs typeface="Arimo" charset="0"/>
                <a:sym typeface="Assistant"/>
              </a:rPr>
              <a:t>The filters were examined under a microscope and microplastics were counted, measured and photographed at 4000X magnification.</a:t>
            </a:r>
          </a:p>
          <a:p>
            <a:pPr marL="342900" indent="-342900" algn="just">
              <a:lnSpc>
                <a:spcPts val="3500"/>
              </a:lnSpc>
              <a:buFont typeface="Arial" pitchFamily="34" charset="0"/>
              <a:buChar char="•"/>
            </a:pPr>
            <a:r>
              <a:rPr lang="en-US" sz="3200" spc="37" dirty="0" smtClean="0">
                <a:solidFill>
                  <a:srgbClr val="0D1C38"/>
                </a:solidFill>
                <a:latin typeface="Arimo" charset="0"/>
                <a:ea typeface="Arimo" charset="0"/>
                <a:cs typeface="Arimo" charset="0"/>
                <a:sym typeface="Assistant"/>
              </a:rPr>
              <a:t>Ethical approval was obtained for this study</a:t>
            </a:r>
            <a:endParaRPr lang="en-US" sz="3200" spc="37" dirty="0">
              <a:solidFill>
                <a:srgbClr val="0D1C38"/>
              </a:solidFill>
              <a:latin typeface="Arimo" charset="0"/>
              <a:ea typeface="Arimo" charset="0"/>
              <a:cs typeface="Arimo" charset="0"/>
              <a:sym typeface="Assistant"/>
            </a:endParaRPr>
          </a:p>
        </p:txBody>
      </p:sp>
      <p:sp>
        <p:nvSpPr>
          <p:cNvPr id="13" name="TextBox 13"/>
          <p:cNvSpPr txBox="1"/>
          <p:nvPr/>
        </p:nvSpPr>
        <p:spPr>
          <a:xfrm>
            <a:off x="3851248" y="1714500"/>
            <a:ext cx="9559952" cy="923330"/>
          </a:xfrm>
          <a:prstGeom prst="rect">
            <a:avLst/>
          </a:prstGeom>
        </p:spPr>
        <p:txBody>
          <a:bodyPr lIns="0" tIns="0" rIns="0" bIns="0" rtlCol="0" anchor="t">
            <a:spAutoFit/>
          </a:bodyPr>
          <a:lstStyle/>
          <a:p>
            <a:pPr algn="ctr">
              <a:lnSpc>
                <a:spcPts val="7200"/>
              </a:lnSpc>
            </a:pPr>
            <a:r>
              <a:rPr lang="en-US" sz="6000" dirty="0" smtClean="0">
                <a:solidFill>
                  <a:srgbClr val="0D1C38"/>
                </a:solidFill>
                <a:latin typeface="Arimo"/>
                <a:ea typeface="Arimo"/>
                <a:cs typeface="Arimo"/>
                <a:sym typeface="Arimo"/>
              </a:rPr>
              <a:t>METHODOLOGY</a:t>
            </a:r>
            <a:endParaRPr lang="en-US" sz="6000" dirty="0">
              <a:solidFill>
                <a:srgbClr val="0D1C38"/>
              </a:solidFill>
              <a:latin typeface="Arimo"/>
              <a:ea typeface="Arimo"/>
              <a:cs typeface="Arimo"/>
              <a:sym typeface="Arimo"/>
            </a:endParaRPr>
          </a:p>
        </p:txBody>
      </p:sp>
      <p:sp>
        <p:nvSpPr>
          <p:cNvPr id="14" name="TextBox 14"/>
          <p:cNvSpPr txBox="1"/>
          <p:nvPr/>
        </p:nvSpPr>
        <p:spPr>
          <a:xfrm>
            <a:off x="8001000" y="9612852"/>
            <a:ext cx="3765669" cy="331248"/>
          </a:xfrm>
          <a:prstGeom prst="rect">
            <a:avLst/>
          </a:prstGeom>
        </p:spPr>
        <p:txBody>
          <a:bodyPr lIns="0" tIns="0" rIns="0" bIns="0" rtlCol="0" anchor="t">
            <a:spAutoFit/>
          </a:bodyPr>
          <a:lstStyle/>
          <a:p>
            <a:pPr algn="ctr">
              <a:lnSpc>
                <a:spcPts val="2541"/>
              </a:lnSpc>
            </a:pPr>
            <a:r>
              <a:rPr lang="en-US" spc="38" dirty="0" smtClean="0">
                <a:solidFill>
                  <a:srgbClr val="0D1C38"/>
                </a:solidFill>
                <a:latin typeface="Arimo" charset="0"/>
                <a:ea typeface="Arimo" charset="0"/>
                <a:cs typeface="Arimo" charset="0"/>
                <a:sym typeface="Assistant"/>
              </a:rPr>
              <a:t>5</a:t>
            </a:r>
            <a:endParaRPr lang="en-US" spc="38" dirty="0">
              <a:solidFill>
                <a:srgbClr val="0D1C38"/>
              </a:solidFill>
              <a:latin typeface="Arimo" charset="0"/>
              <a:ea typeface="Arimo" charset="0"/>
              <a:cs typeface="Arimo" charset="0"/>
              <a:sym typeface="Assistant"/>
            </a:endParaRPr>
          </a:p>
        </p:txBody>
      </p:sp>
      <p:sp>
        <p:nvSpPr>
          <p:cNvPr id="15" name="TextBox 15"/>
          <p:cNvSpPr txBox="1"/>
          <p:nvPr/>
        </p:nvSpPr>
        <p:spPr>
          <a:xfrm>
            <a:off x="13131943" y="9471482"/>
            <a:ext cx="4927457" cy="320218"/>
          </a:xfrm>
          <a:prstGeom prst="rect">
            <a:avLst/>
          </a:prstGeom>
        </p:spPr>
        <p:txBody>
          <a:bodyPr lIns="0" tIns="0" rIns="0" bIns="0" rtlCol="0" anchor="t">
            <a:spAutoFit/>
          </a:bodyPr>
          <a:lstStyle/>
          <a:p>
            <a:pPr algn="r">
              <a:lnSpc>
                <a:spcPts val="2481"/>
              </a:lnSpc>
            </a:pPr>
            <a:r>
              <a:rPr lang="en-US" spc="37" dirty="0">
                <a:solidFill>
                  <a:srgbClr val="0D1C38"/>
                </a:solidFill>
                <a:latin typeface="Arimo" charset="0"/>
                <a:ea typeface="Arimo" charset="0"/>
                <a:cs typeface="Arimo" charset="0"/>
                <a:sym typeface="Assistant"/>
              </a:rPr>
              <a:t>Presented by: </a:t>
            </a:r>
            <a:r>
              <a:rPr lang="en-US" spc="37" dirty="0" smtClean="0">
                <a:solidFill>
                  <a:srgbClr val="0D1C38"/>
                </a:solidFill>
                <a:latin typeface="Arimo" charset="0"/>
                <a:ea typeface="Arimo" charset="0"/>
                <a:cs typeface="Arimo" charset="0"/>
                <a:sym typeface="Assistant"/>
              </a:rPr>
              <a:t>Damilola Arokoyu</a:t>
            </a:r>
            <a:endParaRPr lang="en-US" spc="37" dirty="0">
              <a:solidFill>
                <a:srgbClr val="0D1C38"/>
              </a:solidFill>
              <a:latin typeface="Arimo" charset="0"/>
              <a:ea typeface="Arimo" charset="0"/>
              <a:cs typeface="Arimo" charset="0"/>
              <a:sym typeface="Assistant"/>
            </a:endParaRPr>
          </a:p>
        </p:txBody>
      </p:sp>
      <p:sp>
        <p:nvSpPr>
          <p:cNvPr id="18" name="Slide Number Placeholder 17"/>
          <p:cNvSpPr>
            <a:spLocks noGrp="1"/>
          </p:cNvSpPr>
          <p:nvPr>
            <p:ph type="sldNum" sz="quarter" idx="12"/>
          </p:nvPr>
        </p:nvSpPr>
        <p:spPr/>
        <p:txBody>
          <a:bodyPr/>
          <a:lstStyle/>
          <a:p>
            <a:fld id="{B6F15528-21DE-4FAA-801E-634DDDAF4B2B}" type="slidenum">
              <a:rPr lang="en-US" smtClean="0"/>
              <a:pPr/>
              <a:t>6</a:t>
            </a:fld>
            <a:endParaRPr lang="en-US"/>
          </a:p>
        </p:txBody>
      </p:sp>
      <p:sp>
        <p:nvSpPr>
          <p:cNvPr id="17" name="Rectangle 16"/>
          <p:cNvSpPr/>
          <p:nvPr/>
        </p:nvSpPr>
        <p:spPr>
          <a:xfrm>
            <a:off x="1600200" y="9210566"/>
            <a:ext cx="9144000" cy="733534"/>
          </a:xfrm>
          <a:prstGeom prst="rect">
            <a:avLst/>
          </a:prstGeom>
        </p:spPr>
        <p:txBody>
          <a:bodyPr>
            <a:spAutoFit/>
          </a:bodyPr>
          <a:lstStyle/>
          <a:p>
            <a:pPr>
              <a:lnSpc>
                <a:spcPts val="2481"/>
              </a:lnSpc>
            </a:pPr>
            <a:r>
              <a:rPr lang="en-US" spc="37" dirty="0">
                <a:solidFill>
                  <a:srgbClr val="0D1C38"/>
                </a:solidFill>
                <a:latin typeface="Arimo" charset="0"/>
                <a:ea typeface="Arimo" charset="0"/>
                <a:cs typeface="Arimo" charset="0"/>
                <a:sym typeface="Assistant"/>
              </a:rPr>
              <a:t>Assessment of Microplastics in Commercial Fisheries procured from six Coastal states in Nigeria</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0449" y="7124700"/>
            <a:ext cx="5416469" cy="274320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6918" y="3871163"/>
            <a:ext cx="5420978" cy="2815392"/>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42270" y="3855820"/>
            <a:ext cx="5007770" cy="2830734"/>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66487" y="3871163"/>
            <a:ext cx="5314575" cy="2734175"/>
          </a:xfrm>
          <a:prstGeom prst="rect">
            <a:avLst/>
          </a:prstGeom>
        </p:spPr>
      </p:pic>
      <p:pic>
        <p:nvPicPr>
          <p:cNvPr id="6" name="Pictur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16917" y="938463"/>
            <a:ext cx="5256597" cy="2604837"/>
          </a:xfrm>
          <a:prstGeom prst="rect">
            <a:avLst/>
          </a:prstGeom>
        </p:spPr>
      </p:pic>
      <p:pic>
        <p:nvPicPr>
          <p:cNvPr id="7" name="Picture 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2142269" y="1068406"/>
            <a:ext cx="5137485" cy="2454440"/>
          </a:xfrm>
          <a:prstGeom prst="rect">
            <a:avLst/>
          </a:prstGeom>
        </p:spPr>
      </p:pic>
      <p:pic>
        <p:nvPicPr>
          <p:cNvPr id="8" name="Picture 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08246" y="938463"/>
            <a:ext cx="5431056" cy="2584383"/>
          </a:xfrm>
          <a:prstGeom prst="rect">
            <a:avLst/>
          </a:prstGeom>
        </p:spPr>
      </p:pic>
      <p:pic>
        <p:nvPicPr>
          <p:cNvPr id="10" name="Picture 9"/>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2304401" y="7124700"/>
            <a:ext cx="4873992" cy="2621381"/>
          </a:xfrm>
          <a:prstGeom prst="rect">
            <a:avLst/>
          </a:prstGeom>
        </p:spPr>
      </p:pic>
      <p:pic>
        <p:nvPicPr>
          <p:cNvPr id="11" name="Picture 10"/>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903416" y="7124700"/>
            <a:ext cx="5134479" cy="2743200"/>
          </a:xfrm>
          <a:prstGeom prst="rect">
            <a:avLst/>
          </a:prstGeom>
        </p:spPr>
      </p:pic>
      <p:sp>
        <p:nvSpPr>
          <p:cNvPr id="12" name="TextBox 11"/>
          <p:cNvSpPr txBox="1"/>
          <p:nvPr/>
        </p:nvSpPr>
        <p:spPr>
          <a:xfrm>
            <a:off x="304800" y="266700"/>
            <a:ext cx="17526000" cy="507831"/>
          </a:xfrm>
          <a:prstGeom prst="rect">
            <a:avLst/>
          </a:prstGeom>
          <a:noFill/>
        </p:spPr>
        <p:txBody>
          <a:bodyPr wrap="square" lIns="137160" tIns="68580" rIns="137160" bIns="68580" rtlCol="0">
            <a:spAutoFit/>
          </a:bodyPr>
          <a:lstStyle/>
          <a:p>
            <a:r>
              <a:rPr lang="en-US" sz="2400" dirty="0" smtClean="0">
                <a:latin typeface="Arimo" charset="0"/>
                <a:ea typeface="Arimo" charset="0"/>
                <a:cs typeface="Arimo" charset="0"/>
              </a:rPr>
              <a:t>DIFFERENT SPECIES OF FISHES PROCURED FROM THE NINE LOCATIONS OF THE SIX COASTAL STATES IN NIGERIA</a:t>
            </a:r>
            <a:endParaRPr lang="en-US" sz="2400" dirty="0">
              <a:latin typeface="Arimo" charset="0"/>
              <a:ea typeface="Arimo" charset="0"/>
              <a:cs typeface="Arimo" charset="0"/>
            </a:endParaRPr>
          </a:p>
        </p:txBody>
      </p:sp>
      <p:sp>
        <p:nvSpPr>
          <p:cNvPr id="9" name="TextBox 8"/>
          <p:cNvSpPr txBox="1"/>
          <p:nvPr/>
        </p:nvSpPr>
        <p:spPr>
          <a:xfrm>
            <a:off x="1103844" y="3543300"/>
            <a:ext cx="5339923" cy="369332"/>
          </a:xfrm>
          <a:prstGeom prst="rect">
            <a:avLst/>
          </a:prstGeom>
          <a:noFill/>
        </p:spPr>
        <p:txBody>
          <a:bodyPr wrap="none" rtlCol="0">
            <a:spAutoFit/>
          </a:bodyPr>
          <a:lstStyle/>
          <a:p>
            <a:r>
              <a:rPr lang="en-US" dirty="0" smtClean="0">
                <a:latin typeface="Arimo" charset="0"/>
                <a:ea typeface="Arimo" charset="0"/>
                <a:cs typeface="Arimo" charset="0"/>
              </a:rPr>
              <a:t>Plate 1 : Fish and macroinvertebrates from Iwopin</a:t>
            </a:r>
            <a:endParaRPr lang="en-US" dirty="0">
              <a:latin typeface="Arimo" charset="0"/>
              <a:ea typeface="Arimo" charset="0"/>
              <a:cs typeface="Arimo" charset="0"/>
            </a:endParaRPr>
          </a:p>
        </p:txBody>
      </p:sp>
      <p:sp>
        <p:nvSpPr>
          <p:cNvPr id="13" name="TextBox 12"/>
          <p:cNvSpPr txBox="1"/>
          <p:nvPr/>
        </p:nvSpPr>
        <p:spPr>
          <a:xfrm>
            <a:off x="6477000" y="3543300"/>
            <a:ext cx="5737468" cy="369332"/>
          </a:xfrm>
          <a:prstGeom prst="rect">
            <a:avLst/>
          </a:prstGeom>
          <a:noFill/>
        </p:spPr>
        <p:txBody>
          <a:bodyPr wrap="none" rtlCol="0">
            <a:spAutoFit/>
          </a:bodyPr>
          <a:lstStyle/>
          <a:p>
            <a:r>
              <a:rPr lang="en-US" dirty="0" smtClean="0">
                <a:latin typeface="Arimo" charset="0"/>
                <a:ea typeface="Arimo" charset="0"/>
                <a:cs typeface="Arimo" charset="0"/>
              </a:rPr>
              <a:t>Plate 2 : Fish and macroinvertebrates from Oyokoroto</a:t>
            </a:r>
            <a:endParaRPr lang="en-US" dirty="0">
              <a:latin typeface="Arimo" charset="0"/>
              <a:ea typeface="Arimo" charset="0"/>
              <a:cs typeface="Arimo" charset="0"/>
            </a:endParaRPr>
          </a:p>
        </p:txBody>
      </p:sp>
      <p:sp>
        <p:nvSpPr>
          <p:cNvPr id="14" name="TextBox 13"/>
          <p:cNvSpPr txBox="1"/>
          <p:nvPr/>
        </p:nvSpPr>
        <p:spPr>
          <a:xfrm>
            <a:off x="12226731" y="3543300"/>
            <a:ext cx="5327164" cy="369332"/>
          </a:xfrm>
          <a:prstGeom prst="rect">
            <a:avLst/>
          </a:prstGeom>
          <a:noFill/>
        </p:spPr>
        <p:txBody>
          <a:bodyPr wrap="none" rtlCol="0">
            <a:spAutoFit/>
          </a:bodyPr>
          <a:lstStyle/>
          <a:p>
            <a:r>
              <a:rPr lang="en-US" dirty="0" smtClean="0">
                <a:latin typeface="Arimo" charset="0"/>
                <a:ea typeface="Arimo" charset="0"/>
                <a:cs typeface="Arimo" charset="0"/>
              </a:rPr>
              <a:t>Plate 3: Fish and macroinvertebrates from  Apapa</a:t>
            </a:r>
            <a:endParaRPr lang="en-US" dirty="0">
              <a:latin typeface="Arimo" charset="0"/>
              <a:ea typeface="Arimo" charset="0"/>
              <a:cs typeface="Arimo" charset="0"/>
            </a:endParaRPr>
          </a:p>
        </p:txBody>
      </p:sp>
      <p:sp>
        <p:nvSpPr>
          <p:cNvPr id="15" name="TextBox 14"/>
          <p:cNvSpPr txBox="1"/>
          <p:nvPr/>
        </p:nvSpPr>
        <p:spPr>
          <a:xfrm>
            <a:off x="1066800" y="6591300"/>
            <a:ext cx="5519460" cy="369332"/>
          </a:xfrm>
          <a:prstGeom prst="rect">
            <a:avLst/>
          </a:prstGeom>
          <a:noFill/>
        </p:spPr>
        <p:txBody>
          <a:bodyPr wrap="none" rtlCol="0">
            <a:spAutoFit/>
          </a:bodyPr>
          <a:lstStyle/>
          <a:p>
            <a:r>
              <a:rPr lang="en-US" dirty="0" smtClean="0">
                <a:latin typeface="Arimo" charset="0"/>
                <a:ea typeface="Arimo" charset="0"/>
                <a:cs typeface="Arimo" charset="0"/>
              </a:rPr>
              <a:t>Plate 4: Fish and macroinvertebrates from  Nsidung</a:t>
            </a:r>
            <a:endParaRPr lang="en-US" dirty="0">
              <a:latin typeface="Arimo" charset="0"/>
              <a:ea typeface="Arimo" charset="0"/>
              <a:cs typeface="Arimo" charset="0"/>
            </a:endParaRPr>
          </a:p>
        </p:txBody>
      </p:sp>
      <p:sp>
        <p:nvSpPr>
          <p:cNvPr id="16" name="TextBox 15"/>
          <p:cNvSpPr txBox="1"/>
          <p:nvPr/>
        </p:nvSpPr>
        <p:spPr>
          <a:xfrm>
            <a:off x="6553200" y="6679168"/>
            <a:ext cx="5468164" cy="369332"/>
          </a:xfrm>
          <a:prstGeom prst="rect">
            <a:avLst/>
          </a:prstGeom>
          <a:noFill/>
        </p:spPr>
        <p:txBody>
          <a:bodyPr wrap="none" rtlCol="0">
            <a:spAutoFit/>
          </a:bodyPr>
          <a:lstStyle/>
          <a:p>
            <a:r>
              <a:rPr lang="en-US" dirty="0" smtClean="0">
                <a:latin typeface="Arimo" charset="0"/>
                <a:ea typeface="Arimo" charset="0"/>
                <a:cs typeface="Arimo" charset="0"/>
              </a:rPr>
              <a:t>Plate 5: Fish and macroinvertebrates from Badagry</a:t>
            </a:r>
            <a:endParaRPr lang="en-US" dirty="0">
              <a:latin typeface="Arimo" charset="0"/>
              <a:ea typeface="Arimo" charset="0"/>
              <a:cs typeface="Arimo" charset="0"/>
            </a:endParaRPr>
          </a:p>
        </p:txBody>
      </p:sp>
      <p:sp>
        <p:nvSpPr>
          <p:cNvPr id="17" name="TextBox 16"/>
          <p:cNvSpPr txBox="1"/>
          <p:nvPr/>
        </p:nvSpPr>
        <p:spPr>
          <a:xfrm>
            <a:off x="1256244" y="9803368"/>
            <a:ext cx="5442580" cy="369332"/>
          </a:xfrm>
          <a:prstGeom prst="rect">
            <a:avLst/>
          </a:prstGeom>
          <a:noFill/>
        </p:spPr>
        <p:txBody>
          <a:bodyPr wrap="none" rtlCol="0">
            <a:spAutoFit/>
          </a:bodyPr>
          <a:lstStyle/>
          <a:p>
            <a:r>
              <a:rPr lang="en-US" dirty="0" smtClean="0">
                <a:latin typeface="Arimo" charset="0"/>
                <a:ea typeface="Arimo" charset="0"/>
                <a:cs typeface="Arimo" charset="0"/>
              </a:rPr>
              <a:t>Plate 7:Fish and macroinvertebrates from  Aiyetoro</a:t>
            </a:r>
            <a:endParaRPr lang="en-US" dirty="0">
              <a:latin typeface="Arimo" charset="0"/>
              <a:ea typeface="Arimo" charset="0"/>
              <a:cs typeface="Arimo" charset="0"/>
            </a:endParaRPr>
          </a:p>
        </p:txBody>
      </p:sp>
      <p:sp>
        <p:nvSpPr>
          <p:cNvPr id="18" name="TextBox 17"/>
          <p:cNvSpPr txBox="1"/>
          <p:nvPr/>
        </p:nvSpPr>
        <p:spPr>
          <a:xfrm>
            <a:off x="12268200" y="9803368"/>
            <a:ext cx="6053901" cy="369332"/>
          </a:xfrm>
          <a:prstGeom prst="rect">
            <a:avLst/>
          </a:prstGeom>
          <a:noFill/>
        </p:spPr>
        <p:txBody>
          <a:bodyPr wrap="none" rtlCol="0">
            <a:spAutoFit/>
          </a:bodyPr>
          <a:lstStyle/>
          <a:p>
            <a:r>
              <a:rPr lang="en-US" dirty="0" smtClean="0">
                <a:latin typeface="Arimo" charset="0"/>
                <a:ea typeface="Arimo" charset="0"/>
                <a:cs typeface="Arimo" charset="0"/>
              </a:rPr>
              <a:t>Plate 9: Fish and macroinvertebrates from Victoria Island</a:t>
            </a:r>
            <a:endParaRPr lang="en-US" dirty="0">
              <a:latin typeface="Arimo" charset="0"/>
              <a:ea typeface="Arimo" charset="0"/>
              <a:cs typeface="Arimo" charset="0"/>
            </a:endParaRPr>
          </a:p>
        </p:txBody>
      </p:sp>
      <p:sp>
        <p:nvSpPr>
          <p:cNvPr id="19" name="TextBox 18"/>
          <p:cNvSpPr txBox="1"/>
          <p:nvPr/>
        </p:nvSpPr>
        <p:spPr>
          <a:xfrm>
            <a:off x="7121331" y="9879568"/>
            <a:ext cx="4955203" cy="369332"/>
          </a:xfrm>
          <a:prstGeom prst="rect">
            <a:avLst/>
          </a:prstGeom>
          <a:noFill/>
        </p:spPr>
        <p:txBody>
          <a:bodyPr wrap="none" rtlCol="0">
            <a:spAutoFit/>
          </a:bodyPr>
          <a:lstStyle/>
          <a:p>
            <a:r>
              <a:rPr lang="en-US" dirty="0" smtClean="0">
                <a:latin typeface="Arimo" charset="0"/>
                <a:ea typeface="Arimo" charset="0"/>
                <a:cs typeface="Arimo" charset="0"/>
              </a:rPr>
              <a:t>Plate 8: Fish and macroinvertebrates from Epe</a:t>
            </a:r>
            <a:endParaRPr lang="en-US" dirty="0">
              <a:latin typeface="Arimo" charset="0"/>
              <a:ea typeface="Arimo" charset="0"/>
              <a:cs typeface="Arimo" charset="0"/>
            </a:endParaRPr>
          </a:p>
        </p:txBody>
      </p:sp>
      <p:sp>
        <p:nvSpPr>
          <p:cNvPr id="20" name="TextBox 19"/>
          <p:cNvSpPr txBox="1"/>
          <p:nvPr/>
        </p:nvSpPr>
        <p:spPr>
          <a:xfrm>
            <a:off x="12192000" y="6679168"/>
            <a:ext cx="5173211" cy="369332"/>
          </a:xfrm>
          <a:prstGeom prst="rect">
            <a:avLst/>
          </a:prstGeom>
          <a:noFill/>
        </p:spPr>
        <p:txBody>
          <a:bodyPr wrap="none" rtlCol="0">
            <a:spAutoFit/>
          </a:bodyPr>
          <a:lstStyle/>
          <a:p>
            <a:r>
              <a:rPr lang="en-US" dirty="0" smtClean="0">
                <a:latin typeface="Arimo" charset="0"/>
                <a:ea typeface="Arimo" charset="0"/>
                <a:cs typeface="Arimo" charset="0"/>
              </a:rPr>
              <a:t>Plate 6: Fish and macroinvertebrates from Ibaka</a:t>
            </a:r>
            <a:endParaRPr lang="en-US" dirty="0">
              <a:latin typeface="Arimo" charset="0"/>
              <a:ea typeface="Arimo" charset="0"/>
              <a:cs typeface="Arimo" charset="0"/>
            </a:endParaRPr>
          </a:p>
        </p:txBody>
      </p:sp>
    </p:spTree>
    <p:extLst>
      <p:ext uri="{BB962C8B-B14F-4D97-AF65-F5344CB8AC3E}">
        <p14:creationId xmlns:p14="http://schemas.microsoft.com/office/powerpoint/2010/main" val="183737643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p:cNvGrpSpPr/>
          <p:nvPr/>
        </p:nvGrpSpPr>
        <p:grpSpPr>
          <a:xfrm>
            <a:off x="457200" y="723900"/>
            <a:ext cx="17373600" cy="8610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8" name="Freeform 8"/>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0" name="TextBox 10"/>
          <p:cNvSpPr txBox="1"/>
          <p:nvPr/>
        </p:nvSpPr>
        <p:spPr>
          <a:xfrm>
            <a:off x="1219200" y="2324100"/>
            <a:ext cx="15468599" cy="500137"/>
          </a:xfrm>
          <a:prstGeom prst="rect">
            <a:avLst/>
          </a:prstGeom>
        </p:spPr>
        <p:txBody>
          <a:bodyPr wrap="square" lIns="0" tIns="0" rIns="0" bIns="0" rtlCol="0" anchor="t">
            <a:spAutoFit/>
          </a:bodyPr>
          <a:lstStyle/>
          <a:p>
            <a:pPr algn="ctr">
              <a:lnSpc>
                <a:spcPts val="3912"/>
              </a:lnSpc>
            </a:pPr>
            <a:r>
              <a:rPr lang="en-US" sz="3200" spc="41" dirty="0" smtClean="0">
                <a:solidFill>
                  <a:srgbClr val="0D1C38"/>
                </a:solidFill>
                <a:latin typeface="Arimo" charset="0"/>
                <a:ea typeface="Arimo" charset="0"/>
                <a:cs typeface="Arimo" charset="0"/>
                <a:sym typeface="Assistant"/>
              </a:rPr>
              <a:t>MORPHOMETRICS</a:t>
            </a:r>
            <a:r>
              <a:rPr lang="en-US" sz="3200" spc="41" dirty="0" smtClean="0">
                <a:solidFill>
                  <a:srgbClr val="0D1C38"/>
                </a:solidFill>
                <a:latin typeface="Assistant"/>
                <a:ea typeface="Assistant"/>
                <a:cs typeface="Assistant"/>
                <a:sym typeface="Assistant"/>
              </a:rPr>
              <a:t> AND CONDITION FACTOR</a:t>
            </a:r>
            <a:endParaRPr lang="en-US" sz="3200" spc="41" dirty="0">
              <a:solidFill>
                <a:srgbClr val="0D1C38"/>
              </a:solidFill>
              <a:latin typeface="Assistant"/>
              <a:ea typeface="Assistant"/>
              <a:cs typeface="Assistant"/>
              <a:sym typeface="Assistant"/>
            </a:endParaRPr>
          </a:p>
        </p:txBody>
      </p:sp>
      <p:sp>
        <p:nvSpPr>
          <p:cNvPr id="11" name="TextBox 11"/>
          <p:cNvSpPr txBox="1"/>
          <p:nvPr/>
        </p:nvSpPr>
        <p:spPr>
          <a:xfrm>
            <a:off x="4343400" y="1333500"/>
            <a:ext cx="9559952" cy="1025922"/>
          </a:xfrm>
          <a:prstGeom prst="rect">
            <a:avLst/>
          </a:prstGeom>
        </p:spPr>
        <p:txBody>
          <a:bodyPr lIns="0" tIns="0" rIns="0" bIns="0" rtlCol="0" anchor="t">
            <a:spAutoFit/>
          </a:bodyPr>
          <a:lstStyle/>
          <a:p>
            <a:pPr algn="ctr">
              <a:lnSpc>
                <a:spcPts val="8000"/>
              </a:lnSpc>
            </a:pPr>
            <a:r>
              <a:rPr lang="en-US" sz="5400" dirty="0" smtClean="0">
                <a:solidFill>
                  <a:srgbClr val="0D1C38"/>
                </a:solidFill>
                <a:latin typeface="Arimo"/>
                <a:ea typeface="Arimo"/>
                <a:cs typeface="Arimo"/>
                <a:sym typeface="Arimo"/>
              </a:rPr>
              <a:t>RESULT</a:t>
            </a:r>
            <a:endParaRPr lang="en-US" sz="5400" dirty="0">
              <a:solidFill>
                <a:srgbClr val="0D1C38"/>
              </a:solidFill>
              <a:latin typeface="Arimo"/>
              <a:ea typeface="Arimo"/>
              <a:cs typeface="Arimo"/>
              <a:sym typeface="Arimo"/>
            </a:endParaRPr>
          </a:p>
        </p:txBody>
      </p:sp>
      <p:sp>
        <p:nvSpPr>
          <p:cNvPr id="12" name="TextBox 12"/>
          <p:cNvSpPr txBox="1"/>
          <p:nvPr/>
        </p:nvSpPr>
        <p:spPr>
          <a:xfrm>
            <a:off x="7924800" y="9727271"/>
            <a:ext cx="3765669" cy="293029"/>
          </a:xfrm>
          <a:prstGeom prst="rect">
            <a:avLst/>
          </a:prstGeom>
        </p:spPr>
        <p:txBody>
          <a:bodyPr lIns="0" tIns="0" rIns="0" bIns="0" rtlCol="0" anchor="t">
            <a:spAutoFit/>
          </a:bodyPr>
          <a:lstStyle/>
          <a:p>
            <a:pPr algn="ctr">
              <a:lnSpc>
                <a:spcPts val="2541"/>
              </a:lnSpc>
            </a:pPr>
            <a:r>
              <a:rPr lang="en-US" spc="38" dirty="0">
                <a:solidFill>
                  <a:srgbClr val="0D1C38"/>
                </a:solidFill>
                <a:latin typeface="Arimo" charset="0"/>
                <a:ea typeface="Arimo" charset="0"/>
                <a:cs typeface="Arimo" charset="0"/>
                <a:sym typeface="Assistant"/>
              </a:rPr>
              <a:t>7</a:t>
            </a:r>
          </a:p>
        </p:txBody>
      </p:sp>
      <p:sp>
        <p:nvSpPr>
          <p:cNvPr id="13" name="TextBox 13"/>
          <p:cNvSpPr txBox="1"/>
          <p:nvPr/>
        </p:nvSpPr>
        <p:spPr>
          <a:xfrm>
            <a:off x="13131943" y="9547299"/>
            <a:ext cx="4927457" cy="320601"/>
          </a:xfrm>
          <a:prstGeom prst="rect">
            <a:avLst/>
          </a:prstGeom>
        </p:spPr>
        <p:txBody>
          <a:bodyPr lIns="0" tIns="0" rIns="0" bIns="0" rtlCol="0" anchor="t">
            <a:spAutoFit/>
          </a:bodyPr>
          <a:lstStyle/>
          <a:p>
            <a:pPr algn="r">
              <a:lnSpc>
                <a:spcPts val="2481"/>
              </a:lnSpc>
            </a:pPr>
            <a:r>
              <a:rPr lang="en-US" spc="37" dirty="0">
                <a:solidFill>
                  <a:srgbClr val="0D1C38"/>
                </a:solidFill>
                <a:latin typeface="Arimo" charset="0"/>
                <a:ea typeface="Arimo" charset="0"/>
                <a:cs typeface="Arimo" charset="0"/>
                <a:sym typeface="Assistant"/>
              </a:rPr>
              <a:t>Presented by: </a:t>
            </a:r>
            <a:r>
              <a:rPr lang="en-US" spc="37" dirty="0" smtClean="0">
                <a:solidFill>
                  <a:srgbClr val="0D1C38"/>
                </a:solidFill>
                <a:latin typeface="Arimo" charset="0"/>
                <a:ea typeface="Arimo" charset="0"/>
                <a:cs typeface="Arimo" charset="0"/>
                <a:sym typeface="Assistant"/>
              </a:rPr>
              <a:t>Damilola Arokoyu</a:t>
            </a:r>
            <a:endParaRPr lang="en-US" spc="37" dirty="0">
              <a:solidFill>
                <a:srgbClr val="0D1C38"/>
              </a:solidFill>
              <a:latin typeface="Arimo" charset="0"/>
              <a:ea typeface="Arimo" charset="0"/>
              <a:cs typeface="Arimo" charset="0"/>
              <a:sym typeface="Assistant"/>
            </a:endParaRPr>
          </a:p>
        </p:txBody>
      </p:sp>
      <p:sp>
        <p:nvSpPr>
          <p:cNvPr id="16" name="Slide Number Placeholder 15"/>
          <p:cNvSpPr>
            <a:spLocks noGrp="1"/>
          </p:cNvSpPr>
          <p:nvPr>
            <p:ph type="sldNum" sz="quarter" idx="12"/>
          </p:nvPr>
        </p:nvSpPr>
        <p:spPr/>
        <p:txBody>
          <a:bodyPr/>
          <a:lstStyle/>
          <a:p>
            <a:fld id="{B6F15528-21DE-4FAA-801E-634DDDAF4B2B}" type="slidenum">
              <a:rPr lang="en-US" smtClean="0"/>
              <a:pPr/>
              <a:t>8</a:t>
            </a:fld>
            <a:endParaRPr lang="en-US"/>
          </a:p>
        </p:txBody>
      </p:sp>
      <p:sp>
        <p:nvSpPr>
          <p:cNvPr id="17" name="TextBox 16"/>
          <p:cNvSpPr txBox="1"/>
          <p:nvPr/>
        </p:nvSpPr>
        <p:spPr>
          <a:xfrm>
            <a:off x="914400" y="2933998"/>
            <a:ext cx="16558426" cy="6986528"/>
          </a:xfrm>
          <a:prstGeom prst="rect">
            <a:avLst/>
          </a:prstGeom>
          <a:noFill/>
        </p:spPr>
        <p:txBody>
          <a:bodyPr wrap="square" rtlCol="0">
            <a:spAutoFit/>
          </a:bodyPr>
          <a:lstStyle/>
          <a:p>
            <a:pPr marL="457200" indent="-457200" algn="just">
              <a:buFont typeface="Arial" pitchFamily="34" charset="0"/>
              <a:buChar char="•"/>
            </a:pPr>
            <a:r>
              <a:rPr lang="en-US" sz="3200" dirty="0" smtClean="0">
                <a:solidFill>
                  <a:schemeClr val="accent1">
                    <a:lumMod val="50000"/>
                  </a:schemeClr>
                </a:solidFill>
                <a:latin typeface="Arimo" charset="0"/>
                <a:ea typeface="Arimo" charset="0"/>
                <a:cs typeface="Arimo" charset="0"/>
              </a:rPr>
              <a:t>A total </a:t>
            </a:r>
            <a:r>
              <a:rPr lang="en-US" sz="3200" dirty="0">
                <a:solidFill>
                  <a:schemeClr val="accent1">
                    <a:lumMod val="50000"/>
                  </a:schemeClr>
                </a:solidFill>
                <a:latin typeface="Arimo" charset="0"/>
                <a:ea typeface="Arimo" charset="0"/>
                <a:cs typeface="Arimo" charset="0"/>
              </a:rPr>
              <a:t>of 38 sample species were procured with fish composing of 32 </a:t>
            </a:r>
            <a:r>
              <a:rPr lang="en-US" sz="3200" dirty="0" smtClean="0">
                <a:solidFill>
                  <a:schemeClr val="accent1">
                    <a:lumMod val="50000"/>
                  </a:schemeClr>
                </a:solidFill>
                <a:latin typeface="Arimo" charset="0"/>
                <a:ea typeface="Arimo" charset="0"/>
                <a:cs typeface="Arimo" charset="0"/>
              </a:rPr>
              <a:t>species of fish and 6 species of  macroinvertebrates.</a:t>
            </a:r>
            <a:endParaRPr lang="en-US" sz="3200" dirty="0">
              <a:solidFill>
                <a:schemeClr val="accent1">
                  <a:lumMod val="50000"/>
                </a:schemeClr>
              </a:solidFill>
              <a:latin typeface="Arimo" charset="0"/>
              <a:ea typeface="Arimo" charset="0"/>
              <a:cs typeface="Arimo" charset="0"/>
            </a:endParaRPr>
          </a:p>
          <a:p>
            <a:pPr marL="457200" indent="-457200" algn="just">
              <a:buFont typeface="Arial" pitchFamily="34" charset="0"/>
              <a:buChar char="•"/>
            </a:pPr>
            <a:r>
              <a:rPr lang="en-US" sz="3200" dirty="0" smtClean="0">
                <a:solidFill>
                  <a:schemeClr val="accent1">
                    <a:lumMod val="50000"/>
                  </a:schemeClr>
                </a:solidFill>
                <a:latin typeface="Arimo" charset="0"/>
                <a:ea typeface="Arimo" charset="0"/>
                <a:cs typeface="Arimo" charset="0"/>
              </a:rPr>
              <a:t>Fulton’s condition factor was calculated using:</a:t>
            </a:r>
            <a:endParaRPr lang="en-US" sz="3200" dirty="0">
              <a:solidFill>
                <a:schemeClr val="accent1">
                  <a:lumMod val="50000"/>
                </a:schemeClr>
              </a:solidFill>
              <a:latin typeface="Arimo" charset="0"/>
              <a:ea typeface="Arimo" charset="0"/>
              <a:cs typeface="Arimo" charset="0"/>
            </a:endParaRPr>
          </a:p>
          <a:p>
            <a:pPr algn="just"/>
            <a:r>
              <a:rPr lang="en-US" sz="3200" dirty="0">
                <a:solidFill>
                  <a:schemeClr val="accent1">
                    <a:lumMod val="50000"/>
                  </a:schemeClr>
                </a:solidFill>
                <a:latin typeface="Arimo" charset="0"/>
                <a:ea typeface="Arimo" charset="0"/>
                <a:cs typeface="Arimo" charset="0"/>
              </a:rPr>
              <a:t>K</a:t>
            </a:r>
            <a:r>
              <a:rPr lang="en-US" sz="3200" baseline="-25000" dirty="0">
                <a:solidFill>
                  <a:schemeClr val="accent1">
                    <a:lumMod val="50000"/>
                  </a:schemeClr>
                </a:solidFill>
                <a:latin typeface="Arimo" charset="0"/>
                <a:ea typeface="Arimo" charset="0"/>
                <a:cs typeface="Arimo" charset="0"/>
              </a:rPr>
              <a:t>F</a:t>
            </a:r>
            <a:r>
              <a:rPr lang="en-US" sz="3200" dirty="0">
                <a:solidFill>
                  <a:schemeClr val="accent1">
                    <a:lumMod val="50000"/>
                  </a:schemeClr>
                </a:solidFill>
                <a:latin typeface="Arimo" charset="0"/>
                <a:ea typeface="Arimo" charset="0"/>
                <a:cs typeface="Arimo" charset="0"/>
              </a:rPr>
              <a:t>= 100 (W/L</a:t>
            </a:r>
            <a:r>
              <a:rPr lang="en-US" sz="3200" baseline="-25000" dirty="0">
                <a:solidFill>
                  <a:schemeClr val="accent1">
                    <a:lumMod val="50000"/>
                  </a:schemeClr>
                </a:solidFill>
                <a:latin typeface="Arimo" charset="0"/>
                <a:ea typeface="Arimo" charset="0"/>
                <a:cs typeface="Arimo" charset="0"/>
              </a:rPr>
              <a:t>3</a:t>
            </a:r>
            <a:r>
              <a:rPr lang="en-US" sz="3200" dirty="0">
                <a:solidFill>
                  <a:schemeClr val="accent1">
                    <a:lumMod val="50000"/>
                  </a:schemeClr>
                </a:solidFill>
                <a:latin typeface="Arimo" charset="0"/>
                <a:ea typeface="Arimo" charset="0"/>
                <a:cs typeface="Arimo" charset="0"/>
              </a:rPr>
              <a:t>)</a:t>
            </a:r>
          </a:p>
          <a:p>
            <a:pPr algn="just"/>
            <a:r>
              <a:rPr lang="en-US" sz="3200" dirty="0">
                <a:solidFill>
                  <a:schemeClr val="accent1">
                    <a:lumMod val="50000"/>
                  </a:schemeClr>
                </a:solidFill>
                <a:latin typeface="Arimo" charset="0"/>
                <a:ea typeface="Arimo" charset="0"/>
                <a:cs typeface="Arimo" charset="0"/>
              </a:rPr>
              <a:t>Where:</a:t>
            </a:r>
          </a:p>
          <a:p>
            <a:pPr algn="just"/>
            <a:r>
              <a:rPr lang="en-US" sz="3200" dirty="0">
                <a:solidFill>
                  <a:schemeClr val="accent1">
                    <a:lumMod val="50000"/>
                  </a:schemeClr>
                </a:solidFill>
                <a:latin typeface="Arimo" charset="0"/>
                <a:ea typeface="Arimo" charset="0"/>
                <a:cs typeface="Arimo" charset="0"/>
              </a:rPr>
              <a:t>W = weight of the body (g)</a:t>
            </a:r>
          </a:p>
          <a:p>
            <a:pPr algn="just"/>
            <a:r>
              <a:rPr lang="en-US" sz="3200" dirty="0">
                <a:solidFill>
                  <a:schemeClr val="accent1">
                    <a:lumMod val="50000"/>
                  </a:schemeClr>
                </a:solidFill>
                <a:latin typeface="Arimo" charset="0"/>
                <a:ea typeface="Arimo" charset="0"/>
                <a:cs typeface="Arimo" charset="0"/>
              </a:rPr>
              <a:t>L = total length (cm) </a:t>
            </a:r>
          </a:p>
          <a:p>
            <a:pPr marL="457200" indent="-457200" algn="just">
              <a:buFont typeface="Arial" pitchFamily="34" charset="0"/>
              <a:buChar char="•"/>
            </a:pPr>
            <a:r>
              <a:rPr lang="en-US" sz="3200" dirty="0" smtClean="0">
                <a:solidFill>
                  <a:schemeClr val="accent1">
                    <a:lumMod val="50000"/>
                  </a:schemeClr>
                </a:solidFill>
                <a:latin typeface="Arimo" charset="0"/>
                <a:ea typeface="Arimo" charset="0"/>
                <a:cs typeface="Arimo" charset="0"/>
              </a:rPr>
              <a:t>The </a:t>
            </a:r>
            <a:r>
              <a:rPr lang="en-US" sz="3200" dirty="0">
                <a:solidFill>
                  <a:schemeClr val="accent1">
                    <a:lumMod val="50000"/>
                  </a:schemeClr>
                </a:solidFill>
                <a:latin typeface="Arimo" charset="0"/>
                <a:ea typeface="Arimo" charset="0"/>
                <a:cs typeface="Arimo" charset="0"/>
              </a:rPr>
              <a:t>minimum and maximum Fulton’s </a:t>
            </a:r>
            <a:r>
              <a:rPr lang="en-US" sz="3200" dirty="0" smtClean="0">
                <a:solidFill>
                  <a:schemeClr val="accent1">
                    <a:lumMod val="50000"/>
                  </a:schemeClr>
                </a:solidFill>
                <a:latin typeface="Arimo" charset="0"/>
                <a:ea typeface="Arimo" charset="0"/>
                <a:cs typeface="Arimo" charset="0"/>
              </a:rPr>
              <a:t>conditional </a:t>
            </a:r>
            <a:r>
              <a:rPr lang="en-US" sz="3200" dirty="0">
                <a:solidFill>
                  <a:schemeClr val="accent1">
                    <a:lumMod val="50000"/>
                  </a:schemeClr>
                </a:solidFill>
                <a:latin typeface="Arimo" charset="0"/>
                <a:ea typeface="Arimo" charset="0"/>
                <a:cs typeface="Arimo" charset="0"/>
              </a:rPr>
              <a:t>factor calculated across sampled fish species from all study area is </a:t>
            </a:r>
            <a:r>
              <a:rPr lang="en-US" sz="3200" dirty="0" smtClean="0">
                <a:solidFill>
                  <a:schemeClr val="accent1">
                    <a:lumMod val="50000"/>
                  </a:schemeClr>
                </a:solidFill>
                <a:latin typeface="Arimo" charset="0"/>
                <a:ea typeface="Arimo" charset="0"/>
                <a:cs typeface="Arimo" charset="0"/>
              </a:rPr>
              <a:t>0.11 to </a:t>
            </a:r>
            <a:r>
              <a:rPr lang="en-US" sz="3200" dirty="0">
                <a:solidFill>
                  <a:schemeClr val="accent1">
                    <a:lumMod val="50000"/>
                  </a:schemeClr>
                </a:solidFill>
                <a:latin typeface="Arimo" charset="0"/>
                <a:ea typeface="Arimo" charset="0"/>
                <a:cs typeface="Arimo" charset="0"/>
              </a:rPr>
              <a:t>3.03 respectively for fishes while that of macroinvertebrates are 0.21 </a:t>
            </a:r>
            <a:r>
              <a:rPr lang="en-US" sz="3200" dirty="0" smtClean="0">
                <a:solidFill>
                  <a:schemeClr val="accent1">
                    <a:lumMod val="50000"/>
                  </a:schemeClr>
                </a:solidFill>
                <a:latin typeface="Arimo" charset="0"/>
                <a:ea typeface="Arimo" charset="0"/>
                <a:cs typeface="Arimo" charset="0"/>
              </a:rPr>
              <a:t>to </a:t>
            </a:r>
            <a:r>
              <a:rPr lang="en-US" sz="3200" dirty="0">
                <a:solidFill>
                  <a:schemeClr val="accent1">
                    <a:lumMod val="50000"/>
                  </a:schemeClr>
                </a:solidFill>
                <a:latin typeface="Arimo" charset="0"/>
                <a:ea typeface="Arimo" charset="0"/>
                <a:cs typeface="Arimo" charset="0"/>
              </a:rPr>
              <a:t>47.49. The estimated average value is 0.97 for fishes and 9.66 for </a:t>
            </a:r>
            <a:r>
              <a:rPr lang="en-US" sz="3200" dirty="0" smtClean="0">
                <a:solidFill>
                  <a:schemeClr val="accent1">
                    <a:lumMod val="50000"/>
                  </a:schemeClr>
                </a:solidFill>
                <a:latin typeface="Arimo" charset="0"/>
                <a:ea typeface="Arimo" charset="0"/>
                <a:cs typeface="Arimo" charset="0"/>
              </a:rPr>
              <a:t>macroinvertebrates.</a:t>
            </a:r>
          </a:p>
          <a:p>
            <a:pPr marL="457200" indent="-457200" algn="just">
              <a:buFont typeface="Arial" pitchFamily="34" charset="0"/>
              <a:buChar char="•"/>
            </a:pPr>
            <a:r>
              <a:rPr lang="en-US" sz="3200" dirty="0">
                <a:solidFill>
                  <a:schemeClr val="accent1">
                    <a:lumMod val="50000"/>
                  </a:schemeClr>
                </a:solidFill>
                <a:latin typeface="Arimo" charset="0"/>
                <a:ea typeface="Arimo" charset="0"/>
                <a:cs typeface="Arimo" charset="0"/>
              </a:rPr>
              <a:t>Fulton’s </a:t>
            </a:r>
            <a:r>
              <a:rPr lang="en-US" sz="3200" dirty="0" smtClean="0">
                <a:solidFill>
                  <a:schemeClr val="accent1">
                    <a:lumMod val="50000"/>
                  </a:schemeClr>
                </a:solidFill>
                <a:latin typeface="Arimo" charset="0"/>
                <a:ea typeface="Arimo" charset="0"/>
                <a:cs typeface="Arimo" charset="0"/>
              </a:rPr>
              <a:t>condition </a:t>
            </a:r>
            <a:r>
              <a:rPr lang="en-US" sz="3200" dirty="0">
                <a:solidFill>
                  <a:schemeClr val="accent1">
                    <a:lumMod val="50000"/>
                  </a:schemeClr>
                </a:solidFill>
                <a:latin typeface="Arimo" charset="0"/>
                <a:ea typeface="Arimo" charset="0"/>
                <a:cs typeface="Arimo" charset="0"/>
              </a:rPr>
              <a:t>factor revealed </a:t>
            </a:r>
            <a:r>
              <a:rPr lang="en-US" sz="3200" dirty="0" smtClean="0">
                <a:solidFill>
                  <a:schemeClr val="accent1">
                    <a:lumMod val="50000"/>
                  </a:schemeClr>
                </a:solidFill>
                <a:latin typeface="Arimo" charset="0"/>
                <a:ea typeface="Arimo" charset="0"/>
                <a:cs typeface="Arimo" charset="0"/>
              </a:rPr>
              <a:t>that a greater number of fishes live in environment with fair conditions, while some </a:t>
            </a:r>
            <a:r>
              <a:rPr lang="en-US" sz="3200" dirty="0" err="1" smtClean="0">
                <a:solidFill>
                  <a:schemeClr val="accent1">
                    <a:lumMod val="50000"/>
                  </a:schemeClr>
                </a:solidFill>
                <a:latin typeface="Arimo" charset="0"/>
                <a:ea typeface="Arimo" charset="0"/>
                <a:cs typeface="Arimo" charset="0"/>
              </a:rPr>
              <a:t>macroinvertebrates</a:t>
            </a:r>
            <a:r>
              <a:rPr lang="en-US" sz="3200" dirty="0" smtClean="0">
                <a:solidFill>
                  <a:schemeClr val="accent1">
                    <a:lumMod val="50000"/>
                  </a:schemeClr>
                </a:solidFill>
                <a:latin typeface="Arimo" charset="0"/>
                <a:ea typeface="Arimo" charset="0"/>
                <a:cs typeface="Arimo" charset="0"/>
              </a:rPr>
              <a:t> live in better condition.</a:t>
            </a:r>
            <a:endParaRPr lang="en-US" sz="3200" dirty="0">
              <a:solidFill>
                <a:schemeClr val="accent1">
                  <a:lumMod val="50000"/>
                </a:schemeClr>
              </a:solidFill>
              <a:latin typeface="Arimo" charset="0"/>
              <a:ea typeface="Arimo" charset="0"/>
              <a:cs typeface="Arimo" charset="0"/>
            </a:endParaRPr>
          </a:p>
          <a:p>
            <a:pPr algn="just"/>
            <a:endParaRPr lang="en-US" sz="3200" dirty="0">
              <a:solidFill>
                <a:schemeClr val="accent1">
                  <a:lumMod val="50000"/>
                </a:schemeClr>
              </a:solidFill>
              <a:latin typeface="Arimo" charset="0"/>
              <a:ea typeface="Arimo" charset="0"/>
              <a:cs typeface="Arimo" charset="0"/>
            </a:endParaRPr>
          </a:p>
        </p:txBody>
      </p:sp>
      <p:sp>
        <p:nvSpPr>
          <p:cNvPr id="18" name="TextBox 51"/>
          <p:cNvSpPr txBox="1"/>
          <p:nvPr/>
        </p:nvSpPr>
        <p:spPr>
          <a:xfrm>
            <a:off x="1236515" y="9410700"/>
            <a:ext cx="5880313" cy="641201"/>
          </a:xfrm>
          <a:prstGeom prst="rect">
            <a:avLst/>
          </a:prstGeom>
        </p:spPr>
        <p:txBody>
          <a:bodyPr wrap="square" lIns="0" tIns="0" rIns="0" bIns="0" rtlCol="0" anchor="t">
            <a:spAutoFit/>
          </a:bodyPr>
          <a:lstStyle/>
          <a:p>
            <a:pPr algn="l">
              <a:lnSpc>
                <a:spcPts val="2481"/>
              </a:lnSpc>
            </a:pPr>
            <a:r>
              <a:rPr lang="en-US" sz="1600" spc="37" dirty="0" smtClean="0">
                <a:solidFill>
                  <a:srgbClr val="0D1C38"/>
                </a:solidFill>
                <a:latin typeface="Arimo" charset="0"/>
                <a:ea typeface="Arimo" charset="0"/>
                <a:cs typeface="Arimo" charset="0"/>
                <a:sym typeface="Assistant"/>
              </a:rPr>
              <a:t>Assessment of Microplastics in Commercial Fisheries procured from six Coastal states in Nigeria</a:t>
            </a:r>
            <a:endParaRPr lang="en-US" sz="1600" spc="37" dirty="0">
              <a:solidFill>
                <a:srgbClr val="0D1C38"/>
              </a:solidFill>
              <a:latin typeface="Arimo" charset="0"/>
              <a:ea typeface="Arimo" charset="0"/>
              <a:cs typeface="Arimo" charset="0"/>
              <a:sym typeface="Assistant"/>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p:sp>
        <p:nvSpPr>
          <p:cNvPr id="5" name="TextBox 4"/>
          <p:cNvSpPr txBox="1"/>
          <p:nvPr/>
        </p:nvSpPr>
        <p:spPr>
          <a:xfrm>
            <a:off x="3581400" y="723900"/>
            <a:ext cx="184731" cy="369332"/>
          </a:xfrm>
          <a:prstGeom prst="rect">
            <a:avLst/>
          </a:prstGeom>
          <a:noFill/>
        </p:spPr>
        <p:txBody>
          <a:bodyPr wrap="none" rtlCol="0">
            <a:spAutoFit/>
          </a:bodyPr>
          <a:lstStyle/>
          <a:p>
            <a:endParaRPr lang="en-US" dirty="0"/>
          </a:p>
        </p:txBody>
      </p:sp>
      <p:graphicFrame>
        <p:nvGraphicFramePr>
          <p:cNvPr id="6" name="Object 5"/>
          <p:cNvGraphicFramePr>
            <a:graphicFrameLocks noChangeAspect="1"/>
          </p:cNvGraphicFramePr>
          <p:nvPr>
            <p:extLst>
              <p:ext uri="{D42A27DB-BD31-4B8C-83A1-F6EECF244321}">
                <p14:modId xmlns:p14="http://schemas.microsoft.com/office/powerpoint/2010/main" val="2269766570"/>
              </p:ext>
            </p:extLst>
          </p:nvPr>
        </p:nvGraphicFramePr>
        <p:xfrm>
          <a:off x="8529638" y="4948238"/>
          <a:ext cx="1228725" cy="390525"/>
        </p:xfrm>
        <a:graphic>
          <a:graphicData uri="http://schemas.openxmlformats.org/presentationml/2006/ole">
            <mc:AlternateContent xmlns:mc="http://schemas.openxmlformats.org/markup-compatibility/2006">
              <mc:Choice xmlns:v="urn:schemas-microsoft-com:vml" Requires="v">
                <p:oleObj spid="_x0000_s5172" name="Worksheet" r:id="rId4" imgW="1228944" imgH="390652" progId="Excel.Sheet.12">
                  <p:embed/>
                </p:oleObj>
              </mc:Choice>
              <mc:Fallback>
                <p:oleObj name="Worksheet" r:id="rId4" imgW="1228944" imgH="390652" progId="Excel.Sheet.12">
                  <p:embed/>
                  <p:pic>
                    <p:nvPicPr>
                      <p:cNvPr id="0" name=""/>
                      <p:cNvPicPr/>
                      <p:nvPr/>
                    </p:nvPicPr>
                    <p:blipFill>
                      <a:blip r:embed="rId5"/>
                      <a:stretch>
                        <a:fillRect/>
                      </a:stretch>
                    </p:blipFill>
                    <p:spPr>
                      <a:xfrm>
                        <a:off x="8529638" y="4948238"/>
                        <a:ext cx="1228725" cy="390525"/>
                      </a:xfrm>
                      <a:prstGeom prst="rect">
                        <a:avLst/>
                      </a:prstGeom>
                    </p:spPr>
                  </p:pic>
                </p:oleObj>
              </mc:Fallback>
            </mc:AlternateContent>
          </a:graphicData>
        </a:graphic>
      </p:graphicFrame>
      <p:sp>
        <p:nvSpPr>
          <p:cNvPr id="7" name="AutoShape 4" descr="data:image/png;base64,iVBORw0KGgoAAAANSUhEUgAABLAAAALmCAYAAABSJm0fAAAQAElEQVR4AeydCbylc/34P89sZgxjNMhuEIlosiUkkX0bRQspZaekFFpF8ZeUpdVWiVBRypZQlORHliRZY4x9mzFmDLP+7/u5vtczZ86999x7zzn3LO/7ut/zPM93/76/3+e7fL7LM2S+fxKQgAQkIAEJSEACEpCABCQgAQm0OgHTJ4GmJjAk/JOABCQgAQlIQAISkIAEJCCBCghoRQISkIAEBouAAqzBIm+4EpCABCQgAQlIoB0JmGYJSEACEpCABCTQDwIKsPoBTScSkIAEJCCBwSRg2BKQgAQkIAEJSEACEmg3Agqw2i3HTa8EJAABlQQkIAEJSEACEpCABCQgAQk0EQEFWE2UWY0VVWMjAQlIQAISkIAEJCABCUhAAhKQQOsTaIwUKsBqjHwwFhKQgAQkIAEJSEACEpCABCTQqgRMlwQkMGACCrAGjFAPJCABCUhAAhKQgAQkIIFaE9B/CUhAAhJobwIKsNo7/029BCQgAQlIQALtQ8CUSkACEpCABCQggaYloACrabPOiEtAAhKQQP0JGKIEJCABCUhAAhKQgAQkMBgEFGANBnXDlEA7EzDtEpCABCQgAQlIQAISkIAEJCCBPhJQgNVHYI1g3ThIQAISkIAEJCABCUhAAhKQgAQk0PoETOEbBBRgvcHCOwlIQAISkIAEJCABCUhAAhJoLQKmRgISaBECCrBaJCNNhgQkIAEJSEACEpCABGpDQF8lIAEJSEACg09AAdbg54ExkIAEJCABCUig1QmYPglIQAISkIAEJCCBARFQgDUgfDqWgAQkIIF6ETAcCUhAAhKQgAQkIAEJSKB9CSjAat+8N+XtR8AUS0ACEpCABCQgAQlIQAISkIAEmpKAAqw+ZZuWJSABCUhAAhKQgAQkIAEJSEACEmh9Aqaw0QgowGq0HDE+EpCABCQgAQlIQAISkIAEWoGAaZCABCRQRQIKsKoIU68kIAEJSEACEpCABCRQTQL6JQEJSEACEpBAJwEFWJ0c/JWABCQgAQlIoDUJmCoJSEACEpCABCQggRYgMOgCrBkzZsTll18e++67b6yyyiqRZVmXGjFiREyYMCG+8pWvxAMPPBDz588fVOS33357jB49uit+xHtQI9QkgU+fPj223HLLLm5Z9kYeZ1n5+6FDh8aKK64Y73//++Pcc8+NZ555pk+pJW+yrNNv8oy865MHDWj5qaeeWuAd+fa3v71QLCuxs5CjJtIgzVnWma/UF6S3iaLfFFGdO3duXHrppfGud70reA+zDN5ZvOlNb4rtt98+XnzxxT6lg3ePdzDLOv3Jss7rJz/5yQHV6ffcc08sueSSC9QrhEN4fYpgC1luxXqvhbKnqZNCXUudm2Wd7y91cVMnqCPypX2TT3ziEx26zf9fmldZ1plnWTbwa2JkXdP85aQRU3DvvffGRz7ykVhsscW62nbGgmussUbcfPPNfYpyd+8B4xHe/T55VrDMeORtb3tbV/yyrPO94p0oWPN2AARK864V2psB4NBpGQKDJsCicB522GExZsyY2HXXXeO8886Lxx57bIEozp49O/71r3/FiSeeGG9961tj/fXXj7///e8L2PGhNQnMmzcvnnjiibj++utj//33j2WXXTY+9KEPxeOPP97wCUbQ+n//939x5JFHRlcj2fCxHvwIIjj5/e9/H8cdd9zgR6ZNY0Cde8ghh8Qee+wRt956a/AeJhRTpkyJOXPmxCKLLJK0BnT9y1/+Ek8++WS//bjhhhti6tSp/Xavw8YiMG3atDj++OPjuuuua6yIGZumJUA/8+ijj877kU2bCCMugTYhwMTZuuuuG7/61a+CxQ0p2fRLEBoxQZX0BnK97bbb4v777++3F3feeeeA3Pc7YB1KQAJdBOouwGKQ+tOf/jRfSfKjH/1ogQFSV6zK3KB11113xeabbx7f+ta3ggoNPVX7EPjNb36TCzKvvPLKhk00ArYPfvCDsckmm0Q7rwTpawYx6/bud787Jk6cGP/73//66lz7VSLAasezzz67W9/Gjx+fr0Lt1kIfDCZNmtTvd2TmzJlxxRVX9CE0rTYqAfoEF110Uay00kpx7LHHBnnbqHE1Xs1BgDJ08skn5/3MH/zgB7ngvTlibiwl0J4E/vOf/8TBBx/c7Zhw6aWXzieyq0HnlVde6fdECRPU9D24ViMu+tE7AW1IoByBugqwEDoxG7bffvstIIAaMmRIvrqGTixbBZmVnzx5clx11VVx0EEHxahRoxaI+9e+9rU4/PDDF/BjAQs+NDQBVtOdf/75gUCqO/X1r389dtttt4UGyzQ8u+++e/z2t79tyDSy3fV3v/tdQ8atUSPFKrVDDz00mBVr1Di2Q7yY8bzkkksWSCqrH//973/nK6Wom6m/F7AwwAfelf50BB9++OFgleMAg9d5AxC4q2NiinLGCqwGiI5RaAECrOKjrqLP2QLJ6XMSxo4dGz/5yU967GPR93rPe97T5fewYcPipJNO6tUNbXWXI2+agUBTxPGaa66J559/viuuG220UVx99dV534Px4K9//esYN25cl/lAb/Cbvmdf/Xn22WfznSF9dad9CUigugTqJsBikHLqqafGd7/73QVS8OlPfzrYmsKSUfY9s895ueWWy88/2mGHHfJG+IUXXogvfOELC7ijcWa1wAKaPjQFAbYDstKGbUrdKbaRXXbZZfHSSy/Fn/70p3x2PiWOTimCTWZskl7pdZdddgnKHIqB+QYbbFBqpemeeS9YtUKaUHTQmy4RA4wwaSbtKFjAZIBe6vx1AggQHnzwwdefIlhJ+OMf/zje/va3B5ypm1FdFvp5U9wG0N9thKzCTNsHsyzrZ0x0JgEJVEqAOoA6l7oXRV1cqdvmttd8sWfSl/5zd/2rpL/qqqt2JY5zhjhzNJl1d+VsRBy1Yh+LdKkGhwDHxaSQGSNcfPHFwZmb1Duch0sfHiFrstOf6/Dhw/Nzq3DLhGl/thEycXbffffhRZdf+YM/VSVAvtveVBVpy3lWNwEWM2Jf+tKXugCy6ooK6owzzsjPweoyKHNDY8xy8NJD3Dgv46GHHirjQq1WIcAh0ttss0387W9/i+LgmZkahFwIs1olraZDAo1EgBnQgXYYy6Vnp512ClYIYEYHpa9bbZk1ZfYU9wy6tt12W25VjUrAeElAAhKQgAQqJMAujWWWWaZC25Vb4wga/MYFuzkYl3JfqUJwz6rxZJ+J+HTvVQISqC+BugiwWEHF1qrigcDnnXdefPjDH65Ygp1lWXzuc5+LPffcs4sQB3RecMEFXc/etC4Bvn5EXqeBLynlwO9bbrmFW5UEWpZAqyWMr/ekWXzSxgpLOobcV6KYNWX2FLvvfOc7Y8KECdyqJCABCUhAAhKQQFkCrOTaeuutu8xYAc55eV0avdxwvA1usLbCCitEcQsueioJSKB+BOoiwLr22msXON9m5513zren9DWZLP9k2fqiiy7a5ZR9/KzG6dLwpmUJbLzxxnHMMcd0pW/WrFn510p6Gfx22fdGAhIYfAKsqKUNSDG5/vrrg3Ml0nNvV2ZNmT3FHufhLbnkktyqJCABCUhAAhKQQFkCWZYFfY8s6zx2gO2AnKdZ1nIZTVaLs2ocI3aGrL766tyqJCCBQSBQgQBrYLF69dVXgwO7ky9ZlsVhhx220MHsyby36zve8Y78cG+EGWwp5GC/JZZYokdnnIHE6p1NNtkkFltssXzVV5ZlwfYT9E4//fRglViPnvTTkC8s3XzzzcH5XiyJzbKsK/y3vOUt8dnPfjb4AltvQhhWm7EKKcs63ZP2SqL0iU98oiu8LbfcMth+U+oOv7Ks01/sY06c2OrDFr4sy4LZhiOPPDKIRwzi34c+9KE8LikKfA2EWZH0nK6XX355V7o5c4eGJ5mVXmGPOV9AIZ1Z1skiy7Igz9iHj6CUclTqludiWL/4xS/QytWNN94Yiy++eFc8sJcbdPxwn2Wd4aR84QuGBxxwQF4usyyLN73pTfHJT34yWHHS4SRn358ygFvON2Ib7vjx47viw7tA2ohLb1sxyff+hE15yrIF00l8UKncwQhW6KFgmGWdbkrzLrnJsiyID/HCTU+Kd5uz91ipwzufZZ1+k37O/KBu6C5vi/7CKcs63aY8w5w4fPWrXw3e5yzrNOe9WW+99fIz/2CPvVqogdYvlHsYZ1kWyy+/fDz22GNd0URYnGWd6cmyLGDfZTjAG/iNHTs294Xyfeedd+b3vf1Qf6Xtg0xkkH+9uSlnTn6T79T/lIMs60wn5QO9StsE8p5ymGVZ/sEJeDKj+/3vfz+vp7Kss51hppZzu8gv4gPLLOsMk3cEPeohOtR0sIlHlnWa885SvjjIFnv9UbwDvP/VKqOkYyDtGvlIGciyLDbccMNIAknStuuuu3bVUdh5+eWX83owyzp5ILC85557sFqR+sY3vtHlH6v/nnnmmdxdMQ5ZlgXvNwbkH3UQZ79lWWeYvM+sGqTMUHaw1xeFG9xStorljXv0MMNOpX5SVihr/W2zKg2naK9Y1rOsfH0AwyzrZEbewRg/cEsZrlb5w89SRRjpXaQMJXPKFmUsyzrjld63ZF7umso37yJ5lGWdbmmT6cvxnpIH5dx2p0f+ks/kd9FP7tHDDDvduW80/WJe04ZQHruLI6wwr1Z5rZZ/xXqYskMZ6i4NSZ90kN4s6ywTcEhm3V2JL31q0k84WdbpNss6+zHoY4697vwo1adfwTnAlJ1ie8H9WmutFUz28+GVvvhZGkZPz/hLnIl7aZroR++7775BG8G7VM4f6oYtO8YkWdbJgjo32aM/SL8wyzrNsIf9ZD6QK6u20zZCztG84YYbKvKO9Ba3DzJ5lmVZRW6LlnjHGU9wxhzjiyzLutqnYt719Xgc4kd+k+/FejbLKitj8IVzlnXGh3I9d+7cYIxNecqyLGgH6deSV7STUeaP9FGXUS6p27Ks0z/Shl5/+lZZVp/2hr4BfYQs64wzeTRnzpwyqVxYi4U066yzTldefvSjH41K3S7smzqVEBhSiaWB2EG4cMcdd3R5QeGgM9Gl0ccbzmS58MIL8y9QHXXUUUGBYWVWOW8YlH/nO98JOrz77LNP7oaXK9nFnI7IEUcckR9STAe/u5cyuenLlUqYinKzzTbLVwo999xzCzhH8s8ZYKSBA5MRYCxgYZAeGGhx/g1fgUzbPsnH733ve3HppZcOUqw6g2Uw9973vrfzoeP3iSeeiEceeaTjrn//MCd/KJNnnnlm/sWTok/kGV9HQXC29NJLx89//vPorkEuuuvrPQP4TTfdNM4555yur2vycQPCYzBM49RXP5P9f/zjH8FMEQ3bpEmTknbwLpA2Ovu8l2lbVpeFJr8hfXytdKmllso/AsEhobzzKVmYs/qHugHhDV9B7UveYpf3l87bCSecELzPyW/eG77ex8cnVlpppUDQOpA8TP4Wr81av5AGyiMCAe7hUikfmFKejBC/EwAAEABJREFUcUcdRf3KfaWK/K9lm0CH+OMf/3j+lVzqTOJFmDfddFNeBunkoFeqaHcOOeSQoINH/YubZId3lvK18sorxxe/+MXAbjLr7UoZ/elPf5q3b7z/1Sij9S53WZYtcNwAjG+44Ybekp6bU4fCM3/o+GHW/M1vfnPHXfl/Bg2UK4QcxY+E8D7feuutkeqKSssr/KkjuuuDUAfRB0n+VlIHNUqbVZ7ggrop/YNVRy4Ym8qe4LvddtsF/QLKDnmUXFKe+OAQ7ylHYLz44ovJqNtrYlDNMtBtYA1oAE9YVquPVW3/aoqsw/NHH300L0v08+ljFieJOozzSSP0Ma9kHEB7+aMf/Sjo1+y///75uKbYXnDPpBDjGdpHJilhFlX8Q1BC+02ciXtpmmj7OCaGfH/3u9+dT9JXMfgBeYXQqLiNkLq8kjaVfGQ3EYFTn3GoPPeVKvIl9T0YTzCWYnxRdI+dlHec+Yu9SuoY8peyQ36T78V2Hv/JH/KJ/Kq03mKHC30G7BMn/KEdpA/GwovSMIh7Sh/tGe1ase7EHL1ajbeJX6pryR/6TMU4prj31Cenb0AfAb9Qf//73/P3k/ve1D//+c/473//m1vLsizoQyCvyDX8qQmBmguwKPhPP/10V+RZBVHNT6F2eVxyw9fr9tprr0DIxYtTYrzQI3Z4WT/wgQ/kX75byEIfNGhgfvCDH8RWW221wKC2Jy+Q7DMzwEvQk71am1E5sQqIWcvSsJhVYVVWqX49n7Msi2LDgYS7ONDoS1wYGJJHaUDcm1saOVZEsZqHPO7NfqXmvB+f+tSnotwKC2Yt9t5771yqX6l/RXscfr/jjjsu8Hnionm6p6Kns/Hb3/42aTX1lQad2SSEf5UkhNlM6gu+ikpd0JsbGkMaaxry3uzj92677RZsfevN30rMKXvNWr+k9PV3GyECVzpW+MPsGDN83Feiat0mkC/f+ta34pJLLikbHTqCdJBKDV977bV8JS4dzFKz0udTTjklKm2jiM+JJ54Y++23X5dQvNS/9FxJGcW/wSp3DH4Rsqf4wpgZ4/Tc3ZXVEijMqUuZFeW+nPrf//4X1JW9tSew4gtsTOjApJxf6NFesNq8kjoC+/hLHUQ/pLs6pVHaLOLbm6pGHdlbGNU2p79Kn4CJjd78ZhUFgxTyuTu7mFW7DHQXViPqV7u8Vtu/WjOjb4lAnGslYTEOYCLzrrvuKmud+oZ+B2Wquzqi1CFnTFKmYVdq1p9nhLqMVSqd8MQe475G6VtmWdavbYQIX5gwhxkrM5n05L4SRV6RZ5WOR5OfldQxjBnJD8pOctfTFT/pQ5QKz0rdMHnOWKdUn2eEoqzK4h5V674VYfSmqtXe0Eegr0B4jM2S0JLn7hTvJYJQrtihr0KfhXtV7QjUXICVJJIpCQgfsixLjzW5UlkwU00nNwXAKq2vf/3r+WodCjqKyoglxGPGjEnW4o9//GM+y40fXZp9vKGiptNKGMkpq1xoxBh8UcjZFnHZZZcFFXuyw+w8HdhqNTTJ375cWQnEMmpWjdDwISAizqwg4CB+VkD1xb9a2GVmouhvbwOOot10Tx6ceuqp8eCDDyatOPjgg4OZJdKLOWlnRh79LksdN8yoMxvTcZv/M5jBPorVF7lmxw8rxchn9FHY69Be6J9OM+GwJYrttoRP2HfffXcwAC2WkYUc96JBZ4MVC1gjHaxWo1wSBnlK5wozFGUeAQ5x4bnWioEaXGAEqxQeDNFHMYNDnZHMKrnSmO67775Bw57s844z+KZBwl/4kk4+DEHdkOz95Cc/CcoFdpJeuSvsmOHBjNVEzKaRDtwxaGGbG/qYo2BOZwAzngeiqlm/wBbGxJtZU1b5pLiddNJJgX5S5Fcyq8Z1yy23jLFjx+Ze8Q5Q9+QP3fyQr9TPGOMO99xXoijbtW4TyNu0MojVVNTnsKPMnXbaaUHdXi6uLNE/++yzcyPKDGUJv3CLH//v//2/KJZRGBx77LGBefTwN3PmzOBDF1ghX3/2s58FdQHu0vtfrFsoo1/72te6ncCpZrlD8Agr4sJ7St1HPFF/+MMf8rRhhh3sstqg+AEXBkWUGex3p3BPG8sVO6wEWHfddbktq6gLUntAe039Sz2BIiy2jBQdMhjpTiiNm89//vNRFEqmOoh+B6yJF/nLqlvMkt/UE+XqIOyjn+KIfer0/rRZuK21qncdudxyywV9JzhRhlL6KFuUMfRRrAxJZqVXBqmJL6sIUhnAHe/xN77xjRgy5I1uM4OW9I6V+lWLMlAaRiM/w6ya5bXa/tWaHe0ZAnHe8RQW9QqrOlL9Tj2MsAr9ZIeJTFbeUJaTXrqyZQ8BVnpO7QUrA+GDoh9CG4JZskeZpv5Pz/29sgr1Yx/72AJbvulD0t9JaeL617/+NYorWWh/mUjBfQqbep36nTij6PclM/qDpAN9FPawn8wHekXgw2ol/KFNxH/uu1O8y+k9z7JsAQFYd26K+owZUhuPPnnDalvKBulDwa20LGCXPjyrnrkvVZQR+hX4k8xo02n3Ej/8JX8IM9nBP8bDpCvplV6p29CjbDK5QxxhRTlinJBWF5G3te5bEY/eVLXaG/oI9BVSeAgGYZiey13pOydemNNXoc/Cvap2BN5oiWsUxqOPPrqAz6XChwUMq/TA3l06hcm71VZbLdg+dNxxxwUCmCzL8hUtSNDphDJDy9LKZJ+KhmXi6bkvVxofzo6hg4o7Oju88FQoLDtPAxEqY1ZlsEf8oIMOwmquaGioDKgUco1B+OHFgyENEHueiTOrcxiUZVk2CDFaMEjyjU5p0mVgm+4rvVLhkCfJPoIilmVTPkkv+qSdSv/HP/5xXHzxxXmZQZ8BCMI97qulKCd0OugcED5hU5Fy7hirVQYSDoN9ZhFIRyr/hEGe0pliMJz8R3iJ4KKnhi3ZbdQrQqjiDDrnDzEAZQYsrYCBL3nLKgoac8p8Sg+DeBrDiKSz8JXGHF3yi7qFGS3eafRGjhwZzFAhsC7OwrAajg4odvqrWqF+SWmHP9sQeIYnHQCuPJdTsGNQgBnucM99JYr6rF5tAp07Vv6llcaUOSY01lxzzbJRTWl+3/veF3TwKUuUISzjB+0JZYx2DD0UbVRxaz563SlWqjEQR6ibzotM7z8dd96P5JYVuAh203O6NkK5YwIg1fusECZPU/zKXanjKVPJDA7pHU16xWvKB9oChHXUv9QTKPKO+pm2nLoad7TxCLHLrQTjS1VnnXUW1nJFnjJ5QB1E+5Vlne0o+cvADjPyP7fc8UNfpTR/SU8jtVkd0ezxP/Gsdx3ZY6QqMKSMUW445yWVAZzxHtNWcoRFlnXmH/qsCk1p5TmpWpSB5HczXKtdXqvtXy0ZMuBFQMCAn3AoUwhAeH9ZYZXqd+phzvVFnz5mqlsYB3zzm99c6AwdymUSVtAeIECnbqGPRzgo6jj0GNcU63ZW3iS32Ourop5jvJTShHveB/qQ9HdSmrgSLkITFghgD4U72kbOY+R5MFVftxHS/tF/I84IvhCAcV+J4lylYt+DMQb9U87So/5PfsAtlYUiN+oWjnNJ9tIVfYSZlJWkx1iSMSVjS8oB+vhL/lAeilsnOVqAiSDsdKcQwP7yl7+MVVddNbdC/4F+BGOHXKPjh3a4mD7KJf0V2rA03siyzjNWKT/Eo1rj7Y7gu/7hwcNA2xu40VfALxSTGuxQ4b47RdlAmIg5q7fYgs69qrYEai7AKgoXsizr9+HtlWKg4aDjmAozDQcdDpb0decHB94hsCoOYlmtUYx7d25L9WmkigMAtpSwzDzL3ujwFN0gnGCWiiWpSR8/mDFMz/W+stWFg/oGHG6dPGAFSV8FLsympiW0VDis5siy8nlEMrbddtvgwwHM8tIIpNkHzKqhEBYy61QNv0r9YDDd3WHXdKBYWVMsf8w4FBvFUv8a+ZnOAkufUxxpTBmILLvssklroSuzLdQRqfPIrCjCzN7KFEuo2dLFga4LedqhwZlpRxxxRMdd5z+D7tTIder0/Ze6odnrl5Rq6r5iuaNT19PXCBkokje4xx3uue9N1bNNGDt2bNCJROjRW7yK5nRqEY5wSHRRP93TfiGYTWWUsoT91M4le6VX2jaEtHQ8S814Rv/QQw/lNlf4W66MNkK5W3vttYOBUR7Rjh9WovXURhc7lXCl3u5w1uM/2+c5I6Nc/mVZ57kWn/nMZ7r8YKVBqbCb8sYqKgRcWKSzzuQBceC5nMKMAQX1FebkQ2n+NlqbRTx7U4NRR/YWp97METz0dFQCg0H6Askf6mMG9+mZa63KAH43i6p2ea22f7XkyKQYK2dSGNQHrGTJsvJ9zCzLglVXjBeSGwTm9913X3rMr0zi5DcdP6x8YqdEx23Zf+p22iL6JwhdqDtLy2lZh91oUs9R3yVjBBnsyqAPmfSKV+pQJuOZvEn6CEyYTE3Pg3XNsgVXUfUmpMCciWviSzuCAIz7ShSC7GI+Hn/88fkHiLpzm2Wd7Qx1Z7JTrp1jcQiCz2SHMQT90e76RZQHBGOMiXFDXwqBKPflVJZlQVuHQKecOXrUc4M53iYORQUzGFDmi/rpvtI+OXlMm4w7BK/Fdxm9omKcQP8o6TERxSq49Ny21zokvOYCrGIaeLE4yLKoV+17Kng6rslfziwqdjaSfumVTiazo0mfmXAq2/RcyZXGobhtkZeJs42yrHyjlfyEy5e//OX863PoUbGwvJT7wVB03rKs5zgPRry6C5NZJb522Z15b/rwZiVCT4NByu0tt9ySH/LOrBez5r352xdzBGSUg764qcQuK1VYudCTXcKl7GdZZ55zaGSxo9KT20Yzo6NR7CywLYhZoN7iSaNDBzLZY4Vdb0I8ZjmZlU9uyl2pA1KHAfPe/MROd6pV6pdi+oodBVbJsQKoaJ7u6cAhsOAZIRECZ+4rUfVsE9iSmWYrK4lbskP9z8Gj6bncdfPNN19gWwYd495msynTPQ1yCIdZ39RZ47m0jDZKuaOeKm7jYya3u/JS2qmkfkVISPq6U3RuGXB1NyDDXZZlwcHJlEGeaTNKZ8cZWBT7Dmzzq2TAQz1F24u/qJ7ytxHaLOLYm6p3HdlbfHozZ6KD7R892WMgWOxTckAy70jRTT3KQDG8Rr+vdnmttn/V5kedQN2Av/QBivUWeuVUlmUxceLE/OvTmDNwZnUT9+UUdQwrg8qZJT3OT6Vs0idiAoQ6Jpn15UpamOTnijvqP3YH9FRXYi/Lsvx8R87P5RnFMRkD6a/jRzUUq+OZGMKvnlgX25IsW1DwhdveFII8VkTBYMKECUFfszc3CGCKfctyYxxWWiWhWpZlwZb1noRNhMk4l8lsJuJTnDj4HLNSRT+mt5Vm9exblcav3HO12hv6CvQZUhhM6tMHTc/FK/U/48ek15fJ1eTGa/8I1FWAxawiy4D7F9XKXFFREw62s6yzQciyzoE5ej0pOo90krFDRU0HmUozC0EAABAASURBVPtKFasHGIQl+0jEi5VQ0i93ffvb356v8ElmbPmg4UnP9bouvvjiwRaHaKI/GgYq/L5EmcHi+PHju5wwgGQvOUtfB2P7ZmpIuyJUpRs6TnS4e/OOhooGK9lDgMU7kJ6b5YoAK8WVQTkCkvTc05UVdcWBC0I8ZtZ7crPJJpv0ZJyb8S4VV3bmmv38aYX6pTTplLnEkfJWPLumaBdBRaqP2YLByqKieU/39WwTqFP6WhcxaN5iiy16SkJuRtvE+5w/dPyw7QzVcdvtf2LbrYUOAwYjPXV8G6nc0amkvu+Idr69hvPDuC9VpZ1KDmblHS+1V3wmDyiPRb1y95Q9ymAyY1sr542kZ7b+UX/wTJ4xicB9JaoomCVvUcldo7VZKV49XSspf9WsI3uKSyVmrFSpRNiYymB3ftaqDHQXXiPqV7u89tG/QUPCeVQcH5AisP7660clZQr7K664YrDSlHtUaT+sWO9wLhGrx1lx3ttEBn4NRCHgueeee7q8IB7Ug10aPdzQJhZ3F+APjHpwUhcj+mXF/iF9j3KCtWJbQj8dwVdfIki/kpVSfFiItqLSMWExjHK7TJjgSHY445Ltzum5uyvbCVktxDicOLH6GgFbOfu0hT31C3BTz74V4fWmqtXe0Fegz5DCI98Q1qXn4pUVhawORY92ATkC96raE6i5AIsOQe2T8UYIxUJGRZGW5L9ho/s7Gg9mYZONol9Jr6crlQKS8mSnLx1XBEfFuNJxLXaKk5+1vrLSqNLGttZx6c5/lq0yA5fMqWyyrDIhZXJD48XquPTMlTMImCGhkifvOICXmVQG1pjXSrFCp1bMi52hnuJPQ0WDlewws0OjmZ6b4cpMWVGAzPuEcKDSuNNBJi+S/Z7ef+wx8Ep263FthfqllBPvGlsrkj7bCIt1aNLnPA3yl2fs4477SlQxH2vdJjBzV0mcinZoIyt9/5lBpb7DPfVg6jjxXKqqVUYbqdwxGGJiKKWVziPbhtNzurICIrFhBQT1eTLr7sqWnMS2OzvoU/ZoJ7hHMcApTjYVyxt5xGqdLMvyMxSzrOcrn0LHTxRuUxp4rm+bRYgDU9UqfwOLRd9c0wbQFvbN1cK2a1UGFg6pcXWqXV6r7V+tyCGcQViR/E/HE2RZz+9+lmXBxxzYqpfclvbDGBxTnyVz6gd2mcCGto3VnuwQKCeISW76cy1NE/Uf9WAlfmVZFsUjSWjfaVMqcVtrO/QlsizLg2GHBeOu/KHwgzASzmgh8II199VW5BnCvZNPPjlfpcU21O7CoL0pTrAiTGQiqjv7/dFHGNPbZFyxnqP80eeuNKyBjrdLw6l2e0OfIb1rjDc5wqI0TNpoVmclfbbp9rbiPdn1OnACNRdg0SEoRrNY4Iv61bovNhycbcQMaKV+I0QqDuIZwKdBUyV+UMkX7dMYVeIu2SkKG3hheDmSmdc3CLAioMiZivAN08rvDj/88PzLg6UuOLuELaR0BigPiyyySHDgIkt2u1tuW+pHIzz3pUKnoaLBSvHmfDAa1PTcDFfiS+coxZU09bbEPdnlikCq2DmZNm0a2g2jWrV+YeULq+UAzVdr+RIP90mRbrZ08ow97HNfqRqUNqHSyHXYo42sdNBMe0a71uEs/691e0og8C/Wt4PZrmVZFpzRmGWdgw4E1syOEs+kaDeLZ3sg8KJzncy7uxbb3+7sJP0iA+qc4oCsWN6S/f5eS+ugVm+z+sup0dzVsgw0Wlp7ik+1y2u1/esp7v01o74sfW/76xdjkOKOAPq6bMEr9lOS3/SLmXSlvqOdYPDN2VvVWJ1VmqZi/ZfC7+larFsbaWyDII5VVcSdVbOseOM+Kdq9JKDIsiwQeCWz/l4RPrHlDEEV5yOTT7T/5BmrqDiTtrczkJlUL45F6LvT3+1vnPrrrljP0S8hDZX6NdDxdqXh9NcefQa2JCb3nIPFe5CeuXK4e9r1kWWdZ5dVMgmGW9XACdRFgFXMULbG8fINPOq194GOKYPi2oe0cAg0gKUvy8K22lOHZavFlBcbx6J+b/cINzisn6W0NCLd2acDwf5/vrzB3nEGR81ShrtLU2/6NLKkuzd7tTJvBH+LjXMjxKeacWik+gUhcVr6zXvFUv5iWv/zn/9EEmpxfkR/VjkV/RvI/WC2CQOJd6O4rUa5YwtHGnRQXqibuaY0ItRL52DSqS5uBUh2muVKPVyMq21WkUZ73JeWgWZKdbXLa7X9a3SWHIdSFFQQX+o/xlFs/0of9UC/VCHc54MUCLuoAxHQlNoZjGeEQo0ytoENq6oSB/oexTEfq2vTOWScb4lKdvt6pV1iyyeCG/oxCKr4wBD5hKCyL/5RJxC3vrhpdLuN2LfiPCv6ELDjCAsU90kh1GJ7Lc+spOcoFu5V9SFQcwEWgw3256bkMBAZ6IzAn//85+Cz1nzdoprLZekEFxuLvsyMp/QN5FoMm4qVFSH99K9lndG4pAaFRCLxpyxw3x/F/m8OM2TlBw0CX7Cgg9CdX6xMwv5vf/vb7qy0hD7vLLNCLZGYChPB+4dK1vsrGE3uG+1aTFsj1S9sRSjObJZuIyxuH+QMqOKESK0ZD3ab0Fv6qr1toLfw+mNe7XJH2eVckRQXzgIproC6/PLLg4Ef5gwYmNXmvlaK8stq13L+U48SN8pRfxRfESv11zarlEhjP9eiDDR2iheMXbXLa7X9WzC21X866aSToj/vPm6YvKG+K40VE6k//OEPg/4wW5tYydNTW8DxGHzQo7uDqEv9r/ZzcTKUurKRxjb0PbKsc0Vv6TbC4vZBzl/kiJW+siEfWQnH9n/87849K6gQpvGlQFb18NGW7uzS5lR67EB3fgy2PlyKfYN6j7crST99B/oQ2CW+LHbgyjPvUlqdxzOrtVi1xf0gq7YJvuYCLF6y4pYPBAW9LY/siT6FB+EBX0o644wz8q8ynX766V1OkIKmh74uVR2oVJvzdhCopPCZbU73lVyRxFdiDzukn2u7KfZ9s5UvpZtGgf3f6XkgV/Yu82UVvu5C2WE/+gknnBDFMoX/bDFEeFpuvzzmjaIYxLGsvJL4MAPEeQvJLtsme5rda8TyRweApdQpDaSp2HFK+t1dOUunUWYGy8WxnvVLufBrqUcbwfZAwqCNYKKDe2bl6DRwT/pTZ4LnSlXx/eW9ZotZpW4H2iZUEg5pZCBSiV3KZzH+9RgIwL1e7VolDLDDl1UZCHE/adKkSCuu6FSmr1Vitscee0SlgngETbipRBXrSvwvDh6LH82g/KQZ2kr87audVmuz+pr+RrVfzzLQqAzKxava5bWa/lG3VtpfKpe2pEe9hIAhPRfriqRXrSsr0hCscJA78actYRUR26wxK4bDxNCpp55a1Kr4noF5UXjT17FNI/YXU+IX3kb419yINpnzy3hg0myHHXbgts+K8epRRx21gDvCRFDF5Avna9Evoa1gQQZ2mTxFULuAo8IDeUt/N2lRxujvpud6XRu9bzVQDrTt9CGSP7xDqY5gRV06voBVWqzWSva81odAzQVYWbbgmRUIoJg5KHbC+5JU9pxSISQ3dBw52DA9I8VN9wxI+VJHeu7tit/FTiyVSG9uiubjxo2LYscFKXrRvKd7Gh9eiGSHbTUsNU3PpddKBuZUiHTuS9026zNlh+0ixQEBeV9sWKuVNhoIhGN8nZAti5MnTw4O6Ev+02Cgn54b9cqqskriBlOEg8kuhyUXG8ikn66NWP6yLAvineLIu0/nID33diU/Efole319/5O7Wl3rWb/UKg3d+Ut9V24bIYIsBFq4Ywsvqxm474sazDahknjyoQjq6krs0kZRD2KX9qE/PHDbF9WI5Y53s1gf82UltqYUv1aJ4G3HHXesOKmsdqjEMgMb8iHZZZV58UwY2o1kxradeg3eWqXNSuya+TpYZaAhmFUYiWqX14H6x2oQ6pDeos8YodhPKLXPh6Coe5I+2/0qrd+Tm/5eqasR7rPiijHWOeecE8WJSA6I74+gg74gq75SvGiXqQfTc09XmDIpnOywoqweEy8pvN6uxIeVT8keAkDSxgR1WjGFwKn4Tie7vV2ZUPnOd74TTHpjF0EHE3J33HFHIKjacsstA+EgZRfzpGjjKY/pufRKfhQna4lrpWXsl7/8ZT6pw7EpnCnHOLnU/0qfG71vVWk6erJHHyK9zywySUKriy66KBA84pYtoZQR7lX1I1BzARZJYSkkM+zcozhD6NJLL+W2T4pBMwffPfXUU13utt9+++BFTBrcMwPCM5UAlQVXnntTSL+pbLGXZVn0db8zq82KEunuvpCE/6WKwTMNXdLnqx1If9MzgxUGeemZePaWLiTFvHDJTbNfaQQ5syqlY+zYsVGUjif9Sq408MxSUQFvt9120VujzuGZJ554YjATk/wv5lfSa7QrZZCy0lu8WMFQFHa+//3vX8BJs5Q/vhySIs7gkRmT9NzTFUbUS8kOq4GqtbIv+TnQay3rl4HGbaDumbFmKX/yh6X7CPWZoUz1HO968f1Ldnu7Dmab0FvcMEdAV8mqZAYkxSXrCHGKAlv8qoVqxHLHijC2k6b0Un8xyVDcbsrgoC8CPurKSjrzCPqLq4Dp3zCgSHGh7Wagkp4vuOCCoO+Snnu7dmfeLm1Wd+lvJv1alYFmYlDt8lpt/2BJHcoVRTuTBA08d6eSUKM7c/ql5H8ypy1Lg96k158r4x52CDDRg8Ccuq4nf1jBw9bCYj2JML2vq6cIgzS9/e1v5zZX1H/Ug/lDLz/Uy0Vm+FOLSedeotGjMX2PLOvcRohwCSElV/qQOOzvRDmTU8WFCXvttVd+EHyWdYaF3+UU568W3ZXaybIsimNqBFiVlDHKOONcxjuMDSmbxbaqNJzenhu9b9Vb/Csxpw9BXwK78GOcwNi6OLZg9RV9Euyo6kegLgIsBDFf+cpXFpgJ+NSnPhW/+c1v8r3hlSSXgsPy17PPPrvLOoIqDiksDmpokIozsz/72c+CL8p1OermhtlXVoYlYwRR7H9Nz5VcSSeDrGQXodRPf/rTXtPIwAThSJLmZlkWSH2TP1yzLFtAeELlykuEWXfqqquuir6sQOnOn0bQR7jysY99LFgplOJD49yfWRHcM1P/61//OlihxKwUeYV+XxRCrb7YHwy7nAdDI9VT2MwS/ehHP+qywsxOURCEQZY1R/kj3jSqxBlFnUEngvueFIISykOys9FGG0U9hAMpvEqutaxfKgm/1nbokCE4JBxmeBFKpK8PliuT2CujFtIazDZhociU0aBto+2hHShj3KWFgAWVNJi8Ka74TfrVvjZquWPrDOWC9LIilkFV8XxEDi4u9g2w15OiDSgKCMvZRdBNXqV2iM4/EyBFu5S34mGuTNYxq1+0U+6ecnDEEUcEftJppg/AICPZbZc2K6W3ma+1KgPNxKTa5bXa/sGyWD9Q//a2awIBd3EHCH6UKvzknNSkT7/+uOOOC/pZSa9y1GqXAAAQAElEQVS7K+MQVuQwaUA/5nvf+15Q52Cf+LGljTi+/PLLQb2SzDCvROEvk0WV2C3aybIFd9JQ/3GuU2+Ceeo0jnihfk7+sRWvP3FI7mtxZfVM+jAIYya+RpjaAurj0jq+0jiQP8WVVKw8y7KehVcwI5+T8Ky7sFiRjmARc9zQLlFGeO5OIRRDAJPMOZJhIMJE6rnBGm+nNNT6yvtMXyKFw1gB4RUTj+gtu+yyC43X0VfVnkBdBFgkgyV2Bx54ILe5ouLjUEGWMPY2I8Ch7/vuu2/w1Ybc8es/xx57bKy//vqvP3VekIISTpZ1VhIs9UXqnQpbp60Ff5lJYDUO+8eTCWcc0ZCk50qvNFzFlRtf/epX47zzzgsqmHJ+UOF87nOfi2KlgrT/ve997wLWmeGlskiadLZ78hcp+9e+9rVkvWmvlBOWvDKjxexRSgjbNuCWZZ35nPQrvSIxp2HCPmXki1/8YvTUYJBPLMemQcINDcc73vEObrtVNFzd5Xu3jqpsQOdpv/32C8p4Oa+Zifn0pz/ddYZMRMRnPvOZKK72w109yx+M+8uNd5a6gjij2Eb48Y9/vEdBLgI+6og0+8qSe2Y6qUvwo5FUreqXRkgjZY7ZZeJCGUCojyCLZzpJnHfCfV8V+TiYbUIl8aX+50wM6rty9imjvMepjCK4QYBfzm4t9OpZ7rpjUJouBMzbbLNNl/ZPfvKTYJCLBoM/hNnc90V96UtfCtrOcm6ozxlQEk4y5+BWhN3pmStCRQRR3KPIs/333z8QsPFcTlHfMQD5/ve/n6/WYtUC7RL5nOzXo81KYbXSFbbkQT3TVKsyUM80DDSsapfXavtH+qhD0qQJz5yry2Qp96WKvhIT5vS9S81KnxHSFOsfBrz0KehHltpNz6y6oe/CxDQfC3rggQfySTQG0NhBqL3llltymysm5xFiUb5zjTI/CLuKK7WIE33XMlZ71WKlKZNMyeLPf/7z4IzY7upr6ku2zyHASm6YcGbcl54b5Vq6jZB6njwjfkxGFMde6FWqWGRRFNaxIwgBWXfuYQnTb33rW91Z6dKnjfvgBz/Y9dxbHwIBKuPaNM4lbgPtQzRD36oL0ABueG/gjRe8l5Tr9N7xTvJuYqaqL4Eh9QqOSpivcRRXKBE2W8KQACNAYkUWjQdLZbnyjD6zBnxuFPtJHXDAAdGdAIM94HQYk10GsQgbEHixGoOCh2KZKFsS2SrIzEeyz37oosQ16VdyXWmllYJ0MgjGPh2nT37ykzFx4sRgGS0VFPrsV+bcjk033TTOPPNMtHJF44LgiYoh1yj8EKckdEEbgd6hhx4aKU00GHTgGbDTsWeWJMv6J+DB/1opKnAq8ksuuSTKKZaKsz+cbWwITlh5VRRywohtGWz/628c+dIgg7LkHqn6xhtvHISNwDTpk0+sBEGgiMAw6X/kIx+JVKElPa50XLmiWNl1/PHHB2WZMs2+evTrqbIsCwR/lPFzzz03UtqIC6s5qJhhmeJE2T/44IPT4wLXWpU/6gbyOQVGHjCQo0PHjGd6Z5J5b1fiTzqSPfKPFZUMEPEPfd4VzrH5/Oc/H+RtatQxQ1BAo8R9oymEOLWqXwY7rXT0WMqf4kHnG0EWz7yrlBPu+6MGs02oNL7M0jOryiqiVOYpr9QhpWWUMoDAr1K/B2qvluWOjjR5n+LIZMINN9wQ1JnUV7TVyax4zbIs6B9kWWcbR32bJiEQLCHMLtqv5J42k7bzkEMOWahdxU/a3OQPZ8J885vfXGBldDJjYEEfJT3jL3mLv9Q71D+YpfaFGX4mDugvoE//gVXrrH7jGVWrNgu/W03Rf8qyznKB0ICB27/+9a+8TJEX9UhvLcpAPeJdrTCqXV6r7R/pZCKUlZzco+gr0XdglRV9JPQY+COsQYiR+kpZ1lm2MC+n6AciDKOvmszpf7GrA79579GnHqCfwzgE4U5xKzkT2QjCsIei/aO/n8YA1BX0Q5mcYfyS2ozkJ+3G+973vq4vshIX+jZZ1nPcCaucoi4inviTzFObxYczEi+u9LmIe7G+pE7DPuO55L6RrvQ9sqyTDeOoVE8MZKUzAtLiBAcroBjX0PeGE+mnfWMsyjiQVWCM/9AvKvIUe0U9ygN2KcNJH760M/BP/lPWKHOMAZJQDvv0fUsXgKDfV9UMfau+pqnUPn0J2n/06ZMWt2syLiIvMItefujTMG7NsiyyLAvu0evFWSBozLJON1mWBTtrenODnSx7ww1+9Oam2czrJsACDJU6gigETzwnRUXM9h0k87zwLLPkyjP6mCe7XBFuMBgtPfgOMxT6SEiLwjIqdyp0Ov1UpChmN6lgi8IRGi8aKeKKX/1RFHRmHQgjuWcLAcs1aXyyLAvOFEKolVYYYI9ZAGZUEKTwXKpowEsLIbPBKU28RKxUOv/883OnNIhsocofGuiHbRH77LNP7LnnnmUVFQL5R2VLvhWjDiO2RnbHqGi3p/tURoqVPwMLwiaMLOt88cknZp04fyv5Rz4wuIB30ktXBELpnuspp5ySz6JRposCMMxqrRgYMutHOaSMI9RNaaODT8eNjk+KB+WFTlZ3ZZ9016L8MXidMGFCikZ+4CUDDgbNDBJvvPHGLrNKbog/HU7im+yTflaaLbvssnnDQd6xUpL3o1jG9t1330CP8pHcNtq1VvVLI6STd604I06cqKdL3yv0+6LIT+qUwWoTeoor7+nqq6+eW6GeYaY7tROUVyZeimWUlWnUU7mDOv7UqtyRxtVWW60rJUw4MfCizqQ8IMTqMiy54R2n01/Uhh2rNYp6ldzTmRw7dmxutVy7ShueG3b8YI/JF+qQjseF/lN5Y/BTNMRf3FD/ZFlnP4A0MqBJ9qivqYcZ6CQ9rsnPardZ+N1qivLEoCOlixWMtDGUqb333jvS4C6Z1+Ka8quaZaAW8ayVnyn91Sqv1faPdPMeMh7hfeYZRT8Q4SN9pCzLAjMmoTluAnPqY+po7ntS9FF5j4l3spf8pl+ZZZ3HMtDPKR2HsOKY41KIQ3LLlXARmnOfFDsDOFeKei/L3vCTeKZ2gzoFd7wDyV1/rqSJ8RFtVnJPm4WwirhmWRZcS+s0GLBijDYkuSt3HUw92JRrS5hc6G+8YMFYgbxJftDnpu+NWZZl+dE69HGYeKV8RMcf/QHGvx23+T9lD0FU/lD4oc1iuyH9+qRNfsA/+U9Zozwnv7HHooBjjjkm7wvzPBBF3jZq32og6Sp1S5+imI+Ys4hhoH1T/FH1j0BdBVhEkZeKvdMIJ8h89CpVVDAMZpl95qXpyR2DWF5sZgx6s4s/2GELB1JLOtTo9VdlWRYMlv/85z8HFVEl/nDQIlLdrbbaqlvrxJHBNbMw3Vp63QBBHFsh6Mi9rtXUFxpgZqiphBEEViMxVP7sdacxqdQ/OjKU3e7Ov6KSg305/2i4yunXUo8VCuzlL3Y4yoWHMBEWMClnjl4tyx+ziMWOLuGhmHUiz7nviyJ/WMVBmanEHYeiUl/QGSyuBqvEbb3tZFlt6pd6p6NceAjj0zbCZM6KmPHjx6fHfl8Hs03oKdJ0PlmN21vnnjLK6kQ6nhzQ25OftTDLstqUO1Zgkybq+NJ4s1qX7TSl+ukZdtRd6Zkrwi/6Ctz3RbHKjTPXGFD25I4ZdVYHsnq6J3uUN2a+6VdQd/ZkN5nRX6DfgCA9y7Kk3XWlfqaermab1eV5C91QjyCYKJckVqyXGwyWsztQvVqUgR7i1HBG1S6v1fYPYAhl2BHQ23vPO8wkJCtXytVV+FWqqNOZpKbOKDXr7pk+C9v+yo1DsiwLVqiyEICxVHd+FPUR2rJC6rDDDquKwIKVYYxVKk0T9mDAzpAsW7hOK8Z1MO9pS0r77ow1WDU3kHghjKR80X735g9ljG2qnHHMCt4s6+TFCq3u+sFM4iC0Iq69+Y/5cccdF2eddVZUs59LPUf/eTDG26SpHoo+BX2LYli838WJkqKZ97UnUHcBFknKsiwQ1LCckq8nsEoFKSYdWcyT4mVm69+Xv/zlYNUOLzWS5SzrfKmTve6uuKeyZ4keA1PCKL603KPHiiW+eMXKrkobhe7CLOrTIebsrWuuuSbf6sDndZM5DSAzsUjnka7T0WXQncy7uxJnVp+xD/+ggw4KGqdkFzMaF7agEGa5BjDZbfQreYfwjRU/zHyzgoYl2ZU0An1JG4xo3BEucR4beULeJD+IB2Xw61//en7gO4fy9xQHKnLykrJUulSaRojlp8nvelyzLMu/esIZWHS8inHifWOgRNp/9atfRenKl3Lxo4zVovzRMWXgxioxwiiGzftRfK70Hn8oM7hnEEk+kp/JPelndo3yxRZCVrUMhmAgxaev11rUL32NQ7XtsxqPpfxFfxHuZ1lldX7RXbl78n8w24RycUKPd4/VxpxjwRaAVAcR39RGUX8gkM6y6rAg3P6oWpQ7OoJs4y6mnbhR7/e0Ags7bGEoCuiZROhfOx7BYOuee+4J6gvqJPxHUVfAnraV1Txrrrkm2r0q4kFb0F0fBA84P4N2Dr/p58AX/e5Utdus7sJpZv0sy4LVx7RrrCwupoVtppSrol4t72tRBmoZ32r7Xe3yWm3/SC/vHO8e561S31Lvoo9CqEx9wDuMECbVzZhVoth6SJ3BESL02Xnfi+7opxDmaaedFvRD6LOgV7RTvM+yLNjBgGCfsQtCF+qnoh3GGqy6oW/z6KOPBpNAWVa9doP6r6c0kUbSSt8SYT8MivFr1Hv6Hln2BidWlrF1cqDxxR/ONWSsi0CsWIbIa/KfMSr5z2omxhisBoMjYTNuYPKKCV2eSxUTfLQf8IZ7cpfsUYYZa9KHYCxDnZTMqnXlnWnEvlW10gcz+hbJP1ZjFZ+Tvtf6ERgUAVZKXpZlwYtHR4PKnY4FL2hSHECN5J5D7agws+yNiiX5Ucl13Lhxwd5vwmDmLfnPPXosp6QS6c0v9hBzkGNyT8e5Nze81MyWUvlwOGNyy55m9ttzWF9vMz/lwuBMH7Yj8HWP5CfpYQDEzHAaiBPHZH7DDTdEucqY5cvJDuc1sW2rXJj91SNMwk5hVHIl75lxYCsYaagkf4rxw00Khzwj74rmxfssy4IGlm2f5Al5k9wSD8ogsxaV5hONDx0ezq9J/nBlywlL1gm7L/HDPop8IX/wC0W+oV9URTvFdKPPysdinHjfWNZN2rOsb+9WNctfij8CXJbNU45JX1K8/8kOaU76sCBdyay7K/nGIJJ8JD+Te9KP8JK84D3tzn3Sx15yW2SbzMtdiR/xTO6Ifzl7/dUj3tWqXwYc124SwbsHr0oZ0AFLdrnSqezG61wbpthDEQ7h5QY9/FSrTagmM+psJiA4yynVQZTXvrRR9Sqj1Sx3ZFOWZcHkVDHt5CdbYNg2g53uFIzo4GPOVgwYct9fRf1NfcHAjzigqCtow4tta1/876684Tf1A+1cX/zOsuq2WZWkpZKyXq/yceBcKQAAEABJREFUV0l8eZ/YhoNAEs5JIYhgcgw/SvsmrLBBvzdVrHPIP9j05qbaZaC38CoxJ72JS6V1Z/K3L3mdZdUtr1lWXf9IEwNUPuZCfUudkrgw+Ud9QP5hr7TMwAH9nhRlESEFfXbKS/KbK/0dwuTYhBRGT34lM/rEjF3YaUH9hF9JMdagv0ncqKuTm2pee0oTaSStfelbFssi4wU4DzS+vJfEJXEhjJ78ZNs2R9Yk+7znPdmHb7LLlefu7NOuMNa9++67I7XvuEn5zxgVO8k9bVmxDeK86Czrvp+eZZ3vBNyLaSYMyjBjTXgk/0uv8IY79lG9sSp1n54pw6SFMk3a8AvFPXqUWcpust/dlbgW01EuL+CN36hK669K/O0uTuysIizUa6+9FpWuekv+lYZN+tBL5t1dyQvCTIp0d2c36WMn2eeKH8msVa6DKsBqFYimQwLVIKAfEpCABCTQNwKsNmbAiSu2ayCw5l4lAQlIQAISkIAEJNB6BFpJgNV6uWOKJCABCUhAAhIoS4BtGWz7wTDLsvxrPWmVK3oqCUhAAhKQgARamoCJa0MCCrDaMNNNsgQkIAEJSKCZCbC9kC9rsT2CdHAYc1+X9ONOJQEJSKC9CZh6CUhAAs1FQAFWc+WXsZWABCQgAQm0HQHOsOMrR5zt8qMf/Sje+c53BmfmJRBHHHFE8BGN9OxVAnUjYEASkIAEJCABCdSNgAKsuqE2IAlIQAISkIAESglU8swXmo455pjYc88947DDDgu+uJTc8TWg3XbbLT16lYAEJCABCUhAAhJoUQIKsFo0Y02WBCTQNgRMqARansCSSy4ZfCmsNKHrrLNO8IWmcmaldn2WgAQkIAEJSEACEmhuAgqwmjv/jH1VCOiJBCQgAQk0MoHVV189ttxyyxgypLPbsswyy8RRRx0VN998c6yyyiqNHHXjJgEJSEACEpCABCRQJQKdPcGBeqZ7CUhAAhKQgAQqInD00UfH/PnzczVp0qRYbrnlKnLXzpbGjh0bV155ZcydOzfn9swzz8S3v/3tGDNmTL+wLLbYYnHDDTfkfpEX5513Xr/80ZEEJCABCUigLQmYaAkMEgEFWIME3mAlIAEJSEACEpCABCQggfYkYKolIAEJSKDvBBRg9Z2ZLiQgAQlIQAISkIAEBpeAoUtAAhKQgAQk0GYEFGC1WYabXAlIQAISkEAnAX8lIAEJSEACEpCABCTQPAQUYDVPXhlTCUig0QgYHwlIQAISkIAEJCABCUhAAhKoCwEFWHXBbCDdEVBfAhKQgAQkIAEJSEACEpCABCQggdYnMNAUKsAaKEHdS0ACEpCABCQgAQlIQAISkIAEak/AECTQ1gQUYLV19pt4CUhAAhKQgAQkIAEJtBMB0yoBCUhAAs1KQAFWs+ac8ZaABCQgAQlIQAKDQcAwJSABCUhAAhKQwCAQUIA1CNANUgISkIAE2puAqZeABCQgAQlIQAISkIAE+kZAAVbfeGlbAhJoDALGQgISkIAEJCABCUhAAhKQgATaiIACrDbK7AWT6pMEJCABCUhAAhKQgAQkIAEJSEACrU+gNVKoAKs18tFUSEACEpCABCQgAQlIQAISkECtCOivBCQw6AQUYA16FhgBCUhAAhKQgAQkIAEJtD4BUygBCUhAAhIYCAEFWAOhp1sJSEACEpCABCRQPwKGJAEJSEACEpCABNqWgAKsts16Ey4BCUigHQmYZglIQAISkIAEJCABCUigGQkowGrGXDPOEhhMAoYtAQlIQAISkIAEJCABCUhAAhKoMwEFWHUGTnAqCUhAAhKQgAQkIAEJSEACEpCABFqfgCmsHoGWFGDNnTs3fv3rX8daa60VWZblaoUVVojvfOc7MWPGjG7p3XvvvbHzzjvHiBEjcjeLLbZYHHDAAfH4449360YDCUhAAhKQgAQkIAEJSEACEqgZAT2WgAQkkBNoOQHW7Nmz45BDDokPf/jDcf/998eSSy4Zyy23XDz55JNx1FFHxZZbbllWIHXjjTfGZpttFldeeWUOBoHXzJkz45xzzolNN9007rrrrlzfHwlIQAISkEA1CPzhjjmx9YkzKlbYLxfurDkRmB107szY6Tud/vFczu4zL82Pj3z/lR7D3O/smTFtZjnX6klAAs1LwJhLQAISkIAEmp9AywmwLr300jj77LNj7Nix8cc//jFeeOGFXHj1yCOPxIYbbhj//Oc/45RTTon58+d35R4rrA4++OCYOnVqHHvssfkqLfSmTJkSe+21V0yePDkXfk2fPr3LjTcSkIAEJCCBgRAYOTxiiUV7VouPjMgiYtSIiJXHcdfxUPj/9+R5sc+PX4nT//haPPTMvHhtdgRu8Ltgret29tyIWXPfaP+6DLzpnYA2JCABCUhAAhKQgAQGlUBLCbDmzJkTl1xySQ70m9/8Zmy33XaRZZ0d/vHjx8fJJ58cw4YNi8svvzyeffbZ3B4/l112Wdx33325/aOPPjqGD+8YVXQYjBkzJs4444zYaKON4rrrroubbrqpQ9d/CUhAAhLoDwHdLEhg23WHxW+PGN2j+si7RwTipjWWHRLrrDh0AQ/+76G58ZVfz4znX54fyy+ZxbEfGBnXHDM6Lvv86MDvBSy//vDklHnx6qyI5cZm8avDF43rvzx6IXXuAaNizKjXHXiRgAQkIAEJSEACEpBAgxBoKQHWq6++Gs8//3yOdpVVVsmvxZ8VV1wx31L44osvdgmwcHP11Vfn1vbZZ58YNWrBXvu4ceNi4sSJwYqtq666KrfnjwQGiYDBSkACbURgxmsRf7l3TgzvkFvttsHw/JqSj9kv/jYruE5YZWj8cN9FY4u1hsbQIclG+evMWfNj7ryIRYZnMWJo5wRPeZvqSkACEpCABCQgAQlIoLEIDGms6AwsNqNHj45VV10194TVUgid8ofXfx5++OFcwLX88svn52Kh/dJLL+WrrxBcrbnmmmgtpNZdd91c7+677w63EeYo/JGABCQggRoT+Ot9c+J/z86LVZYaEhutNmyB0DB74Ol58abFsvj0tiMqXjH10syIOR0CrCVHZxW7WSBgHyQgAQlIQAISkEDTEDCirUagpQRYWZblB7iPHTs2P+fqrLPOClZY8VXCa6+9Ng488MB8JdWnPvWpWGqppfK8ZDXW1KlT85VXfHUw1yz5QeC16KKLBudovfzyyyWmPkqg9QmwyuOuSXOjmurpl9gY1frsTOHgEnjooYfihhtuqJrigx9MfNQ6VbPmRPzxX7NjXsdr8r61h8XoRRYM8ZYH5+RmG602NFZduvKm/LlpHdKrDq/GdQi+Oi4t/D8v5k+7NeZPubF6qsO/mD+3hZk1b9LmzZ8X/3nxwbj92f9UTeEf/jYvFWM+bdq0/BxcPuRULTVr1qz2A2uKJSABCTQQgcp7vQ0U6Z6isvHGG8ff//73WG+99YKD2VlZxblX2267bTDouPjii+Pzn/98lxevvPJKLuRCeIXgq8vAGwlIICdw7b/nxAdOnRFH/vLVqqq9f/hKnPj71/Iw/JFALQh87GMfizXWWCPe9773VU1tueWWscwyy8QFF1xQiyh3+Xnr/+bG/U/Ny8+22mqdBVdfTX1lfjz2wrwY1tGCv2PlofH9a2bFbt/r/PrgtifNiEN+OjPuntwpqOry8PWb6a92SMQ67ic9Py/2PfOVwP7WJ86InU+ZESdc9lpMmdFp3mGlef9nPx9z/r5GzL1ts5h7x/urpzr8m3PTKhGvTmpeNi0Y82deeT52+sNBse+1X4qD/3Js1RT+7XL5wTHltWkDpqYH9Sfw5z//OejzX3HFFVFN9Ytf/CIefPDB+ifIECUgAQlIICfQ0f3Nry3zw4oqDnC/66678jQtvfTSXdsFmYn57ne/a8OTk/FHApUR+PX/zc63HFVmu2+2rv/PnHhxegsMmPuWbG3XgcCjjz4av/zlL2sSEjPwP/jBD2riN57ypcAr7pgdXDd/67BYZkyGdpea/mrESzPn5yuwzrjmtbjs9o53dG50bQl84Ol58YVfzoxLb5vd5SbdTH6x8317sMPO5Bfm5+dhYTZzVsSf750Th/5sZr5tEb0GUn2KyrynOvL91cf65KZiy7OeiXlPX1yxdS3WnsD1j98Sz786pSYBPTvzxbh60l9r4ree1o4AuyVYfVuLEObNmxf/+c9/auG1fkpAAhKQQAUEWkqAxflUH/nIR/IZl/e85z0xefLk/LD2J598Ml99dcghh8Rtt90WO++8c0ya5AxqBeVDKxIIDn2uJYbX5lTH989+9rOxwgorVKQ++MEPxowZM6oTcFP4UvtIsl37Rz/6Ufztb3+rfWAVhMDq2gqs9dsKA6R+Oy445GzF1VdffYFyO37lFeL8I1eP+364Zhy/z6oLmP3pT3+KZ16aF690lN9Hfvux+Nf314tdV7s//nDk6Pjd50bHGk98OXf37D/Piov/MTseeW7BlVgrvimLkcMj3v2WoXHRpxcNvkL4p2NGx+d3WCRGjYh4dtr8+P6fXsuFZ4VoNtft3Om1je/cV6ri/w9/+MMF8ran+mujjTaKZ555Jg+XK88o7tHkyjNliTKFXruo6bNqW5dXy//+5ne75GM108nRIdX0r9Sv1157rVSrX8/U5z2995itvfba8fGPfzzuuOOO/BiUfgVUcET9QD1BfUG9gRFXntHHHL2BqEbrDwwkLbqVgAQaj0BLCbA4uP26666L1VZbLVjiu+KKK3YRHzNmTJx++umx55575iuwfvazn+VmSy65ZGDGjPrMmTNzve5+2Io4ZEhLIesuqeqXEvBZAhLokcBXvvKVOOGEE6K3erRHTzSsiABfEZw/P4J1WcOGRnBG1tDXmya2FUbH35hRWb668R8Pzu14euP/iO0XiSu/ODq+9aGRXSu7cLvTO4fFp947IoZ0ePrwM/PivifnveHIOwlIQAISGBQCHH9y/fXXxy677BI//vGPqyLEqnVC7A/UmrD+S6C9Cbze5a09hHqE8K9//Suv2DfZZJNYZZVVFgpy+PDhsdtuu+X6rMRihmD06NHBAe00EC+88EJuVvrz5JNPBrP5K620UmC/1NxnCUigcQjsscce8cQTT/SoLr30Ut/lKmfZnDlVWkpX5Xg1i3cjR46Mq6++Om64fXJs/IUH4p2feyCuvPmxhcox5zmSpqEjRse6e18QN93+UH7mI3pFlbYd3v/kggKsop3S+y3eNizevEQWfLThsecVYJXyqdUzfZYHHnhgobwu1mP0Wd785jfnUeDKM4r7XNOfpiHQ1/xumoQZ0X4T4GNRrLAqvvPcP/7448HkfKr3Tz755Lj11lv7HU69HNofqBfpxg/HGEqgFgRaSoDVF0As/2WJ8RJLLBFrrbVWvmqADmQ5P2655ZZcm4PhOew9f/BHAhKQgAQkUGUCv/vn7Jg2M+LtKw6NdTpUOe/fvMSQWGR4xGuzI99OWM7OiKGdujNmdV4r+R0xNGULMPUAABAASURBVOvwN8utzp2fX/yRgAQkIIFBIpBlWay66qrxve99L97xjnfE7Nmz4/LLLx+k2BisBCQggcYgMKQxolGdWGywwQaRZVn85S9/iYcffnghT6n4f//73+f67CkfPXp0MOu9ww475Hrnn39+LsjKH17/YVXWtddem/u74447vq7rRQISaBUC6eysK6+8Mk488cRg6zFqv/32i+effz5PJqs1f/e738VOO+2Um3MuBYqvnnLuU3fnIbF68wtf+EKwIhT7b3vb2/Jtds8++2xwDlfxvIl0BgXnUODusssui/XXXz8/I4f48FVV9IkQ9ds+++zTFZctttgi+OLSfPaVYaGgENT/4Q9/yL/CRxxQCOPZ7lcu3okHZ3Mg1C+GQ3x++tOf5l9uTUFwXgbpuOSSS3KtT37yk3mcOe8l1/CnYgLPTZsftz8yN4Z3CJ92Xn94fi3nePTIiEWyV+KBX38sPrj1mkEelNqbNTfi1efujet/+ME8P8j3LbbeOd5/5F/iS7+aucAZV7gnDz/20Q/GMw/fGg//cvs4ZJdV8vJHuU9+8x6Q/5R7/ENxjx5myZ7X2hIo1hXc9xRa6fu8++67d5WH973vffnqDuoNVplTJ1BHka9cGTQ3f772RKe5zKivaW9458gjFPc9vX+Uj29/+9uBPeyjaE8mTpwYHLlB+1CkYHkp0mice447oZ0nRnwBkfeV+6RoqzknK/U1uPKMfrIzkCv+4B/+Uoa48ox+0d/UltgfKFLxXgISqDaBlhJgsSz7/e9/fzz11FPxqU99Kh555JEuXhzYfPzxx8dvfvObWGqppeKggw7qMqMhZxXWNddcEyeddFKXEIuvFh5++OH5we80HJtvvnmXG28kIIHWIvD9738/ELrQUeRcPJbAs+KSeuATn/hEfPrTnw6+boo5y/1HjRqVb/lh0Lf//vsH9opE2NLMsv+LLrooGCQsu+yy+ewpAxA6fnwxtWg/3TNgROh12GGH5X4us8wy+dZoZl333nvvQKDOhygQ1LN9iLP5EGjhJ2bJH67EiY9XoOhosuKUeBA28dhqq63innvuwepCCgHaNttskwvG+JorbhkMfe1rX8tZEE8cDR8+PMaPHx/Eg2fswWfxxRfnUdUHAn+9f048//L8WGWpIfHOVYZ263KpxbJghdb8Dhtz50bMLrN78+6bfx+PXrJHPPvoXUEZorw+fN+d8d+LPxZ/uezMeOTZDocd7ov/D//vf3H3JZ+O2dMei3FLL5t//GTcuHG5FYSnCD/If7a2vOlNb8r95R49zLCTW/an4QggiOR9Z9shdQDvK3UCH7654oor4pOf/GRQJ6DPO0zd8d3vfje+8Y1vBHVhwyWozSJEPU3+0d7wzvFO8w5yz/vHRCzbzYpY7rzzzthyyy3jjDPOCN5N8h2FHcoB7dqZZ56Zty/oFZXlpUijse5HjBgRQ14/jxfhM2f6UjY4J4uY0v7SLvOMPubYw6yvCne4xx/8w31P/hOu/QEoqSQggVoSaCkBFoPNs88+O9ZZZ538S1gc5k4jz2wTA9JvfetbQeVKg42dBBbzU045JT8LCyEXnTf0GKheeOGFwdlXp512WuB/cuNVAhJoLQL//ve/cwEWM4h8Ipu6hBWaXDmD4p3vfGcuzMYenX9mQZn5pk7B/J///GcXkClTpsSXvvSl4IqA/L///W/cfvvtcf/99wd1DYMRBo9dDgo3CJf++te/5vawzyDkxhtvzIUFuNl3332DzmTRTz5OQUcTAX0abPJMWKwsW3nllXPB17333pvHA7cIvBjUHHXUUXk8C1HIb1mtiqDsvvvuC+IAEwa4WZblZzXBAIus1KBjSzp5pq7EDP95VlVO4K5Jc/ND1CduODxGLxI9/u34zuExtKMFn9chxfrN/80KDnbHwZx5/EbMePb+GLvyxnHFdbfm+UdZOunbp3QYZvHYX0+Jr/3wz7mwrEMj/+/wJqa+8GwMX2LV2PMbt+TlhLzfbLPN8hV3lGfeDVZykL+8B5QL7hHUYnbcccflQtrcQ38aigCrMDkDlHc/1UWsKqeeYHXnY489ltcR5CvvOsJ8EvDHP/4xF9RzrxocArQj1NPU10yk8s7x7pFXHHHBilraBiY+mKwllgggEWxxZSL2oYceyt9p8p57Jnmxx86DtNKY56QsL4lEY1wpA/QLiA3jF/om3PPVX/KZe9r7/3VMQlA+qO9/8IMfxCKLLBLUy/09N6uv/tsfICdUEpBArQl0dH9rHUR9/WdZ68033xwsmeb+ueeeyztfCKVYJUHl/oEPfGChSLE1iEqfK4bMajFjjRv8mzBhAtqq+hMwRAn0iQBL11ni3p367Gc/W9Y/VnCy4ijLsnzLMLOcbNlgMEddcOSRRwYzj8lxlmWx9dZbB27QY2DIFUVHkxVYnFmB4DytRho6dGiw4oEBBfa6U8yMYw/72HnLW96SC624Z6sXqyKSn3Rk2Y6IGUI1BizcM0jhsHrMGYyybRp9FG6/+tWvBmkmnsQX/aIqDSfLsnwLJTP92EMYxlVVHQKsaPvnubvHvT9YM/bfcZWubV6pHJMfCIlSaG9ddkgsu0RHWe3Q+Ov9c2On78yI3U+dEX+5d06HTsSIsavESSd/L975thXyZ8rSx/b+SHx8/89EFvPjXzf9Jj5yxrTczZEXzMzP08Li6psfEIfv8uZ8++Lw4R1Cso4yS9vIdiMEoazmKL4H3LMqZPz48cEqZsoT/qgqJ4AQYs0111woz1Pe837PmDGjcg/L2KT8lNYbH/3oR7tssn061RFZlgWrztdYY42gD4Vwq8uiNwMm0Nf8pn7mveIdO/XUUxdoh5hgZWKByVqEDUlQ8eijj+YTE5QrhFW0Ayni3NO3XXrppYPt7OxaSGbpanlJJAb3ytEnCCpZfU0ZYDKeiSViRZvBBBtC6KOPPjrvW1DPY8aVVbGf//zn80mF8847r88rKWvtP/FUSUACEuiGQI/aLSfAIrVU8MxW0YBTsaNY1UBFz8oq7JRTdN5YSj9r1qx8SfX06dOjNzfl/FFPAhJoPgIMDjgXrxhzBD2sskIY9L73va9olN+z3YavmOYPhR8GHDwiEGclJ/dJZVkWu+66a1BPJb3S63vf+97IsmwBbVaUosFKMAYe3CeFgJ5BCYNcOrzo0+mdOnVqbLrppkHdhl5RkVZWzqCX4st9UpzFVRoO6U3xTiu9kn2v9Sew1OJZDB8WMX6pzrLC4e9DOm/jIx/cJXbZbKUFIpVlWXx49+3ysx+HTP13LDJ/auCGg947jGL4yNFx3D6rxmrLLNg1+Pvf/577g8CWAXP+UPhBiIUwlLLHCo+CkbcNQqBcvbHUUkvlZYH8K60jWLkx7vXtozNnzmyQVLRfNOi/ch4hKd9ll10WEF6hh1p11VXzyQXuWQ3LlVVZvLdsNS+txzGnvUBAzX05ZXkpR6V2eqyu44zJJLRO1/EdEwPbb799ILzKsiy++c1vxtvf/vY8Imzpp50fO3ZsYCfLXq/8c9POny233DL/4jIr9ljF1alb2W+t/a8sFtrqPwFdSqB1CSzYS23ddJoyCUigTQjsscce+apLVlGWU6effnpZEklAVNbwdU0G6KxIYFUms94IqFjl9LpxfkGIhPCcB1YwcC1VDAzpdJbq88zAIp1TwnN/FVtKcItw6j3veU8gkCpViQXxJd7YT6o7Ht3pJ3de+0eAfL/66qu7Lbucc8agtNR3BFbH7Doy/nj06Lj+y6Nj63WG5Vbes8k78mvpz3LLLRecnfPay8/G/9v1pdzNTz41KhbpcLb0m5aI1VZaegEnCCoJG82LL764bDmiXLHlFDuuzINC39Qmm2wSvK/l6iv0qGMQOPfN1wVtsxJnQR2fBotAX/Kbw7qffvrpPKoIOPKbMj9vfetbc91JkyblW37zh8IP9TtnZFHHsOUMYRhCk4KVBW4tLxGxAJHBe+Csy4997GNx4403Bv2bFBMETEzOM1H1oQ99qGzdjDvyvruVdsmvctda+18uTPUkIAEJVEJAAVYllLQjAQm0LQEOYOc8ELbUMBvKdmLOnGLbFIe69wcMq7ZY9dAft5W6SdtCEEAwUCmnXnrppUq9016TEWC1XDWi/NprrwWDJPxiJU65coQeZthRSSAR8Fo/Agg5CA2BF20W92yBp53iXCIEUu9617uCrYOsKuadxY6qMQjQH7jjjjvKTmCgz7EobOssxhbBVcprBFTkaalCv+imL/e19r8vcdGuBCQggSIBBVhFGjW6Z0uF6vauA0Rl0VwsGMDW6NXIvWUJfDXKxAsvvJD7x7Uv/mEfh6x0KHXHwezMVvMVP1ahcAYQBx9zrgRnAXFoOkv0i+5Zqs/2Y/TYeljqJ8+cU0J48+bNC87OQo/zjdi+XNRDPyns4yfxTXrpih+4wz3+oJ8ECnyZFQFcT+rLX/5ycGA37vCfcAiP51KFfjnz5K67NJf6U+tnzi4jnrVSnA8y0DRQplI+FeOJ348++miPdSZ5zorAorviPX4wg87WkxRP3jVWELItiTNSUEU33CPU5Cy15Ab3KRzO0umpHGHG4f3J7WBdGcSRllophMPVSFt6l6gvqDcq9ZN3nHcdxT3uuPJMPUDZQA+V3kvC4rmosId93OG+aEZ8iBcMG+WdLsaveE9+EM9aKfwvhtffe/KAOMIVvpX4gz3s466nfKBNwU6WZcFHQlh5++EPfzj/siQrcN7xjnfkZyR95StfiXPPPTfOOeecYAsp+U85SHFplfICA3jUSlG/JmYDuZKnxLHcO9ibv5MnT8ZpILw877zzgvq3O/XrX/86PwsLP8lv8r0YJu8/z+hjjr3++o/bVI5IH8+q5ur3m1/mV09lIK94BvlHAdYgZ4DBS0ACtSIwcH/ZcvHb3/42P4+KQ1L5qg9f7EJoxWosDnpPM6ApNLaC0aHkGfdcSxVCAmY3S/Wr+YywDf/YflJOSIKZanAJUAbYvsmgAZUGDgjf0gCguxgygEK4jDsEYRy0TV6jjxu2uVL+WIHHM4oBCgNiBFucZYYgi3sU95izBSl9CAA3nIWUtrRihj30VRKQQO0JFNsTtpmWC5F3kvcfM7YHs/oSARbCZ1b2nHnmmfnZSXvttVewCiudiYU73KiakwBHEXBOJ2db9dZe9CeFtfa/P3HSjQQkIAEIKMCCQo3VBhtsEE2pjLf51lEGGMDW8hVZd911q8KZzhbx5NqX9w37uOPQ1FJ3bPVjGwbnBjGbXWqOW1YuFd1vuOGGwVfD0GOLIWdGlbpjJh5/hwwZEmzvwJzzjRCIFfXQT4r44SdhJr10xQ/c4R5/0OesDIQU999/f3BYL3pFxYz8hRdeGKSL84vYGok5/hMO4fFcqtAvZ57c8cXEUjeD8bzOOusQzZopBpbVSFfKO/KP+0r95JDlxRZbLHDH1hIElgiaiBeJZka9tOxxhg6rqxB6cS4ajBC2orIsi2L5KcYjfa2Z7APkAAAQAElEQVSOFVzkc9GM+7XWWiv4it0+++wTlHn0BlMxaIdBrRT1QTXSl94l8pH8rNRP3nHyCsU97rjyTHkoliPyCw6Ehb2iwh72cYf7ohnxIV64bZR3uhi/4j35QTxrpfC/GF5/78kD4ghX+FbiT7E94Wug5eJCHmOG39T7+MtKS575iAdfjkWvqFiVhdCD/KccJDP8wh1xTXrpij3sN0N5SQedk5ZaKOrZxGUgV94t4leOaW/+br/99kGdniYeuC91w+QEZeK4447LPwCAebl85P0nDuQv5tjrr/+4TeWI9PGschxoGWiiMtAx9uspv6izBlsNGewIGL4EJCCBRiWQBAJsSfrzn/8cacaaK4dVH3TQQVHujAnOy0JAxAz4V7/61UBYRRpZrcVB2CeffDKPNVV0HHfbbbd828CnP/3puOmmm7riz5YwzkH51a9+lR/4yzbDctvJ+hPBJNDrj1vdVI9AubLH1iHyHcHmfvvtl68srCTEjTfeOBB4UdYp88WVIJy5w/kst9xySy5M23zzzSvxUjsSkECFBFJ7wmrNz33uc0F7lJyyzevQQw/N2yHe0c022yw34swrbliJySQG9yjqfj4KwJe6eVY1LwGEaPvuu29ej3OkwQ9/+MO8PSdF9FHYAnTssccGAq4JEyYE/RnMKlUjR46Mgfrfrv2BShlrTwIS6B+BIf1z1pquGJDuvPPO+Sx0lmXBLNkBBxwQbMNozRSbKglIoCcCzER+4AMfyK184QtfCL4qyBfXuG6zzTb5QILZbSz873//45KrJZdcMv7f//t/wfWyyy7rWmXFl6KOPPLIGD9+fNA5ZLsHq19yR1X+YRsJZ1ttueWWeTxZacWKG+KPcIsZWTq5CNgY+Aw0+DRgQpjB6gI60wP1U/f9J7DrrrsGK+sow8ykUfYYzODjSSedFJQF7itRfAHvlFNOCfKY7Y3ve9/7Iq2cRA/BGOUNwSzhVOKndiQggcoI0I7wbrGykIkI6nDqWN5BvmjIakveQ95R3lV8ZfJi1VVXzev+rbbaqut9Re/www/P3/+11147F3g8//zzOGkkZVwqJEA/hDactpw+B/Uv5YP6nTYAYSd9APovWZZV6Osb1vrrP+URX+wPQEElAQlUm4ACrNeJ3njjjcHM1ZVXXpnrsHyac2M46JIl2GyLyA38kYAE2oYAW++++c1v5ueHIGiiTqBDiOCJw3D/8Y9/xIEHHhisXmILR9q2ASBWYP3pT38Ktl9hzvlE+Ie7s846Kzi7Anu1VKy0+fnPf54f5EuHkrO3iD9hbr311vGXv/wlONMry/rescWPomL7GMK+LMvy1QDUmcXzl4p2va89gd133z1Y7YewlbLH2VgMZFlJyOA2y/qW5yuuuGLQPh533HFB+8iXCfEXQSxlnHeBDxzUPmWG0DsBbbQaAbbE8e6yAov3j9WQvINsH+ZLg1dffXXwjqZ0c8/B3bybCJexy3YytiRy4Pfvfve7oA3A/vXXXx8IQLhXNReBLMuCVbHXXnttV37SxtPW0+b/+Mc/jl/84hdBX6A/Kcuy/vlvf6A/tHUjAQlUSkABVgcpVlgxiONAXWaoORsAPQ5G5NBLlmiz3Dp9CabDif8SkECDETj99NPzT1Bz7UvUsM+ZVIcddlhZZwzQ+foan7LGHoovPrFtAyEU26s4QJdDc9PhuMkjZsyZFZ80aVIeNw7pxh2Hb7OtkIEFZ05gHwEZQjAO5OY8CvSKivgRNvEt6nOPfdzhHn/QSwqhGQILhFW4RxEfOrV0cJO9dMV/7BBe0ite0S9nTgf5+9//fr5iFfOzzz47SF/RbdPc1zGiKe/IP+4rDZqVFmwFKnWX8m/bbbcNtvOlfKdNO//88/NVVKVhEC7+lCs/RbucCbf//vsH5Z88RvGVKco4Zb1o1/veCaR3iXwkP3t30WmDd5y8QnGPLleeyUfyEz1UKg+ExXNRYQ/7uMN90Yz4EC/ymLJUNPO+fwTIA3jCFb599YX2hpU0xfePdodtXrRTpf7xTvJuUt8TLnUAK4LTlvFjjjkmb5cQgGVZlju3vOQY6vbDu0XelHsHK41ElmXBajra9JTX+EndzyosJtCKfpV773n/iQP1AeZF+1nWN/9xa38ACioJSKBWBBRgdZClQWef9nbbbRd8aYwBX4d2PmPBvnKW41533XX5GTLoqyQggZ4JtLspwhu2d3zjG98oi4KDtFkRw1Y+BiVlLakpAQlIQAISkIAEJCABCUhAAl0E2l6AxSCSpdcQYcnrqFGjuO1SfElj4sSJ+fLqq666qku/xjd6L4G2ITCkc+K3pdLLV9nYssEh6cyWp+0ZXJnlZKUnCebrQOVmzjFTDYxAltW2YJXOag8strquKoEa531kbd91qmp2DdSzrMb5UWv/B5p+3S9MIMtqW/8vHKI6EpCABAZMQA8qJND2vTD2ibP6CsFVue00cGQlBVcOynQbISRU7UTgrcsNrVlyl1g0YukxrdfR5GBdth9PmzYtOIuIA1VZycl5RAjE2Z6MwNwzg2pWtILDipdYYomaBbD++uvXzG89HhiBbPENBuZBL66zxSf0YkPjehJYa8lVaxrcOm96S0391/PqE+AjTIssskj1PX7dx9LjAl7X9jLoBIyABCTQDgTaXoDFKgnOvkKARYNXLtM5R2DRRReNRx55JDi3ppwd9STQqgQOef+I+PAmw2O9lYdUVW3z9mFxwodGRSuuwBo+fHjwpTcOa58wYUIgyOJgVVZ8IsjiDBS+GIS9Vi03g50uVraxunbvvfeO9773vVVTfNGJMxH5utJgp9HwyxPIxm0XQ992ZnDNxm4RVVMd/g556+mRLb1b+YDVHRQC71l+wzhqg/1j0+XeGesvvXbVFP59ecODc38HJWGDEWiLhMkK2R122CHYpr/ccstFNRUfaHn3u9/dIqRMhgQkIIHmI9D2AqxXXnklGFQivBo7dmzz5aAxlkCNCSy1eBYHbjUiTv3YqKqqY3ZdJN62fOtWQXSgd9ppp/zLbRyey6GqXDlzjxVaWdZ6K89qXBT77D2DjAsuuCBuuOGGqikOxkV49eY3v7nP8dFB/Qhky38qhk64IoZucH31VId/Q1Y8tMdEaDg4BPZ8y/Zx+hZfiTO3Or5qCv92X/394V9zElhmmWViq622il122aWq6l3veleMKjlupDkJGWsJSEACzUmgdUePzZkfxloCEpBAOxMw7RKQgAQkIAEJSEACEpCABMoSUIBVFouaEmhWAsZbAhKQgAQkIAEJSEACEpCABCTQegTaXoC15JJLxpgxY2LWrFkxc+bMiB7yeNiwYTFkSNsj64GQRhKQgAQkIAEJSEACEpCABCQggSYhYDSbikDbS2NGjx4dHNDO1whfeOGFspnH4cuclbXSSisF9staUlMCEpCABCQgAQlIQAISkECbETC5EpCABOpFoO0FWEsssUSstdZa+eqrBx54oCz3W265Jddfb731gsPe8wd/JCABCUhAAhKQgAQkMHAC+iABCUhAAhKQQAUE2l6ANXLkyOBTu7A6//zzc0EW90mxKuvaa6+NLMtixx13TNpeJSABCUhAAhJoGAJGRAISkIAEJCABCUig1Qm0vQCLDJ44cWK+Cuuaa66Jk046qUuINW3atDj88MPjtttuiy222CI233xzrKskIAEJtB4BUyQBCUhAAhKQgAQkIAEJSKCBCSjA6sicFVdcMU455ZT8LKzjjz8+2FaIHge8X3jhhcHZV6eddprbBztY+d89AU0kIAEJSEACEpCABCQgAQlIQAISqA2BRhJg1SaFFfq600475SutuOLkiSeeiFGjRsX+++8fN998c0yYMAFtlQQkIAEJSEACEpCABCQgAQlIQAIDI6BrCfSZgAKsArK11147rrjiipg1a1bMnz8/pk+fHmeffXawGqtgzVsJSEACEpCABCQgAQlIQAKDTMDgJSABCbQXAQVY7ZXfplYCEpCABCQgAQlIIBHwKgEJSEACEpBA0xBQgNU0WWVEJSABCUhAAo1HwBhJQAISkIAEJCABCUigHgQUYNWDsmFIQAIS6J6AJhKQgAQkIAEJSEACEpCABCTQCwEFWL0A0rgZCBhHCUhAAhKQgAQkIAEJSEACEpCABFqZQKcAq5VTaNokIAEJSEACLULgxenz4yu/fjV2P3VGbH1iZQq7X+1w80KH2xbBYDIkIAEJSEACEhgIAd1KoEkJKMBq0owz2hKQgAQk0F4EEEAd8rOZcctDc2PazMrTjt1/dLg5tMMt95W71KYEJCABCXRHQH0JSEACEqg/AQVY9WduiBKQgAQkIIE+Ezjz+lnx/Mvz++wuOcDtj697LT16lcBgEzB8CUhAAhKQgAQk0CcCCrD6hEvLEpCABCQggcEhcMejc0sC7vvjbf8buB99D1UXEpCABCQgAQlIQAISGDgBBVgDZ6gPEpBAsxIw3hJoIgJTZvR/9VVKZjX8SH55lYAEJCABCUhAAhKQQD0JKMCqJ+0WDMskSUACEpCABCQgAQlIQAISkIAEJND6BAY7hQqwBjsHDF8CEpCABCQgAQlIQAISkIAE2oGAaZSABAZAQAHWAODpVAISkIAEJCABCUhAAhKoJwHDkoAEJCCBdiWgAKtdc950S0ACEpCABCTQngRMtQQkIAEJSEACEmhCAgqwmjDTjLIEJCABCQwuAUOXgAQkIAEJSEACEpCABOpLQAFWfXkbmgQk0EnAXwlIQAISkIAEJCABCUhAAhKQQMUEFGBVjKrRLBofCUhAAhKQgAQkIAEJSEACEpCABFqfgCmEgAIsKKgkIAEJSEACEpCABCQgAQlIoHUJmDIJSKDpCSjAavosNAESkIAEJCABCUhAAhKoPQFDkIAEJCABCQwmAQVYg0nfsCUgAQlIQAISaCcCplUCEpCABCQgAQlIoJ8EFGD1E5zOJCABCUhgMAgYpgQkIAEJSEACEpCABCTQjgQUYLVjrpvm9iZg6iUgAQlIQAISkIAEJCABCUhAAk1GQAFWPzJMJxKQgAQkIAEJSEACEpCABCQgAQm0PgFT2DgEFGA1Tl4YEwlIQAISkIAEJCABCUhAAq1GwPRIQAISqAoBBVhVwagnEpCABCQgAQlIQAISqBUB/ZWABCQgAQlIQAGWZUACEpCABCQggdYnYAolIAEJSEACEpCABJqagAKsps4+Iy8BCUigfgQMSQISkIAEJCABCUhAAhKQwGARUIA1WOQNtx0JmGYJSEACEpCABCQgAQlIQAISkIAE+kGgyQRY/UihTiQgAQlIQAISkIAEJCABCUhAAhJoMgJGVwILElCAtSAPnyQgAQlIQAISkIAEJCABCbQGAVMhAQlIoIUIKMBqocw0KRKQgAQkIAEJSEAC1SWgbxKQgAQkIAEJNAYBBViNkQ/GQgISkIAEJNCqBEyXBCQgAQlIQAISkIAEBkxAAdaAEeqBBCQggVoT0H8JSEACEpCAeD+NlgAAEABJREFUBCQgAQlIQALtTUABVnvnf/uk3pRKQAISkIAEJCABCUhAAhKQgAQk0LQEKhZgNW0KjbgEJCABCUhAAhKQgAQkIAEJSEACFRPQogQakYACrEbMFeMkAQlIQAISkIAEJCABCTQzAeMuAQlIQAJVJqAAq8pA9U4CEpCABCQgAQlIoBoE9EMCEpCABCQgAQm8QUAB1hssvJOABCQgAQm0FgFTIwEJSEACEpCABCQggRYhoACrRTLSZEhAArUhoK8SkIAEJCABCUhAAhKQgAQkMPgEFGANfh60egxMnwQkIAEJSEACEpCABCQgAQlIQAKtT6CmKVSAVVO8ei4BCUhAAhKQgAQkIAEJSEACEqiUgPYkIIHuCCjA6o6M+hKQgAQkIAEJSEACEpBA8xEwxhKQgAQk0JIEFGC1ZLaaKAlIQAISkIAEJNB/ArqUgAQkIAEJSEACjUZAAVaj5YjxkYAEJCCBViBgGiQgAQlIQAISkIAEJCCBKhJQgFVFmHolAQlUk4B+SUACEpCABCQgAQlIQAISkIAEOgkowOrk0Jq/pkoCEpCABCQgAQlIQAISkIAEJCCB1ifQBilUgNUGmWwSJSABCUhAAhKQgAQkIAEJSKBnAppKQAKNTUABVmPnj7GTgAQkIAEJSEACEpBAsxAwnhKQgAQkIIGaEVCAVTO0eiwBCUhAAhKQgAT6SkD7EpCABCQgAQlIQALlCCjAKkdFPQlIQAISaF4CxlwCEpCABCQgAQlIQAISaDkCCrBaLktNkAQGTkAfJCABCUhAAhKQgAQkIAEJSEACjURAAVZtckNfJSABCUhAAhKQgAQkIAEJSEACEmh9AqawTgQUYNUJtMFIQAISkIAEJCABCUhAAhKQQDkC6klAAhLonYACrN4ZaUMCEpCABCQgAQlIQAKNTcDYSUACEpCABFqcgAKsFs9gkycBCUhAAhKQQGUEtCUBCUhAAhKQgAQk0LgEFGA1bt4YMwlIQALNRsD4SkACEpCABCQgAQlIQAISqAkBBVg1waqnEugvAd1JQAISkIAEJCABCUhAAhKQgAQkUEqg9QRYpSn0WQISkIAEJCABCUhAAhKQgAQkIIHWI2CK2oqAAqy2ym4TKwEJSEACEpCABCQgAQlI4A0C3klAAhJoFgIKsJolp4ynBCQgAQlIQAISkEAjEjBOEpCABCQgAQnUgYACrDpANggJSEACEpCABHoioJkEJCABCUhAAhKQgAR6JqAAq2c+mkpAAhJoDgLGUgISkIAEJCABCUhAAhKQQAsTUIDVwplr0vpGQNsSkIAEJCABCUhAAhKQgAQkIAEJNCaBagqwGjOFxkoCEpCABCQgAQlIQAISkIAEJCCBahLQLwnUnYACrLojN0AJSEACEpCABCQgAQlIQAISkIAEJCCBvhBQgNUXWtqVgAQkIAEJSEACEmgcAsZEAhKQgAQkIIG2IaAAq22y2oRKQAISkIAEFiagjgQkIAEJSEACEpCABJqBgAKsZsgl4ygBCTQyAeMmAQlIQAISkIAEJCABCUhAAjUmoACrxoD1vhIC2pGABCQgAQlIQAISkIAEJCABCUig9Qn0P4UKsPrPTpcSkIAEJCABCUhAAhKQgAQkIIH6EjA0CbQpAQVYbZrxJlsCEpCABCQgAQlIQALtSsB0S0ACEpBA8xFQgNV8eWaMJSABCUhAAhKQwGATMHwJSEACEpCABCRQVwIKsOqK28AkIAEJSEACiYBXCUhAAhKQgAQkIAEJSKBSAgqwKiWlPQlIoPEIGCMJSEACEpCABCQgAQlIQAISaAsCCrDaIpu7T6QmEpCABCQgAQlIQAISkIAEJCABCbQ+gWZPoQKsZs9B4y8BCUhAAhKQgAQkIAEJSEAC9SBgGBKQwCASUIA1iPANWgISkIAEJCABCUhAAu1FwNRKQAISkIAE+kdAAVb/uOlKAhKQgAQkIAEJDA4BQ5WABCQgAQlIQAJtSEABVhtmukmWgAQk0O4ETL8EJCABCUhAAhKQgAQk0FwEFGA1V34ZWwk0CgHjIQEJSEACEpCABCQgAQlIQAISqBsBBVh1Q10akM8SkIAEJCABCUhAAhKQgAQkIAEJtD4BU1gNAgqwqkFRPyQgAQlIQAISkIAEJCABCUigdgT0WQISaHsCCrDavggIQAISkIAEJCABCUigHQiYRglIQAISkEAzE1CA1cy5Z9wlIAEJSEACEqgnAcOSgAQkIAEJSEACEhgkAgqwBgm8wUpAAhJoTwKmWgISkIAEJCABCUhAAhKQQN8JKMDqOzNdSGBwCRi6BCQgAQlIQAISkIAEJCABCUigzQi0pQCrzfLY5EpAAhKQgAQkIAEJSEACEpCABNqSgIluHQIKsFonL02JBCQgAQlIQAISkIAEJCCBahPQPwlIQAINQUABVkNkg5GQgAQkIAEJSEACEmhdAqZMAhKQgAQkIIGBElCANVCCupeABCQgAQlIoPYEDEECEpCABCQgAQlIoK0JKMBq6+w38RKQQDsRMK0SkIAEJCABCUhAAhKQgASalYACrGbNOeM9GAQMUwISkIAEJCABCUhAAhKQgAQkIIFBIFBnAdYgpNAgJSABCUhAAhKQgAQkIAEJSEACEqgzAYOTQHUJKMCqLk99k4AEJCABCUhAAhKQgAQkUB0C+iIBCUhAAl0EFGB1ofBGAhKQgAQkIAEJSKDVCJgeCUhAAhKQgARag4ACrNbIR1MhAQlIQAISqBUB/ZWABCQgAQlIQAISkMCgE1CANehZYAQkIIHWJ2AKJSABCUhAAhKQgAQkIAEJSGAgBBRgDYSebutHwJAkIAEJSEACEpCABCQgAQlIQAISaH0C3aRQAVY3YNSWgAQkIAEJSEACEpCABCQgAQk0IwHjLIFWJKAAqxVz1TRJQAISkIAEJCABCUhAAgMhoFsJSEACEmgwAgqwGixDjI4EJCABCUhAAhJoDQKmQgISkIAEJCABCVSPgAKs6rHUJwlIQAISkEB1CeibBCQgAQlIQAISkIAEJJATaFkB1r333hs777xzjBgxIrIsi6FDh8ZOO+0U//znP6O7v1I3iy22WBxwwAHx+OOPd+dEfQlIoMEJGD0JSEACEpCABCQgAQlIQAISaH4CLSnAuvTSS2PdddeNK6+8Ms+hlVZaKRdgXXXVVfGud70rMM8NCj833nhjbLbZZl1uVlhhhZg5c2acc845semmm8Zdd91VsN1WtyZWAhKQgAQkIAEJSEACEpCABCQggdYn0NApbDkB1q233hr7779/Dv20007LhVCPPfZYvPTSS/H1r3895s2bF5/97GfjkUceifTHCquDDz44pk6dGscee2zMmDEjX3U1ZcqU2GuvvWLy5Mlx1FFHxfTp05MTrxKQgAQkIAEJSEACEpCABCQggRICPkpAArUi0FICrDlz5sSpp56aC6K+/OUvx+GHH56vvALeqFGj4phjjontttsunnrqqXjwwQfRztVll10W9913X2529NFHx/Dhw3P9MWPGxBlnnBEbbbRRXHfddXHTTTfl+v5IQAISkIAEJCABCUhAAjUioLcSkIAEJCCBMgRaSoDFSqsbbrghll122fjkJz+Zn31VTDNCrD/+8Y8xd+7c2HbbbXOjV199Na6++ur8fp999gns5A+v/4wbNy4mTpwY8+fPD7Ygvq7tRQISkIAEJCABCTQsASMmAQlIQAISkIAEWo1ASwmw7r///nj66adj/fXXj+WXX76ivGJrIauvEFytueaaZd1wnhYGd999t9sIAaGSgAQk0PoETKEEJCABCUhAAhKQgAQk0EAEWkqA9d///jdHu/rqq+crpr7//e8Hh7FnWZZ/jXDPPfeMhx9+OLeTfl588cWYOnVqvvKKrw4m/eIVYdiiiy6an5v18ssvF428l4AEuiWggQQkIAEJSEACEpCABCQgAQlIoDoEhlTHm8bwZfbs2XlEOAtriy22yM/A4kuCCLHYNnjJJZfEeuut1/WlQSy/8sorwTZChFdjx45Fq3GUMZGABCQgAQlIQAISkIAEJCABCUig9QmYwl4JtJQAKx3M/uMf/zieeeaZuP766+OFF17o+qLgxz/+8UBgdcABB8RDDz3UKxwtSEACEpCABCQgAQlIQAISkEBzEDCWEpBAaxNoKQEW2/zIriFDhsS5554bW221VddB7nxR8Ic//GG8973vzb9CyGHu2FVJQAISkIAEJCABCUhAAjkBfyQgAQlIQAINS6ClBFhsFYQ0h7hvuOGG3C6g2CaYvj5422235WZLLrlkINyaNWtWsN0w1+zmZ9iwYYFwrBtjtSUgAQlIQAISaHsCApCABCQgAQlIQAISqAWBlhJgrbjiijmj0aNHx/Dhw/P70p+11lprAS3ssnKLrxGy3XABw9cfnnzyyXzr4UorrRTYf13biwQkIAEJ1IKAfkpAAhKQgAQkIAEJSEACEigh0FICrFVWWSVYJfXoo48GAqmStOaP9913X35NAq4lllgiEGqx+uqBBx7IzUp/brnlllyLA+BZxZU/+COBBiZg1CQgAQlIQAISkIAEJCABCUhAAq1EoKUEWOuuu25ssMEGMWnSpPjLX/6yUD6xwuqyyy7L9d///vfn15EjR8YOO+yQ359//vlpG2H+zA9urr322vwsrR133BEtlQQkIAEJSEACEpCABCQgAQlIQAKtQcBUNAmBlhJgsZrq05/+dI7+oIMOit/97ncxd+7c/HnatGlx+OGHB2dfbbTRRrHNNtvk+vxMnDgxX4V1zTXXxEknndQlxCq62WKLLWLzzTfHukoCEpCABCQgAQlIQAISkIAEugh4IwEJSKD2BFpKgAWuD3/4w3HsscfmZ1Z94AMfCIRanI3FYe0XXnhhLLXUUvGjH/0oxo0bh/VcYX7KKacEZ2Edf/zxC7nh7KvTTjst3D6Y4/JHAhKQgAQkIAEJSKDaBPRPAhKQgAQkIIEeCbScAIuzrRBg3XjjjcEXBznb6oknnsi/NPj5z38+7r777ij3hcKddtopX53FFWK4GTVqVOy///5x8803x4QJE9BWSUACEpCABCTQoASMlgQkIAEJSEACEpBA6xJoOQEWWZVlWbDljy2BbCGcP39+TJkyJb773e/Gcssth5Wyau21144rrrgiZs2aFbiZPn16nH322cEKrbIO1JSABCTQWgRMjQQkIAEJSEACEpCABCQggYYk0JICrIYkbaTahIDJlIAEJCABCUhAAhKQgAQkIAEJSKDaBBpPgFXtFOqfBCQgAQlIQAISkIAEJCABCUhAAo1HwBhJoA8EFGD1AZZWJSABCUhAAhKQgAQkIAEJNBIB4yIBCUigXQgowKpDTt9+++2hkoFlwDJgGbAMDKQMVKu5GkgcdGsZbtEyYD/NvqplwDJgGbAMWAZ6KQPV6osOxB8FWAOhp1sJSEACEpCABCJCCBKQgAQkIAEJSEACEqgtAQVYteWb+77BBhuESgaWAY3nFIgAABAASURBVMtAj2XAesJ6spcykDcoVfixHFoXWQYsA5YBy4BlwDJgGbAM9LUMVKEbOmAvFGAVEN57772x8847x4gRIyLLslhsscXigAMOiMcff7xgy9tGJWC8JCABCUhAAhKQgAQkIAEJSEACEmhNAkUBVmumsMJU3XjjjbHZZpvFlVdembtYYYUVYubMmXHOOefEpptuGnfddVeu748EJCABCUhAAhKQgAQkIAEJSKDJCRh9CTQdAQVYHVnGCquDDz44pk6dGscee2zMmDEjX3U1ZcqU2GuvvWLy5Mlx1FFHxfTp0zts+y8BCUhAAhKQgAQkIAEJSEACEpCABCRQTwIKsDpoX3bZZXHffffFdtttF0cffXQMHz68QzdizJgxccYZZ8RGG20U1113Xdx00025vj8SkIAEJCABCUhAAlUgoBcSkIAEJCABCUigQgJtL8B69dVX4+qrr85x7bPPPjFq1Kj8Pv2MGzcuJk6cGPPnz4+rrroqaXuVgAQkIAEJNAQBIyEBCUhAAhKQgAQkIIF2IND2AqyXXnopX32F4GrNNdcsm+frrrturn/33Xe7jTAn4Y8EWoqAiZGABCQgAQlIQAISkIAEJCCBBifQ9gKsF198MaZOnZqvvOKrg+Xya/nll49FF100HnnkkXj55ZfLWWlzPZMvAQlIQAISkIAEJCABCUhAAhKQQOsTGLwUtr0A65VXXgm2ESK8Gjt27ODlhCFLQAISkIAEJCABCUhAAhKQQOsTMIUSkEC/CLS9AKtf1HQkAQlIQAISkIAEJCABCQwaAQOWgAQkIIH2I6AAq/3y3BRLQAISkIAEJCABCUhAAhKQgAQkIIGmItD2Aqwll1wyxowZE7NmzYqZM2f2mHnDhg2LIUPaHlmPjDSUgAQk0D4ETKkEJCABCUhAAhKQgAQkUC8CbS+NGT16dH5AO18jfOGFF8pyf/LJJ4OzslZaaaXAfllLakpAAn0noAsJSEACEpCABCQgAQlIQAISkEAFBNpegLXEEkvEWmutla++euCBB8oiu+WWW3L99dZbLzjsPX9okB+jIQEJSEACEpCABCQgAQlIQAISkEDrE2j3FLa9AGvkyJGxww475OXg/PPPzwVZ+cPrP6zKuvbaayPLsthxxx1f1/UiAQlIQAISkIAEJCABCUhAAk1GwOhKQAJNTKDtBVjk3cSJE/NVWNdcc02cdNJJXUKsadOmxeGHHx633XZbbLHFFrH55ptjXSUBCUhAAhKQgAQkIIE2JWCyJSABCUhAAoNDQAFWB/cVV1wxTjnllPwsrOOPPz7YVogeB7xfeOGFwdlXp512mtsHO1j5LwEJSEACEpDAAAnoXAISkIAEJCABCUigzwQUYL2ObKeddspXWnFF64knnohRo0bF/vvvHzfffHNMmDABbZUEJCABCTQAAaMgAQlIQAISkIAEJCABCbQXAQVYhfxee+2144orrohZs2bF/PnzY/r06XH22WcHq7EK1ryVQCsQMA0SkIAEJCABCUhAAhKQgAQkIIGmIaAAq99ZpUMJSEACEpCABCQgAQlIQAISkIAEWp+AKWwEAgqwGiEXjIMEJCABCUhAAhKQgAQkIIFWJmDaJCABCQyQgAKsAQLUuQQkIAEJSEACEpCABOpBwDAkIAEJSEAC7UxAAVY7575pl4AEJCABCbQXAVMrAQlIQAISkIAEJNCkBBRgNWnGGW0JSEACg0PAUCUgAQlIQAISkIAEJCABCdSfgAKs+jM3xHYnYPolIAEJSEACEpCABCQgAQlIQAIS6BOBphRg9SmFWpaABCQgAQlIQAISkIAEJCABCUigKQkYaQkkAgqwEgmvEpCABCQgAQlIQAISkIAEWo+AKZKABCTQEgQUYLVENpoICUhAAhKQgAQkIIHaEdBnCUhAAhKQgAQGm4ACrMHOAcOXgAQkIAEJtAMB0ygBCUhAAhKQgAQkIIEBEFCANQB4OpWABCRQTwKGJQEJSEACEpCABCQgAQlIoF0JKMBq15xvz3SbaglIQAISkIAEJCABCUhAAhKQgASakEAfBVhNmEKjLAEJSEACEpCABCQgAQlIQAISkEAfCWhdAo1FQAFWY+WHsZGABCQgAQlIQAISkIAEWoWA6ZCABCQggaoRUIBVNZR6JAEJSEACEpCABCRQbQL6JwEJSEACEpCABCCgAAsKKglIQAISkEDrEjBlEpCABCQgAQlIQAISaHoCCrCaPgtNgAQkUHsChiABCUhAAhKQgAQkIAEJSEACg0lAAdZg0m+nsE2rBCQgAQlIQAISkIAEJCABCUhAAq1PoEYpVIBVI7B6KwEJSEACEpCABCQgAQlIQAIS6A8B3UhAAgsTUIC1MBN1JCABCUhAAhKQgAQkIIHmJmDsJSABCUigxQgowGqxDDU5EpCABCQgAQlIoDoE9EUCEpCABCQgAQk0DgEFWI2TF8ZEAhKQgARajYDpkYAEJCABCUhAAhKQgASqQkABVlUw6okEJFArAvorAQlIQAISkIAEJCABCUhAAhJQgNX6ZcAUSkACEpCABCQgAQlIQAISkIAEJND6BFo6hQqwWjp7TZwEJCABCUhAAhKQgAQkIAEJVE5AmxKQQKMSUIDVqDljvCQgAQlIQAISkIAEJNCMBIyzBCQgAQlIoAYEFGDVAKpeSkACEpCABCQggYEQ0K0EJCABCUhAAhKQwIIEFGAtyMMnCUhAAhJoDQKmQgISkIAEJCABCUhAAhJoIQIKsFooM02KBKpLQN8kIAEJSEACEpCABCQgAQlIQAKNQUABVi3zQb8lIAEJSEACEpCABCQgAQlIQAISaH0CprDmBBRg1RyxAUhAAhKQgAQkIAEJSEACEpBAbwQ0l4AEJNATAQVYPdHRTAISkIAEJCABCUhAAs1DwJhKQAISkIAEWpaAAqyWzVoTJgEJSEACEpBA3wnoQgISkIAEJCABCUigEQkowGrEXDFOEpCABJqZgHGXgAQkIAEJSEACEpCABCRQZQIKsKoMVO8kUA0C+iEBCUhAAhKQgAQkIAEJSEACEpDAGwRaVYD1Rgq9k4AEJCABCUhAAhKQgAQkIAEJSKBVCZiuNiGgAKtNMtpkSkACEpCABCQgAQlIQAISKE9AXQlIQAKNT0ABVuPnkTGUgAQkIAEJSEACEmh0AsZPAhKQgAQkIIGaElCAVVO8ei4BCUhAAhKQQKUEtCcBCUhAAhKQgAQkIIHuCCjA6o6M+hKQgASaj4AxloAEJCABCUhAAhKQgAQk0JIEFGC1ZLaaqP4T0KUEJCABCUhAAhKQgAQkIAEJSEACjUag+gKsHlI4c+bMuPrqq+OGG26IOXPm9GAzcvPf//738bWvfS2mTp3ao10NJSABCUhAAhKQgAQkIAEJSEACEqgzAYOTQB0J1FWAhSDq4IMPjm984xvx6quv9phMzE899dT4xS9+EQi+erSsoQQkIAEJSEACEpCABCQggSYkYJQlIAEJSKAyAjUVYM2fPz9eeOGFeOqpp3L17LPP5iurXnvttXj66adzvWRWer3yyivjX//6VwwbNiyGDKlpNCsjpS0JSEACEpCABCQggUYkYJwkIAEJSEACEmgDAjWXDJ122mmx/PLL52rChAnx5JNPxi233BJrrLFGrpfMSq8f+chH8q2DG2+8cYwbN64NssIkSkACEpCABAaLgOFKQAISkIAEJCABCUigsQnUVICVZVkcdNBBscUWW8RKK60Uyy23XE6DFVUrrLBCrod+ObXaaqvFoYceGmwjZBVW7tAfCUhAAo1KwHhJQAISkIAEJCABCUhAAhKQQM0I1FSARaxXXHHFuPHGG+Oxxx6L22+/PVZeeeV4z3veE/fdd1+uh3459fDDD8cPf/jDWHbZZcO/9iBgKiUgAQlIQAISkIAEJCABCUhAAhJofQL9SWHNBVjFSI0dOzZ+8pOf5Ie4jxw5smjkvQQkIAEJSEACEpCABCQgAQlIQAKVEdCWBNqOQF0FWKNGjYoddtghttxyy/xw9rajbYIlIAEJSEACEpCABCQggQYhYDQkIAEJSKCZCNRVgJXA8HXCRx99NC677LL40Y9+FAceeGC36phjjompU6eGfxKQgAQkIAEJSEACDUbA6EhAAhKQgAQkIIE6Eai7AOull16Kj370o7HqqqvG7rvvHocddlicffbZ3aqLLrooZs6cWSccBiMBCUhAAhKoLwFDk4AEJCABCUhAAhKQgAR6J1B3ARZnYP3qV7/KY/bWt741PvWpT8UBBxzQrULYxdbD3IE/EpCABBYmoI4EJCABCUhAAhKQgAQkIAEJtDiBugqwpk+fHldffXVkWRYXXnhh/Pe//41zzz03zjrrrG7VSSedFBz+3uL5MMjJM3gJSEACEpCABCQgAQlIQAISkIAEWp9A86awrgKsl19+OR555JHYYIMNYvvtt88FWc2LzphLQAISkIAEJCABCUhAAhKQQNsRMMESkMCgEKirAGvIkCH51wdHjx4dw4cPD/8kIAEJSEACEpCABCQggfYjYIolIAEJSEACfSVQVwHWuHHjYuONN46HHnoonnvuub7GVfsSkIAEJCABCUhAAp0E/JWABCQgAQlIQAJtRaCuAqxhw4bF5z73uZgxY0accMIJfl2wrYqaiZWABCTQaASMjwQkIAEJSEACEpCABCTQLATqKsCaO3dujB8/Pr7zne/Ez372s1hllVXiE5/4RJx88slxySWXlFUc+j5z5sxm4Wk8JdBeBEytBCQgAQlIQAISkIAEJCABCUigDgTqKsB69tlnY6ONNooDDjgg5s2bl28j/MUvfhFHH3107LnnnmXVwQcfHFOnTq0DisEJwlAlIAEJSEACEpCABCQgAQlIQAISaH0CpnBgBOoqwBo1alR89KMfzQVYCLEqUdjH3cCSqWsJSEACEpCABCQgAQlIQAISaHICRl8CEmhjAnUVYI0dOzZOOumkOOussypW2MddG+eRSZeABCQgAQlIQAISkECVCOiNBCQgAQlIoDkJ1FWA1ZyIjLUEJCABCUhAAhIoEPBWAhKQgAQkIAEJSKDuBBRg1R25AUpAAhKQgAQkIAEJSEACEpCABCQgAQn0hUBdBVhPPfVU/uXBLMsiyypTfKkQd31JlHYl0AYETKIEJCABCUhAAhKQgAQkIAEJSKBtCNRVgNVXqsstt1ysvPLKMXTo0L46rcC+ViQgAQlIQAISkIAEJCABCUhAAhJofQKmsBUI1FWAhUBq0qRJMX/+/LLq5ZdfjkcffTSOO+64WGSRRWK33XaLP//5z7HMMsu0AmvTIAEJSEACEpCABCQgAQlIoDkJGGsJSEACg0ygrgKs3tK62GKL5VsMv/71r8d5552Xf6nw3HPP7c2Z5hKQgAQkIAEJSEACEmh4AkZQAhKQgAQkIIH+E2goAVYxGdtuu22sv/76cfHFF8f06dOLRt5LQAISkIAEJNCeBEy1BCQgAQlIQAISkECbEmhdH6D5AAAQAElEQVRYAdbw4cNj9OjR8cgjjwRbC8M/CUhAAhKoAgG9kIAEJCABCUhAAhKQgAQk0HwEGlaA9dxzz8VDDz0Uw4YNiyFDGjaazZfjxnjgBPRBAhKQgAQkIAEJSEACEpCABCQggboSGBTJUE8pnD17dtx3331xxBFHxBNPPBEbb7xxjBs3ricnmklAAhKQgAQkIAEJSEACEpCABCTQgASMkgSqRWBItTyqxJ+nnnoqP6Q9y7LIsvJqxIgR8ba3vS3+8Ic/xNixY+Nzn/tcvgqrEv+1IwEJSEACEpCABCQgAQlIoMUImBwJSEACEuggUFcBVkd4Ff9vsskmccUVV+QrsCp2pEUJSEACEpCABCQgAQksREANCUhAAhKQgASanUBdBVjLLbdcTJo0KebPn9+r+sc//hGbbbZZs/M1/hKQgAQkIIHWIGAqJCABCUhAAhKQgAQkMIgE6irAGsR0GrQEJCCBQSdgBCQgAQlIQAISkIAEJCABCUigfwQGVYA1efLkOPPMM+PAAw/sUjw/+uij+Qqt/iVJVy1MwKRJQAISkIAEJCABCUhAAhKQgAQk0PoEFkrhoAiwXnrppfjIRz4SK6+8chx88MFx9tlndymeV1111fjwhz8cL7744kIRVkMCEpCABCQgAQlIQAISkIAEJCCB3ghoLoHWIlB3ARbCqw9+8IPxq1/9Kie54YYbxgEHHNCleMbgN7/5TXzoQx8K7POskoAEJCABCUhAAhKQgAQkUFcCBiYBCUhAAg1DoO4CrIsuuiiuv/76WG211eJf//pX3HbbbXHWWWd1KZ7Rxxx7l19+ecPAMiISkIAEJCABCUhAAn0joG0JSEACEpCABCRQDQJ1FWC9+uqrgUBqxIgR8fOf/zzWW2+9smlAH3PsIfDCXVmLakpAAhKQgARan4AplIAEJCABCUhAAhKQQNsTqKsAa8qUKXHPPffExhtvHBMmTOgRPubYu++++9xG2CMpDSUggd4JaEMCEpCABCQgAQlIQAISkIAEmplAXQVYCdTQoUMjy7L0WPaaZVlgb86cOTFv3rzwb5AJGLwEJCABCUhAAhKQgAQkIAEJSEACrU+gQVNYVwHWYostln958KGHHornnnuuRySYY48vFeKuR8saSkACEpCABCQgAQlIQAISkIAEGoSA0ZCABKpPoK4CrMUXXzy23nrreOKJJ+KEE06ImTNnlk0R+phj753vfGfgrqxFNSUgAQlIQAISkIAEJCCBViRgmiQgAQlIQAILEKirAIuQP/axj8Vyyy0X5557bmy66aZxwQUXxKRJk+Kpp57Krzyjjzn2Dj/8cJypJCABCUhAAhKQgAT6REDLEpCABCQgAQlIoHUI1F2A9Za3vCUXWi211FJx1113xT777BPjx4+P5ZdfPr/yjD7mCLOw3zq4TYkEJCABCTQVASMrAQlIQAISkIAEJCABCTQEgboLsEj1VlttFQ8//HB8+9vfjtVXXx2tLsUz+phjr8vAGwlIoCkJGGkJSEACEpCABCQgAQlIQAISkMBACQyKAItIjxkzJo466qjgoPb58+dHUjyjjzn2VCECCUhAAhKQgAQkIAEJSEACEpCABFqfgCnsgcCgCLDmzp0bl156aX6QO4KrFL8ZM2bEbrvtFjvvvHPce++9SdurBCQgAQlIQAISkIAEJCABCUigAgJakYAEWpVA3QVYs2fPjkMOOST22GOP+OMf/xjTp0/vYsvXB1mBdeWVV8Y666wT3/3ud/OVWV0WvJGABCQgAQlIQAISkIAEaktA3yUgAQlIQAINSKDuAiy+Lnj22WcHWwT322+/GDlyZBeWJZdcMq655po47rjjYvjw4fkWw+uuu67L3BsJSEACEpCABCTQDASMowQkIAEJSEACEpBAdQnUVYD16quvxuWXXx4jRoyIK664Ivbdd99cUJWSNHTo0FhxxRXj61//elx00UW59plnnhlz5szJ7/2RgAQkIIG2IWBCJSABCUhAAhKQgAQkIAEJdBGoqwBrypQpcc8998TGG28cEyZM6IpEuRu+QLj++uvHnXfeGS+88EI5K+pJQAI9EtBQAhKQgAQkIAEJSEACEpCABCTQGgTqKsBKyFhplWVZeix7ZQvh6NGj89VX8+bNK2un5poGIAEJSEACEpCABCQgAQlIQAISkEDrEzCFDU+grgKsxRZbLFZeeeX8C4NPPfVUj3Cee+654EB37OOuR8saSkACEpCABCQgAQlIQAISkMCgEjBwCUhAArUkUFcB1uKLLx5bb711IJw6/vjjY8aMGWXTxtcITzjhhHjiiSfy7Ya4K2tRTQlIQAISkIAEJCABCbQOAVMiAQlIQAISkEA3BOoqwCIOn/zkJ2ONNdaICy64IFZdddU4+uij45JLLulSJ554Yqy11lrB1wqxd/jhh+NMJQEJSEACEpCABCogoBUJSEACEpCABCQggVYkUHcB1iqrrBK//vWvY/XVV89XYp188smx5557dqmvfOUr8dhjj+Xm2MN+K4I3TRKQgAQaloARk4AEJCABCUhAAhKQgAQk0GAE6i7AIv18gfC///1v/OEPf4gPfvCDsdJKK3Upnn/zm9/Ev//9716/VIhfKgk0IgHjJAEJSEACEpCABCQgAQlIQAISkED1CAyKAIvo85XBXXbZJd86yIqrpNhOuMcee8SoUaOwppKABCQgAQlIQAISkIAEJCABCUigdQmYMglURGDQBFgVxU5LEpCABCQgAQlIQAISkIAEJNALAY0lIAEJtD4BBVitn8emUAISkIAEJCABCUigNwKaS0ACEpCABCTQ0ATaQoA1e/bs4OuHWZbF5Zdf3m2G3HvvvbHzzjvHiBEjIsuyWGyxxeKAAw6Ixx9/vFs3GkhAAhKQgAQk0EnAXwlIQAISkIAEJCABCdSKQFsIsM4999z4+c9/3iPDG2+8MTbbbLO48sorc3srrLBCzJw5M84555zYdNNN46677sr1/ZGABCRQQwJ6LQEJSEACEpCABCQgAQlIQAJlCLS8AOvWW2+NL33pS2WS/oYWK6wOPvjgmDp1ahx77LExY8aMfNXVlClTYq+99orJkyfHUUcdFdOnT3/DkXcNSsBoSUACEpCABCQgAQlIQAISkIAEJNBqBBYWYLVQCl966aX48pe/nKdolVVWya/lfi677LK47777Yrvttoujjz46hg8fnlsbM2ZMnHHGGbHRRhvFddddFzfddFOu748EJCABCUhAAhKQgAQkIAEJSKDpCZgACTQRgYYTYL366qtVwTd//vw45ZRT4vrrr4+vfvWr8d73vresv4R39dVX52b77LNPjBo1Kr9PP+PGjYuJEycG/l111VVJ26sEJCABCUhAAhKQgAQkIIEQgQQkIAEJ1IfAoAiwpk2bFkcccUR84hOfiDlz5nSllC1622+/fSyzzDJx0UUXxdy5c7vM+nrDiqkTTzwx9txzzzj88MO7dc4qLVZfIbhac801y9pbd911c/27777bbYQ5CX8kIAEJSEACEpBA1QjokQQkIAEJSEACEuiVQN0FWAiMPvCBD8Tpp58efPXv5Zdf7ookZ09x3tRzzz2Xnz11yCGHBF8Q7LJQ4c2kSZPisMMOi/Hjx8fJJ5/ctSWwnPMXX3wxpk6dmq+84quD5ewsv/zyseiii8YjjzwSxfiWs6ueBCQgAQlIoP4EDFECEpCABCQgAQlIQAKtTaDuAqxTTz0139Y3YcKE4OuAY8eO7SL85je/OR544IH405/+FCuttFKcffbZ8atf/arLvJIbBF4nnHBCPPzww7nwanyHEKsnd6+88kqwjRDhVTEuPbnRTAISaEECJkkCEpCABCQgAQlIQAISkIAEGpZAXQVYbBG84YYbAkHR+eefH+utt15kWbYAnKFDh8Y222wTv/nNb/JVT2wlRMC0gKUeHhB4Ifjab7/9Ytddd+3BpkbVJqB/EpCABCQgAQlIQAISkIAEJCABCbQ+gcFIYV0FWGy/YxveO97xjuhtZdTaa68d66+/ftxzzz0xZcqUitjceeed8ZnPfCbWWWed+Na3vtXj1sGKPNSSBCQgAQlIQAISkIAEJCABCUig+gT0UQIS6COBugqwUtw4nJ2v+qXnctcsy4LVWFHhH2drffGLXwy2BP74xz/OD4KvxOmSSy4ZY8aMiVmzZsXMmTN7dDJs2LAYMmRQkPUYLw0lIAEJSEACEpCABCTQfgRMsQQkIAEJtBOBukpjEBStscYacccdd+RnXfUE+tFHH41//etfgX3c9WQXs4ceeij+8Y9/5IKoLbbYIt+amGVZ1/UXv/gF1vJthVmWBV9ARGP06NH5VkUEYC+88AJaC6knn3wyF4xxLhf2F7KghgQkIAEJSEACEmhGAsZZAhKQgAQkIAEJNAmBugqwEP5MnDgxFwYdfPDBgZCqHKfHH388Dj300Jg6dWp+Hhbuytkr6o0YMSJWX331/PB3BE2lavjw4bl1VlxhNm7cuPx5iSWWiLXWWitffcUB8rlmyc8tt9yS63BmF4e95w/+SEACEpCABCJCCBKQgAQkIAEJSEACEpBA7QnUVYBFcvbZZ5/Yeuut45///GesuuqqsdFGG8WBBx7YpbbaaqtYZZVV4m9/+1tuD0EX7npT6667btx9993x2GOPlVUf/ehHcy/OO++83Px73/te/jxy5MjYYYcd8nsOli/dRsiqrGuvvTZfybXjjjvm9vyRgASqSkDPJCABCUhAAhKQgAQkIAEJSEACPRKouwCLFU8XXHBB7L777nnEEGTx1cCk/vKXv8S8efNyc+xhP7dYw5+JEyfmq7CuueaaOOmkk/LVWAQ3bdq0OPzww+O2224LtiVuvvnmaDegMkoSkIAEJCABCUhAAhKQgAQkIAEJtD6B9k1h3QVYoF522WXjt7/9bb4S6ic/+UkccMABXYpnvlR46aWXBvawX2u14oorximnnJKfhXX88ccHQjP02G544YUX5tsSTzvttHD7YK1zQv8lIAEJSEACEpCABCQgAQnUmIDeS0ACTUlgUARYiRRnUR100EFx1llndSmex48fn2/Zmz17djz//PPBVwuTm1pdd9ppp3ylFVfCeOKJJ2LUqFGx//77x8033xwTJkxAWyUBCUhAAhKQgAQkIIG2JyAACUhAAhKQQL0J1FWA9dRTT+XnW2255ZYxffr0HtOK+TbbbBMbbLBBPPvssz3arcSQs6/mz58fu+yyS7fW11577bjiiivyLxlilziwtZHVWN060kACEpCABCQgAQn0nYAuJCABCUhAAhKQgAT6QKCuAqw+xCtee+214AyqvrjRrgQkIAEJtBMB0yoBCUhAAhKQgAQkIAEJtAuBmgqwZs2aFXxFcOWVVw4Uq6n4SiBfGFxrrbVyPfTLqeWWWy7uvPPO/EuFiy++eLvkh+mUQH0JGJoEJCABCUhAAhKQgAQkIAEJSKAJCNRUgDVixIjYe++945lnnonJkycHmD8tUAAAEABJREFUWwhhwlcGOWMKve4U518NHz48/wpgIx+eTnpUEpCABCQgAQlIQAISkIAEJCABCbQ2AVM3uARqKsAiaZtvvnk8+eSTubrrrrti+eWXj0022SQefPDBXC+ZlV6ffvrpmDFjRnzgAx/Am6ZWt99+e6hkYBmwDFgGLAMDKQPVaggHEgfdWoYtA5YBy4BlYIBlwHGRY0PLQJOWgWr1RQfiT80FWFmWxbhx44ItgajVVlstP8id+57Um9/85mAF1kASp1sJSEACEpCABCQgAQm0FgFTIwEJSEACEmhPAjUXYBWxLrPMMsH5VxdffHGMHj26aNTS95z9pdog/6KkHORgGbAMWAb6Vwaq1VDKf4PYYIP+5YHs5GYZsAxYBiwDlgHLQLuWgWr1RQfiT00FWHPnzo1nn302V9yjeOYsrEoV9nE3kERW6vbee++NnXfeOTi7K8uy4OytAw44IB5//PFKvdCeBCQggbYgYCIlIAEJSEACEpCABCQgAQnUk0BNBVgInzbaaKNAcY/innOwKlXYx12todx4442x2WabxZVXXpkHtcIKK8TMmTPjnHPOiU033TQ4vys38EcC1SGgLxKQgAQkIAEJSEACEpCABCQgAQlUSKCmAqwK49BPa9Vzxgqrgw8+OKZOnRrHHntsfng8elOmTIm99torJk+eHEcddVRMnz69eoHqkwQkIAEJSEACEpCABCQgAQlIQAIVENCKBCJqKsDikPZJkyYFinsU9/Pnz49KFfZxV8vMuuyyy+K+++6L7bbbLo4++uiuw+PHjBkTZ5xxRr6C7LrrroubbrqpltHQbwlIQAISkIAEJCABCUhAArUhoK8SkIAEmpxATQVYzcDm1VdfjauvvjqP6j777BOjRo3K79MPX1CcOHFiLnC76qqrkrZXCUhAAhKQgAQkIIE2I2ByJSABCUhAAhIYPAINJcB64YUX4vLLLw9WRLFtrx5YXnrppXz1FYKrNddcs2yQ6667bq5/9913u40wJ+GPBCQgAQlIoF8EdCQBCUhAAhKQgAQkIIF+ERgUAdYDDzwQO+20U+y44475eVPE/JprromVV145dt1119h9993z++9+97v5yifMa6VefPHFmDp1ar7yiq8OlguHA+cXXXTReOSRR+Lll18uZ0U9CUhAAnUiYDASkIAEJCABCUhAAhKQgATaj0DdBVj/+c9/8q/9sR2P86340h+roDg8/ZVXXomxY8fG6quvnucEB6dz9lT+UKMfwmQbIcIrwq5RMHrbSASMiwQkIAEJSEACEpCABCQgAQlIQAJNRaBfAqyBpPDMM8+M559/Pl9pdcUVV8RSSy0V//73v+P2228PDmu/7bbb4qGHHopLLrkkD+anP/1pzJkzJ7/3RwISkIAEJCABCUhAAhKQgAQkIIH6ETAkCTQKgboKsNh+d+edd8YKK6wQp512Wqy66qo5B1ZZIaTadNNNY/z48bneVlttFeuvv35w7hRb/HJNfyQgAQlIQAISkIAEJCABCTQXAWMrAQlIQAJVIFBXAdb06dPjsccei7e85S2x9NJL59Fn+x6rrnjYZpttYtiwYdzG8OHDY/To0fmh6bNnz45a/S255JIxZsyYmDVrVrCdsadwiNuQIXVF1lN0NJOABCQgAQlIQAJtQsBkSkACEpCABCTQ7gQGXRrz5JNPxh133BEckr7hhht25cf8+fNj7ty5uUCrlkIjhGSEzTlcfAWxKwKFG+LIWVkrrbRSLlQrGHkrAQlIQAISaA4CxlICEpCABCQgAQlIQAJNTKCuAixWOq2xxhpx7733xlNPPZVj++tf/xpPP/10rLvuuvnKrFyz4+euu+6KW2+9Nd9myAHrHVo1+V9iiSVirbXWyldf8XXEcoHccsstufZ6660XtYxLHog/EpBAwxIwYhKQgAQkIAEJSEACEpCABCQwOATqKsBitdPEiRPjueeei/e///3x0Y9+NA477LA85dtvv30gTGLV1e9///vYe++982192MddbqkGPyNHjowddtgh9/n888/PBVn5w+s/rMq69tprI8uy2HHHHV/X9dJPAjqTgAQkIAEJSEACEpCABCQgAQlIoPUJVD2FdRVgEft99tkn9thjj/wsrIsvvjjYmrf11lvH5z73OYxj2rRp8a1vfSsmT54c6GM/N6jhD0IyVmFdc801cdJJJ3UJsYjL4YcfHpzRtcUWW8Tmm29ew1jotQQkIAEJSEACEpCABCQgAQlIIBHwKgEJFAnUXYDFKisEV//85z/jlFNOieuvvz6uvvrqfPUVEVt88cWDrxGeccYZcfnll3fpY1YrteKKK+Zx4Sys448/Pg8TPQ54v/DCC4Ozr0477TS3D9YqA/RXAhKQgAQkIAEJSEACtSCgnxKQgAQk0DIE6i7AgtzQoUNjgw02iCOPPDK22mqr/IuD6KP40t/pp58en/nMZ2LUqFFo1UXttNNO+UorrgT4xBNP5OHvv//+cfPNN8eECRPQVklAAhKQgAQkIIG2ImBiJSABCUhAAhKQQCMQGBQBVl8SzhZDzsXqi5v+2l177bXjiiuuyM/e4iuI06dPj7PPPjtYjdVfP3UnAQlIQAJtT0AAEpCABCQgAQlIQAISkMAACQyKAIuzpVhldeCBB0Z3apNNNonll18+/zrhs88+O8Bk6rzaBOZ3ePiXe+fEvme+EtueNCO2PnFGbP/tGXHoz2bGzQ/ODcw7rCz0P+O1iDOvnxUfPO2V3A3udvvejDjhstdiyozuXEXcPXle7jdh4IYwCZs4dO9qoeDVaFoCRlwCEpCABCQgAQlIQAISkIAE2plA3QVYkyZNig033DCOOOKIfHUTK5zKqf/7v/+Lp556KubMmdPO+VO9tFfRp1kdWfLN370W3+oQOk1+YX4sMixiiUUjhnaUpvufmhdf/82r8cM/zVpIiIWA6shfzoxf/9/smPrK/Bi9SMTiIyNmvBrx5w5hGMKv/z07b6GYXvD32fGFDnf4jSFhDR8aQdjf6ojD969ZOCzsqSQgAQlIQAISkIAEJCABCUhAAm1HoEUT3CFyqG/KOJz9wQcfjDFjxsRRRx0VP/vZz2LllVeO1VdfPX7605/mXyPkmVhxoPr9998fyy23HI+qBiHw29tmx43/nROjRkR8cadF4g9fGB2/PWJ0/OHI0bHP5sNjSEep+tO/Z8e/H1tQGHVph7sHn54XS47O4pS9Rub2L/v86DjngFGxylJZPDttfpz3twWFUdi/9NZZMbfDq13eOSyu/OKCYSE0u+qu2fH3B+Y2CB2jIQEJSEACEpCABCQgAQk0OwHjLwEJNB6BDlFD/SL18ssvx6233hojRozIz5r69re/HZ/4xCdi8803jylTpgTbBr/3ve/FvffeGxymjrDr4Ycfrl8EDalXAjNnRS68wuIu6w+P7d8xLDIeOhTCpD3fNSJWXXpIsFXwnsffECpNmxnxjwc7n/fYeHi8c/zQDhed/+M77H/8PSOCVVX3TJ6Xr6zqNIn49+S5gVvsfGrLRfJVXpgR1t6bjYi1lh8Sszu8vf1/c9BWSUACEpCABCQgAQk0BgFjIQEJSEACEqgqgboKsDgU/bHHHov11lsv3v72t+cJybIs/yLhiy++GI8++miuN3r06DjppJPy7YNnnnlmrudPYxBAWDR8WORbBhFUlcYq3xY4qlOk9dy0eV3Gk56fFzwvPjJig1XfEF4lC29bfmiMXTSL6a/Oj0ee7ZBIvW7w1NTOE65YtTWm5KOUCLyWXryzCL84vdPe6868SEACEpCABFqAgEmQgAQkIAEJSEACEkgEOkf/6alOVwRUw4cP7wrtbW97W37/3//+N7/ys8oqq+RCrjvvvDNYuYWeavAJIEQ64+Oj8i2D267bIckqidIz0+bH01PnxZAOGdbbVnhDUPXi9Hnx2uyIxUZmseRiHYYl7hZdJIvFOwRfczpkXi/NfMNwjWWH5H5NfmFePDll/hsGHXes8nr8xQ4HHfcrLzUoRbkjZP8lIIGGJmDkJCABCUhAAhKQgAQkIIGWIFDXUf/IkSNjmWWWiblz58b8+W8II9BbdNFFu1ZgQTbLshg6dGiwYuv/s3cfgFGUeR/H/5OQkBCEUAUEQQ8booK9IId6FsSCXTk9Gwh6iogKnnrn6d35gqKiZwe7Yu8gWDg7olgQG1Y6CFJCCQmBJO/+Hpi42Wz67mbL987ZMvPMM8/zmWEy89/neUYtt4z/xbWAxqiaOa/Y/vlcoanV1N7bp1ufXX4PcCkopeBU4wzPMtMrBrDUMqt5k83zg1tgKY/dOqXb8rWl9p+XCk1jYglC42X938uF9tPSEtu+bZqduM/vAVEtZ0IAAQQQQAABBBBAAAEEEEg8AUqMQGUCaZUtiMb8rbbaytSySuNgzZw5s2wTW2+9tbVo0cJmzZplfrAqPz/fli5dWpaGD/EpcMWEQjvsxnw7YlS+Xf5Eof28rMSO3bORXds/yzJ/j1/VufDK458nZVmvHdNNTyEc8mCB294Zd663j34qtm7bpJmWq4thnTfCiggggAACCCCAAAIIJI8ANUEAAQSSUiAtlrVq1KiRnXzyyVZUVGTHHHOMaXyrgoICa926te2xxx72/vvv2xNPPGELFy60O++802bPnm077LCDe2Kh8b+4FNjccspMXQs1sLpaYumJgLMWFEesvBo/a/aSElObvawMc+Nv6V0b+HV1aSCwFbltKU8mBBBAAAEEEEh1AeqPAAIIIIAAAvEmENMAlip/0kkn2aBBg2zNmjU2fvx4KywsNHUtHDx4sBbbkCFDrFOnTvbvf//bfT/nnHNMY2a5L7zEncB1J2a58bBevCzHNKn11er1pabufbPmbx6fqj6F/mVZif3rxUJblV9qZ/XKsFcuz3Hbm3hljg09MtPyC0vt1tc2mP+Ew/psi3URQAABBCIoQFYIIIAAAggggAACCERQIOYBrIyMDLvnnnts4sSJ1r9/f8vOznbVOfbYY23ChAllra2U7qabbrLTTjvNLecl/gX0BMK/Ht7Ydu2YZhpgfdLMjfUu9HOfbLQV60ptvz+k29m9M02tvJSpRss6fq8MO3L3RlZQZPbMx0WmJyRqGRMCySJAPRBAAAEEEEAAAQQQQAABBDYLxDyApc1qcPZ+/frZNddc41pfaZ7neS5YlZeXZytXrjR1LbzyyitNgSwtZ0oMgYx0sy5bngi4JK+kLKjUPBCnbBQ42tRiqqBInQHL12dtoZlabmnudm0DmQQ+aJ4/aHvPLummoFVgdrn/9u3ayI21tWBFqf22pkK+5dLyBQEEEEAAAQQQQAABBBBAAAEEElMgEFKoquCxX+Z5nhvQXUGu2G+dLVYnsCSv1M69b70NuHO96amDVaXPSPesUfrmFC2bplnjDLPCjaW2pqBioGn9hlJbG5ivIJeCXVqrNJCsJDDpc6NAXnoPnTTbC8wsCST20wa+8h8CCCCAAAIIIIAAApwC0h0AABAASURBVAgggECtBEiMQHwLRDWAVVBQYJMnT7bnnnuuzpPWVz7xzZg6pctoZK5V1dI1pTZ7ccUxrtSNb+7yzfNbb+WVtZrq3DrN2jRLM7Wq+uTnioOuf7Wg2I1zlZvj2Q7tNke9tso2a9XUc7hfzS92g7i7L0EvX8wrtg2bzFrkpFmz7M1pgxbzEQEEEEAAAQQQQACB2AmwJQQQQACBqAlENYCl7oAalP2UU06xuk5aX/lETYCMayXQOhBQ2mf7zQEmjTv10U+/B6P0BMInPiyybxaWWHam2Z+6B6JdW3Jvlm12wA6b13t+RpEFrzf3txKbMK3INgXiXj07p1v7FpsDUXo9bNdGbtyrd2dvsmenbywLYqlh1pQvN9mrn28eZ0t5axtbNscbAggggAACCCSoAMVGAAEEEEAAAQTCCUQ1gJWdnW1nnHGGe+qgnjxYl0nrK59whWdewwj85eBMN1D76vVm1z5TaMeOybcTx+bbcbfk22MfbA4onfvHTPMDXX4pzzgg03oEAlT+ekrf/9Z8GziuwOYtL7WOLT07r09mWastrXfE7o3smJ4ZpuDYff8rsmNuzt+8rcA2b560wQ3gvn/XdPtLr0wlZ0IAAQQQMMMAAQQQQAABBBBAAIGkE4hqACs3N9dGjRpl999/f50nra98kk4+gSvUIsez287MtosOz7RtWniuC5+CUqrS7p3SbMyfs+2kfTL0tdykpxTecHKWnbpfhuU28dyTCtWlMCfL7NBujWzsWdnWtpnaXf2+mr5dcmSm/euULNupfZoLZGlb6jbYqZVnw/o2NuWZ+Xtjr99X5hMCdRZgRQQQQAABBBBAAAEEEEAAgXgSSIunwlCWxBFIDxw5ClI9emETe+OqHJt6dY5NujLHbgsEoRTEskqqoiDW4MMy7flhTdw6Wu/l4Tl2Tf/GpsBYuNUUxDpwh3S7+9xsmzIyx62nbT48uIkd27OR62IYbj3mIYAAAggggAACCCCAAAIIIIBAlAVilH0gDBGjLYVspri42D7++GMbPny49ejRw7bddlv3fs0119gPP/xgpaUa5ShkJb4igAACCCCAAAIIIIAAAgggkGQCVAcBBKoXaJAA1nfffWfdu3e3/fff32677Tb78ssvbcGCBe79xhtvtJ122skOP/xw+/XXX6uvASkQQAABBBBAAAEEEEAg1QWoPwIIIIBAkgvEPIA1b948O/7442327NmmwdkHDx5sTz75pD377LP2+OOP29lnn+3mT5061Y4++mhbtmxZku8CqocAAggggAACCMSDAGVAAAEEEEAAAQTiVyCmASx1C7z55pvtxx9/tBNPPNEWLlxo9957r51++ul28skn25///Gd7+OGH3fxDDjnEvvjiC7v77rvjV4+SIYAAAgggECzAZwQQQAABBBBAAAEEEIiKQEwDWHl5eW7cq/bt29vo0aOtZcuWYSul+ffdd5+1adPG1BJr7dq1YdMxEwEEkk+AGiGAAAIIIIAAAggggAACCCAQKhDTAFZhYaHrErjjjjtau3btQstS7ruCXN26dbP58+fbunXryi3jS5UCLEQAAQQQQAABBBBAAAEEEEAAgeQXSKkaxjSAlZWVZW3btrXffvvNFMyqSnrjxo2Wn5/v0mu9qtKyDAEEEEAAAQQQQAABBBBAAIHaC7AGAggkikBMA1gtWrRwY119++239uCDD5rGxKoM6o033rDPPvvM+vXrZ1qvsnTMRwABBBBAAAEEEEAAgQYUYNMIIIAAAgjEQCCmASzV5+KLL7ZzzjnHrrrqKrvooots7ty55QJZq1evtlGjRtlZZ51lRx55pF122WVajQkBBBBAAAEEEEhaASqGAAIIIIAAAgggULVATANYS5YsMY1r9fDDD7uglZ5AuN1221laWpp5nuem3Nxc+9vf/mbqQjhlyhTTd8/bvMzzNr937tzZlFfVVWMpAggggEAKCVBVBBBAAAEEEEAAAQQQSGKBtCSuG1VDAIFaCZAYAQQQQAABBBBAAAEEEEAAgfgUiGkAS08WnDdvnmt9pfGv6jopD+UVd6QUCAEEEEAAAQQQQAABBBBAAAEEkl+AGsZcIKYBrJjXjg0igAACCCCAAAIIIIAAAgjEpQCFQgABBGoj0KABLI1z9c0339hzzz1XNum75temEqRFAAEEEEAAAQQQQCAFBagyAggggAACKSPQIAEsBahuueUWa968uXXv3t1OOeWUsknfc3Jy7Oabb3YDuafMnqCiCCCAAAIIINAAAmwSAQQQQAABBBBAIBEEYh7AUvBq6NChdsUVV1hBQYFlZGRYp06dyiZ9V5oRI0bYX//6V4JYiXAUUUYEEEhtAWqPAAIIIIAAAggggAACCERZIOYBrFdffdXuu+8+a9KkiT3xxBMuiDV//nzzJwW1NF/Lx48fb1OnTo0yAdkj0PAClAABBBBAAAEEEEAAAQQQQAABBCoXiGkAa9OmTTZhwgRXmgcffNAGDBhg6enp7rv/ou+ar+WapyCW1tPnKiYWIYAAAggggAACCCCAAAIIIIBA8gtQwxQViGkAa8WKFfbFF1/YXnvtZUcccUSV5FqudN99953l5eVVmZaFCCCAAAIIIIAAAggggAACNRUgHQIIIJB4AjENYJWUlJhaU2mQdo11VRWXlivdunXrGAerKiiWIYAAAggggAACCMRegC0igAACCCCAQEwFYhrAysrKsrZt29rSpUstPz+/yopqudIpvdarMjELEUAAAQQQQCDhBCgwAggggAACCCCAAAI1FYhpACs3N9f2228/mz17tj3yyCNWWloatpyar+VK1717d9N6YRMyEwEEEEhtAWqPAAIIIIAAAggggAACCKSEQEwDWJ7n2bnnnuueQDhy5EgbPHiw/fzzz1ZcXOyw9a7vmq/lehLhkCFDzPM8t5wXBCIvQI4IIIAAAggggAACCCCAAAIIIBDvAvUPYNWyhnvuuaeNHj3a0tLSbNy4cda1a1dr1KiRC1LpXd81X8uVbt99963lFkiOAAIIIIAAAggggAACCCCAAAIRFyBDBBpQIOYBLM/z7OKLL7avvvrKjjrqqLBV13wtVzrPo/VVWCRmIoAAAggggAACCCCAQMIJUGAEEEAAgboJxDyAtXz5cvdUwW7dutnkyZPdUwk1WPvixYvd4O56SqHma3ndqsRaCCCAAAIIIIAAAkksQNUQQAABBBBAIAUFYhrAKiwstLPPPtt23nln++mnnxx3enq6ezJh+/bt3bu+uwW8IIAAAggggECUBMgWAQQQQAABBBBAAIHEEohpAGvVqlX29ddfW4cOHWzrrbdOLClKW2eBletK7ZpnCu2E2/LtsBtrNinttYF1VgTWrfOGWRGBaAqQNwIIIIAAAggggAACCCCAQMwEYhrAysjIsKZNm5paYqmrYMxqyYYaTEABqAsfKrDpPxXbmoLyxajqm9J+FFjnosC6+lxVWpYhgAACCCCAAAIIIIAAAggggED8CkSiZDENYLVu3doGDRpkn332mY0dO9YKCmoR0YhEbckj5gL3TS2y5WtL67xdrXvPWxvqvD4rIoAAAggggAACCCCAAAJJIEAVEEh5gZgGsBSw2mGHHewvf/mL3XDDDdakSRPXnbB///52wQUXhJ2uuuoqy8vLM/6XmAKfzy2ud8Fn/FL/POpdCDJAAAEEEEAAAQQQSHABio8AAgggkMgCMQ1gKRB10UUX2SOPPFJmtmTJEnv55Zdt3LhxYacnn3ySllplWon3YVV+3Vtf+bWNRB5+XrwjgAACCCCAQD0EWBUBBBBAAAEEEGgggZgGsHJzc+3ee++1Z599tsaT0mu9BvJhswgggAACCERUgMwQQAABBBBAAAEEEECg9gIxDWBlZ2db37597eSTT67xpPRar/ZVYw0EEEhSAaqFAAIIIIAAAggggAACCCCQYgIxDWAF2/7000/26quvBs9yTye88sor7fbbb7c1a9aUW8aXSAqQFwIIIIAAAggggAACCCCAAAIIJL9A8tQw5gGs0tJSu+WWW0yDuet93bp1ZZoa5P2dd96xYcOGWadOnWzy5Mlly/iAAAIIIIAAAggggAACCCCAQMwF2CACCMSFQMwDWGp1NWLECFf5nXfe2b37L1lZWXb11Vfb4Ycf7lpgDRgwwL744gt/Me8IIIAAAggggAACCCCQgAIUGQEEEEAAgfoKxDSAtWnTJnv00UdNrbCeeuopN6B706ZNy+qgsa5OOOEEe/3112306NGmpxbecccdLn1ZIj4ggAACCCCAAAKpJ0CNEUAAAQQQQACBlBaIaQBrxYoVrkXVXnvtZUcccUSl8J7n2XnnnWfdunWzTz75xLRepYlZgAACCCCAQI0ESIQAAggggAACCCCAAAKJKhDTAFZJSYmpFVZOTo5lZGRUaabuhG3atDGNkbVx48Yq07IQAQRiJMBmEEAAAQQQQAABBBBAAAEEEGgAgZgGsBSUatu2rc2dO9dWr15dZXXz8/Nt6dKlpvRar8rECbSQoiKAAAIIIIAAAggggAACCCCAQPILUMPICsQ0gJWbm2v77befzZs3zx566CErLi4OWxuNkfXII4/Y7NmzrXv37qb1wiZkJgIIIIAAAggggAACCCCAQLIKUC8EEECgTCCmASzP8+z88893Aam///3v1rdvX5syZYotWbKkbJo2bZr179/fRo4c6dINHTrUPM8rKzAfEEAAAQQQQAABBBBAoKYCpEMAAQQQQCA5BGIawBJZz5497YEHHnBjYL355psuiNWhQwfzp4MOOsheeeUVt1zplF7rMSGAAAIIIIAAAg0iwEYRQAABBBBAAAEEGlwg5gEs1fjEE0903QiHDx/uxrjSPH/SmFcXXXSR/fLLL6Z0/nzeEUAAAQQSV4CSI4AAAggggAACCCCAAAL1EWiQAJYK3L59e7vlllvcQO0a88qfNHD7XXfdZR07dlQyJgQQ2CzAKwIIIIAAAggggAACCCCAAAIpK9BgAazYi7NFBBBAAAEEEEAAAQQQQAABBBBIfgFqmIwCUQ1g5eXl2VVXXeUmfdak7xdccIHVdFJ6rZeM+NQJAQQQQAABBBBAAAEEEIhLAQqFAAIIxJlAVANYBQUF9uSTT7pJnzXp+7hx46ymk9JrvThzozgIIIAAAggggAACCFQpwEIEEEAAAQQQiJxAVANY2dnZdsYZZ7hJnzXp+6BBg6ymk9JrvchVmZwQQAABBBBAIEEEKCYCCCCAAAIIIIAAAk4gqgGs3NxcGzVqlJv0WZO+33///VbTSem1nistLwgggAACtRQgOQIIIIAAAggggAACCCCQ+AJRDWAlPg81QMDMQEAAAQQQQAABBBBAAAEEEEAAgQYViEkAq0FryMYRQAABBBBAAAEEEEAAAQQQQCAmAmwEgWgJRDWAtWTJEuvcubN5nlfnSesrn2gBkC8CCCCAAAIIIIAAAgggEEcCFAUBBBBAIIxAVANYYbbqYBX6AAAQAElEQVTHLAQQQAABBBBAAAEEoixA9ggggAACCCCQbAIxC2ClpaXZWWedZR9++KEtWrTIFi9eXKNpxowZ1rZt22Rzpz4IIIAAAgjEtwClQwABBBBAAAEEEEAgjgSiGsBS4GnixIk2ePBga9y4sT322GN20EEHWe/evW3ChAmmoFb79u2tqkl5pKenxxEZRUEAAQRqJkAqBBBAAAEEEEAAAQQQQACByAhENYClwNNuu+1m9957r61du9a1vjr11FNtzpw5dsUVV1i7du2sZ8+e9vjjj9vq1auN/yEQIsBXBBBAAAEEEEAAAQQQQAABBBBIfoFqaxjVAFbw1hXMOvDAA+3pp5+2wsJCe/311+3oo4+2WbNmua6Fubm5dsABB9jLL7/slgevy2cEEEAAAQQQQAABBBBAAAEEEKhKgGUIJLdAzAJYwYwZGRl2xBFH2KRJk2zNmjX2zDPP2P7772/Tp0+3/v37W05OjvXr18+12Nq4cWPwqnxGAAEEEEAAAQQQQAABBKIjQK4IIIAAAnEr0CABrGANBatOOeUU++ijjywvL8+Nk7X77rvba6+9Zr169bJdd93Vli1bFrwKnxFAAAEEEEAAAQTiVIBiIYAAAggggAAC0RBo8ABWcKWaNWtm++67r2ud1aZNG7dow4YNVlxc7D7zggACCCCAQAoIUEUEEEAAAQQQQAABBBAIEWjwAFZpaanNnTvXrr32Wtt6661tp512sptuusl+++0369Gjh40aNcpat24dUmy+IoAAAlUJsAwBBBBAAAEEEEAAAQQQQCCZBBokgBUatNpuu+3sP//5jwtaKYClpxYuX77cvvjiCzvjjDNMY2YlE3pC1IVCIoAAAggggAACCCCAAAIIIIBA8gskSA1jFsDyg1Y33nijdezY0YKDVh06dLDRo0fbr7/+arNnz7bBgwdbq1atEoSQYiKAAAIIIIAAAggggAACCKSyAHVHAIHoC0Q9gLVgwQILDlpdc801tnjxYtMYV/o8Z84cW7hwoY0YMcJ1IYx+ldkCAggggAACCCCAAAIIxJkAxUEAAQQQQKBKgagGsJYsWeKeJKhAlYJWubm5dumll9r3339vS5cutX//+9/WpUsX8zyvykKyEAEEEEAAAQQQQKA6AZYjgAACCCCAAALJKxDVAFYoW3Z2tr3wwgv2pz/9yTp37mzbbrtttdPBBx9sy5YtC82K7wgggAACCERegBwRQAABBBBAAAEEEEAgLgViGsBSiyx1KazNNH/+fCsuLo5LPAqFAAIVBZiDAAIIIIAAAggggAACCCCAQKQFohrAUpdBPVHw2WeftbpOWl/5RLricZwfRUMAAQQQQAABBBBAAAEEEEAAgeQXoIa1EIhqAEtdBvv27Wsnn3xynSetr3xqUSeSIoAAAggggAACCCCAAAIIpIQAlUQAgVQRiGoAK1UQqScCCCCAAAIIIIAAAgkrQMERQAABBBBIAAECWAmwkygiAggggAACCMS3AKVDAAEEEEAAAQQQiK4AAazo+pI7AggggEDNBEiFAAIIIIAAAggggAACCFQqQACrUhoWIJBoApQXAQQQQAABBBBAAAEEEEAAgeQUIIAVvF/5jAACCCCAAAIIIIAAAggggAACyS9ADRNOgABWwu0yCowAAggggAACCCCAAAIINLwAJUAAAQRiKUAAK5babAsBBBBAAAEEEEAAgd8F+IQAAggggAACNRQggFVDKJIhgAACCCCAQDwKUCYEEEAAAQQQQACBVBAggJUKe5k6IoAAAlUJsAwBBBBAAAEEEEAAAQQQiHMBAlhxvoMoXmIIUEoEEEAAAQQQQAABBBBAAAEEEIieQLwEsKJXQ3JGAAEEEEAAAQQQQAABBBBAAIF4EaAcCNRJgABWndhYCQEEEEAAAQQQQAABBBBoKAG2iwACCKSeQFIGsNasWWM33XSTdenSxTzPc1PTpk1t0KBBtnDhwkr38rfffmvHHHOMZWZm1nidSjNjAQIIIIAAAggggED8ClAyBBBAAAEEEEgogaQLYM2bN88OPPBAGzlypOlzmzZtbJtttrGCggIbP3687bTTTjZp0qQKO+ndd9+1gw46qGxZ8DrKb+bMmRXWYQYCCCCAAAKpLEDdEUAAAQQQQAABBBCIlUBSBbA2btxoV155pX3zzTd28MEH24IFC2zZsmWu1dWqVatswIABtn79ehs2bJhb5iOrVdaQIUMsLy/PrrvuOsvPzy+3jvIZMWKErVu3zl+FdwQQQCASAuSBAAIIIIAAAggggAACCCBQA4GkCmD99NNPNnXqVMvNzbW7777bOnbsWEbQrFkzu+OOO2yfffYxpXvvvffKlr300ks2e/ZsO/LII13LrYyMDLcseJ233nrLPvjgAzefl3gSoCwIIIAAAggggAACCCCAAAIIIJDsAmmWRDVctGiRpaenW48ePaxLly4VataqVSvbZZdd3Hy1utKHwsJCmzx5sj7aWWedZdnZ2e6z/6J1+vfvb6Wlpfbaa6/5s3lHAAEEEEAAAQQQQAABBBBAILEEKC0CCSyQVC2w/vSnP7kug2+//bZp0PbQ/bJp0ybXPTB4/urVq13rKwWudtxxx+BFZZ93220393nWrFl0I3QSvCCAAAIIIIAAAgggkJoC1BoBBBBAoGEEkiqAVR2hugmqi6GeMti7d2+XfOXKlZaXl+daXoULeilRhw4drEmTJjZnzhxbu3atZjEhgAACCCCAAAII1E2AtRBAAAEEEEAAgVoLpEwASy2tNHi7glXHH3+87b333g5Lg7qrG6GCV7m5uW4eLwgggAACCMS3AKVDAAEEEEAAAQQQQCC1BFIigKXg1cCBA90A7zvssIPdfPPN5g/Unlq7m9oigECZAB8QQAABBBBAAAEEEEAAAQQSRiDpA1i//vqrnXTSSfbcc8/Z9ttvby+//LJ17tw5YXZQPBeUsiGAAAIIIIAAAggggAACCCCAQPILxEMNkzqA9d1339khhxziWl7tuuuu9vrrr5c9hdDHb9GihTVr1syKioqsoKDAnx32vVGjRpaWltRkYevNTAQQQAABBBBAAAEEEEAAgXoJsDICCNRTIGmjMZMmTXLjXGng9iOOOMLee+8969q1awWunJwcN0C7uhmuWLGiwnLNWLx4sWmsrE6dOpnSax4TAggggAACCCCAAAIIxFKAbSGAAAIIpLJA0gWwSktL7emnn7bjjjvOBZ0uu+wye+mll6xly5Zh93Pz5s1t5513dq2vfvjhh7Bppk+f7ubvvvvupsHe3RdeEEAAAQQQQACBRBOgvAgggAACCCCAQIIKJF0A64UXXrABAwZYSUmJjR492g3Ynp2dXenuycrKsr59+7rljz32mAtkuS9bXtQq68033zTP8+zoo4/eMpc3BBBAAIFUFaDeCCCAAAIIIIAAAgggEHuBpApgLVy40K699tqy4NWVV15p6enp1ar279/ftcLSGFmjRo0qC2KtWbPGhg4dajNmzLDevXtbr169qs2LBAggUK0ACRBAAAEEEEAAAQQQQAABBBColUBSBbCeeOIJ05hXEhg5cqQbcN3zPNd6yvPKv6t1ltJp6tixo40ZM8aNhXXDDTeYuhVqngZ4nzBhgmnsq7Fjx8ZR90GVmgkBBBBAAAEEEEAAAQQQQAABBJJbgNr5AkkTwCosLHQDtfsVq+17v379XEsrvWvdRYsWmboeDhw40KZNm2Y9evTQbCYEEEAAAQQQQAABBBBAAIFEEqCsCCCQFAJJE8DSWFZ68qAGca/JpBZaoXuwW7duNnHiRCsqKjLlsW7dOhs3bpypNVZoWr4jgAACCCCAAAIIIJAqAtQTAQQQQACBhhZImgBWQ0OyfQQQQAABBBBAoAoBFiGAAAIIIIAAAgjUQ4AAVj3wWBUBBBBAIJYCbAsBBBBAAAEEEEAAAQRSVYAAVgz2/GeffWapOkWKN1X9Il7vFD4WsUzd81Cy7HvOpxzDyXIsUw+OZY4BjgGOAY4BjoHEOwYidS1an3wIYNVSj+QIIIAAAggggAACCCCAAAIIIJD8AtQwvgQIYMVgf+y1116WqlOkeFPVj3qn7r8d9j37PvQY4HzKMRF6TPCdY4JjgGMgAY6BlL0PYt/w7zPZjoFIXYvWJx8CWPXRY10EEEAAAQQQQAABBKIqQOYIIIAAAgggIAECWFLYMn377bd2zDHHWGZmpnmeZ02bNrVBgwbZwoULt6TgDQEEEEAAAQQSToACI4AAAggggAACCCS8AAGsLbvw3XfftYMOOsgmTZrk5myzzTZWUFBg48ePtwMPPNBmzpzp5vOCAAIIpKIAdUYAAQQQQAABBBBAAAEEGlKAAFZAXy2shgwZYnl5eXbddddZfn6+a3W1atUqGzBggC1YsMBGjBhh69atC6TmPwTqJMBKCCCAAAIIIIAAAggggAACCCBQR4EECmDVsYY1WO2ll16y2bNn25FHHmkjR460jIwMt1azZs3sjjvusH322cfeeust++CDD9x8XhBAAAEEEEAAAQQQQAABBBBAIFoC5ItARYGUD2AVFhba5MmTncxZZ51l2dnZ7rP/0qpVK+vfv7+Vlpbaa6+95s/mHQEEEEAAAQQQQAABBBCIXwFKhgACCCSZQMoHsFavXu1aXylwteOOO4bdvbvttpubP2vWLLoROgleEEAAAQQQQACB5BeghggggAACCCAQPwIpH8BauXKl5eXluZZXeupguF3ToUMHa9Kkic2ZM8fWrl0bLgnzEEAAAQQQQKCiAHMQQAABBBBAAAEEEIiIQMoHsNavX2/qRqjgVW5ubkRQyQQBBBCInAA5IYAAAggggAACCCCAAAIIpHwAi0MgBQSoIgIIIIAAAggggAACCCCAAAIIJLRAjQJYCV1DCo8AAggggAACCCCAAAIIIIAAAjUSIBEC8SqQ8gGsFi1aWLNmzayoqMgKCgqq3E+NGjWytLSUJ6vSiIUIIIAAAggggAACCKS4ANVHAAEEEIiCQMpHY3JyctwA7Xoa4YoVK8ISL1682DRWVqdOnUzpwyZiJgIIIIAAAggggECEBMgGAQQQQAABBBAoL5DyAazmzZvbzjvv7Fpf/fDDD+V1tnybPn26+7T77rubBnt3X3hBAAEEEEAgngUoGwIIIIAAAggggAACSSSQ8gGsrKws69u3r9uljz32mAtkuS9bXtQq68033zTP8+zoo4/eMpc3BBBIBQHqiAACCCCAAAIIIIAAAgggEB8CKR/A0m7o37+/a4X1+uuv26hRo8qCWGvWrLGhQ4fajBkzrHfv3tarVy8lZ6q5ACkRQAABBBBAIAkESgN1+Glpid3xepGdcsd6e+XzTYE51f9XUGQ2+ctNNuyxArvggQJbU/VwoxUyfOe7TXbU6Hw77Mb8Gm+zQibMQAABBBBAAIFYCER9GwSwAsQdO3a0MWPGuLGwbrjhBlO3Qs3TAO8TJkwwjX01duxYug8GrPgPAQQQVzm5tQAAEABJREFUQAABBFJDwA9ajXplg514W74NDgSgXv5so61cpyWVGyho9VIgnQJWx9+ab2MmbbCvFpRYcUnl64RbsmxNqT3wTpFtLA63lHkIIIBAMgpQJwQQqEqAANYWnX79+rmWVnrXrEWLFll2drYNHDjQpk2bZj169NBsJgQQQAABBBBAICUEZvxcbEMfKbA3v95kawvMOrb0LKdx9VX/+3OF9t/Xi+znpSWWlWHWubVX/UohKRQiezAQvFq8Sp9CFvIVgaoEWIYAAgggkLQCBLCCdm23bt1s4sSJVlRUZKWlpbZu3TobN26cqTVWUDI+IoAAAggggAACSSvgVyw9cJW4bes0G3JYpr1wWY799+wm1qZZYKZV/b+mgSBXr53SA+mz7eXLc6z/3plVrxBm6bvfbTJ1H2zZ1LPWgSlMEmYhgAACCCCAQIoJVH8VkmIgVBcBBBBAAIF6CrA6AkkhsNd26Xbvedl2yn4Z1iy75lX650lZdn1g6rZNmtW+7ZWZ33VQWzz74Exrml2XXIz/IYAAAggggECSCaQlWX2oDgIIJIUAlUAAAQQQSEUBdRj0uw722aWRHbRjeioyUGcEEEAAAQQQCCNAACsMSlLMohIIIIAAAggggECCCfhdBzu08Oy8PpmWnkbrqwTbhRQXAQQQQKAhBFJkmwSwUmRHU00EEEAAAQQQQCCeBYK7Dp4fCF61bUbwKp73F2VDINkEqA8CCMS/AAGs+N9HlBABBBBAAAEEEEhqgdCug3/cpVFS1zdJK0e1EEAAAQQQiKoAAayo8pI5AggggAACCCBQU4HUTRfadZC2V6l7LFBzBBBAAAEEKhMggFWZDPMRQAABBBJPgBIjgEDCCdB1MOF2GQVGAAEEEECgQQQIYDUIOxtFIH4FKBkCCCCAAAKxFHj24422eFWpbSw2+9eLG+ywG/PLphNuy7e5v5W44tw+ZfOy88cV2JoCN4sXBBBAAAEEEEghAQJYkd/Z5IgAAggggAACCCBQQ4HGGWbNm4SfmmWbpW+5Wm2SuTlNsywzzzP+hwACCCCAQDwIUIYYCmy5JIjhFtkUAggggAACCCCAAAJbBAb2ybQXhuWEnR4ZkmOdWm2+XB10aGOX5razsm2rQBBry+q8IYBAwgtQAQQQQKBmApuvCGqWllQIIIAAAggggAACCCAQbwKUBwEEEEAAgRQQIICVAjuZKiKAAAIIIIBA1QIsRQABBBBAAAEEEIhvAQJY8b1/KB0CCCCQKAKUEwEEEEAAAQQQQAABBBCImgABrKjRkjECtRUgPQIIIIAAAvEroAHVHxiUbVOvzrHj9mxU44IqrdbRusqjxisGEiq91tP6yicwi/8QQAABBBBAIEUFkiuAlaI7kWojgAACCCCAAAIIIIAAAgggkFICVDblBAhgpdwup8IIIIAAAggggAACCCCAgBkGCCCAQCIJEMBKpL1FWRFAAAEEEEAAAQTiSYCyIIAAAggggECMBAhgxQiazSCAAAIIIIBAOAHmIYAAAggggAACCCBQvQABrOqNSIEAAgjEtwClQwABBBBAAAEEEEAAAQSSXIAAVpLvYKpXMwFSIYAAAggggAACCCCAAAIIIIBA/ApEKoAVvzWkZAgggAACCCCAAAIIIIAAAgggECkB8kGgQQQIYDUIOxtFAAEEEEAAAQQQQACB1BWg5ggggAACtRUggFVbMdIjgAACCCCAAAIINLwAJUAAAQQQQACBlBIggJVSu5vKIoAAAggg8LsAnxBAAAEEEEAAAQQQSBQBAliJsqcoJwIIxKMAZUIAAQQQQAABBBBAAAEEEIiBAAGsGCCziaoEWIYAAggggAACCCCAAAIIIIAAAskvUL8aEsCqnx9rI4AAAggggAACCCCAAAIIIBAbAbaCQAoLEMBK4Z1P1RFAAAEEEEAAAQQQSDUB6osAAgggkJgCBLASc79RagQQQAABBBBAoKEE2C4CCCCAAAIIIBBzAQJYMSdngwgggAACCCCAAAIIIIAAAggggAACtREggFUbLdIigED8CFASBBBAAAEEEEAAAQQQQACBlBEggJUyu7piRZmDAAIIIIAAAggggAACCCCAAALJL5AMNSSAlQx7kToggAACCCCAAAIIIIAAAghEU4C8EUCggQUIYDXwDmDzCCCAAAIIIIAAAgikhgC1RAABBBBAoO4CBLDqbseaCCCAAAIIIIBAbAXYGgIIIIAAAgggkKICBLBSdMdTbQQQQCBVBag3AggggAACCCCAAAIIJJ4AAazE22eUGIGGFmD7CCCAAAIIIIAAAggggAACCMRUgABWTLn9jfGOAAIIIIAAAggggAACCCCAAALJL0ANIyVAACtSkuSDAAIIIIAAAggggAACCCAQeQFyRAABBAICBLACCPyHAAIIIIAAAggggEAyC1A3BBBAAAEEEl2AAFai70HKjwACCCCAAAKxEGAbCCCAAAIIIIAAAg0oQACrAfHZNAIIIJBaAtQWAQQQQAABBBBAAAEEEKibAAGsurmxFgINI8BWEUAAAQQQiFOBletK7ZpnCu2E2/LtsBtrNinttYF1VgTWjdNqUSwEEEAAAQQQiBOBlAtgxYk7xUAAAQQQQAABBJJGQAGoCx8qsOk/FduagppXS2k/CqxzUWBdfa75mqREAAEEEECgegFSJJcAAazk2p/UBgEEEEAAAQQQiLnAfVOLbPna0jpvV+ve89aGOq/PigggEDUBMkYAAQTiRoAAVtzsCgqCAAIIIIAAAggkpsDnc4vrXfAZv9Q/j3oXIioZkGk8CSjMOuqVDa6b64lj823hSs0pX8KCIrMLHyxwaSrrDlvZuuVz4hsCCCCAQCQFCGBFUpO8EEAAAQQQQCDyAuQY9wKr8isGAWpb6EjkUdttkj71BN79bpO9E5iqqvnGQCy1KDBVlYZlCCCAAAKxFyCAFXtztogAAgjEXIANIoAAAgggkOoCy9aU2gPvFJkCVFVZrCkotVX5JbZVltm952Xb1KtzKkwvDMuxji29qrJhGQIIIIBAhAUIYEUYlOySVoCKIYAAAggggAACCCSogNoIPhgIXi1eVWpd2qRZZqPKK1JQVGolJWZpgTul7Eyv8oQsQQABBBCIqUDgtByr7bEdBBBAAAEEEEAAAQQQQCD2An7XwQ4tPDt1vwyrKiy1Kr/UijaZtchJs2bZVaWMfT3YIgKJI0BJEYi8AAGsyJuSIwIIIIAAAggggAACCMSJgN91UMU5v09mIDBVdVAqb32p62aY09gsO1NrNdDEZhFAAAEEygkQwCrHwRcEEEAAAQQQQACBZBGgHggEdx3ss0sj+2Ngqk6lcKNZSWDFletK7dJHC+yo0fnuiYR6/9vThTb3t5LqsmA5AggggEAUBAhgRQGVLBFAAAEEEEgSAaqBAAIIJLRAcNfB8/pkVtl10K/onGWbH0G4JK/Uvl9S4lpjaZkGf//k52IbGghqffzT5jSaz4QAAgggEBsBAlixcWYrCCCQsgJUHAEEEEAAAQQaQiC062DbZlV3HfTL2D43zZpmme3cPq3sKYRvXZ1jo0/Pct0P8zeY3f3WBtNYWcb/EEAAAQRiJkAAK2bUbKjOAqyIAAIIIIAAAggggEAtBEoDaf2nDta062BgFfffqftn2MvDc+yuc7Nth3abb5cU+tp7+3QbcUxja9zITE8znPELrbAcGC8IIIBAJAWqyGvzGbmKBCxCAAEEEEAAAQQQQAABBBJJoC5dB2tSv55d0q1rIKilMbJ+/JWxsGpiRprYC7BFBJJVgABWsu5Z6oUAAggggAACCCCAQAoKrC00e+LDjW7sKrWUOuPO9W4Q9sNu3DwYuwZi37DJbPV6s7Pv3bzs9ikbgqUq/ZyRbpbZSO2xzDYVq51XpUlZgAACCCAQYQECWBEGJTsEEEAAAQQQQAABBBBoWIGmjc2aNwk/5TTeXDaFobbKMpcuJ0vfzGbOK7YBgYDXXx8qCDvGlQZyL9q0OXDVKH3zOptz4xUBBBBAINoCBLCiLUz+CCCAAAII1EWAdRBAAAEE6iSgoNRtZ2XbC8Nywk7X9s9y41g1CwS47jyniUszsE+m25YGcFf3wJ+Xldg3iyp2EZz7W4ktWFFiaYHY1Q7tuJVyaLwggAACMRLgrBsjaDaDAAKxF2CLCCCAAAIIIIBAbQTaNvesR+d01/3w3rc22E9Lfw9i6amD904tsjUFZtu2TrP9uzaqTdakRQABBBCopwABrHoCJvnqVA8BBBBAAAEEEEAAgZQR8AI1HXxYpnv64JK8UhvyQIH1vzXfTrgt307773rXxVBdEC84JNOaZQcS8x8CCCCQPAJxXxMCWHG/iyggAggggAACCCCAAAIIxEqgRY5nt/w5287tnWmtmnqmQeHV6io70+yPO6fb3ec2sf26pseqOGwnoQQoLAIIRFOAAFY0dckbAQQQQAABBBBAAAEEai4Qg5T7/iHdXhuxeXysji29sFtUK6sze2XY00Ob2NSrc9z08vAc+8eJWVbZOmEzYiYCCCCAQMQECGBFjJKMEEAAAQQQQACBhhegBAgggAACCCCAQDIKEMBKxr1KnRBAAAEE6iPAuggggAACCCCAAAIIIBBnAgSw4myHUJzyAhpn4NYzGSGzvEoifKOMCCAQbwKcT+Ntj1AeBBBAAAEEEEAAgdoIEMCqjVYs07ItO3nfDBt6VGPbY9vyh+nGjRtt+vTpNmTIENtjjz1syZIllWoVFhZav379zPO8SqfOnTtXmUelmbMAAQQQSBCBSJxPg6u6YsUKu+WWW2z33Xe39PR04zwarMNnBBBAAAEEEECglgIkr5FA+chAjVYhEQLRF2i9lWc9uqRb8yae25iCVh9++KGdfvrplpOTYwcccIDdd999lpeX55ZX9rJp0ybLz8+vbDHzEUAAgaQXiNT5VFClpaX26KOPWvv27e2KK66wr776ygWwtt12W/euNEwIIIAAAgg0hADbRACB5BcggJX8+zgha5iRbtYk0zNvS+lvvfVW69Wrlz399NPWqFEj69Onj3mev3RLojBva9eutTlz5li7du3s559/Nt18hU7z5s1zN2NhVmcWAgggkPACkTqf6typc/HZZ59t+lFBrWDnz59vRUVF9v7771vbtm0T3ooKIJDiAlQfAQQQQACBuBYggBXXuyd1C5ceODKDw1NNmjSxc845x3UdVFBqzJgxlp1d/dhYBQUF7uYqMzOzRulTV5yaI4BAsgpE6nz67bff2qhRoywtLc0eeughu/vuu61Tp07JylbHerEaAggggAACCCCAQLQE0qKVMfkiUB+B4hKz4pLSsiwuueQSd8O033771aqbyqpVq2zNmjW23Xbb2VZbbVWWHx8QQCBOBShWxAUicT5V66t77rnHli9fbueee66deeaZNWoFG/HKkCECCCCAAAIIIIBAygoQwErZXR/fFc9bX2pzfiuxok31K6cCWGqF1bp1a8vKyqpfZrDM13AAABAASURBVAmyNsVEIFIC+RvX2+0zH7UjXjrP9nn6ZDcd+sLZds1HY23lhtWR2gz5RFkgEudTDdr+9ttvm1qznn/++a4rd5SLTfYIIIAAAggggAACCJQTIIBVjsN94SUOBAqKzCZ/uck+m1tsaj1Q1yIpeKWWAxrnqn///u7my/M89z5o0CBbuHBhXbNmPQSSWmBx/jI7f+o19vj3r9iqDWusaUYTa5bZ1NYFglpvzP/A/jzlCvsxb15SGyRL5SJxPtVYgpr01EE9SOOMM85w51HP86xFixY2cuRI19o1WcyoBwIIIIAAAgikjAAVTSCBtAQqK0VNMYFflpXYf14qtFsnb6hzzTVmi1b+9NNPbdKkSW7gYX3XAMTjx4+3nj17mpZpHhMCCPwuMO6bZ+zn1QusdVYLe/jwUfb2iY/a1BMetiePutW2a9bRlheusjGfP2BFJRt/X4lPcStQ3/Ppr7/+avpBQE8d3Guvveypp56y3Nxca9OmjeXl5dlNN91ke++9t+nHgrhFoGAIIIAAAlESqDrb4uJi0zX5888/bw8++KDdf//97nvVa7EUAQQQqChAAKuiCXPiSEAtB6Z8uanOJerSpYt7MtZxxx1nv/zyi3sKYUlJiX3xxRe2/fbbu/FcLr74Ylu9enWdt8GKCCSbgFpcfb3iR1et83Y9yXZt2dV91ssfmneyC7qfao3SGtkvaxbakvzfNJspAQTqcz798cfNx8OGDRusR48e9sMPP9iyZcvcpGU77LCD6f1f//qXbdpU93N2AjBSRASiI0CuCCSpgH4A0Y8eH3zwgak7uv5GNG7c2Bo1apSkNaZaCCAQTQECWNHUJe8GFzjttNNs6dKl9vLLL7uB3FUgz/PcDdgzzzxjerrhJ598YjNmzNAiJgQQCAho7Ku1RfnWOD3TtslpG5hT/r/2OW0sK7BsY8kmW8VYWOVxkvSbWq2qagr8P/vss6aAlb5r6tq1qz3wwAOm8bHU0nX+/PmaHfOJDSKAAALxIqAHCKlr9dZbb+0eeOF5nnUJ/Kiq1qpaFi/l9MuxMvC3XONbapxLf8xLjX9502fj6zXmpf4eTJkyxfLz861Zs2Z2+OGH28CBA+3ss8+2HXfc0d887wgggECNBQhg1ZiKhMkmsMcee1jfvn1dq6xZs2YlVfV0s/n999/bK6+8YmquXVhYmFT1i1Vl1GJFY7ENe6zALnigwNYURGbL2h+6oFOA9cgjj7R169ZFJuP65VK2dsusXGub3co2FBfZp8u+KZvvf/g5b4EVbCq0po2ybesmrf3ZvKeAQK9evdxNWGhVu3fvbhofSz8YqLVr6PJE/s75NL72nm7+QwMDChJonpbFV2mjXxqOz+gb13YLM2fONJ0TFazSk1u32WYba9++vetireP0wAMPdJ9rm69LXzjPir883ja909I2Tc3YPAU+a54Flrk0tXyZ/uuXdtrky0zjW64P/G1vnrmVG/Myb8Nae/anKfaXN0bWaczLoqIi++yzz0zvHTp0sBNOOMH9mJyWllbLEpI82gLxfl0a7fqTf2IJcAZJrP1FaSMooKbLGoxYWeoCUO/1mxp2bdXhm2++cQGrRx55xN59911Ts211mWzYkiXW1hW0eumzjS5gdfyt+TZm0gb7akFJvR4mIAFdHKgloAJWOu4UPFUrQHXJ0vJ4mpo0yrK/7HK8a4H1zI+T7cFvn3fBrOLSYps49x3776zHA8X17M87H2ftm7QJfOa/ZBfwW1wtWrTI/ZIeWt+MjAzTca2HZmisLEvw/3E+jc8dGBwYUBdWBQU06bOCBakyDhvHZ3wenyqVhqQYMmSILViwwAYMGGCrVq1yDwxavHixm3fwwQebrtVuu+029wOq1qnpVLr0Gdv08d5Wuvw1s+LAD1/pzcw0BT5r3qZPDrDSvPdrmp1Lt6Iwz27+fLzlbVhje7Xd1V47/n5764SHyo15uXT9ctO4mKVW6tap6Yse/KEAnno7KGinboM1XZd00RdIpOvS6GuwhUQSiK8AViLJUda4F9Bgw2oRcOyxx4Yd40p98NWkWRXRzZfeE3l6/fXX7cMPP3TjCyg4l5ubm8jVabCy//25Qvvv60X289ISy8ow69zai0hZBg8ebP3797c33njDWrVqZbqIjUjGUcrkT50OtH/se5Hp6YP3fPWk9XpugO3/zGl2/cd3umDWX3cfYKfveHSUtk628SbQtm1bN17JkiVL3GDuoeXTDbXOp57nWXZ2dujihPvO+TT+dpnGzrngggtcEECBAQUKFBTQpPHXFGTV+1VXXZX047BxfMbf8emXSENSaGiKnXfe2W699VbXbc5f1rFjR7v66qtdl0Jdr+kBGP6yat/Xf2/FP/3NbFOeec32tUYH/WiN+qxwU3rPyWYZgR+TNv5mJT+OMCtZX212foLpv860ReuWWtvslnbtPhday8bN/UWmMS/P3Ok4S/fS7Ie8uba8YFXZspp80EM99KOG6t2yZcuarEKaGArEzXVpDOvMppJDIC05qkEtEKgooF9l9dQTBQz05JPQFPp1bPr06e5CQoGu0OWJ9l2/bGl8BQVJzjnnHNd8PdHqEA/lbdrYrNdO6fbfs7Pt5ctzrP/emREpli7eLr30Uvv+++/duGxXXnllRPKNVibqPvjJ0q9sZeFq8wL/b5bZ1DTpc+GmDTZr+fe2pig/Wpsn3zgT2G233UxPH9S5VN1fQ4v39ddfm7piq5vIH/7wh9DFCfed82n87TLd8Cs4EC4woHHY7rjjDvM8z9555x3TuDvxV4PIlYjjM3KWkc5JP44qYKNhKpo2bVohez25VUF+tRpUC5gKCSqZUbL0ObPC+WaZbS19l7vNsjqXpfRaHmZpnS8PfE+z0vwfrHT1J4HPNftvU0mxbRX4+75N063d3/jQtVpn57qHtuRvLDB1LwxdXtl31U0BurS0NNd9Uv9+H374Yff0wfHjx9sLL7zgeglUtj7zoy+QaNel0RdhC4kiQAArUfYU5ay1gFq5nHjiia7v/dChQ23u3LlleWicjGuvvdbUHaZ37962//77ly1L1A8aGPOII44wtZRI1DrEQ7n/eVKWXR+Yum2TZl4EC6TuAmPHjnWDlnpeJHOOYCG3ZKVuArfPfNRe/mWqdWm2jT151K2uO8HUEx62icfdZ7u12tHeWfSJ/WP67a411pbVeEtigebNm9vFF1/sanjJJZfYtGnT3Ge9/PTTT3b++ee7c+3JJ59sCqRrfiJPnE/jb+999913rlD77ruvacwr9yXoRQGDTp06mf6+q9tW0KLqPibcco7P+N1lRx11lAugPvXUU65bdWhJ1Ttg/fr17kfGFi1ahC6u9Hvp+u/dMi97e7Ome7jPwS9pLQ8xa9TcrLTIbMOS4EVVfj5++8Pszf4P2v2H/itsAOublT+7v/Ptm7SxNtktq8wreKGGR1AQSy2wFLxSt0kNaZGVleWSqWvhxIkTTR5uBi8xF0ik69KY47DBuBZIi+vSUTgE6iHgeZ5dccUVpouJTz/91A0cqdYB+mVMFw0TJkyw1q1b25gxYyzcr2T12DSrIpDQAj+smmtvzP/QNBbWyL0GuW4EfoXUzeDqfQZbq6xc+3Tp1/bRrzP9RbwnuYAeOqCxXfSr+kEHHWQtW7Z0AfMddtjB1HXrsMMOs+uvv948L74DtEm+m5K2en/9619N3QVvv/32sHXUcakHYqiFS7t27cKmYSYCDSWgLq/jxo0zHce5ubl23XXXmR/MqUmZ0rv+nzXa92NL3/WRsMlLFbRS8Cq9iVmTrmHT1GamxsbS8AGPfPeiuxYY2P0U917TPPRvUa3RFMDSOhoD65xzzrG//OUvbtK1uAJaX375pa1cuVJJmBBAAIEaCRDAqhETiRJVQK0G1ExZg5rvtNNOpvFb1OpKgavhw4e7Li8a9DVR60e5k0QgzqrxbeAX19VFa61tk1a2ffNOFUqneWqZVVSy0T4L85TCCiswIykENFbgnXfeaU8//bTtuuuubnDi3377zTp37mx33HGHvfrqq6ZzblJUlkrEnYB+aNLQALr5D1e4qVOnuhvhAw44IGwLrXDrMA+BaAroCXw5OTkuqK/jVmO47bjjjm68UrUkrNW2G29jttWeZtnbh12t5LdXzYrzTS20vKa7hk1T3cxpSz53413u8/TJdtTLA90DXPRj1dje11jvDntXt3q55QpOaYbnea77uZ7KqO6EmpeZmWnq/dCsWTNTa7R58+ZpNhMCCCBQI4G0GqUiEQJxJqCxWDRgsP7o6YK2quJprAH94jN79mzTL0Gali5darfccovrl1/VuixDIBUF9LRB1VsDt6YFLj71OXjyzLM0b/Ofj00lm4z/JbZAbc6n6enpduqpp5rGvNK5VNPcuXNN3Qp1rk1sCUqfqALqnqTWf3ramVpe60EmiVoXyp08AgrUaExAdW1Vy3/VTE/SfOihhyyST2st/e0VK136tFlalqV1Ghp4b6JN1XrKTM+0Fo2bWW5gymmU7dZfkv+bPfvjZMvfWPOB4d2KW1788dq2fC17U0Da7wqsH0LKFvABAQQQqEZg8x2IWTXJWIwAAgggkCoCHXLaWOPAhezS9Sts4bpfK1Rb8+atWeTmqzWW+8ALAggg0AAC6pqlB2RoTB11y9pzzz0boBRsEoGKAnr4hR5uMX/+fNc6UIHWHj16uKEr/va3v7kfVSuuVcs5hXM3P52weJ15bU80r91ptczg9+R7t+1urx57rxsT652THnPjYrUPXA+8uWCaXf/JXabxMX9PXfWnrbbayj25Vt0I1Z0wXGq16tX8oqIivTHFXoAtIpCQAgSwEnK3UWgEEEAgegJ7tN7Zujbf1tYFfnH91yf32LKClWUbW7lhtf17xuZ5WzdpbQe261m2jA8IIIBALAUUvDrppJNM3QcHDRpkl112mXmeF8sisK2UFqhd5bt162Z33323qWWWumLPmTOndhmEpg4ErzZ90c9s/Q/m5R5s6TvfFUgRuVu7nm12sct6nmOZaRluuIDvV9W8vKqjpuLiYlOPiUDBKvy3ceNGN0/p3AdeEEAAgRoIRO4sV4ONkQQBBBBAIP4FcjKa2DX7XGits1rYz6vn2zGvDLbDXjzH/vTiuXb0yxe4C1ml+dveF5gevW38DwEEEKiLQD3W0c3vlVde6YJXeoDAzTffbH6Ljnpky6oIRFWgS5cu1q5dO1OLQT2UoM4bK15nxd+c54JX1mRHS9/1QbP0pnXOrrIVt2vW0ZpkZNv6TYVhW2RXtp6686qe6mauITwUyApOq1ZZGs5D8/yuhPrMhAACCFQnQACrOiGWI4AAAikosENuZ3viqDF2StejLLfxVramaJ2tLlprejLhYZ0OsEcOH2UHtaerTkMfGmwfgVQUUPBKT3PTU90OOeQQe+aZZ3iAQCoeCHFY53vvvde23XZb04OCqiqegq0aH6qqNJUuU/Bq5nFWmve+WZMdrNF5UgegAAAQAElEQVQeL5pldak0eVUL7pr1hB3+0nk28sMxVSWzdC/NDS1QZaKQhbvuuqupjr/++qtNmzbN/IHd1WXwvffeszVr1pjGwtpuu+1C1uQrAgggULkAAazKbViCAALJL0ANqxBo2bi5jdhroL3R/0GbcdpzbvrfiY/YqAMvt85bdahiTRYhgAAC0RFQS44xY8aYgle6QdaA2C1btozOxsgVgVoKaOynBQsWuICNuriGrq6HXiigoye2tmrVKnRx9d9Li6z4uyGbg1eZ7Sx9l/sCQawdq1+vkhRqXZW3YY39tHqerSjMq5BqzpqFtn5jgQtetcmu3b+zNm3auCcQ6umD3333nT344IP26KOPumnhwoWuxeRBBx1kehphhQ0zAwEEEKhEgABWJTDMrqkA6RBAAAEEEEAAgegLqDuSniB89dVX2w477GCTJk2yzp07R3/DbAGBGgr07t3bunbtah9//LHpyZjBTxtU0GbkyJGmFkj9+/d3LbVqmO2WZCVW/O0gc08czGhj6btNMC/34C3L6vbWu8Pe1ior1+avXWI3fTa+3NMGf169wO6eNcGKSjba7q13sro8tKV79+52zDHHmIJZKmFhYaEpoKUnM8qAf79SYUIg0QQatrwEsBrWn60jgAACCCCAAAIIVCOg4NUzzzxjenqbglevvfYawatqzFgcXmDlulK75plCO+G2fDvsxppNSnttYJ0VgXXD57p5rgIzY8eONY0Bddttt7kuch07drQOHTqYlr3//vumMdtGjRrlntK3ea2avJZYyc/X/R686v5YvYNXFvjfH5pvaxd0P9W1sPrfwul22IvnuvEuD3vxHDtjynBTC6yuzTvbtftc6AZzD6xS6/80FtYJJ5xgAwcOtAsuuMDOO+8869u3r7Vo0aLWeSXNClQEAQTqLEAAq850rIgAAggggAACCCAQC4FZs2aZnjSocXQ0+PWhhx5qGmso3HTwwQfbsmXLYlEsttFAAnXdrAJQFz5UYNN/KrY1BTXPRWk/CqxzUWBdfa5qzX79+tn3339vF110kbVu3doWLVpkS5YsMXV5veuuu+zVV181dSGsKo/QZaXLXrCS+beblRabFa+14q9Ot03vtgk/TdvJbN2s0Cwq/X7iH46wRw4fbWqNpXEuNd7l2qJ8a9uklf1l5/42/rB/uVZalWbAAgQQQCCGAgSwYojNphBAAAEEEEAAgTgQSLgibNq0yTT+lQqen59vGmeosmn+/PllaZWeCQFf4L6pRbZ8ban/tdbvWveetzZUu55aXSlYpSftqfWgpq+//toFtbKzs6tdv0KCko2BWVvKXVJotimv8mnjqkCga1Mgfc3/+0PzTnbLwVeZxrnUmJefnPasTTz2XrtkjzMtJ6NJzTMiJQIIIBBlAQJYUQYmewQaSqBbt26uqfYpp5xiWVlZDVWMhN/ucXs2sqlX59gDg7KtWR2uOSsDOPbYY00XtO+8847rYlBZOubHqwDlSiUBzqcNv7f32msvU+BK583qpnnz5ln79u0bvtAxKgHHZ82hP59bXPPElaSc8Uv986gk60pne+3OsEaHrLVGh22sfvrjMrOt9qw0LxYgEE6A69JwKsyLRwECWPG4VygTAqkgQB0RQAABBBBAAIEYCqzK39KKqR7bjEQe9dg8qyKAAAIpLUAAK4F3P0VHAAEEEEAAAQQQQAABBBBAAIHkF6CGZgSwOAoQQAABBBBAAAEEEEAAAQSSXYD6IYBAggsQwErwHUjxEUAAAQQQQAABBBCIjQBbQQABBBBAoOEECGA1nD1bRgABBBBAAIFUE6C+CCCAAAIIIIAAAnUSIIBVJzZWQgABBBBoKAG2iwACCCCAAAIIIIAAAqknQAAr9fY5NUYAAQQQQAABBBBAAAEEEEAAAQQSSoAAVp12FyshgAACCCCAAAIIIIAAAggggEDyC1DDeBEggBUve4JyIIAAAggggAACCCCAAALJKECdEEAAgQgIEMCKACJZIIAAAggggAACCCAQTQHyRgABBBBAINUFCGCl+hFA/RFAAAEEEEgNAWqJAAIIIIAAAgggkMACBLASeOdRdAQQQCC2AmwNAQQQQAABBBBAAAEEEGgYAQJYDePOVlNVgHojgAACCCCAAAIIIIAAAggggECtBRIugFXrGrICAggggAACCCCAAAIIIIAAAggknAAFRiBYgABWsAafEUAAAQQQQAABBBBAAIHkEaAmCCCAQNIIEMBKml1JRRBAAAEEEEAAAQQiL0COCCCAAAIIIBAPAgSw4mEvUAYEEEAAAQSSWYC6IYAAAggggAACCCBQTwECWPUEZHUEEEAgFgJsAwEEEEAAAQQQQAABBBBIZQECWKm89xO87r/++qsde+yx1qZNG/M8r7rJLVfa4447zpYsWZLgtaf4CCCAQOQEOJ9GzpKcEEAAAQQQQAABBKIjUIsAVnQKEE+5fvvtt3bMMcdYZmamC3Y0bdrUBg0aZAsXLoynYlKWgIACUPvss49NnDjRli9fHphTs/+U9tVXX7V9993XVq5cWbOVSIUAAggksQDn0yTeuVQNAQQQQACBOguwIgLxJ0AAa8s+effdd+2ggw6ySZMmuTnbbLONFRQU2Pjx4+3AAw+0mTNnuvm8xIfAlVdeWa/AooKSw4cPj4/KUAoEEECgAQU4nzYgPptGAIHkFqB2CCCAAAIRFSCAFeBUMGPIkCGWl5dn1113neXn57vgyKpVq2zAgAG2YMECGzFihK1bty6Qmv/iQeCtt96qdzGmTJlS7zzIAAEEEEh0Ac6nib4Hk7v81A4BBBBAAAEEEPAFCGAFJF566SWbPXu2HXnkkTZy5EjLyMgIzDVr1qyZ3XHHHaauarrA/+CDD9x8XhpeYOnSpfUuRCTyqHchyAABBBCIrkC1uUfiXBiJPKotKAkQQAABBBBAAAEEUlog5QNYhYWFNnnyZHcQnHXWWZadne0++y+tWrWy/v37W2lpqb322mv+bN4RQCBlBKgoAggggAACCCCAAAIIIIBAQwukfABr9erVrvWVAlc77rhj2P2x2267ufmzZs2iG6GTqOULyRFAICEESq3U7v/6aTvq5YG2z9Mn12rSOuO/eTaQQ2lC1JVCIoAAAggggEDkBT777DN77LHH7P7776/VpHU+//zzyBeIHBFAIPYCUdxiygew9CS6vLw81/JKTx0MZ92hQwdr0qSJzZkzx9auXRsuCfMQQACBhBe4Z9aTNi4QhFpRmFfrumid+wLBL+VR65VZAQEEEEAAAQQSXmDGjBmmAJYehFXbymidTz/91JRHbddNxvTUCQEEwgukfABr/fr1pm6ECl7l5uaGV2IuAgggkAICL/8ytd61jEQe9S4EGSCAAAIIpLpATOv/4osv2q677mqe59Vp0rqvvPJKzMr89sKP7dTJw2rV0jq4ZbbWfW/RjArl1ZjCFWbWckYk8qjlJkmOAAIJJJDyAawE2lcUFQEEEIiqwMoNq+udfyTyqHchyAABBCIgQBYIIFBTgeHDh9u3335b0+QV0mndyy67rML8aM24bebDNmfNwjpnr3Vv/eKhCuurFVWFmbWcEYk8arlJkiOAQAIJEMCKwc7ae++9LVWnSPGG+kUr39DtxPv3UaNG1Wp8gXDjESiPeK9ntMvXZ+RXdtiN+fWalEdoOdX12PPq9mus521eT3mE5hut7/y7ivC5OsLn/mjtn2jlG63jNFr56lwY7hxZm3nKI1rli/d8o3Uc6RzoeZvPh55Xt3flEe9+1ZVPx1ZtjsVwaZVHddtJ9uXROk7nzp1b76x/+eWXCvcLsx/fyjZNzajXpDxC9+uS/N/qXd5F+csqlLfemW7JILS8fI/M9YnOhZ5Xt/Oo521eT3mwPyKzPxLRccs/0QZ9S/kAVosWLaxZs2ZWVFRk1UX8GzVqZGlpKU/WoAcsGy8v0LJly/Iz6vAtEnnUYbM1WiVWidKbb1/vTYXLo7pzSk02Gok8arId0iCQ6gKROBdGIo9U3w+h9Y/EOTASeYSWK9bfI3FsRSKPWNc71bfXtX1hvQkikUe9C0EGcSEQiXNhJPKICwwKkbACKR+NycnJcQO062mEK1asCLsjFy9ebBorq1OnTqb0YRNVMVMDEjbQZA293alX51gkptB6lJaWWiSm0HwT7fsFF1xgkZgSrd6RLm8kjlHlEVquSByjyiM032h9n3HacxaJKVrlS/V8dYxFYgp11DEWiSk030T7HolzqfJItHpHqryRODaVR2h5InFsKo/QfBPtu46tSEyJVu9Il1fHWCSm0HLpGIvEFJpvo8M2WiSm0Hwj8bdeeYTmG4ljVHmE5sv3TyNyTxeJY1R5sD8isz+i5BiRY6WyslUR8ojZopQPYDVv3tx23nln1/rqhx9+CAs/ffp0N3/33Xc3DfbuvvCCAAIIIIAAAggggAACCCCQRAJUBQEE4lkg5QNYWVlZ1rdvX7ePHnvsMRfIcl+2vKhV1ptvvumeKHL00UdvmcsbAggggAACCCCAAAIIVBBgBgIIIIAAAlESSPkAllz79+/vWmG9/vrrpgEu/b69a9assaFDh9qMGTOsd+/e1qtXLyVnQgABBBBAAAEEoiZAxggggAACCCCAAAIVBQhgBUw6duxoY8aMcWNh3XDDDaZuhZqnAd4nTJhgGvtq7NixdB8MWPEfAgggkAACFBEBBBBAAAEEEEAAAQSSTIAA1pYd2q9fP9fSSu+atWjRIsvOzraBAwfatGnTrEePHprNhECKCFBNBBBAAAEEEEAAAQQQQAABBOJHgABW0L7o1q2bTZw40YqKitwT7tatW2fjxo0ztcYKSlazj6RCAAEEEEAAAQQQQAABBBBAAIHkF6CGMREggBUTZjaCAAIIIIAAAggggAACCCBQmQDzEUAAgeoECGBVJ8RyBBBAAAEEEEAAAQTiX4ASIoAAAgggkNQCBLCSevdSOQQQQAABBBCouQApEUAAAQQQQAABBOJVgABWvO4ZyoUAAggkogBlRgABBBBAAAEEEEAAAQSiIEAAKwqoZIlAfQRYFwEEEEAAAQQQQAABBBBAAAEEygskYwCrfA35hgACCCCAAAIIIIAAAggggAACyShAnVJIgABWCu3sZKvqunXrrE+fPuZ5XqXTNttsY5dffrktWbLEQv/32WefWU5OjnXu3Dns8tD0kfz+6quvujKfffbZkcyWvBJIQPve8yo/dlu2bGnnnnuuff/99xVqpeNZx62OXx3HFRIwA4EwAqWlpTZs2DB37mnRooV98sknYVKVn/XFF1+Y0nqeZzfddJMpj/Ipqv42evRotz0d735KHbM6dnUM61j25/OOQLCA/3fS88KfJzMzM+3ggw+2SZMmWXFxcfCqfEYg5gLXXHONO9edfPLJtmnTprDb/+6776xVq1Yu3T777GOrVq0Km27hwoXWsWNHS0tLs7feestdo+p8qfOmzp9hVwoz0/83FHz+VbKCggJ3OCAT+AAAEABJREFUPlfe+r554hWBzQI1ub/yPM/S09Nt9913t9tuu83y8/MtFv8Ld00Ri+2yjfgSIIAVX/uD0kRYYPHixXbrrbe6E+ynn34a4dzJDoHoCejC9uGHH7bddtvNXnjhhehtiJxTRsDzPLv66qtt1113tby8PLv22mtNF6qVAWjZyJEjXdrDDz/cLrroInfjVVl65iMQS4GNGzfaBx98YMccc4xdfPHFpu+x3H6FbTEjpQUOOeQQd35U0H/FihVhLT7//HNbuXKlW/btt9/aL7/84j6HvsyePdt0/brtttvaLrvsErq43t8vueQS07ldgax6Z0YGSS2goGmnTp0sdFIDAVX8q6++suHDh9vxxx9vq1ev1iwmBKIuQAAr6sRsIBYCr7zyimsZoNYB/lRUVGT6papHjx62fPlyu/76640/1rHYG2yjNgKjRo2qcOzq11u1vDruuOPcTdk//vEPW7ZsWW2yJS0CYQXatm3rfi3VL/tvvvmmPf7442HTaaaWKU1ubq7pV8+mTZtqdtQmMkYgnMAf//hHW7t2bYXzpP6u33jjja6Vyv3332/vvPNOuNWZh0BMBLbffnvbeuutbf78+fbjjz9W2Kb+rr/44ovWqFEj69mzp61fv94q+2FVrWN1Lbv33nu7PCtkVsMZxx57rPt388gjj5Rbg2BvOQ6+VCHw97//3R3TOq6DJ7US1H3WE088YU2aNLGpU6e6a4sqsmIRAhETIIAVMUoyijeBjIwM23PPPe3uu+82dTV499137Ycffoi3YlIeBCoIqFn2jjvuaGPHjjX9yvXNN9+4YGyFhOVn8A2BGgn86U9/Mv0Cr8S6ONXxpc/Bk+Zpmeb93//9n7vh0mcmBOJFQF2xrrzySjv11FOtpKTEnn766XgpGuVIQYEOHTq4a04FqnT+DCVYunSpC1jpb7uOW8/zTD++FhYWlkuq7x9++KGbp5avCni5L7wgEGcCulYdMGCAG5pARVMQSz826DMTAtEUIIAVTV3yjguBLl26WLt27dwYGbqwqLxQvy9RS60JEybYfvvt5/p4e97mMTiUl8aBWbNmze+Jgz6p1YzGLVJLBc/z3Lq9evWy9957z/0KZtX8T81vTznlFNcMXeMj6BeOalZhcRILtGnTxrp27epqWJNjV+NceJ7nWsu4lUJeqlquY23QoEFW12M3ZFN8jWMBz/u9K6FasVx//fWupZ9fZJ3/rrrqKtdyVeej888/31/k3tX1Rd229MOA53nuBwJ913yXoB4vanXw8ccfu25hVeWvm7x+/fq51jfhxnFRizHP89x4Mxp3JrhIupFUtxwFQEKXBafjc/wL6OZeraxV0tBWJf757vnnn7e//e1v7u+xbrhOPPHEshatNT3elP99993n/jYPHTpUX8tNau2trjae55nSBS/UNtTF0fM2L9O4bxrPSJPOu88884ztvPPOLm/P8+yAAw6o8TVD8Hb43LACWVlZ1rt3b1eIcNd8OteoBcu+++7rxm5T90B1KVRXQbfSlhd1P1QATK1a1AJry+yyN433FnrMqEXX//73vwrXmaFjYPnH6aOPPuryUytvz6t4zaDjkusBR8RLDQT22msvl0rHt4YecF+2vPjHa/fu3cvOcWqpqC6sld1L6Zypf0M6F3re5vsv/duiEcIWVN4sLaIGZIZAHArMnTvXfv31VzcQsQbGrq6ICiKp2fWf//xnN8ixbnLU91sXp/PmzXPjBugCWOmC89I4RRqv6OGHH3ZdFdVyJjs72/RLmrpA3HzzzRUuLoLX102jBpx/7rnnTBctamquQTyD0/A5tQR+++03++mnn1yAoHXr1lGrvAZB3mmnnWz8+PFlx27z5s3Ljl39Whx6cxi1wpBxTATUldDvfvXss8+Wa72iG/6JEyda+/btTWnUmlWF0kXlnXfe6cZl0zGjeTo3KtCk7zr/abnSaVltJx1jOtb2339/NzC38lX+ykf5a+yuW265xZ1H/ZtFbevtt99WkrJJwS1d/GqGxpvR3wB99ieN2aEfG/QjgX6U8OfznngCCuzPnDnTFXy77bZz76EvakGogKb+luu8puNsq622ckHbmh5vylN/lxVU+OijjyoMvq2uYOoSpnQzZszQW9mkgISOUXXFPeigg8rm62/+4MGD7bTTTnNjIelY17+16dOnm64ZdD4uS8yHhBDQ/lVQVTfaGmcwuNA6BnS+UgvYdoEfVXU86dr066+/Dk5mfqCrW7dupm6JwQvVZUuBpdBjRv8GDjvsMPc3PDh96GedU//whz+YjjMt0wM6dNzp34W+a9K5lusBSTDVREDn06eeesolVZBKx5T7EnjRfdLpp5/uznEKymqZ7o30w5kaAyi9jt1A0rL/9G9E90s6B+pcqHsvraN7KTUqeP/998vS8iF1BQhgpe6+T/qa66SqE54GHtYfff1qWpObFT1NQ81gdaJcsGCB+6VWvyqoWexLL73kgglaPm3atDJDnZh1Iaptarwi/QKhX7C0zlOBE7vGm1F3HJ2My1YK+qD1Lr30UnvggQfcAMsKYhG8CgJKsY/6xUo32frVftGiRaaWBLrYjQaDjt1zzjnHjccRfOzqpkvHuS5uFTSge0409Bs2z6OPPtouuOACV4j//Oc/pnOWgj3XXXed+6VU50K/BaASqaWTzlP6rJtr3YDr3KiLVI2DoaCSgvAaWFtpajvpGNOxppsrnQuVr/LXdtSdVufRESNGmFoVKG/9IqsbMp3ndc7VPE26OP7yyy/10U2h5fFvJDXosn5kcIl4STgBtaTTcavWKDvssIN7amu4SqiVi45Ppdd5TQFa7ffaHm/6t6AgrVoaBg++rRsuP2Cq7evY00M49FmTBuRWQGOPPfaw4GsQ/UAxZcoUF3TQMa5jXce83+JRx7yOZeXBlBgCakmnLoIKkGt/+qXW+UnnKf2IqqEtFORS90At13lV7/6kVlI6ptT6RDf8/ny9K2CrgJceTqSnvmkbtTlmdPzOmjXLzjjjDGVnGhtLeQwZMsR953rAMfBSAwFdp/7888/217/+1fQjmP4+6z5I1wFaXcewriV0P6NArM6L+kFJ1xk6P1544YWmeyxdg+i8rHU06d+DWswqP11n6PjWOjpfHnrooe7HLaVjSm0BAlipvf+TpvZ+M2jP29zU1PM8F2hS9z39sVerKN1YeZ5XZZ3VnFUnWUX8//nPf1pwEMnzPFOXFbXOUia6CNC7JnU31IWmutvoyV66ONZ8z/Pc+BwKoukXLrWm0fzgScErBdfGjRtnugjXr1/qWhCchs/JK6CuWp7nuYCB521+18WtHk08efJku+GGG+z2228v+8U00hLq7qJjV0Gs0GNXFwu6ifI8z9SyRhcSkd4++TWcgI6za665xnTTpZvse+65xw3CqpvzgQMHmlqa+qVTqyYdCxpr6N///redd955rkuWlqtblsbBUABUPxZo3EHdaGlZTScdWzrGlP5f//pXhfx1jtQTFLV95a8bfpVb/04U7NWFsNbVpLqoW44CXKqjfuFV+bXMv5FU4EvLNY8pvgU0fqVaTHne5vOj521+b9eunenv9KGHHmrqPlXZ303tZ/3d9rzN62nf1+V4099wtXJRSyu1uPLVdPOlY0x/vxWg0r8ftazxlytwoX8Pffr0cV20/fl6101c8L8lXTvoOFfddEzrBwylY0oMAbXyUxdB/Xipa0+/1NqXOk8pgKQfhTRfP0qFtujTecoPhqqlltKFTjpmhg0bVnZNEMljhuuBUG2+h7tG9TzPPYxAQX3duzRr1sx0H6TzrC+mv8OPPfaYG+Bdy/S32l+m9GqBpVZWarGqh8Vomc6TDz74oBvTUOfB4HOjgr/626+/+0rLlNoCaaldfWqfCgI6IermR78C6BeBquqsk6q67ukm56ijjqqQVDdDCm4FL9CFin/BceaZZ5ZdVPhpPM+z//73v64l11lnneXPdu8q25gxY+zee+91wSudxCu7CHcr8JJSAjpedTOvG3sFOiNdef0Kpu4wnueZusyq5UvoNtQlQl1z1OpArXNCl/M9sQUUpB89erQbS0pdre644w53LlJgK/h4UEBILVl0Edm/f38XcA2tuc6ZCjToCVq6qQ9dXtV3tVDRjwK6cdcPAaFpPc8zBcm0fV3w6lhU6wS1UtCvuiqbv462r8/nnHOOe4KXWhX45fFvJHUxzYWwlBJ/0i/2+hsfHDQKrpVusjS2X/C8uhxvWl+t9jzPM/2t1t9vzZszZ45pOvLII+3AAw80HY/+U+j8gISuHcIFJPSjmOd5yqZs0jWGAhtq4eBvo2whH+JawPM8UxdoFVJj+eldk64RdVzo76l/LKpViroJ6m+rgp5Kp/OUzlc6D6p7leaFTuGOGZ0LdS6vzzHD9UCoNN8loPORgq7+pO+ar0nHos6Fat2qbq2e9/u5TH+Tdcz3CQTu1fpU6YMn/TtQ4wPN0zlc7zr+9fdbQVkt87zf89NyjZ0V/MOa5jGlpgABrNTc70lXaz3JRTf7wZMu/NTiSeMFqGWVbn78ric1BVDQQCfmd955x/RrgboVPv744+VWV7BLTbB1wal+2uUWVvPlySefNP3KoGS6eFBe+syUYAL1KO6oUaMs+LjVZ7Uy0S/v//znP93DB9RtSoGFemwm7Ko65tQ0W9vUvw8NKhs6aXBOBQsUqNVxHjYjZia0gN+VUMeBmu0rkBUaSFcASy31dEGqViihx4m+9+3b13ScKJCg46o2KFpHrao09orG5wq3rh5qoBs7Hbf696E0KrvneaYLYJVfAQO1eNETwRRMUJBKaRVgUHr/RlKBL930aR5TfAvoV3odV9q/wZPmqTugbqz0w9Nf/vIXC/c3VC2jQmtY1+NNLWh0jKoFlq4NlK9u1HTsKril86Xm+cELHXcaOkDdynQsapk/6Zoh3LGuG0TVyU/He2IJ+C2rvvjiC3c+1LWobvI9zzMdI35tdP7ReUgt+tTKUPN1vOh8pW6GOodpXvBU2TGjHxt03ASnre1nnVd13ta/Ma4HaquXvOk1/Imu/fxJrVfVtU/XCuoloJZWjRs3rgCgwKxm6tjX+U/XCKGTWnMrje7VdO7WeVldBfW3XgFZLQud/HNs6Hy+p5YAAazU2t9xW9toFEzdWjRY5V133WX6JV5BAY0boJNkVdvTL1gaU0MXm+pqoBsmXXToiRn6ZaCqdWu7TBcK+hVOgwnr5jD0aWC1zY/0ySHgeZ7p4lVdsvw/8GrFpwvbSNZQF6wK7ipPXTSodUropG3q347SMCWngFqHKBCk2umiUYEffQ6edKzoRkzz9BS10ONE3zVfy6M1aWwNXdjqvKmAgbajgIIuinVu1q+3CrQpoKBffBWEUwsHlVvL9a6Lac/zTL/uan2mxBXQL/j6NV7jr+jGXvtWXQkjVaNwx5sCTmpho5s5DbbtH1NqGagnW6pln+d5pgCWxijSsegHfaP5II5I1Zl86gRY1ioAABAASURBVC+gazqdd3QDr4CQAp0KeOo8pWMkeAt+qzyNqapjScF3vavbq46/4LTR/qxzPNcD0VZO/Px1b6WuffqhS9eGGhdTD7EKrZmOfc1TQwBdH4SbdMwpjT/p2Nc9mP893LuCteHmMy8xBepaagJYdZVjvYQR0MlOF7kqsH7d0q+2+hxu0o2RBhFWU1gNwqmnXmn8KrW60vgFumlSN8Fw69Zlnn4Zfv311+2hhx4yXdzqQlwDy9YlL9ZJPgHP8+yII45wYwgowKRfpyJZS9306SJZ3b40houO/6qm4PENIlkO8op/ATXp9zzPPRVLx2FVx4lu3KPxK6laV+nfgQJuar0gNXUpUCsGdQnTL8HqiqMbRv8GUN0XlE4DI6vcld1IKg1TYgro77R+BFLpFVTSeySmcMeb53mmroI6/vUwgLy8PPfUOAVS1WpKP3zpxwcdiwpcqWWgyuIHKvSZKbkFdG7SOUn7X62XdUwq4KmWWTpfBdde3QT1I6laa+n8pO7ROr+pq2Fwulh85nogFsoR30aDZOh5nuneSA8iUBDrkksuMbWiCi6MxgzUdz2UQufLqib1ctEPEjr2FSBTEEuT1mdCIJwAAaxwKsxLWQFddI4ePdqNB6MxszQIp1pwaXwgXWiomax+IQgGUgBAv8qqGbhaqwQv8z/rCUg6OetpHcEnZV3kaHwOXYBroESl11M7dNGjz0wIREpAN2Nq5Recn1qz6OJZQd158+YFL+IzAuUE1D1aN2a6yfJ/WS2XoJ5fdNOvGyj9cLBs2bKwuWnbamGlsQo1WLIS6YL3mGOOMZ2X1XpBQQXN9wNoavGg1jEK0Orx27qRVItabU/pmFJTQPu/LsebtDRIt86bOt4UcFDwVC2v9DdeP0Sp9Z+OUz39Ui3/1BLQPx61PlM8CUSnLH7A0j8GdPOum32dr4K3qONQ3QXVelWt9RTIUncrBUKD08XiM9cDsVBOnm3ofKcxWnUe1fH7n//8x9Tayq+h7mv0WYGt6nq+KJ0mXWfohwD9CFXZfZAaEygtU2oLEMBK7f2fErXXjc3LL7/s6qrBqNXaxH0J86ITrX41q6wbjR4Z698g+avrpk6BKH1XS63gE7jm6bu2r1YJupnSrwuaHzrpqV8HH3ywqQXBjTfeWO4PQWhavqeOgH7BV3DUv7isquYam0XLFYjVBbM++5OCDro49r/rXUEA3czrc7hjV/PVckW/pOmCWkEAzWNKPYEuXbqYWrnoWHzppZfcuG2hCupGoIC+uiBWFswPXcf/rkC+WrEoSKWWqP58/13Hs1qn5uXlmdLpItdfphtABan0BFd1IQvuqqNAg7r06GJYD8tQPrq59Lzyg8P6efFeS4E4SK6gpwJJKor+xuq9uqk+x5sfdNCNlI5JXWPomNI2dfz36NHD/fvQ07QU3ArX8kZpmZJXQD946tyjroHq2qqbfB0HoTXW8aLWomrd/8Ybb5gC7AqQ6m9zaNpof9c2uR6ItnJy5a9jdfjw4a5Sjz76qKkllfsSeFErwtzcXNODgkKvPQOL3Y9Ouu9RIGzYsGFuvFf/GNQ59amnnnLnUaX1Jw0ToOsP/zvvqStAACt1931K1FxR/Msuu8weeOABV9/TTz+9wmOs3YItL7ow1YWG+mq/9tprZSdP3fToCVl6OpZ+adiSvOxt8ODBZV0ANWaRLka0UK2t9NhXDTSrC+bjjz9es8NOChLoFwyNu6XyanDEsAmZmRICGihTA7xrAE1VWE9+0/Gpz5VNumjWMv2Bnzp1qj66ScErjVkQeux6nmdq3q2LDAUNNJaBPwaGVtSTtIYMGWKap+6ufoBMy5giI5AouagLoboMaOBWBdjVUtU/z+n8qIGqdRG6YcMG00VtdcdqaL11/rv44ovdbB3zuvnX+VMz9K6HGGi72r4umHXRq2WaumwJrqmFlcqhX351Iaxl+oFBLWIUeNMA7rqp9H9w0HKmxBXQj0Pqgq8u/9q/2u8an6omNarP8aaggx5YoB+7HnnkEVPwVOdHf7u9evVyH/Xjg27ETjjhBAtteeMS8JK0AmqVr7+XunlXKyyNiaVAergK60Zfx8fDDz/sbuoVDPW82ATYFYT1y+R5HtcDPgbvNRLwPM90/6MfONWVUE8vVpBJK2ue7rmKiopMvVj045KuFbRM526N66rhU3QdoacZ6sd9z/v9GLznnntMf/f191/r6DpUT5v1f6zQPKbUFSCAlbr7PqlqrgF5Pc9zj3b3vN/fdbNy5513urrqRlw36+5LJS/qBqATrU6y+mVArbX0a77edROkQIA/npZu7v1sdOF83333mcbbuuGGG0wXx1pP77qp0wXv2LFjLbjVgL9u8LsufC+88ELTHwI9nbCyrjTB66T454SvvrqOet7vx6znbf6soNLf/vY31xLvqKOOMg3w73lelfU99NBDTd0U1EpF77qI1qTjbu7cuaYbqdAMevbs6QK8OnZ1waAbfrVA1HrqyqAxg3R869+Rghih6/M9dQQ0BtpNN93kzk86NnV+03lOwSIFhRT4r+mxGk5NgYjLL7/cHfM6V/v567jTeVTnRW1f5QheX8v9lgOarxYNOufqs6bgZWqtVdvgmvJgajiBd9991/Q32PO8cn/j9WOPjje1jFbXPQUAdN6qaUnrerwpfx3v+rFLn0NbBCpwoWsPLVNwS8ecPjOljoAC7ApMKaCvIKaOF/1tDSegG339rVUr/VgdLwqoqSwKOOh8qB8k9J3rASkw1UZA14s6jrSOgks6D+uzgrL6EVbnaF0b6OnFulbQNYOemKkfovy/6Qraah1NOgb1lEN91t99/X3XNvTvZ8KECeafW7WcKXUFCGCl7r7fUvPkftMJTwOuqjWKbsB1k15VjbX89ttvd1F//VHXBYVOvLo41h94XSirRZdOzBr/Qi28/PwU2NKvWXrioeZpPf3ycPLJJ5vGNtAvDJpf1eR5nl1xxRWmC5pvvvnG1OJAwbSq1mFZcgroD/x+++1nahn1yiuvuKBodTXVRfOLL75oagWoGzkNeK1gloKx6sqg/MLloWNX3XCUThcL6v6ldTV2i34B00WJPodbl3mpI+B5numi88svvzT/fKbznJ4kpCCnulNNnDixRsdqODWdf2+++WZTwELnbZ0/lb/SKtigc6ICXJ7naVa5STeLOi97nmeh4w3pfOoHG9RyJisrq9y6fElMAbXGU8tmPa1V3abDddGqqmb1Od7UmsYPAuiHL517/W3p3Ksglr6r222XLl30kSnFBBQ497zN56rgG/RQBt3Uq9Wq5ocGQzUvGpN+0NUDifRvSC2z9TdegTZti+sBKTDVRuCkk04yjUWpdfQgLA3Hos/6EUrXr08++aTpGkHXCv7fdF1DVPY3XfnpfkpPR1YLLF2TtmvXzhTA0g+typupvgKJvT4BrMTefyldel0wvvPOO66bn4I84SY18Z8yZYqpZYqapwaD6SZHAap58+ZZ+/btyxbpBl5P1NAJ089TrVdGjBhhGjxYraTU/FVPlgl9oowuWtUkVjdeWlfvCkBoftkGAh/UgkDL1f0g8LXcf/qlQXlr+dixY90vzuUS8CUpBLTvtY8rmzTopbpDKQCqG63gSut41XGr41fHcfAyBb70a5iCq8pbx+C4ceNMx9XIkSPdvxe9B6+jz9ttt50pnbar9TTNnTvX9G9B/yaUhil5Bfxzko4rHV+V1dTzPNMNuwJVOrZ0nGjSAy9OPfVUCz3P6ljTch3vfp46ZnXshtuW53mmFlQ6b/v5613jYfgBAz+f4Hf/vKxfdENvFv3tqRx+N8XgdfkcnwL+Man9Fm7SjY1aQl9//fWmIEBoLXTMaT0dg6HL/O+eV7fjTT+O6aZf+SvI7+en9+BrEx3HoedP/fvSsa9/Azo2tU7w5K9f2fLgtHyOXwGdh3Q+0jGiXgKVldTzPNN1o9Lpmlb7PzRtXY8Z/9+Q/i0E56nAwmOPPebGHdJ29dAi/QDgp+F6wJeo4j2JF+kY1LGoY6Oq86dPoHPcq6++6q4v9QAL/bDgL9P1q7oS6hpB+WnS33RdQ1T1N13LNK6lzvNaR/dkZ5xxhmk4DX0PPab97fGeGgIEsFJjP1NLBBBAAAEEEEAAAQTiQoBCIIAAAgggUBcBAlh1UWMdBBBAAAEEEECg4QTYMgIIIIAAAgggkHICBLBSbpdTYQQQQAABMwwQQAABBBBAAAEEEEAgkQQIYCXS3qKsCMSTAGVBAAEEEEAAAQQQQAABBBBAIEYCBLBiBB1uM8xDAAEEEEAAAQQQQAABBBBAAIHkF6CG9RcggFV/Q3JAAAEEEEAAAQQQQAABBBCIrgC5I4BAigsQwErxA4DqI4AAAggggAACCKSKAPVEAAEEEEAgcQUIYCXuvqPkCCCAAAIIIBBrAbaHAAIIIIAAAggg0CACBLAahJ2NIoAAAqkrQM0RQAABBBBAAAEEEEAAgdoKEMCqrRjpEWh4AUqAAAIIxETgs88+s5ycHPM8z01PPfVUtdudM2eOdezY0aXXusqj2pVinGDJkiXWuXNnV7dYlK+goMBuuukme+utt2Jc04bZ3CuvvGJpaWkW7njJz8+3xx9/3Pbbbz9LT093x4nneda1a1e79tprTfsmUqUePXq0y//ss8+OVJbkgwACCCCAAAINKJCiAawGFGfTCCCAAAIIJKjAyy+/bJs2baqy9NOmTbNFixZVmSbVFl5yySU2cuRIUyArFequQN3WW29t++67b1l1S0tL7emnn7YOHTrYWWedZZ988ok1b97cOnXqZG3atLGff/7Z/vOf/5gCi3fffbcpfdnKfEAAAQQQQKBeAqycLAIEsJJlT1IPBBBAAAEEoijgeZ69//77tmDBgkq3ouDWiy++WOnyVF2wcePGlKn6qlWr7KOPPrI999zTBatUcQWjbr31Vjv99NNtzZo1dvHFF9vy5ctt5cqVNn/+fFu2bJn7fuGFF5qsFPB74YUXtCoTAgjEiwDlQAABBOJAgABWHOwEioAAAggggEA8C7Rr1851+VLLKrWwqqysP/74o7399tu29957m9apLB3zk1fgm2++sZkzZ1rv3r0tKyvLVfSDDz6wq6++uqxb4R133GGtWrVyy/wXff/vf//rglslJSV26aWXmrqjWhL9j6oggAACCCCAQP0ECGDVz4+1EUAAAQQQSHqBzMxMO+mkk1w91cJKLa3cl5CXqVOnulY1J598smmdkMVlX7///ns799xzrWnTpm6MIo2F1KtXL3vvvfcqdB3TGFUaS6tPnz6uBdguu+zi1tlmm21swoQJFrz8119/tauuuspatGjh0uhdXffU6qds4yEfiouL7ZlnnrGdd97ZreN5nvXs2dP+97//VSiLv2pNy++X7dFHH3WrHnfccW4bGpvpvvvuc5/79Olj69atc8tDX5TO8zwX1FErJv+73n/44Qfr169f2ThSKr/qofqE5qPv6r6oAFE6FeNTAAAQAElEQVSXLl3cdj3PM33WPC1TmtDp22+/tWOOOcbtS8/z3La0nyZNmmSVbefDDz906f/0pz+Z/qdjRV0Ci4qK3DF04oknuu1rWeik42D48OG20047uf2xevXqcklk8PHHH5crk44zlVFlLZe4mi86JjQumQw8z3Nl0ufKPDSOlud5JvtwWYdbrrSe59moUaPsnnvusSZNmrjtHHjggab9Fy4f5iGAAAIIIIBA5QIEsCq3YQkCCCCQZAJUB4G6C+imW0EjBSjU7Ss0JwVBJk6caEpz8MEHhy523xWAuPPOO61bt2728MMPm4IaGgMpOzvblO8f//hHu+iii1w3MrdC0Itu+BUY01hJ2oa6qmnsJD9JXl6eKTiioIG6obVv3940T0EKtQibN2+en7TsXdsfNGiQnXbaafbLL7+48ZgyMjJcC6LDDjvMxo8fX5ZWH2pbfgVX/vCHP5jy1PoKqKm+Gvvp8MMPt3bt2tmMGTNMATEtD54U1Jo8ebILePTv39+9+8s1ftRBBx1kr732mmvJpHyVh+rhd8Pz0+p94cKFrkXU0KFDTQ5yk48+a55aSymN0vrT888/b7vttpspWKV6+OXWflLA6IYbbqgQ4CssLHRBSO3f7bff3mWlVnlvvPGG+3zmmWeWWbgZYV622247mz17thvwvkePHmUptE+vvPJK23///cuVSQlUxl133dVuueWWCmXS8tBJLcS6d+/uxiWTgSxkos/y2GeffZxT6Hp1/a5Aq7pNZmVlufG+NJB9bm5uXbNjPQQQQAABBFJWIC1la07FEaiLAOsggAACKSqgwbUVdFErJ41xFMqgwJJaxyh4pWBH6HJ9V1eyyy+/3NRF7Prrrze1sFEwbO3ataYB4tVC5d577zV1MVP64ElPp9txxx1N21ewReseeuihZUm+/PJL0/YVdNKyxYsXu/G6VB4FURRAUJCtbIXAB7UO+vrrr03jMymooLJo3fPPPz+w1Gzs2LFubCb3JfBS2/IrADRr1iw744wzAmubPfLII27MpyFDhti2225rffr0sfXr17tgjUsQ9PLVV1+5saQ0ELoCKkGLTONDNWvWzFRnjR+1YsUKmzJliikoMm7cOHvggQfKkqvOCmp9+umnJguNYaZ1fB+1CtMytXxSkEgryuDmm2/WR/ckQe0f2Wg7erKgnjCofaTugi7Rlhd1+Zs+fbodcMABrhWcZs+dO9e1ylOwTkEjzavLpAHgFaBSMFD1UxlVJtVP+0llGjFihL366qtVZq86XHDBBe7YUJBSHrKQicqvYKfqpcCmgohVZlbDhdqXOt5/++03N96XjtO2bdvWcG2SIYAAAggggIAvEPMAlr9h3hFAAAEEEEAgcQQUIDjhhBNcgcN1I1QrGLV4UrCmUaNGLl3wi4JFflcyBYg0JpJaXimN53mmQIq61em7glBLly7Vx3KTWuC0bNnSzVMgQ13O3JctL8rzvPPOc13dNKtjx4724IMPmlrYKMCjLn2aHzwpuDNs2LCylkEqk/JRwEXBDY37pfSRKL/y8ScZyUrf5amAjD770+uvv+5aqB111FHuaX3+fL2rRdTDDz9su+++u7661llHHnmkqfubZijAoxZq+qwWU9o3ahGlrowy0XxN+qwWcV27dnUBRAWyNF9BNQUM5aaWXp7nabbbjrqSapK/Wq25BVtePv/8cxes8rsParaCTHrXflPQTZ9rO8lG5dR6//rXvyx4H+sYUKsp7TMFRnWMKailtOGmN99807V6U50feughk4GfrkuXLvbkk0+640VPUlTA0l9Wn3cFf88999yy41ItseqTH+sigAACiSRAWRGIpAABrEhqkhcCCCCAAAJJLLDXXnuZbsYVFPEDE6quWqqou5vGYdpvv/00q8KkllN6iqECN+ecc47pPTSRgjXqfqbucGq1Erx8q622ctsOnhf8WQGSAQMGuCBL8Hx14VNwRwEojbEVvEyfNY6U520O0Oi7JnXJU2BD4zxpPc2rb/mVR+gkK5l98cUXFjyGkwI2CripRdqxxx4bupopQBTaKkuJDjnkEGekFkQ//fSTZrlB9dX1UfVUgMbNDHpRazl13VR3Sr9lnYJTGp9MwTt1FVQrKuWh1bTfNNaWWiwp6Kh5mrRcQR8dHzpONE+Tgpp6Vxe9ugZu1H1ULdkUVDzllFOUXbnJ8zzTvtcxoC6ZKm+5BFu+qIx+C61TTz3VdRndsqjsTYEtdVVVWnXRLFtQjw/KU63j6pEFq6a2ALVHAAEEENgikLblnTcEEEAAAQQQQKBKgQ4dOrgBtBXM8YMdWkHBJn1Xl6zKukapRZVaBSkPBZW0XuikoImCLAoeqEti8HIFlSrLW+nUwkgBDn0OnjzPMwWJNE+BMb37kwJE4fJUAEcDx/vp9F7f8iuP0EnblpmCR2px5S+Xp1qLqcufAnr+fP9dY0OFCwZpbC35qQWS9pGCb36d1RJN3RbDTeoWqLzVJVHvrVu3NnWh02d1SdS4VAognn766a6rosa60rLgSQEtdR9UF7ytt966bJECgfqi7nPh1tOy6ibVRXXS4O4yC5deAbJ27dqZjjEF3sqn2fxN3UT9ZRpLa/Pciq8aT0tzdQzWtcxa3580Zlvo8eQv4x0BBBBAAAEEai5AAKvmVqREAAEEEEAgNQW21NrzPBfA8jzPPQHQv7lX8EXjJ2lwb88r35ppy6o1elNQRsETJfZb7uhzTSYFCBR4qknaaKWpbfk9zzN/gHa1uFLLK5VNLZwUfFKXTXVp1LzgqaZd8bR/li9f7lZV8EZdIsNNWuYSBb1ceuml9u6777pB0zVbaTQOVd++fU3WerqjgkpapklBNwXLNE6aWmlpniYFszzPc10L9eQ/zYvGJHsFsRT8DC5XXbalIKvWU521H/SZCQEEEEAAAQQaXoAAVsPvA0qAAAIpIEAVEUgWgZ49e5pawqi1jQa9VosXjbG0yy67mFrf1KeewQEXv+VOTfNTdz8FL2qaPhrp6lJ+dQXUQO1+N0IFnKZOnWpqTaRgULhyqq7h5ofOUyBJwSbN1wDo8qlq0iDzSqvJ8zz35EK1rFNASGNHDR482A0Ur7Gm9HRHPfFRaTW9/fbbpmBb6DGg40KtvtSKSgPmK21Vk8qn7ah7pd/dr6r0/jLZq5WX6qzWev78urxrUHetp2BqVlaWPjIhgAACCCCAQBwIEMCKg51AEWokQCIEEEAAgTgQUIsaBVZWrlxpGlNK4y3NnDnTtSTSDX9lRVRARi1kFBxQ16xw6dQCSQODe55n2k64NJXN05hPCmCELldAZPbs2W72Hnvs4d7r8hKt8qvbn8b+UjfCiRMnmiy/++4769Onj3tSYbiyarD0cC2D5Kfxn9TdT0EjBV/87ppqISWLcPlVN0/5aNwtPSFSATYNpK513nnnHdP4Z5o0LpqCcQpuapk/aT/qqYT6/vjjj5ta6ulzZZOODQWuPvnkE9OxonRqEaXunmrhpa6Kmhc6KUCm9Gqd1qpVq9DF7ruCedttt537rACs+xDyIiNZaba2q4CYPlc1KXgml6rSsAwBBBBAAAEEaiUQNjEBrLAszEQAAQQQQACBygQ0eLfnefbKK6/Y888/75Kpa5n7UMmLH8hQ4EVP0NN7aFK18lGwScEXtdwJXV7VdwUwpk2bViGJAiLq4qgn9/mBlAqJajAjmuXXQO0K0CgI9NJLL5mCKHpCYWXBE9VTgarQYqsV1Lx580zjZmksLC0/+uij3cD2MpCF5gVPCj4pWKYB0O+44w63SIOxK3ijgd/V+srN3PKip/6FBgJVFo2fpScWahyzLUndm+pwxRVXmOqnY+WFF15w9XMLQ14U3FLLLj0BUeNQqQulkmgQ9N122820j5999lnNKjfJS90b1e1U6TQwfbkEW754nmca0F9f1U1T3Sn1OXiSkcqoeQra6V2TH5jT8antaZ4/LVy40NSCzv/OOwIIIBAfApQCgeQTIICVfPuUGiGAAAIIIBBVgR49epgCTHry4F133WV66pwCB1VtVIGMiy66yBRIeuCBB+zGG280PziigICCYeo6pjwuueQS08DX+lybSespUKP8tJ4CC+edd54pIHLWWWeZWghpfl2mSJTfb9kTun0FnDRgu57S+NBDD5kGnVcXutB0/nfVR/VS/TRP9VW9VX/P82zEiBGmll1a1qtXL/fUQq2jJ/gFP+1QYzxde+21bqwrBaY0oLzWUauttLQ001P4brvttnKtptTyTvOUTseBWjUp8KbWX3oKouaHTnvuuaddd911pq6Hp59+ug0dOtRWrFhhwf9Td1Q9/U+Dxmvb119/vfkDtqsuF198sUv+97//3TQgvd+NUu8KvOl40nrDhw+30CCaW3HLi1oP6jhQi71zzz3XfEMtViBOgUNZKd2hhx6q2W7q3r27e1eAUV083ZfAi9bXvtA6ga/8l2wC1AcBBBBAIK4ECGDF1e6gMAgggAACCMS/gLoKavBxBU7UakZd4BRkqK7kCqZoLCYFGhTQ0DpqbaUub8cff7ytX7/ehgwZ4gIc1eUVulwtfNR1TGXRu1oQqSWOgkIKDv373/82BaFC16vN97qWXwEqbeeaa64xlSt47CjN19hRam2kAI8MFEjygzdaHjp17tzZFAxT/ZSf6qt6qwXSP/7xD1OLLn8dBXMUFFKLJnVP1Lvy1hhj6m53++23mwa/v++++0zLtJ662ams2k96VxdCpfe3pZZeGutKLasUQFLLObVQChfEVH6e59nll19uY8eONeV55513mo4htfrS/lcZt99+e9eiT2VSV8qTTjpJq5ZNp512mstDx9v555/vAnRaV3bDhg1zwTG13gque9nKQR9kdf/995vsFIjSu+olE9X7008/dQ4yU7n8VRXMUlBLxnpXek1af+7cuab956flHQEEEEAAAQSiI0AAKzqu5IoAAggggEAkBOI2D3UZVEBIgaPqggZ+JTzPM7WkUfBFAQm1xlI3LrXEOuKII1xLoLvvvtsFVPx1avqugIgGk9fT89QtTi1iFJhQ6xy1TmrXrl1Ns6o0nefVrfwKyp155pkueKNyzZgxw0K7UCooojJ63u9PJqysIH/84x9NrZ4UmFN+Gkh///33d34KDCogFbyuAl4ff/yxKYCkzxorbNGiRW7Q9YEDB5rGHTvxxBODV3GBRHVVVDdCBYmUXtvS+jLV+GcKai1dutQU9NH2FdApl0nQF7Xw0r5RsEdBMbXyUrm1/9USTMGzMWPGmL7r2Apa1X1UnW6++WZXR3UD1JhhSquFOpY0FpuCZJ5X/VMw1XJMA8or2Kf6qF4yURBOLQq1fzRfefuTglkvvviiKRCqeiq9glnyk1NVLeb8PHhHAAEEEEAAgfoJEMCqnx9rI4BA3AtQQAQQqKuAugYquDBv3jxr3759uWzUGkmtYbRc6YIXKq3WCbdM6dQi6amnnnIDgKsVl1rxKMjUu3dvN16T0viTF9TaVQAAAttJREFU8lY+yk/5+vPDvav1joI0Cm4oXwVd1K1OAZjg9MpH+Slf5R+8TJ8VrNAA5ZUtr035lZ9amj322GOmeqpczz33XKWtwfREQnVx03pVTSqDgkjKT5OeFhjOz89DXf38AJLSa1KgTy2NFIjy0/nvnueZgjJqDaV0Sq9JAahgU3X11Dx1ffS86oNHarGkIJC68Ck/f1JASQEo7UO/DKHvnue5JyNOmTLF/H2sdx1L8ghNP3LkSFP+wU9X9NNoO+qmqLIrjSaNb6VurqHHi7+ODBV8U9BO6bVt38/flt799PqsdOG276fhHQEEEEAAAQRqLkAAq+ZWqZuSmiOAAAIIIIBAVAU03pQGKVdXNAW8oroxMkcAAQQQQAABBCoTiOP5BLDieOdQNAQQQAABBBBIXoHCwkJXuVmzZpkGRlfLsNCxn1wCXhBAAAEEEkqAwiKAQHQECGBFx5VcEUAAAQQQQACBKgX01EXP82yPPfZw41ANGzbMNDZUlSuxEIHUEKCWCCCAAAIIVBAggFWBhBkIIIAAAggggED0BXr27Ok2ojGXNB7TZZddVmEMMJegTi+shAACCCCAAAIIJJcAAazk2p/UBgEEEEAgUgLkkxACGoRdg61rUHZ1wUuIQm8ppFpcaZDv9evXm56IpyftbVkU9o1BwcOyMBMBBBBAAAEEUkSAAFaK7GiqiUBDCLBNBBBAAAEEEEAAAQQQQAABBCIhQAArEorRy4OcEUAAAQQQQAABBBBAAAEEEEAg+QWoYTUCBLCqAWIxAggggAACCCCAAAIIIIBAIghQRgQQSGYBAljJvHepGwIIIIAAAggggAACtREgLQIIIIAAAnEqQAArTncMxUIAAQQQQACBxBSg1AgggAACCCCAAAKRFyCAFXlTckQAAQQQqJ8AayOAAAIIIIAAAggggAAC5QQIYJXj4AsCySJAPRBAAAEEEEAAAQQQQAABBBBIHoH/BwAA//+EjoxMAAAABklEQVQDACjCb4k3zuJ9AAAAAElFTkSuQmCC"/>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6" descr="data:image/png;base64,iVBORw0KGgoAAAANSUhEUgAABLAAAALmCAYAAABSJm0fAAAQAElEQVR4AeydCbylc/34P89sZgxjNMhuEIlosiUkkX0bRQspZaekFFpF8ZeUpdVWiVBRypZQlORHliRZY4x9mzFmDLP+7/u5vtczZ86999x7zzn3LO/7ut/zPM93/76/3+e7fL7LM2S+fxKQgAQkIAEJSEACEpCABCQgAQm0OgHTJ4GmJjAk/JOABCQgAQlIQAISkIAEJCCBCghoRQISkIAEBouAAqzBIm+4EpCABCQgAQlIoB0JmGYJSEACEpCABCTQDwIKsPoBTScSkIAEJCCBwSRg2BKQgAQkIAEJSEACEmg3Agqw2i3HTa8EJAABlQQkIAEJSEACEpCABCQgAQk0EQEFWE2UWY0VVWMjAQlIQAISkIAEJCABCUhAAhKQQOsTaIwUKsBqjHwwFhKQgAQkIAEJSEACEpCABCTQqgRMlwQkMGACCrAGjFAPJCABCUhAAhKQgAQkIIFaE9B/CUhAAhJobwIKsNo7/029BCQgAQlIQALtQ8CUSkACEpCABCQggaYloACrabPOiEtAAhKQQP0JGKIEJCABCUhAAhKQgAQkMBgEFGANBnXDlEA7EzDtEpCABCQgAQlIQAISkIAEJCCBPhJQgNVHYI1g3ThIQAISkIAEJCABCUhAAhKQgAQk0PoETOEbBBRgvcHCOwlIQAISkIAEJCABCUhAAhJoLQKmRgISaBECCrBaJCNNhgQkIAEJSEACEpCABGpDQF8lIAEJSEACg09AAdbg54ExkIAEJCABCUig1QmYPglIQAISkIAEJCCBARFQgDUgfDqWgAQkIIF6ETAcCUhAAhKQgAQkIAEJSKB9CSjAat+8N+XtR8AUS0ACEpCABCQgAQlIQAISkIAEmpKAAqw+ZZuWJSABCUhAAhKQgAQkIAEJSEACEmh9Aqaw0QgowGq0HDE+EpCABCQgAQlIQAISkIAEWoGAaZCABCRQRQIKsKoIU68kIAEJSEACEpCABCRQTQL6JQEJSEACEpBAJwEFWJ0c/JWABCQgAQlIoDUJmCoJSEACEpCABCQggRYgMOgCrBkzZsTll18e++67b6yyyiqRZVmXGjFiREyYMCG+8pWvxAMPPBDz588fVOS33357jB49uit+xHtQI9QkgU+fPj223HLLLm5Z9kYeZ1n5+6FDh8aKK64Y73//++Pcc8+NZ555pk+pJW+yrNNv8oy865MHDWj5qaeeWuAd+fa3v71QLCuxs5CjJtIgzVnWma/UF6S3iaLfFFGdO3duXHrppfGud70reA+zDN5ZvOlNb4rtt98+XnzxxT6lg3ePdzDLOv3Jss7rJz/5yQHV6ffcc08sueSSC9QrhEN4fYpgC1luxXqvhbKnqZNCXUudm2Wd7y91cVMnqCPypX2TT3ziEx26zf9fmldZ1plnWTbwa2JkXdP85aQRU3DvvffGRz7ykVhsscW62nbGgmussUbcfPPNfYpyd+8B4xHe/T55VrDMeORtb3tbV/yyrPO94p0oWPN2AARK864V2psB4NBpGQKDJsCicB522GExZsyY2HXXXeO8886Lxx57bIEozp49O/71r3/FiSeeGG9961tj/fXXj7///e8L2PGhNQnMmzcvnnjiibj++utj//33j2WXXTY+9KEPxeOPP97wCUbQ+n//939x5JFHRlcj2fCxHvwIIjj5/e9/H8cdd9zgR6ZNY0Cde8ghh8Qee+wRt956a/AeJhRTpkyJOXPmxCKLLJK0BnT9y1/+Ek8++WS//bjhhhti6tSp/Xavw8YiMG3atDj++OPjuuuua6yIGZumJUA/8+ijj877kU2bCCMugTYhwMTZuuuuG7/61a+CxQ0p2fRLEBoxQZX0BnK97bbb4v777++3F3feeeeA3Pc7YB1KQAJdBOouwGKQ+tOf/jRfSfKjH/1ogQFSV6zK3KB11113xeabbx7f+ta3ggoNPVX7EPjNb36TCzKvvPLKhk00ArYPfvCDsckmm0Q7rwTpawYx6/bud787Jk6cGP/73//66lz7VSLAasezzz67W9/Gjx+fr0Lt1kIfDCZNmtTvd2TmzJlxxRVX9CE0rTYqAfoEF110Uay00kpx7LHHBnnbqHE1Xs1BgDJ08skn5/3MH/zgB7ngvTlibiwl0J4E/vOf/8TBBx/c7Zhw6aWXzieyq0HnlVde6fdECRPU9D24ViMu+tE7AW1IoByBugqwEDoxG7bffvstIIAaMmRIvrqGTixbBZmVnzx5clx11VVx0EEHxahRoxaI+9e+9rU4/PDDF/BjAQs+NDQBVtOdf/75gUCqO/X1r389dtttt4UGyzQ8u+++e/z2t79tyDSy3fV3v/tdQ8atUSPFKrVDDz00mBVr1Di2Q7yY8bzkkksWSCqrH//973/nK6Wom6m/F7AwwAfelf50BB9++OFgleMAg9d5AxC4q2NiinLGCqwGiI5RaAECrOKjrqLP2QLJ6XMSxo4dGz/5yU967GPR93rPe97T5fewYcPipJNO6tUNbXWXI2+agUBTxPGaa66J559/viuuG220UVx99dV534Px4K9//esYN25cl/lAb/Cbvmdf/Xn22WfznSF9dad9CUigugTqJsBikHLqqafGd7/73QVS8OlPfzrYmsKSUfY9s895ueWWy88/2mGHHfJG+IUXXogvfOELC7ijcWa1wAKaPjQFAbYDstKGbUrdKbaRXXbZZfHSSy/Fn/70p3x2PiWOTimCTWZskl7pdZdddgnKHIqB+QYbbFBqpemeeS9YtUKaUHTQmy4RA4wwaSbtKFjAZIBe6vx1AggQHnzwwdefIlhJ+OMf/zje/va3B5ypm1FdFvp5U9wG0N9thKzCTNsHsyzrZ0x0JgEJVEqAOoA6l7oXRV1cqdvmttd8sWfSl/5zd/2rpL/qqqt2JY5zhjhzNJl1d+VsRBy1Yh+LdKkGhwDHxaSQGSNcfPHFwZmb1Duch0sfHiFrstOf6/Dhw/Nzq3DLhGl/thEycXbffffhRZdf+YM/VSVAvtveVBVpy3lWNwEWM2Jf+tKXugCy6ooK6owzzsjPweoyKHNDY8xy8NJD3Dgv46GHHirjQq1WIcAh0ttss0387W9/i+LgmZkahFwIs1olraZDAo1EgBnQgXYYy6Vnp512ClYIYEYHpa9bbZk1ZfYU9wy6tt12W25VjUrAeElAAhKQgAQqJMAujWWWWaZC25Vb4wga/MYFuzkYl3JfqUJwz6rxZJ+J+HTvVQISqC+BugiwWEHF1qrigcDnnXdefPjDH65Ygp1lWXzuc5+LPffcs4sQB3RecMEFXc/etC4Bvn5EXqeBLynlwO9bbrmFW5UEWpZAqyWMr/ekWXzSxgpLOobcV6KYNWX2FLvvfOc7Y8KECdyqJCABCUhAAhKQQFkCrOTaeuutu8xYAc55eV0avdxwvA1usLbCCitEcQsueioJSKB+BOoiwLr22msXON9m5513zren9DWZLP9k2fqiiy7a5ZR9/KzG6dLwpmUJbLzxxnHMMcd0pW/WrFn510p6Gfx22fdGAhIYfAKsqKUNSDG5/vrrg3Ml0nNvV2ZNmT3FHufhLbnkktyqJCABCUhAAhKQQFkCWZYFfY8s6zx2gO2AnKdZ1nIZTVaLs2ocI3aGrL766tyqJCCBQSBQgQBrYLF69dVXgwO7ky9ZlsVhhx220MHsyby36zve8Y78cG+EGWwp5GC/JZZYokdnnIHE6p1NNtkkFltssXzVV5ZlwfYT9E4//fRglViPnvTTkC8s3XzzzcH5XiyJzbKsK/y3vOUt8dnPfjb4AltvQhhWm7EKKcs63ZP2SqL0iU98oiu8LbfcMth+U+oOv7Ks01/sY06c2OrDFr4sy4LZhiOPPDKIRwzi34c+9KE8LikKfA2EWZH0nK6XX355V7o5c4eGJ5mVXmGPOV9AIZ1Z1skiy7Igz9iHj6CUclTqludiWL/4xS/QytWNN94Yiy++eFc8sJcbdPxwn2Wd4aR84QuGBxxwQF4usyyLN73pTfHJT34yWHHS4SRn358ygFvON2Ib7vjx47viw7tA2ohLb1sxyff+hE15yrIF00l8UKncwQhW6KFgmGWdbkrzLrnJsiyID/HCTU+Kd5uz91ipwzufZZ1+k37O/KBu6C5vi/7CKcs63aY8w5w4fPWrXw3e5yzrNOe9WW+99fIz/2CPvVqogdYvlHsYZ1kWyy+/fDz22GNd0URYnGWd6cmyLGDfZTjAG/iNHTs294Xyfeedd+b3vf1Qf6Xtg0xkkH+9uSlnTn6T79T/lIMs60wn5QO9StsE8p5ymGVZ/sEJeDKj+/3vfz+vp7Kss51hppZzu8gv4gPLLOsMk3cEPeohOtR0sIlHlnWa885SvjjIFnv9UbwDvP/VKqOkYyDtGvlIGciyLDbccMNIAknStuuuu3bVUdh5+eWX83owyzp5ILC85557sFqR+sY3vtHlH6v/nnnmmdxdMQ5ZlgXvNwbkH3UQZ79lWWeYvM+sGqTMUHaw1xeFG9xStorljXv0MMNOpX5SVihr/W2zKg2naK9Y1rOsfH0AwyzrZEbewRg/cEsZrlb5w89SRRjpXaQMJXPKFmUsyzrjld63ZF7umso37yJ5lGWdbmmT6cvxnpIH5dx2p0f+ks/kd9FP7tHDDDvduW80/WJe04ZQHruLI6wwr1Z5rZZ/xXqYskMZ6i4NSZ90kN4s6ywTcEhm3V2JL31q0k84WdbpNss6+zHoY4697vwo1adfwTnAlJ1ie8H9WmutFUz28+GVvvhZGkZPz/hLnIl7aZroR++7775BG8G7VM4f6oYtO8YkWdbJgjo32aM/SL8wyzrNsIf9ZD6QK6u20zZCztG84YYbKvKO9Ba3DzJ5lmVZRW6LlnjHGU9wxhzjiyzLutqnYt719Xgc4kd+k+/FejbLKitj8IVzlnXGh3I9d+7cYIxNecqyLGgH6deSV7STUeaP9FGXUS6p27Ks0z/Shl5/+lZZVp/2hr4BfYQs64wzeTRnzpwyqVxYi4U066yzTldefvSjH41K3S7smzqVEBhSiaWB2EG4cMcdd3R5QeGgM9Gl0ccbzmS58MIL8y9QHXXUUUGBYWVWOW8YlH/nO98JOrz77LNP7oaXK9nFnI7IEUcckR9STAe/u5cyuenLlUqYinKzzTbLVwo999xzCzhH8s8ZYKSBA5MRYCxgYZAeGGhx/g1fgUzbPsnH733ve3HppZcOUqw6g2Uw9973vrfzoeP3iSeeiEceeaTjrn//MCd/KJNnnnlm/sWTok/kGV9HQXC29NJLx89//vPorkEuuuvrPQP4TTfdNM4555yur2vycQPCYzBM49RXP5P9f/zjH8FMEQ3bpEmTknbwLpA2Ovu8l2lbVpeFJr8hfXytdKmllso/AsEhobzzKVmYs/qHugHhDV9B7UveYpf3l87bCSecELzPyW/eG77ex8cnVlpppUDQOpA8TP4Wr81av5AGyiMCAe7hUikfmFKejBC/EwAAEABJREFUcUcdRf3KfaWK/K9lm0CH+OMf/3j+lVzqTOJFmDfddFNeBunkoFeqaHcOOeSQoINH/YubZId3lvK18sorxxe/+MXAbjLr7UoZ/elPf5q3b7z/1Sij9S53WZYtcNwAjG+44Ybekp6bU4fCM3/o+GHW/M1vfnPHXfl/Bg2UK4QcxY+E8D7feuutkeqKSssr/KkjuuuDUAfRB0n+VlIHNUqbVZ7ggrop/YNVRy4Ym8qe4LvddtsF/QLKDnmUXFKe+OAQ7ylHYLz44ovJqNtrYlDNMtBtYA1oAE9YVquPVW3/aoqsw/NHH300L0v08+ljFieJOozzSSP0Ma9kHEB7+aMf/Sjo1+y///75uKbYXnDPpBDjGdpHJilhFlX8Q1BC+02ciXtpmmj7OCaGfH/3u9+dT9JXMfgBeYXQqLiNkLq8kjaVfGQ3EYFTn3GoPPeVKvIl9T0YTzCWYnxRdI+dlHec+Yu9SuoY8peyQ36T78V2Hv/JH/KJ/Kq03mKHC30G7BMn/KEdpA/GwovSMIh7Sh/tGe1ase7EHL1ajbeJX6pryR/6TMU4prj31Cenb0AfAb9Qf//73/P3k/ve1D//+c/473//m1vLsizoQyCvyDX8qQmBmguwKPhPP/10V+RZBVHNT6F2eVxyw9fr9tprr0DIxYtTYrzQI3Z4WT/wgQ/kX75byEIfNGhgfvCDH8RWW221wKC2Jy+Q7DMzwEvQk71am1E5sQqIWcvSsJhVYVVWqX49n7Msi2LDgYS7ONDoS1wYGJJHaUDcm1saOVZEsZqHPO7NfqXmvB+f+tSnotwKC2Yt9t5771yqX6l/RXscfr/jjjsu8Hnionm6p6Kns/Hb3/42aTX1lQad2SSEf5UkhNlM6gu+ikpd0JsbGkMaaxry3uzj92677RZsfevN30rMKXvNWr+k9PV3GyECVzpW+MPsGDN83Feiat0mkC/f+ta34pJLLikbHTqCdJBKDV977bV8JS4dzFKz0udTTjklKm2jiM+JJ54Y++23X5dQvNS/9FxJGcW/wSp3DH4Rsqf4wpgZ4/Tc3ZXVEijMqUuZFeW+nPrf//4X1JW9tSew4gtsTOjApJxf6NFesNq8kjoC+/hLHUQ/pLs6pVHaLOLbm6pGHdlbGNU2p79Kn4CJjd78ZhUFgxTyuTu7mFW7DHQXViPqV7u8Vtu/WjOjb4lAnGslYTEOYCLzrrvuKmud+oZ+B2Wquzqi1CFnTFKmYVdq1p9nhLqMVSqd8MQe475G6VtmWdavbYQIX5gwhxkrM5n05L4SRV6RZ5WOR5OfldQxjBnJD8pOctfTFT/pQ5QKz0rdMHnOWKdUn2eEoqzK4h5V674VYfSmqtXe0Eegr0B4jM2S0JLn7hTvJYJQrtihr0KfhXtV7QjUXICVJJIpCQgfsixLjzW5UlkwU00nNwXAKq2vf/3r+WodCjqKyoglxGPGjEnW4o9//GM+y40fXZp9vKGiptNKGMkpq1xoxBh8UcjZFnHZZZcFFXuyw+w8HdhqNTTJ375cWQnEMmpWjdDwISAizqwg4CB+VkD1xb9a2GVmouhvbwOOot10Tx6ceuqp8eCDDyatOPjgg4OZJdKLOWlnRh79LksdN8yoMxvTcZv/M5jBPorVF7lmxw8rxchn9FHY69Be6J9OM+GwJYrttoRP2HfffXcwAC2WkYUc96JBZ4MVC1gjHaxWo1wSBnlK5wozFGUeAQ5x4bnWioEaXGAEqxQeDNFHMYNDnZHMKrnSmO67775Bw57s844z+KZBwl/4kk4+DEHdkOz95Cc/CcoFdpJeuSvsmOHBjNVEzKaRDtwxaGGbG/qYo2BOZwAzngeiqlm/wBbGxJtZU1b5pLiddNJJgX5S5Fcyq8Z1yy23jLFjx+Ze8Q5Q9+QP3fyQr9TPGOMO99xXoijbtW4TyNu0MojVVNTnsKPMnXbaaUHdXi6uLNE/++yzcyPKDGUJv3CLH//v//2/KJZRGBx77LGBefTwN3PmzOBDF1ghX3/2s58FdQHu0vtfrFsoo1/72te6ncCpZrlD8Agr4sJ7St1HPFF/+MMf8rRhhh3sstqg+AEXBkWUGex3p3BPG8sVO6wEWHfddbktq6gLUntAe039Sz2BIiy2jBQdMhjpTiiNm89//vNRFEqmOoh+B6yJF/nLqlvMkt/UE+XqIOyjn+KIfer0/rRZuK21qncdudxyywV9JzhRhlL6KFuUMfRRrAxJZqVXBqmJL6sIUhnAHe/xN77xjRgy5I1uM4OW9I6V+lWLMlAaRiM/w6ya5bXa/tWaHe0ZAnHe8RQW9QqrOlL9Tj2MsAr9ZIeJTFbeUJaTXrqyZQ8BVnpO7QUrA+GDoh9CG4JZskeZpv5Pz/29sgr1Yx/72AJbvulD0t9JaeL617/+NYorWWh/mUjBfQqbep36nTij6PclM/qDpAN9FPawn8wHekXgw2ol/KFNxH/uu1O8y+k9z7JsAQFYd26K+owZUhuPPnnDalvKBulDwa20LGCXPjyrnrkvVZQR+hX4k8xo02n3Ej/8JX8IM9nBP8bDpCvplV6p29CjbDK5QxxhRTlinJBWF5G3te5bEY/eVLXaG/oI9BVSeAgGYZiey13pOydemNNXoc/Cvap2BN5oiWsUxqOPPrqAz6XChwUMq/TA3l06hcm71VZbLdg+dNxxxwUCmCzL8hUtSNDphDJDy9LKZJ+KhmXi6bkvVxofzo6hg4o7Oju88FQoLDtPAxEqY1ZlsEf8oIMOwmquaGioDKgUco1B+OHFgyENEHueiTOrcxiUZVk2CDFaMEjyjU5p0mVgm+4rvVLhkCfJPoIilmVTPkkv+qSdSv/HP/5xXHzxxXmZQZ8BCMI97qulKCd0OugcED5hU5Fy7hirVQYSDoN9ZhFIRyr/hEGe0pliMJz8R3iJ4KKnhi3ZbdQrQqjiDDrnDzEAZQYsrYCBL3nLKgoac8p8Sg+DeBrDiKSz8JXGHF3yi7qFGS3eafRGjhwZzFAhsC7OwrAajg4odvqrWqF+SWmHP9sQeIYnHQCuPJdTsGNQgBnucM99JYr6rF5tAp07Vv6llcaUOSY01lxzzbJRTWl+3/veF3TwKUuUISzjB+0JZYx2DD0UbVRxaz563SlWqjEQR6ibzotM7z8dd96P5JYVuAh203O6NkK5YwIg1fusECZPU/zKXanjKVPJDA7pHU16xWvKB9oChHXUv9QTKPKO+pm2nLoad7TxCLHLrQTjS1VnnXUW1nJFnjJ5QB1E+5Vlne0o+cvADjPyP7fc8UNfpTR/SU8jtVkd0ezxP/Gsdx3ZY6QqMKSMUW445yWVAZzxHtNWcoRFlnXmH/qsCk1p5TmpWpSB5HczXKtdXqvtXy0ZMuBFQMCAn3AoUwhAeH9ZYZXqd+phzvVFnz5mqlsYB3zzm99c6AwdymUSVtAeIECnbqGPRzgo6jj0GNcU63ZW3iS32Ourop5jvJTShHveB/qQ9HdSmrgSLkITFghgD4U72kbOY+R5MFVftxHS/tF/I84IvhCAcV+J4lylYt+DMQb9U87So/5PfsAtlYUiN+oWjnNJ9tIVfYSZlJWkx1iSMSVjS8oB+vhL/lAeilsnOVqAiSDsdKcQwP7yl7+MVVddNbdC/4F+BGOHXKPjh3a4mD7KJf0V2rA03siyzjNWKT/Eo1rj7Y7gu/7hwcNA2xu40VfALxSTGuxQ4b47RdlAmIg5q7fYgs69qrYEai7AKgoXsizr9+HtlWKg4aDjmAozDQcdDpb0decHB94hsCoOYlmtUYx7d25L9WmkigMAtpSwzDzL3ujwFN0gnGCWiiWpSR8/mDFMz/W+stWFg/oGHG6dPGAFSV8FLsympiW0VDis5siy8nlEMrbddtvgwwHM8tIIpNkHzKqhEBYy61QNv0r9YDDd3WHXdKBYWVMsf8w4FBvFUv8a+ZnOAkufUxxpTBmILLvssklroSuzLdQRqfPIrCjCzN7KFEuo2dLFga4LedqhwZlpRxxxRMdd5z+D7tTIder0/Ze6odnrl5Rq6r5iuaNT19PXCBkokje4xx3uue9N1bNNGDt2bNCJROjRW7yK5nRqEY5wSHRRP93TfiGYTWWUsoT91M4le6VX2jaEtHQ8S814Rv/QQw/lNlf4W66MNkK5W3vttYOBUR7Rjh9WovXURhc7lXCl3u5w1uM/2+c5I6Nc/mVZ57kWn/nMZ7r8YKVBqbCb8sYqKgRcWKSzzuQBceC5nMKMAQX1FebkQ2n+NlqbRTx7U4NRR/YWp97METz0dFQCg0H6Askf6mMG9+mZa63KAH43i6p2ea22f7XkyKQYK2dSGNQHrGTJsvJ9zCzLglVXjBeSGwTm9913X3rMr0zi5DcdP6x8YqdEx23Zf+p22iL6JwhdqDtLy2lZh91oUs9R3yVjBBnsyqAPmfSKV+pQJuOZvEn6CEyYTE3Pg3XNsgVXUfUmpMCciWviSzuCAIz7ShSC7GI+Hn/88fkHiLpzm2Wd7Qx1Z7JTrp1jcQiCz2SHMQT90e76RZQHBGOMiXFDXwqBKPflVJZlQVuHQKecOXrUc4M53iYORQUzGFDmi/rpvtI+OXlMm4w7BK/Fdxm9omKcQP8o6TERxSq49Ny21zokvOYCrGIaeLE4yLKoV+17Kng6rslfziwqdjaSfumVTiazo0mfmXAq2/RcyZXGobhtkZeJs42yrHyjlfyEy5e//OX863PoUbGwvJT7wVB03rKs5zgPRry6C5NZJb522Z15b/rwZiVCT4NByu0tt9ySH/LOrBez5r352xdzBGSUg764qcQuK1VYudCTXcKl7GdZZ55zaGSxo9KT20Yzo6NR7CywLYhZoN7iSaNDBzLZY4Vdb0I8ZjmZlU9uyl2pA1KHAfPe/MROd6pV6pdi+oodBVbJsQKoaJ7u6cAhsOAZIRECZ+4rUfVsE9iSmWYrK4lbskP9z8Gj6bncdfPNN19gWwYd495msynTPQ1yCIdZ39RZ47m0jDZKuaOeKm7jYya3u/JS2qmkfkVISPq6U3RuGXB1NyDDXZZlwcHJlEGeaTNKZ8cZWBT7Dmzzq2TAQz1F24u/qJ7ytxHaLOLYm6p3HdlbfHozZ6KD7R892WMgWOxTckAy70jRTT3KQDG8Rr+vdnmttn/V5kedQN2Av/QBivUWeuVUlmUxceLE/OvTmDNwZnUT9+UUdQwrg8qZJT3OT6Vs0idiAoQ6Jpn15UpamOTnijvqP3YH9FRXYi/Lsvx8R87P5RnFMRkD6a/jRzUUq+OZGMKvnlgX25IsW1DwhdveFII8VkTBYMKECUFfszc3CGCKfctyYxxWWiWhWpZlwZb1noRNhMk4l8lsJuJTnDj4HLNSRT+mt5Vm9exblcav3HO12hv6CvQZUhhM6tMHTc/FK/U/48ek15fJ1eTGa/8I1FWAxawiy4D7F9XKXFFREw62s6yzQciyzoE5ej0pOo90krFDRU0HmUozC0EAABAASURBVPtKFasHGIQl+0jEi5VQ0i93ffvb356v8ElmbPmg4UnP9bouvvjiwRaHaKI/GgYq/L5EmcHi+PHju5wwgGQvOUtfB2P7ZmpIuyJUpRs6TnS4e/OOhooGK9lDgMU7kJ6b5YoAK8WVQTkCkvTc05UVdcWBC0I8ZtZ7crPJJpv0ZJyb8S4VV3bmmv38aYX6pTTplLnEkfJWPLumaBdBRaqP2YLByqKieU/39WwTqFP6WhcxaN5iiy16SkJuRtvE+5w/dPyw7QzVcdvtf2LbrYUOAwYjPXV8G6nc0amkvu+Idr69hvPDuC9VpZ1KDmblHS+1V3wmDyiPRb1y95Q9ymAyY1sr542kZ7b+UX/wTJ4xicB9JaoomCVvUcldo7VZKV49XSspf9WsI3uKSyVmrFSpRNiYymB3ftaqDHQXXiPqV7u89tG/QUPCeVQcH5AisP7660clZQr7K664YrDSlHtUaT+sWO9wLhGrx1lx3ttEBn4NRCHgueeee7q8IB7Ug10aPdzQJhZ3F+APjHpwUhcj+mXF/iF9j3KCtWJbQj8dwVdfIki/kpVSfFiItqLSMWExjHK7TJjgSHY445Ltzum5uyvbCVktxDicOLH6GgFbOfu0hT31C3BTz74V4fWmqtXe0Fegz5DCI98Q1qXn4pUVhawORY92ATkC96raE6i5AIsOQe2T8UYIxUJGRZGW5L9ho/s7Gg9mYZONol9Jr6crlQKS8mSnLx1XBEfFuNJxLXaKk5+1vrLSqNLGttZx6c5/lq0yA5fMqWyyrDIhZXJD48XquPTMlTMImCGhkifvOICXmVQG1pjXSrFCp1bMi52hnuJPQ0WDlewws0OjmZ6b4cpMWVGAzPuEcKDSuNNBJi+S/Z7ef+wx8Ep263FthfqllBPvGlsrkj7bCIt1aNLnPA3yl2fs4477SlQxH2vdJjBzV0mcinZoIyt9/5lBpb7DPfVg6jjxXKqqVUYbqdwxGGJiKKWVziPbhtNzurICIrFhBQT1eTLr7sqWnMS2OzvoU/ZoJ7hHMcApTjYVyxt5xGqdLMvyMxSzrOcrn0LHTxRuUxp4rm+bRYgDU9UqfwOLRd9c0wbQFvbN1cK2a1UGFg6pcXWqXV6r7V+tyCGcQViR/E/HE2RZz+9+lmXBxxzYqpfclvbDGBxTnyVz6gd2mcCGto3VnuwQKCeISW76cy1NE/Uf9WAlfmVZFsUjSWjfaVMqcVtrO/QlsizLg2GHBeOu/KHwgzASzmgh8II199VW5BnCvZNPPjlfpcU21O7CoL0pTrAiTGQiqjv7/dFHGNPbZFyxnqP80eeuNKyBjrdLw6l2e0OfIb1rjDc5wqI0TNpoVmclfbbp9rbiPdn1OnACNRdg0SEoRrNY4Iv61bovNhycbcQMaKV+I0QqDuIZwKdBUyV+UMkX7dMYVeIu2SkKG3hheDmSmdc3CLAioMiZivAN08rvDj/88PzLg6UuOLuELaR0BigPiyyySHDgIkt2u1tuW+pHIzz3pUKnoaLBSvHmfDAa1PTcDFfiS+coxZU09bbEPdnlikCq2DmZNm0a2g2jWrV+YeULq+UAzVdr+RIP90mRbrZ08ow97HNfqRqUNqHSyHXYo42sdNBMe0a71uEs/691e0og8C/Wt4PZrmVZFpzRmGWdgw4E1syOEs+kaDeLZ3sg8KJzncy7uxbb3+7sJP0iA+qc4oCsWN6S/f5eS+ugVm+z+sup0dzVsgw0Wlp7ik+1y2u1/esp7v01o74sfW/76xdjkOKOAPq6bMEr9lOS3/SLmXSlvqOdYPDN2VvVWJ1VmqZi/ZfC7+larFsbaWyDII5VVcSdVbOseOM+Kdq9JKDIsiwQeCWz/l4RPrHlDEEV5yOTT7T/5BmrqDiTtrczkJlUL45F6LvT3+1vnPrrrljP0S8hDZX6NdDxdqXh9NcefQa2JCb3nIPFe5CeuXK4e9r1kWWdZ5dVMgmGW9XACdRFgFXMULbG8fINPOq194GOKYPi2oe0cAg0gKUvy8K22lOHZavFlBcbx6J+b/cINzisn6W0NCLd2acDwf5/vrzB3nEGR81ShrtLU2/6NLKkuzd7tTJvBH+LjXMjxKeacWik+gUhcVr6zXvFUv5iWv/zn/9EEmpxfkR/VjkV/RvI/WC2CQOJd6O4rUa5YwtHGnRQXqibuaY0ItRL52DSqS5uBUh2muVKPVyMq21WkUZ73JeWgWZKdbXLa7X9a3SWHIdSFFQQX+o/xlFs/0of9UC/VCHc54MUCLuoAxHQlNoZjGeEQo0ytoENq6oSB/oexTEfq2vTOWScb4lKdvt6pV1iyyeCG/oxCKr4wBD5hKCyL/5RJxC3vrhpdLuN2LfiPCv6ELDjCAsU90kh1GJ7Lc+spOcoFu5V9SFQcwEWgw3256bkMBAZ6IzAn//85+Cz1nzdoprLZekEFxuLvsyMp/QN5FoMm4qVFSH99K9lndG4pAaFRCLxpyxw3x/F/m8OM2TlBw0CX7Cgg9CdX6xMwv5vf/vb7qy0hD7vLLNCLZGYChPB+4dK1vsrGE3uG+1aTFsj1S9sRSjObJZuIyxuH+QMqOKESK0ZD3ab0Fv6qr1toLfw+mNe7XJH2eVckRQXzgIproC6/PLLg4Ef5gwYmNXmvlaK8stq13L+U48SN8pRfxRfESv11zarlEhjP9eiDDR2iheMXbXLa7X9WzC21X866aSToj/vPm6YvKG+K40VE6k//OEPg/4wW5tYydNTW8DxGHzQo7uDqEv9r/ZzcTKUurKRxjb0PbKsc0Vv6TbC4vZBzl/kiJW+siEfWQnH9n/87849K6gQpvGlQFb18NGW7uzS5lR67EB3fgy2PlyKfYN6j7crST99B/oQ2CW+LHbgyjPvUlqdxzOrtVi1xf0gq7YJvuYCLF6y4pYPBAW9LY/siT6FB+EBX0o644wz8q8ynX766V1OkIKmh74uVR2oVJvzdhCopPCZbU73lVyRxFdiDzukn2u7KfZ9s5UvpZtGgf3f6XkgV/Yu82UVvu5C2WE/+gknnBDFMoX/bDFEeFpuvzzmjaIYxLGsvJL4MAPEeQvJLtsme5rda8TyRweApdQpDaSp2HFK+t1dOUunUWYGy8WxnvVLufBrqUcbwfZAwqCNYKKDe2bl6DRwT/pTZ4LnSlXx/eW9ZotZpW4H2iZUEg5pZCBSiV3KZzH+9RgIwL1e7VolDLDDl1UZCHE/adKkSCuu6FSmr1Vitscee0SlgngETbipRBXrSvwvDh6LH82g/KQZ2kr87audVmuz+pr+RrVfzzLQqAzKxava5bWa/lG3VtpfKpe2pEe9hIAhPRfriqRXrSsr0hCscJA78actYRUR26wxK4bDxNCpp55a1Kr4noF5UXjT17FNI/YXU+IX3kb419yINpnzy3hg0myHHXbgts+K8epRRx21gDvCRFDF5Avna9Evoa1gQQZ2mTxFULuAo8IDeUt/N2lRxujvpud6XRu9bzVQDrTt9CGSP7xDqY5gRV06voBVWqzWSva81odAzQVYWbbgmRUIoJg5KHbC+5JU9pxSISQ3dBw52DA9I8VN9wxI+VJHeu7tit/FTiyVSG9uiubjxo2LYscFKXrRvKd7Gh9eiGSHbTUsNU3PpddKBuZUiHTuS9026zNlh+0ixQEBeV9sWKuVNhoIhGN8nZAti5MnTw4O6Ev+02Cgn54b9cqqskriBlOEg8kuhyUXG8ikn66NWP6yLAvineLIu0/nID33diU/Efole319/5O7Wl3rWb/UKg3d+Ut9V24bIYIsBFq4Ywsvqxm474sazDahknjyoQjq6krs0kZRD2KX9qE/PHDbF9WI5Y53s1gf82UltqYUv1aJ4G3HHXesOKmsdqjEMgMb8iHZZZV58UwY2o1kxradeg3eWqXNSuya+TpYZaAhmFUYiWqX14H6x2oQ6pDeos8YodhPKLXPh6Coe5I+2/0qrd+Tm/5eqasR7rPiijHWOeecE8WJSA6I74+gg74gq75SvGiXqQfTc09XmDIpnOywoqweEy8pvN6uxIeVT8keAkDSxgR1WjGFwKn4Tie7vV2ZUPnOd74TTHpjF0EHE3J33HFHIKjacsstA+EgZRfzpGjjKY/pufRKfhQna4lrpWXsl7/8ZT6pw7EpnCnHOLnU/0qfG71vVWk6erJHHyK9zywySUKriy66KBA84pYtoZQR7lX1I1BzARZJYSkkM+zcozhD6NJLL+W2T4pBMwffPfXUU13utt9+++BFTBrcMwPCM5UAlQVXnntTSL+pbLGXZVn0db8zq82KEunuvpCE/6WKwTMNXdLnqx1If9MzgxUGeemZePaWLiTFvHDJTbNfaQQ5syqlY+zYsVGUjif9Sq408MxSUQFvt9120VujzuGZJ554YjATk/wv5lfSa7QrZZCy0lu8WMFQFHa+//3vX8BJs5Q/vhySIs7gkRmT9NzTFUbUS8kOq4GqtbIv+TnQay3rl4HGbaDumbFmKX/yh6X7CPWZoUz1HO968f1Ldnu7Dmab0FvcMEdAV8mqZAYkxSXrCHGKAlv8qoVqxHLHijC2k6b0Un8xyVDcbsrgoC8CPurKSjrzCPqLq4Dp3zCgSHGh7Wagkp4vuOCCoO+Snnu7dmfeLm1Wd+lvJv1alYFmYlDt8lpt/2BJHcoVRTuTBA08d6eSUKM7c/ql5H8ypy1Lg96k158r4x52CDDRg8Ccuq4nf1jBw9bCYj2JML2vq6cIgzS9/e1v5zZX1H/Ug/lDLz/Uy0Vm+FOLSedeotGjMX2PLOvcRohwCSElV/qQOOzvRDmTU8WFCXvttVd+EHyWdYaF3+UU568W3ZXaybIsimNqBFiVlDHKOONcxjuMDSmbxbaqNJzenhu9b9Vb/Csxpw9BXwK78GOcwNi6OLZg9RV9Euyo6kegLgIsBDFf+cpXFpgJ+NSnPhW/+c1v8r3hlSSXgsPy17PPPrvLOoIqDiksDmpokIozsz/72c+CL8p1OermhtlXVoYlYwRR7H9Nz5VcSSeDrGQXodRPf/rTXtPIwAThSJLmZlkWSH2TP1yzLFtAeELlykuEWXfqqquuir6sQOnOn0bQR7jysY99LFgplOJD49yfWRHcM1P/61//OlihxKwUeYV+XxRCrb7YHwy7nAdDI9VT2MwS/ehHP+qywsxOURCEQZY1R/kj3jSqxBlFnUEngvueFIISykOys9FGG0U9hAMpvEqutaxfKgm/1nbokCE4JBxmeBFKpK8PliuT2CujFtIazDZhociU0aBto+2hHShj3KWFgAWVNJi8Ka74TfrVvjZquWPrDOWC9LIilkFV8XxEDi4u9g2w15OiDSgKCMvZRdBNXqV2iM4/EyBFu5S34mGuTNYxq1+0U+6ecnDEEUcEftJppg/AICPZbZc2K6W3ma+1KgPNxKTa5bXa/sGyWD9Q//a2awIBd3EHCH6UKvzknNSkT7/+uOOOC/pZSa9y1GqXAAAQAElEQVS7K+MQVuQwaUA/5nvf+15Q52Cf+LGljTi+/PLLQb2SzDCvROEvk0WV2C3aybIFd9JQ/3GuU2+Ceeo0jnihfk7+sRWvP3FI7mtxZfVM+jAIYya+RpjaAurj0jq+0jiQP8WVVKw8y7KehVcwI5+T8Ky7sFiRjmARc9zQLlFGeO5OIRRDAJPMOZJhIMJE6rnBGm+nNNT6yvtMXyKFw1gB4RUTj+gtu+yyC43X0VfVnkBdBFgkgyV2Bx54ILe5ouLjUEGWMPY2I8Ch7/vuu2/w1Ybc8es/xx57bKy//vqvP3VekIISTpZ1VhIs9UXqnQpbp60Ff5lJYDUO+8eTCWcc0ZCk50qvNFzFlRtf/epX47zzzgsqmHJ+UOF87nOfi2KlgrT/ve997wLWmeGlskiadLZ78hcp+9e+9rVkvWmvlBOWvDKjxexRSgjbNuCWZZ35nPQrvSIxp2HCPmXki1/8YvTUYJBPLMemQcINDcc73vEObrtVNFzd5Xu3jqpsQOdpv/32C8p4Oa+Zifn0pz/ddYZMRMRnPvOZKK72w109yx+M+8uNd5a6gjij2Eb48Y9/vEdBLgI+6og0+8qSe2Y6qUvwo5FUreqXRkgjZY7ZZeJCGUCojyCLZzpJnHfCfV8V+TiYbUIl8aX+50wM6rty9imjvMepjCK4QYBfzm4t9OpZ7rpjUJouBMzbbLNNl/ZPfvKTYJCLBoM/hNnc90V96UtfCtrOcm6ozxlQEk4y5+BWhN3pmStCRQRR3KPIs/333z8QsPFcTlHfMQD5/ve/n6/WYtUC7RL5nOzXo81KYbXSFbbkQT3TVKsyUM80DDSsapfXavtH+qhD0qQJz5yry2Qp96WKvhIT5vS9S81KnxHSFOsfBrz0KehHltpNz6y6oe/CxDQfC3rggQfySTQG0NhBqL3llltymysm5xFiUb5zjTI/CLuKK7WIE33XMlZ71WKlKZNMyeLPf/7z4IzY7upr6ku2zyHASm6YcGbcl54b5Vq6jZB6njwjfkxGFMde6FWqWGRRFNaxIwgBWXfuYQnTb33rW91Z6dKnjfvgBz/Y9dxbHwIBKuPaNM4lbgPtQzRD36oL0ABueG/gjRe8l5Tr9N7xTvJuYqaqL4Eh9QqOSpivcRRXKBE2W8KQACNAYkUWjQdLZbnyjD6zBnxuFPtJHXDAAdGdAIM94HQYk10GsQgbEHixGoOCh2KZKFsS2SrIzEeyz37oosQ16VdyXWmllYJ0MgjGPh2nT37ykzFx4sRgGS0VFPrsV+bcjk033TTOPPNMtHJF44LgiYoh1yj8EKckdEEbgd6hhx4aKU00GHTgGbDTsWeWJMv6J+DB/1opKnAq8ksuuSTKKZaKsz+cbWwITlh5VRRywohtGWz/628c+dIgg7LkHqn6xhtvHISNwDTpk0+sBEGgiMAw6X/kIx+JVKElPa50XLmiWNl1/PHHB2WZMs2+evTrqbIsCwR/lPFzzz03UtqIC6s5qJhhmeJE2T/44IPT4wLXWpU/6gbyOQVGHjCQo0PHjGd6Z5J5b1fiTzqSPfKPFZUMEPEPfd4VzrH5/Oc/H+RtatQxQ1BAo8R9oymEOLWqXwY7rXT0WMqf4kHnG0EWz7yrlBPu+6MGs02oNL7M0jOryiqiVOYpr9QhpWWUMoDAr1K/B2qvluWOjjR5n+LIZMINN9wQ1JnUV7TVyax4zbIs6B9kWWcbR32bJiEQLCHMLtqv5J42k7bzkEMOWahdxU/a3OQPZ8J885vfXGBldDJjYEEfJT3jL3mLv9Q71D+YpfaFGX4mDugvoE//gVXrrH7jGVWrNgu/W03Rf8qyznKB0ICB27/+9a+8TJEX9UhvLcpAPeJdrTCqXV6r7R/pZCKUlZzco+gr0XdglRV9JPQY+COsQYiR+kpZ1lm2MC+n6AciDKOvmszpf7GrA79579GnHqCfwzgE4U5xKzkT2QjCsIei/aO/n8YA1BX0Q5mcYfyS2ozkJ+3G+973vq4vshIX+jZZ1nPcCaucoi4inviTzFObxYczEi+u9LmIe7G+pE7DPuO55L6RrvQ9sqyTDeOoVE8MZKUzAtLiBAcroBjX0PeGE+mnfWMsyjiQVWCM/9AvKvIUe0U9ygN2KcNJH760M/BP/lPWKHOMAZJQDvv0fUsXgKDfV9UMfau+pqnUPn0J2n/06ZMWt2syLiIvMItefujTMG7NsiyyLAvu0evFWSBozLJON1mWBTtrenODnSx7ww1+9Oam2czrJsACDJU6gigETzwnRUXM9h0k87zwLLPkyjP6mCe7XBFuMBgtPfgOMxT6SEiLwjIqdyp0Ov1UpChmN6lgi8IRGi8aKeKKX/1RFHRmHQgjuWcLAcs1aXyyLAvOFEKolVYYYI9ZAGZUEKTwXKpowEsLIbPBKU28RKxUOv/883OnNIhsocofGuiHbRH77LNP7LnnnmUVFQL5R2VLvhWjDiO2RnbHqGi3p/tURoqVPwMLwiaMLOt88cknZp04fyv5Rz4wuIB30ktXBELpnuspp5ySz6JRposCMMxqrRgYMutHOaSMI9RNaaODT8eNjk+KB+WFTlZ3ZZ9016L8MXidMGFCikZ+4CUDDgbNDBJvvPHGLrNKbog/HU7im+yTflaaLbvssnnDQd6xUpL3o1jG9t1330CP8pHcNtq1VvVLI6STd604I06cqKdL3yv0+6LIT+qUwWoTeoor7+nqq6+eW6GeYaY7tROUVyZeimWUlWnUU7mDOv7UqtyRxtVWW60rJUw4MfCizqQ8IMTqMiy54R2n01/Uhh2rNYp6ldzTmRw7dmxutVy7ShueG3b8YI/JF+qQjseF/lN5Y/BTNMRf3FD/ZFlnP4A0MqBJ9qivqYcZ6CQ9rsnPardZ+N1qivLEoCOlixWMtDGUqb333jvS4C6Z1+Ka8quaZaAW8ayVnyn91Sqv1faPdPMeMh7hfeYZRT8Q4SN9pCzLAjMmoTluAnPqY+po7ntS9FF5j4l3spf8pl+ZZZ3HMtDPKR2HsOKY41KIQ3LLlXARmnOfFDsDOFeKei/L3vCTeKZ2gzoFd7wDyV1/rqSJ8RFtVnJPm4WwirhmWRZcS+s0GLBijDYkuSt3HUw92JRrS5hc6G+8YMFYgbxJftDnpu+NWZZl+dE69HGYeKV8RMcf/QHGvx23+T9lD0FU/lD4oc1iuyH9+qRNfsA/+U9Zozwnv7HHooBjjjkm7wvzPBBF3jZq32og6Sp1S5+imI+Ys4hhoH1T/FH1j0BdBVhEkZeKvdMIJ8h89CpVVDAMZpl95qXpyR2DWF5sZgx6s4s/2GELB1JLOtTo9VdlWRYMlv/85z8HFVEl/nDQIlLdrbbaqlvrxJHBNbMw3Vp63QBBHFsh6Mi9rtXUFxpgZqiphBEEViMxVP7sdacxqdQ/OjKU3e7Ov6KSg305/2i4yunXUo8VCuzlL3Y4yoWHMBEWMClnjl4tyx+ziMWOLuGhmHUiz7nviyJ/WMVBmanEHYeiUl/QGSyuBqvEbb3tZFlt6pd6p6NceAjj0zbCZM6KmPHjx6fHfl8Hs03oKdJ0PlmN21vnnjLK6kQ6nhzQ25OftTDLstqUO1Zgkybq+NJ4s1qX7TSl+ukZdtRd6Zkrwi/6Ctz3RbHKjTPXGFD25I4ZdVYHsnq6J3uUN2a+6VdQd/ZkN5nRX6DfgCA9y7Kk3XWlfqaermab1eV5C91QjyCYKJckVqyXGwyWsztQvVqUgR7i1HBG1S6v1fYPYAhl2BHQ23vPO8wkJCtXytVV+FWqqNOZpKbOKDXr7pk+C9v+yo1DsiwLVqiyEICxVHd+FPUR2rJC6rDDDquKwIKVYYxVKk0T9mDAzpAsW7hOK8Z1MO9pS0r77ow1WDU3kHghjKR80X735g9ljG2qnHHMCt4s6+TFCq3u+sFM4iC0Iq69+Y/5cccdF2eddVZUs59LPUf/eTDG26SpHoo+BX2LYli838WJkqKZ97UnUHcBFknKsiwQ1LCckq8nsEoFKSYdWcyT4mVm69+Xv/zlYNUOLzWS5SzrfKmTve6uuKeyZ4keA1PCKL603KPHiiW+eMXKrkobhe7CLOrTIebsrWuuuSbf6sDndZM5DSAzsUjnka7T0WXQncy7uxJnVp+xD/+ggw4KGqdkFzMaF7agEGa5BjDZbfQreYfwjRU/zHyzgoYl2ZU0An1JG4xo3BEucR4beULeJD+IB2Xw61//en7gO4fy9xQHKnLykrJUulSaRojlp8nvelyzLMu/esIZWHS8inHifWOgRNp/9atfRenKl3Lxo4zVovzRMWXgxioxwiiGzftRfK70Hn8oM7hnEEk+kp/JPelndo3yxRZCVrUMhmAgxaev11rUL32NQ7XtsxqPpfxFfxHuZ1lldX7RXbl78n8w24RycUKPd4/VxpxjwRaAVAcR39RGUX8gkM6y6rAg3P6oWpQ7OoJs4y6mnbhR7/e0Ags7bGEoCuiZROhfOx7BYOuee+4J6gvqJPxHUVfAnraV1Txrrrkm2r0q4kFb0F0fBA84P4N2Dr/p58AX/e5Utdus7sJpZv0sy4LVx7RrrCwupoVtppSrol4t72tRBmoZ32r7Xe3yWm3/SC/vHO8e561S31Lvoo9CqEx9wDuMECbVzZhVoth6SJ3BESL02Xnfi+7opxDmaaedFvRD6LOgV7RTvM+yLNjBgGCfsQtCF+qnoh3GGqy6oW/z6KOPBpNAWVa9doP6r6c0kUbSSt8SYT8MivFr1Hv6Hln2BidWlrF1cqDxxR/ONWSsi0CsWIbIa/KfMSr5z2omxhisBoMjYTNuYPKKCV2eSxUTfLQf8IZ7cpfsUYYZa9KHYCxDnZTMqnXlnWnEvlW10gcz+hbJP1ZjFZ+Tvtf6ERgUAVZKXpZlwYtHR4PKnY4FL2hSHECN5J5D7agws+yNiiX5Ucl13Lhxwd5vwmDmLfnPPXosp6QS6c0v9hBzkGNyT8e5Nze81MyWUvlwOGNyy55m9ttzWF9vMz/lwuBMH7Yj8HWP5CfpYQDEzHAaiBPHZH7DDTdEucqY5cvJDuc1sW2rXJj91SNMwk5hVHIl75lxYCsYaagkf4rxw00Khzwj74rmxfssy4IGlm2f5Al5k9wSD8ogsxaV5hONDx0ezq9J/nBlywlL1gm7L/HDPop8IX/wC0W+oV9URTvFdKPPysdinHjfWNZN2rOsb+9WNctfij8CXJbNU45JX1K8/8kOaU76sCBdyay7K/nGIJJ8JD+Te9KP8JK84D3tzn3Sx15yW2SbzMtdiR/xTO6Ifzl7/dUj3tWqXwYc124SwbsHr0oZ0AFLdrnSqezG61wbpthDEQ7h5QY9/FSrTagmM+psJiA4yynVQZTXvrRR9Sqj1Sx3ZFOWZcHkVDHt5CdbYNg2g53uFIzo4GPOVgwYct9fRf1NfcHAjzigqCtow4tta1/876684Tf1A+1cX/zOsuq2WZWkpZKyXq/yceBcKQAAEABJREFUV0l8eZ/YhoNAEs5JIYhgcgw/SvsmrLBBvzdVrHPIP9j05qbaZaC38CoxJ72JS6V1Z/K3L3mdZdUtr1lWXf9IEwNUPuZCfUudkrgw+Ud9QP5hr7TMwAH9nhRlESEFfXbKS/KbK/0dwuTYhBRGT34lM/rEjF3YaUH9hF9JMdagv0ncqKuTm2pee0oTaSStfelbFssi4wU4DzS+vJfEJXEhjJ78ZNs2R9Yk+7znPdmHb7LLlefu7NOuMNa9++67I7XvuEn5zxgVO8k9bVmxDeK86Czrvp+eZZ3vBNyLaSYMyjBjTXgk/0uv8IY79lG9sSp1n54pw6SFMk3a8AvFPXqUWcpust/dlbgW01EuL+CN36hK669K/O0uTuysIizUa6+9FpWuekv+lYZN+tBL5t1dyQvCTIp0d2c36WMn2eeKH8msVa6DKsBqFYimQwLVIKAfEpCABCTQNwKsNmbAiSu2ayCw5l4lAQlIQAISkIAEJNB6BFpJgNV6uWOKJCABCUhAAhIoS4BtGWz7wTDLsvxrPWmVK3oqCUhAAhKQgARamoCJa0MCCrDaMNNNsgQkIAEJSKCZCbC9kC9rsT2CdHAYc1+X9ONOJQEJSKC9CZh6CUhAAs1FQAFWc+WXsZWABCQgAQm0HQHOsOMrR5zt8qMf/Sje+c53BmfmJRBHHHFE8BGN9OxVAnUjYEASkIAEJCABCdSNgAKsuqE2IAlIQAISkIAESglU8swXmo455pjYc88947DDDgu+uJTc8TWg3XbbLT16lYAEJCABCUhAAhJoUQIKsFo0Y02WBCTQNgRMqARansCSSy4ZfCmsNKHrrLNO8IWmcmaldn2WgAQkIAEJSEACEmhuAgqwmjv/jH1VCOiJBCQgAQk0MoHVV189ttxyyxgypLPbsswyy8RRRx0VN998c6yyyiqNHHXjJgEJSEACEpCABCRQJQKdPcGBeqZ7CUhAAhKQgAQqInD00UfH/PnzczVp0qRYbrnlKnLXzpbGjh0bV155ZcydOzfn9swzz8S3v/3tGDNmTL+wLLbYYnHDDTfkfpEX5513Xr/80ZEEJCABCUigLQmYaAkMEgEFWIME3mAlIAEJSEACEpCABCQggfYkYKolIAEJSKDvBBRg9Z2ZLiQgAQlIQAISkIAEBpeAoUtAAhKQgAQk0GYEFGC1WYabXAlIQAISkEAnAX8lIAEJSEACEpCABCTQPAQUYDVPXhlTCUig0QgYHwlIQAISkIAEJCABCUhAAhKoCwEFWHXBbCDdEVBfAhKQgAQkIAEJSEACEpCABCQggdYnMNAUKsAaKEHdS0ACEpCABCQgAQlIQAISkIAEak/AECTQ1gQUYLV19pt4CUhAAhKQgAQkIAEJtBMB0yoBCUhAAs1KQAFWs+ac8ZaABCQgAQlIQAKDQcAwJSABCUhAAhKQwCAQUIA1CNANUgISkIAE2puAqZeABCQgAQlIQAISkIAE+kZAAVbfeGlbAhJoDALGQgISkIAEJCABCUhAAhKQgATaiIACrDbK7AWT6pMEJCABCUhAAhKQgAQkIAEJSEACrU+gNVKoAKs18tFUSEACEpCABCQgAQlIQAISkECtCOivBCQw6AQUYA16FhgBCUhAAhKQgAQkIAEJtD4BUygBCUhAAhIYCAEFWAOhp1sJSEACEpCABCRQPwKGJAEJSEACEpCABNqWgAKsts16Ey4BCUigHQmYZglIQAISkIAEJCABCUigGQkowGrGXDPOEhhMAoYtAQlIQAISkIAEJCABCUhAAhKoMwEFWHUGTnAqCUhAAhKQgAQkIAEJSEACEpCABFqfgCmsHoGWFGDNnTs3fv3rX8daa60VWZblaoUVVojvfOc7MWPGjG7p3XvvvbHzzjvHiBEjcjeLLbZYHHDAAfH4449360YDCUhAAhKQgAQkIAEJSEACEqgZAT2WgAQkkBNoOQHW7Nmz45BDDokPf/jDcf/998eSSy4Zyy23XDz55JNx1FFHxZZbbllWIHXjjTfGZpttFldeeWUOBoHXzJkz45xzzolNN9007rrrrlzfHwlIQAISkEA1CPzhjjmx9YkzKlbYLxfurDkRmB107szY6Tud/vFczu4zL82Pj3z/lR7D3O/smTFtZjnX6klAAs1LwJhLQAISkIAEmp9AywmwLr300jj77LNj7Nix8cc//jFeeOGFXHj1yCOPxIYbbhj//Oc/45RTTon58+d35R4rrA4++OCYOnVqHHvssfkqLfSmTJkSe+21V0yePDkXfk2fPr3LjTcSkIAEJCCBgRAYOTxiiUV7VouPjMgiYtSIiJXHcdfxUPj/9+R5sc+PX4nT//haPPTMvHhtdgRu8Ltgret29tyIWXPfaP+6DLzpnYA2JCABCUhAAhKQgAQGlUBLCbDmzJkTl1xySQ70m9/8Zmy33XaRZZ0d/vHjx8fJJ58cw4YNi8svvzyeffbZ3B4/l112Wdx33325/aOPPjqGD+8YVXQYjBkzJs4444zYaKON4rrrroubbrqpQ9d/CUhAAhLoDwHdLEhg23WHxW+PGN2j+si7RwTipjWWHRLrrDh0AQ/+76G58ZVfz4znX54fyy+ZxbEfGBnXHDM6Lvv86MDvBSy//vDklHnx6qyI5cZm8avDF43rvzx6IXXuAaNizKjXHXiRgAQkIAEJSEACEpBAgxBoKQHWq6++Gs8//3yOdpVVVsmvxZ8VV1wx31L44osvdgmwcHP11Vfn1vbZZ58YNWrBXvu4ceNi4sSJwYqtq666KrfnjwQGiYDBSkACbURgxmsRf7l3TgzvkFvttsHw/JqSj9kv/jYruE5YZWj8cN9FY4u1hsbQIclG+evMWfNj7ryIRYZnMWJo5wRPeZvqSkACEpCABCQgAQlIoLEIDGms6AwsNqNHj45VV10194TVUgid8ofXfx5++OFcwLX88svn52Kh/dJLL+WrrxBcrbnmmmgtpNZdd91c7+677w63EeYo/JGABCQggRoT+Ot9c+J/z86LVZYaEhutNmyB0DB74Ol58abFsvj0tiMqXjH10syIOR0CrCVHZxW7WSBgHyQgAQlIQAISkEDTEDCirUagpQRYWZblB7iPHTs2P+fqrLPOClZY8VXCa6+9Ng488MB8JdWnPvWpWGqppfK8ZDXW1KlT85VXfHUw1yz5QeC16KKLBudovfzyyyWmPkqg9QmwyuOuSXOjmurpl9gY1frsTOHgEnjooYfihhtuqJrigx9MfNQ6VbPmRPzxX7NjXsdr8r61h8XoRRYM8ZYH5+RmG602NFZduvKm/LlpHdKrDq/GdQi+Oi4t/D8v5k+7NeZPubF6qsO/mD+3hZk1b9LmzZ8X/3nxwbj92f9UTeEf/jYvFWM+bdq0/BxcPuRULTVr1qz2A2uKJSABCTQQgcp7vQ0U6Z6isvHGG8ff//73WG+99YKD2VlZxblX2267bTDouPjii+Pzn/98lxevvPJKLuRCeIXgq8vAGwlIICdw7b/nxAdOnRFH/vLVqqq9f/hKnPj71/Iw/JFALQh87GMfizXWWCPe9773VU1tueWWscwyy8QFF1xQiyh3+Xnr/+bG/U/Ny8+22mqdBVdfTX1lfjz2wrwY1tGCv2PlofH9a2bFbt/r/PrgtifNiEN+OjPuntwpqOry8PWb6a92SMQ67ic9Py/2PfOVwP7WJ86InU+ZESdc9lpMmdFp3mGlef9nPx9z/r5GzL1ts5h7x/urpzr8m3PTKhGvTmpeNi0Y82deeT52+sNBse+1X4qD/3Js1RT+7XL5wTHltWkDpqYH9Sfw5z//OejzX3HFFVFN9Ytf/CIefPDB+ifIECUgAQlIICfQ0f3Nry3zw4oqDnC/66678jQtvfTSXdsFmYn57ne/a8OTk/FHApUR+PX/zc63HFVmu2+2rv/PnHhxegsMmPuWbG3XgcCjjz4av/zlL2sSEjPwP/jBD2riN57ypcAr7pgdXDd/67BYZkyGdpea/mrESzPn5yuwzrjmtbjs9o53dG50bQl84Ol58YVfzoxLb5vd5SbdTH6x8317sMPO5Bfm5+dhYTZzVsSf750Th/5sZr5tEb0GUn2KyrynOvL91cf65KZiy7OeiXlPX1yxdS3WnsD1j98Sz786pSYBPTvzxbh60l9r4ree1o4AuyVYfVuLEObNmxf/+c9/auG1fkpAAhKQQAUEWkqAxflUH/nIR/IZl/e85z0xefLk/LD2J598Ml99dcghh8Rtt90WO++8c0ya5AxqBeVDKxIIDn2uJYbX5lTH989+9rOxwgorVKQ++MEPxowZM6oTcFP4UvtIsl37Rz/6Ufztb3+rfWAVhMDq2gqs9dsKA6R+Oy445GzF1VdffYFyO37lFeL8I1eP+364Zhy/z6oLmP3pT3+KZ16aF690lN9Hfvux+Nf314tdV7s//nDk6Pjd50bHGk98OXf37D/Piov/MTseeW7BlVgrvimLkcMj3v2WoXHRpxcNvkL4p2NGx+d3WCRGjYh4dtr8+P6fXsuFZ4VoNtft3Om1je/cV6ri/w9/+MMF8ran+mujjTaKZ555Jg+XK88o7tHkyjNliTKFXruo6bNqW5dXy//+5ne75GM108nRIdX0r9Sv1157rVSrX8/U5z2995itvfba8fGPfzzuuOOO/BiUfgVUcET9QD1BfUG9gRFXntHHHL2BqEbrDwwkLbqVgAQaj0BLCbA4uP26666L1VZbLVjiu+KKK3YRHzNmTJx++umx55575iuwfvazn+VmSy65ZGDGjPrMmTNzve5+2Io4ZEhLIesuqeqXEvBZAhLokcBXvvKVOOGEE6K3erRHTzSsiABfEZw/P4J1WcOGRnBG1tDXmya2FUbH35hRWb668R8Pzu14euP/iO0XiSu/ODq+9aGRXSu7cLvTO4fFp947IoZ0ePrwM/PivifnveHIOwlIQAISGBQCHH9y/fXXxy677BI//vGPqyLEqnVC7A/UmrD+S6C9Cbze5a09hHqE8K9//Suv2DfZZJNYZZVVFgpy+PDhsdtuu+X6rMRihmD06NHBAe00EC+88EJuVvrz5JNPBrP5K620UmC/1NxnCUigcQjsscce8cQTT/SoLr30Ut/lKmfZnDlVWkpX5Xg1i3cjR46Mq6++Om64fXJs/IUH4p2feyCuvPmxhcox5zmSpqEjRse6e18QN93+UH7mI3pFlbYd3v/kggKsop3S+y3eNizevEQWfLThsecVYJXyqdUzfZYHHnhgobwu1mP0Wd785jfnUeDKM4r7XNOfpiHQ1/xumoQZ0X4T4GNRrLAqvvPcP/7448HkfKr3Tz755Lj11lv7HU69HNofqBfpxg/HGEqgFgRaSoDVF0As/2WJ8RJLLBFrrbVWvmqADmQ5P2655ZZcm4PhOew9f/BHAhKQgAQkUGUCv/vn7Jg2M+LtKw6NdTpUOe/fvMSQWGR4xGuzI99OWM7OiKGdujNmdV4r+R0xNGULMPUAABAASURBVOvwN8utzp2fX/yRgAQkIIFBIpBlWay66qrxve99L97xjnfE7Nmz4/LLLx+k2BisBCQggcYgMKQxolGdWGywwQaRZVn85S9/iYcffnghT6n4f//73+f67CkfPXp0MOu9ww475Hrnn39+LsjKH17/YVXWtddem/u74447vq7rRQISaBUC6eysK6+8Mk488cRg6zFqv/32i+effz5PJqs1f/e738VOO+2Um3MuBYqvnnLuU3fnIbF68wtf+EKwIhT7b3vb2/Jtds8++2xwDlfxvIl0BgXnUODusssui/XXXz8/I4f48FVV9IkQ9ds+++zTFZctttgi+OLSfPaVYaGgENT/4Q9/yL/CRxxQCOPZ7lcu3okHZ3Mg1C+GQ3x++tOf5l9uTUFwXgbpuOSSS3KtT37yk3mcOe8l1/CnYgLPTZsftz8yN4Z3CJ92Xn94fi3nePTIiEWyV+KBX38sPrj1mkEelNqbNTfi1efujet/+ME8P8j3LbbeOd5/5F/iS7+aucAZV7gnDz/20Q/GMw/fGg//cvs4ZJdV8vJHuU9+8x6Q/5R7/ENxjx5myZ7X2hIo1hXc9xRa6fu8++67d5WH973vffnqDuoNVplTJ1BHka9cGTQ3f772RKe5zKivaW9458gjFPc9vX+Uj29/+9uBPeyjaE8mTpwYHLlB+1CkYHkp0mice447oZ0nRnwBkfeV+6RoqzknK/U1uPKMfrIzkCv+4B/+Uoa48ox+0d/UltgfKFLxXgISqDaBlhJgsSz7/e9/fzz11FPxqU99Kh555JEuXhzYfPzxx8dvfvObWGqppeKggw7qMqMhZxXWNddcEyeddFKXEIuvFh5++OH5we80HJtvvnmXG28kIIHWIvD9738/ELrQUeRcPJbAs+KSeuATn/hEfPrTnw6+boo5y/1HjRqVb/lh0Lf//vsH9opE2NLMsv+LLrooGCQsu+yy+ewpAxA6fnwxtWg/3TNgROh12GGH5X4us8wy+dZoZl333nvvQKDOhygQ1LN9iLP5EGjhJ2bJH67EiY9XoOhosuKUeBA28dhqq63innvuwepCCgHaNttskwvG+JorbhkMfe1rX8tZEE8cDR8+PMaPHx/Eg2fswWfxxRfnUdUHAn+9f048//L8WGWpIfHOVYZ263KpxbJghdb8Dhtz50bMLrN78+6bfx+PXrJHPPvoXUEZorw+fN+d8d+LPxZ/uezMeOTZDocd7ov/D//vf3H3JZ+O2dMei3FLL5t//GTcuHG5FYSnCD/If7a2vOlNb8r95R49zLCTW/an4QggiOR9Z9shdQDvK3UCH7654oor4pOf/GRQJ6DPO0zd8d3vfje+8Y1vBHVhwyWozSJEPU3+0d7wzvFO8w5yz/vHRCzbzYpY7rzzzthyyy3jjDPOCN5N8h2FHcoB7dqZZ56Zty/oFZXlpUijse5HjBgRQ14/jxfhM2f6UjY4J4uY0v7SLvOMPubYw6yvCne4xx/8w31P/hOu/QEoqSQggVoSaCkBFoPNs88+O9ZZZ538S1gc5k4jz2wTA9JvfetbQeVKg42dBBbzU045JT8LCyEXnTf0GKheeOGFwdlXp512WuB/cuNVAhJoLQL//ve/cwEWM4h8Ipu6hBWaXDmD4p3vfGcuzMYenX9mQZn5pk7B/J///GcXkClTpsSXvvSl4IqA/L///W/cfvvtcf/99wd1DYMRBo9dDgo3CJf++te/5vawzyDkxhtvzIUFuNl3332DzmTRTz5OQUcTAX0abPJMWKwsW3nllXPB17333pvHA7cIvBjUHHXUUXk8C1HIb1mtiqDsvvvuC+IAEwa4WZblZzXBAIus1KBjSzp5pq7EDP95VlVO4K5Jc/ND1CduODxGLxI9/u34zuExtKMFn9chxfrN/80KDnbHwZx5/EbMePb+GLvyxnHFdbfm+UdZOunbp3QYZvHYX0+Jr/3wz7mwrEMj/+/wJqa+8GwMX2LV2PMbt+TlhLzfbLPN8hV3lGfeDVZykL+8B5QL7hHUYnbcccflQtrcQ38aigCrMDkDlHc/1UWsKqeeYHXnY489ltcR5CvvOsJ8EvDHP/4xF9RzrxocArQj1NPU10yk8s7x7pFXHHHBilraBiY+mKwllgggEWxxZSL2oYceyt9p8p57Jnmxx86DtNKY56QsL4lEY1wpA/QLiA3jF/om3PPVX/KZe9r7/3VMQlA+qO9/8IMfxCKLLBLUy/09N6uv/tsfICdUEpBArQl0dH9rHUR9/WdZ68033xwsmeb+ueeeyztfCKVYJUHl/oEPfGChSLE1iEqfK4bMajFjjRv8mzBhAtqq+hMwRAn0iQBL11ni3p367Gc/W9Y/VnCy4ijLsnzLMLOcbNlgMEddcOSRRwYzj8lxlmWx9dZbB27QY2DIFUVHkxVYnFmB4DytRho6dGiw4oEBBfa6U8yMYw/72HnLW96SC624Z6sXqyKSn3Rk2Y6IGUI1BizcM0jhsHrMGYyybRp9FG6/+tWvBmkmnsQX/aIqDSfLsnwLJTP92EMYxlVVHQKsaPvnubvHvT9YM/bfcZWubV6pHJMfCIlSaG9ddkgsu0RHWe3Q+Ov9c2On78yI3U+dEX+5d06HTsSIsavESSd/L975thXyZ8rSx/b+SHx8/89EFvPjXzf9Jj5yxrTczZEXzMzP08Li6psfEIfv8uZ8++Lw4R1Cso4yS9vIdiMEoazmKL4H3LMqZPz48cEqZsoT/qgqJ4AQYs0111woz1Pe837PmDGjcg/L2KT8lNYbH/3oR7tssn061RFZlgWrztdYY42gD4Vwq8uiNwMm0Nf8pn7mveIdO/XUUxdoh5hgZWKByVqEDUlQ8eijj+YTE5QrhFW0Ayni3NO3XXrppYPt7OxaSGbpanlJJAb3ytEnCCpZfU0ZYDKeiSViRZvBBBtC6KOPPjrvW1DPY8aVVbGf//zn80mF8847r88rKWvtP/FUSUACEuiGQI/aLSfAIrVU8MxW0YBTsaNY1UBFz8oq7JRTdN5YSj9r1qx8SfX06dOjNzfl/FFPAhJoPgIMDjgXrxhzBD2sskIY9L73va9olN+z3YavmOYPhR8GHDwiEGclJ/dJZVkWu+66a1BPJb3S63vf+97IsmwBbVaUosFKMAYe3CeFgJ5BCYNcOrzo0+mdOnVqbLrppkHdhl5RkVZWzqCX4st9UpzFVRoO6U3xTiu9kn2v9Sew1OJZDB8WMX6pzrLC4e9DOm/jIx/cJXbZbKUFIpVlWXx49+3ysx+HTP13LDJ/auCGg947jGL4yNFx3D6rxmrLLNg1+Pvf/577g8CWAXP+UPhBiIUwlLLHCo+CkbcNQqBcvbHUUkvlZYH8K60jWLkx7vXtozNnzmyQVLRfNOi/ch4hKd9ll10WEF6hh1p11VXzyQXuWQ3LlVVZvLdsNS+txzGnvUBAzX05ZXkpR6V2eqyu44zJJLRO1/EdEwPbb799ILzKsiy++c1vxtvf/vY8Imzpp50fO3ZsYCfLXq/8c9POny233DL/4jIr9ljF1alb2W+t/a8sFtrqPwFdSqB1CSzYS23ddJoyCUigTQjsscce+apLVlGWU6effnpZEklAVNbwdU0G6KxIYFUms94IqFjl9LpxfkGIhPCcB1YwcC1VDAzpdJbq88zAIp1TwnN/FVtKcItw6j3veU8gkCpViQXxJd7YT6o7Ht3pJ3de+0eAfL/66qu7Lbucc8agtNR3BFbH7Doy/nj06Lj+y6Nj63WG5Vbes8k78mvpz3LLLRecnfPay8/G/9v1pdzNTz41KhbpcLb0m5aI1VZaegEnCCoJG82LL764bDmiXLHlFDuuzINC39Qmm2wSvK/l6iv0qGMQOPfN1wVtsxJnQR2fBotAX/Kbw7qffvrpPKoIOPKbMj9vfetbc91JkyblW37zh8IP9TtnZFHHsOUMYRhCk4KVBW4tLxGxAJHBe+Csy4997GNx4403Bv2bFBMETEzOM1H1oQ99qGzdjDvyvruVdsmvctda+18uTPUkIAEJVEJAAVYllLQjAQm0LQEOYOc8ELbUMBvKdmLOnGLbFIe69wcMq7ZY9dAft5W6SdtCEEAwUCmnXnrppUq9016TEWC1XDWi/NprrwWDJPxiJU65coQeZthRSSAR8Fo/Agg5CA2BF20W92yBp53iXCIEUu9617uCrYOsKuadxY6qMQjQH7jjjjvKTmCgz7EobOssxhbBVcprBFTkaalCv+imL/e19r8vcdGuBCQggSIBBVhFGjW6Z0uF6vauA0Rl0VwsGMDW6NXIvWUJfDXKxAsvvJD7x7Uv/mEfh6x0KHXHwezMVvMVP1ahcAYQBx9zrgRnAXFoOkv0i+5Zqs/2Y/TYeljqJ8+cU0J48+bNC87OQo/zjdi+XNRDPyns4yfxTXrpih+4wz3+oJ8ECnyZFQFcT+rLX/5ycGA37vCfcAiP51KFfjnz5K67NJf6U+tnzi4jnrVSnA8y0DRQplI+FeOJ348++miPdSZ5zorAorviPX4wg87WkxRP3jVWELItiTNSUEU33CPU5Cy15Ab3KRzO0umpHGHG4f3J7WBdGcSRllophMPVSFt6l6gvqDcq9ZN3nHcdxT3uuPJMPUDZQA+V3kvC4rmosId93OG+aEZ8iBcMG+WdLsaveE9+EM9aKfwvhtffe/KAOMIVvpX4gz3s466nfKBNwU6WZcFHQlh5++EPfzj/siQrcN7xjnfkZyR95StfiXPPPTfOOeecYAsp+U85SHFplfICA3jUSlG/JmYDuZKnxLHcO9ibv5MnT8ZpILw877zzgvq3O/XrX/86PwsLP8lv8r0YJu8/z+hjjr3++o/bVI5IH8+q5ur3m1/mV09lIK94BvlHAdYgZ4DBS0ACtSIwcH/ZcvHb3/42P4+KQ1L5qg9f7EJoxWosDnpPM6ApNLaC0aHkGfdcSxVCAmY3S/Wr+YywDf/YflJOSIKZanAJUAbYvsmgAZUGDgjf0gCguxgygEK4jDsEYRy0TV6jjxu2uVL+WIHHM4oBCgNiBFucZYYgi3sU95izBSl9CAA3nIWUtrRihj30VRKQQO0JFNsTtpmWC5F3kvcfM7YHs/oSARbCZ1b2nHnmmfnZSXvttVewCiudiYU73KiakwBHEXBOJ2db9dZe9CeFtfa/P3HSjQQkIAEIKMCCQo3VBhtsEE2pjLf51lEGGMDW8hVZd911q8KZzhbx5NqX9w37uOPQ1FJ3bPVjGwbnBjGbXWqOW1YuFd1vuOGGwVfD0GOLIWdGlbpjJh5/hwwZEmzvwJzzjRCIFfXQT4r44SdhJr10xQ/c4R5/0OesDIQU999/f3BYL3pFxYz8hRdeGKSL84vYGok5/hMO4fFcqtAvZ57c8cXEUjeD8bzOOusQzZopBpbVSFfKO/KP+0r95JDlxRZbLHDH1hIElgiaiBeJZka9tOxxhg6rqxB6cS4ajBC2orIsi2L5KcYjfa2Z7APkAAAQAElEQVSOFVzkc9GM+7XWWiv4it0+++wTlHn0BlMxaIdBrRT1QTXSl94l8pH8rNRP3nHyCsU97rjyTHkoliPyCw6Ehb2iwh72cYf7ohnxIV64bZR3uhi/4j35QTxrpfC/GF5/78kD4ghX+FbiT7E94Wug5eJCHmOG39T7+MtKS575iAdfjkWvqFiVhdCD/KccJDP8wh1xTXrpij3sN0N5SQedk5ZaKOrZxGUgV94t4leOaW/+br/99kGdniYeuC91w+QEZeK4447LPwCAebl85P0nDuQv5tjrr/+4TeWI9PGschxoGWiiMtAx9uspv6izBlsNGewIGL4EJCCBRiWQBAJsSfrzn/8cacaaK4dVH3TQQVHujAnOy0JAxAz4V7/61UBYRRpZrcVB2CeffDKPNVV0HHfbbbd828CnP/3puOmmm7riz5YwzkH51a9+lR/4yzbDctvJ+hPBJNDrj1vdVI9AubLH1iHyHcHmfvvtl68srCTEjTfeOBB4UdYp88WVIJy5w/kst9xySy5M23zzzSvxUjsSkECFBFJ7wmrNz33uc0F7lJyyzevQQw/N2yHe0c022yw34swrbliJySQG9yjqfj4KwJe6eVY1LwGEaPvuu29ej3OkwQ9/+MO8PSdF9FHYAnTssccGAq4JEyYE/RnMKlUjR46Mgfrfrv2BShlrTwIS6B+BIf1z1pquGJDuvPPO+Sx0lmXBLNkBBxwQbMNozRSbKglIoCcCzER+4AMfyK184QtfCL4qyBfXuG6zzTb5QILZbSz873//45KrJZdcMv7f//t/wfWyyy7rWmXFl6KOPPLIGD9+fNA5ZLsHq19yR1X+YRsJZ1ttueWWeTxZacWKG+KPcIsZWTq5CNgY+Aw0+DRgQpjB6gI60wP1U/f9J7DrrrsGK+sow8ykUfYYzODjSSedFJQF7itRfAHvlFNOCfKY7Y3ve9/7Iq2cRA/BGOUNwSzhVOKndiQggcoI0I7wbrGykIkI6nDqWN5BvmjIakveQ95R3lV8ZfJi1VVXzev+rbbaqut9Re/www/P3/+11147F3g8//zzOGkkZVwqJEA/hDactpw+B/Uv5YP6nTYAYSd9APovWZZV6Osb1vrrP+URX+wPQEElAQlUm4ACrNeJ3njjjcHM1ZVXXpnrsHyac2M46JIl2GyLyA38kYAE2oYAW++++c1v5ueHIGiiTqBDiOCJw3D/8Y9/xIEHHhisXmILR9q2ASBWYP3pT38Ktl9hzvlE+Ie7s846Kzi7Anu1VKy0+fnPf54f5EuHkrO3iD9hbr311vGXv/wlONMry/rescWPomL7GMK+LMvy1QDUmcXzl4p2va89gd133z1Y7YewlbLH2VgMZFlJyOA2y/qW5yuuuGLQPh533HFB+8iXCfEXQSxlnHeBDxzUPmWG0DsBbbQaAbbE8e6yAov3j9WQvINsH+ZLg1dffXXwjqZ0c8/B3bybCJexy3YytiRy4Pfvfve7oA3A/vXXXx8IQLhXNReBLMuCVbHXXnttV37SxtPW0+b/+Mc/jl/84hdBX6A/Kcuy/vlvf6A/tHUjAQlUSkABVgcpVlgxiONAXWaoORsAPQ5G5NBLlmiz3Dp9CabDif8SkECDETj99NPzT1Bz7UvUsM+ZVIcddlhZZwzQ+foan7LGHoovPrFtAyEU26s4QJdDc9PhuMkjZsyZFZ80aVIeNw7pxh2Hb7OtkIEFZ05gHwEZQjAO5OY8CvSKivgRNvEt6nOPfdzhHn/QSwqhGQILhFW4RxEfOrV0cJO9dMV/7BBe0ite0S9nTgf5+9//fr5iFfOzzz47SF/RbdPc1zGiKe/IP+4rDZqVFmwFKnWX8m/bbbcNtvOlfKdNO//88/NVVKVhEC7+lCs/RbucCbf//vsH5Z88RvGVKco4Zb1o1/veCaR3iXwkP3t30WmDd5y8QnGPLleeyUfyEz1UKg+ExXNRYQ/7uMN90Yz4EC/ymLJUNPO+fwTIA3jCFb599YX2hpU0xfePdodtXrRTpf7xTvJuUt8TLnUAK4LTlvFjjjkmb5cQgGVZlju3vOQY6vbDu0XelHsHK41ElmXBajra9JTX+EndzyosJtCKfpV773n/iQP1AeZF+1nWN/9xa38ACioJSKBWBBRgdZClQWef9nbbbRd8aYwBX4d2PmPBvnKW41533XX5GTLoqyQggZ4JtLspwhu2d3zjG98oi4KDtFkRw1Y+BiVlLakpAQlIQAISkIAEJCABCUhAAl0E2l6AxSCSpdcQYcnrqFGjuO1SfElj4sSJ+fLqq666qku/xjd6L4G2ITCkc+K3pdLLV9nYssEh6cyWp+0ZXJnlZKUnCebrQOVmzjFTDYxAltW2YJXOag8strquKoEa531kbd91qmp2DdSzrMb5UWv/B5p+3S9MIMtqW/8vHKI6EpCABAZMQA8qJND2vTD2ibP6CsFVue00cGQlBVcOynQbISRU7UTgrcsNrVlyl1g0YukxrdfR5GBdth9PmzYtOIuIA1VZycl5RAjE2Z6MwNwzg2pWtILDipdYYomaBbD++uvXzG89HhiBbPENBuZBL66zxSf0YkPjehJYa8lVaxrcOm96S0391/PqE+AjTIssskj1PX7dx9LjAl7X9jLoBIyABCTQDgTaXoDFKgnOvkKARYNXLtM5R2DRRReNRx55JDi3ppwd9STQqgQOef+I+PAmw2O9lYdUVW3z9mFxwodGRSuuwBo+fHjwpTcOa58wYUIgyOJgVVZ8IsjiDBS+GIS9Vi03g50uVraxunbvvfeO9773vVVTfNGJMxH5utJgp9HwyxPIxm0XQ992ZnDNxm4RVVMd/g556+mRLb1b+YDVHRQC71l+wzhqg/1j0+XeGesvvXbVFP59ecODc38HJWGDEWiLhMkK2R122CHYpr/ccstFNRUfaHn3u9/dIqRMhgQkIIHmI9D2AqxXXnklGFQivBo7dmzz5aAxlkCNCSy1eBYHbjUiTv3YqKqqY3ZdJN62fOtWQXSgd9ppp/zLbRyey6GqXDlzjxVaWdZ6K89qXBT77D2DjAsuuCBuuOGGqikOxkV49eY3v7nP8dFB/Qhky38qhk64IoZucH31VId/Q1Y8tMdEaDg4BPZ8y/Zx+hZfiTO3Or5qCv92X/394V9zElhmmWViq622il122aWq6l3veleMKjlupDkJGWsJSEACzUmgdUePzZkfxloCEpBAOxMw7RKQgAQkIAEJSEACEpCABMoSUIBVFouaEmhWAsZbAhKQgAQkIAEJSEACEpCABCTQegTaXoC15JJLxpgxY2LWrFkxc+bMiB7yeNiwYTFkSNsj64GQRhKQgAQkIAEJSEACEpCABCQggSYhYDSbikDbS2NGjx4dHNDO1whfeOGFspnH4cuclbXSSisF9staUlMCEpCABCQgAQlIQAISkECbETC5EpCABOpFoO0FWEsssUSstdZa+eqrBx54oCz3W265Jddfb731gsPe8wd/JCABCUhAAhKQgAQkMHAC+iABCUhAAhKQQAUE2l6ANXLkyOBTu7A6//zzc0EW90mxKuvaa6+NLMtixx13TNpeJSABCUhAAhJoGAJGRAISkIAEJCABCUig1Qm0vQCLDJ44cWK+Cuuaa66Jk046qUuINW3atDj88MPjtttuiy222CI233xzrKskIAEJtB4BUyQBCUhAAhKQgAQkIAEJSKCBCSjA6sicFVdcMU455ZT8LKzjjz8+2FaIHge8X3jhhcHZV6eddprbBztY+d89AU0kIAEJSEACEpCABCQgAQlIQAISqA2BRhJg1SaFFfq600475SutuOLkiSeeiFGjRsX+++8fN998c0yYMAFtlQQkIAEJSEACEpCABCQgAQlIQAIDI6BrCfSZgAKsArK11147rrjiipg1a1bMnz8/pk+fHmeffXawGqtgzVsJSEACEpCABCQgAQlIQAKDTMDgJSABCbQXAQVY7ZXfplYCEpCABCQgAQlIIBHwKgEJSEACEpBA0xBQgNU0WWVEJSABCUhAAo1HwBhJQAISkIAEJCABCUigHgQUYNWDsmFIQAIS6J6AJhKQgAQkIAEJSEACEpCABCTQCwEFWL0A0rgZCBhHCUhAAhKQgAQkIAEJSEACEpCABFqZQKcAq5VTaNokIAEJSEACLULgxenz4yu/fjV2P3VGbH1iZQq7X+1w80KH2xbBYDIkIAEJSEACEhgIAd1KoEkJKMBq0owz2hKQgAQk0F4EEEAd8rOZcctDc2PazMrTjt1/dLg5tMMt95W71KYEJCABCXRHQH0JSEACEqg/AQVY9WduiBKQgAQkIIE+Ezjz+lnx/Mvz++wuOcDtj697LT16lcBgEzB8CUhAAhKQgAQk0CcCCrD6hEvLEpCABCQggcEhcMejc0sC7vvjbf8buB99D1UXEpCABCQgAQlIQAISGDgBBVgDZ6gPEpBAsxIw3hJoIgJTZvR/9VVKZjX8SH55lYAEJCABCUhAAhKQQD0JKMCqJ+0WDMskSUACEpCABCQgAQlIQAISkIAEJND6BAY7hQqwBjsHDF8CEpCABCQgAQlIQAISkIAE2oGAaZSABAZAQAHWAODpVAISkIAEJCABCUhAAhKoJwHDkoAEJCCBdiWgAKtdc950S0ACEpCABCTQngRMtQQkIAEJSEACEmhCAgqwmjDTjLIEJCABCQwuAUOXgAQkIAEJSEACEpCABOpLQAFWfXkbmgQk0EnAXwlIQAISkIAEJCABCUhAAhKQQMUEFGBVjKrRLBofCUhAAhKQgAQkIAEJSEACEpCABFqfgCmEgAIsKKgkIAEJSEACEpCABCQgAQlIoHUJmDIJSKDpCSjAavosNAESkIAEJCABCUhAAhKoPQFDkIAEJCABCQwmAQVYg0nfsCUgAQlIQAISaCcCplUCEpCABCQgAQlIoJ8EFGD1E5zOJCABCUhgMAgYpgQkIAEJSEACEpCABCTQjgQUYLVjrpvm9iZg6iUgAQlIQAISkIAEJCABCUhAAk1GQAFWPzJMJxKQgAQkIAEJSEACEpCABCQgAQm0PgFT2DgEFGA1Tl4YEwlIQAISkIAEJCABCUhAAq1GwPRIQAISqAoBBVhVwagnEpCABCQgAQlIQAISqBUB/ZWABCQgAQlIQAGWZUACEpCABCQggdYnYAolIAEJSEACEpCABJqagAKsps4+Iy8BCUigfgQMSQISkIAEJCABCUhAAhKQwGARUIA1WOQNtx0JmGYJSEACEpCABCQgAQlIQAISkIAE+kGgyQRY/UihTiQgAQlIQAISkIAEJCABCUhAAhJoMgJGVwILElCAtSAPnyQgAQlIQAISkIAEJCABCbQGAVMhAQlIoIUIKMBqocw0KRKQgAQkIAEJSEAC1SWgbxKQgAQkIAEJNAYBBViNkQ/GQgISkIAEJNCqBEyXBCQgAQlIQAISkIAEBkxAAdaAEeqBBCQggVoT0H8JSEACEpCAeD+NlgAAEABJREFUBCQgAQlIQALtTUABVnvnf/uk3pRKQAISkIAEJCABCUhAAhKQgAQk0LQEKhZgNW0KjbgEJCABCUhAAhKQgAQkIAEJSEACFRPQogQakYACrEbMFeMkAQlIQAISkIAEJCABCTQzAeMuAQlIQAJVJqAAq8pA9U4CEpCABCQgAQlIoBoE9EMCEpCABCQgAQm8QUAB1hssvJOABCQgAQm0FgFTIwEJSEACEpCABCQggRYhoACrRTLSZEhAArUhoK8SkIAEJCABCUhAAhKQgAQkMPgEFGANfh60egxMnwQkIAEJSEACEpCABCQgAQlIQAKtT6CmKVSAVVO8ei4BCUhAAhKQgAQkIAEJSEACEqiUgPYkIIHuCCjA6o6M+hKQgAQkIAEJSEACEpBA8xEwxhKQgAQk0JIEFGC1ZLaaKAlIQAISkIAEJNB/ArqUgAQkIAEJSEACjUZAAVaj5YjxkYAEJCCBViBgGiQgAQlIQAISkIAEJCCBKhJQgFVFmHolAQlUk4B+SUACEpCABCQgAQlIQAISkIAEOgkowOrk0Jq/pkoCEpCABCQgAQlIQAISkIAEJCCB1ifQBilUgNUGmWwSJSABCUhAAhKQgAQkIAEJSKBnAppKQAKNTUABVmPnj7GTgAQkIAEJSEACEpBAsxAwnhKQgAQkIIGaEVCAVTO0eiwBCUhAAhKQgAT6SkD7EpCABCQgAQlIQALlCCjAKkdFPQlIQAISaF4CxlwCEpCABCQgAQlIQAISaDkCCrBaLktNkAQGTkAfJCABCUhAAhKQgAQkIAEJSEACjURAAVZtckNfJSABCUhAAhKQgAQkIAEJSEACEmh9AqawTgQUYNUJtMFIQAISkIAEJCABCUhAAhKQQDkC6klAAhLonYACrN4ZaUMCEpCABCQgAQlIQAKNTcDYSUACEpCABFqcgAKsFs9gkycBCUhAAhKQQGUEtCUBCUhAAhKQgAQk0LgEFGA1bt4YMwlIQALNRsD4SkACEpCABCQgAQlIQAISqAkBBVg1waqnEugvAd1JQAISkIAEJCABCUhAAhKQgAQkUEqg9QRYpSn0WQISkIAEJCABCUhAAhKQgAQkIIHWI2CK2oqAAqy2ym4TKwEJSEACEpCABCQgAQlI4A0C3klAAhJoFgIKsJolp4ynBCQgAQlIQAISkEAjEjBOEpCABCQgAQnUgYACrDpANggJSEACEpCABHoioJkEJCABCUhAAhKQgAR6JqAAq2c+mkpAAhJoDgLGUgISkIAEJCABCUhAAhKQQAsTUIDVwplr0vpGQNsSkIAEJCABCUhAAhKQgAQkIAEJNCaBagqwGjOFxkoCEpCABCQgAQlIQAISkIAEJCCBahLQLwnUnYACrLojN0AJSEACEpCABCQgAQlIQAISkIAEJCCBvhBQgNUXWtqVgAQkIAEJSEACEmgcAsZEAhKQgAQkIIG2IaAAq22y2oRKQAISkIAEFiagjgQkIAEJSEACEpCABJqBgAKsZsgl4ygBCTQyAeMmAQlIQAISkIAEJCABCUhAAjUmoACrxoD1vhIC2pGABCQgAQlIQAISkIAEJCABCUig9Qn0P4UKsPrPTpcSkIAEJCABCUhAAhKQgAQkIIH6EjA0CbQpAQVYbZrxJlsCEpCABCQgAQlIQALtSsB0S0ACEpBA8xFQgNV8eWaMJSABCUhAAhKQwGATMHwJSEACEpCABCRQVwIKsOqK28AkIAEJSEACiYBXCUhAAhKQgAQkIAEJSKBSAgqwKiWlPQlIoPEIGCMJSEACEpCABCQgAQlIQAISaAsCCrDaIpu7T6QmEpCABCQgAQlIQAISkIAEJCABCbQ+gWZPoQKsZs9B4y8BCUhAAhKQgAQkIAEJSEAC9SBgGBKQwCASUIA1iPANWgISkIAEJCABCUhAAu1FwNRKQAISkIAE+kdAAVb/uOlKAhKQgAQkIAEJDA4BQ5WABCQgAQlIQAJtSEABVhtmukmWgAQk0O4ETL8EJCABCUhAAhKQgAQk0FwEFGA1V34ZWwk0CgHjIQEJSEACEpCABCQgAQlIQAISqBsBBVh1Q10akM8SkIAEJCABCUhAAhKQgAQkIAEJtD4BU1gNAgqwqkFRPyQgAQlIQAISkIAEJCABCUigdgT0WQISaHsCCrDavggIQAISkIAEJCABCUigHQiYRglIQAISkEAzE1CA1cy5Z9wlIAEJSEACEqgnAcOSgAQkIAEJSEACEhgkAgqwBgm8wUpAAhJoTwKmWgISkIAEJCABCUhAAhKQQN8JKMDqOzNdSGBwCRi6BCQgAQlIQAISkIAEJCABCUigzQi0pQCrzfLY5EpAAhKQgAQkIAEJSEACEpCABNqSgIluHQIKsFonL02JBCQgAQlIQAISkIAEJCCBahPQPwlIQAINQUABVkNkg5GQgAQkIAEJSEACEmhdAqZMAhKQgAQkIIGBElCANVCCupeABCQgAQlIoPYEDEECEpCABCQgAQlIoK0JKMBq6+w38RKQQDsRMK0SkIAEJCABCUhAAhKQgASalYACrGbNOeM9GAQMUwISkIAEJCABCUhAAhKQgAQkIIFBIFBnAdYgpNAgJSABCUhAAhKQgAQkIAEJSEACEqgzAYOTQHUJKMCqLk99k4AEJCABCUhAAhKQgAQkUB0C+iIBCUhAAl0EFGB1ofBGAhKQgAQkIAEJSKDVCJgeCUhAAhKQgARag4ACrNbIR1MhAQlIQAISqBUB/ZWABCQgAQlIQAISkMCgE1CANehZYAQkIIHWJ2AKJSABCUhAAhKQgAQkIAEJSGAgBBRgDYSebutHwJAkIAEJSEACEpCABCQgAQlIQAISaH0C3aRQAVY3YNSWgAQkIAEJSEACEpCABCQgAQk0IwHjLIFWJKAAqxVz1TRJQAISkIAEJCABCUhAAgMhoFsJSEACEmgwAgqwGixDjI4EJCABCUhAAhJoDQKmQgISkIAEJCABCVSPgAKs6rHUJwlIQAISkEB1CeibBCQgAQlIQAISkIAEJJATaFkB1r333hs777xzjBgxIrIsi6FDh8ZOO+0U//znP6O7v1I3iy22WBxwwAHx+OOPd+dEfQlIoMEJGD0JSEACEpCABCQgAQlIQAISaH4CLSnAuvTSS2PdddeNK6+8Ms+hlVZaKRdgXXXVVfGud70rMM8NCj833nhjbLbZZl1uVlhhhZg5c2acc845semmm8Zdd91VsN1WtyZWAhKQgAQkIAEJSEACEpCABCQggdYn0NApbDkB1q233hr7779/Dv20007LhVCPPfZYvPTSS/H1r3895s2bF5/97GfjkUceifTHCquDDz44pk6dGscee2zMmDEjX3U1ZcqU2GuvvWLy5Mlx1FFHxfTp05MTrxKQgAQkIAEJSEACEpCABCQggRICPkpAArUi0FICrDlz5sSpp56aC6K+/OUvx+GHH56vvALeqFGj4phjjontttsunnrqqXjwwQfRztVll10W9913X2529NFHx/Dhw3P9MWPGxBlnnBEbbbRRXHfddXHTTTfl+v5IQAISkIAEJCABCUhAAjUioLcSkIAEJCCBMgRaSoDFSqsbbrghll122fjkJz+Zn31VTDNCrD/+8Y8xd+7c2HbbbXOjV199Na6++ur8fp999gns5A+v/4wbNy4mTpwY8+fPD7Ygvq7tRQISkIAEJCABCTQsASMmAQlIQAISkIAEWo1ASwmw7r///nj66adj/fXXj+WXX76ivGJrIauvEFytueaaZd1wnhYGd999t9sIAaGSgAQk0PoETKEEJCABCUhAAhKQgAQk0EAEWkqA9d///jdHu/rqq+crpr7//e8Hh7FnWZZ/jXDPPfeMhx9+OLeTfl588cWYOnVqvvKKrw4m/eIVYdiiiy6an5v18ssvF428l4AEuiWggQQkIAEJSEACEpCABCQgAQlIoDoEhlTHm8bwZfbs2XlEOAtriy22yM/A4kuCCLHYNnjJJZfEeuut1/WlQSy/8sorwTZChFdjx45Fq3GUMZGABCQgAQlIQAISkIAEJCABCUig9QmYwl4JtJQAKx3M/uMf/zieeeaZuP766+OFF17o+qLgxz/+8UBgdcABB8RDDz3UKxwtSEACEpCABCQgAQlIQAISkEBzEDCWEpBAaxNoKQEW2/zIriFDhsS5554bW221VddB7nxR8Ic//GG8973vzb9CyGHu2FVJQAISkIAEJCABCUhAAjkBfyQgAQlIQAINS6ClBFhsFYQ0h7hvuOGG3C6g2CaYvj5422235WZLLrlkINyaNWtWsN0w1+zmZ9iwYYFwrBtjtSUgAQlIQAISaHsCApCABCQgAQlIQAISqAWBlhJgrbjiijmj0aNHx/Dhw/P70p+11lprAS3ssnKLrxGy3XABw9cfnnzyyXzr4UorrRTYf13biwQkIAEJ1IKAfkpAAhKQgAQkIAEJSEACEigh0FICrFVWWSVYJfXoo48GAqmStOaP9913X35NAq4lllgiEGqx+uqBBx7IzUp/brnlllyLA+BZxZU/+COBBiZg1CQgAQlIQAISkIAEJCABCUhAAq1EoKUEWOuuu25ssMEGMWnSpPjLX/6yUD6xwuqyyy7L9d///vfn15EjR8YOO+yQ359//vlpG2H+zA9urr322vwsrR133BEtlQQkIAEJSEACEpCABCQgAQlIQAKtQcBUNAmBlhJgsZrq05/+dI7+oIMOit/97ncxd+7c/HnatGlx+OGHB2dfbbTRRrHNNtvk+vxMnDgxX4V1zTXXxEknndQlxCq62WKLLWLzzTfHukoCEpCABCQgAQlIQAISkIAEugh4IwEJSKD2BFpKgAWuD3/4w3HsscfmZ1Z94AMfCIRanI3FYe0XXnhhLLXUUvGjH/0oxo0bh/VcYX7KKacEZ2Edf/zxC7nh7KvTTjst3D6Y4/JHAhKQgAQkIAEJSKDaBPRPAhKQgAQkIIEeCbScAIuzrRBg3XjjjcEXBznb6oknnsi/NPj5z38+7r777ij3hcKddtopX53FFWK4GTVqVOy///5x8803x4QJE9BWSUACEpCABCTQoASMlgQkIAEJSEACEpBA6xJoOQEWWZVlWbDljy2BbCGcP39+TJkyJb773e/Gcssth5Wyau21144rrrgiZs2aFbiZPn16nH322cEKrbIO1JSABCTQWgRMjQQkIAEJSEACEpCABCQggYYk0JICrIYkbaTahIDJlIAEJCABCUhAAhKQgAQkIAEJSKDaBBpPgFXtFOqfBCQgAQlIQAISkIAEJCABCUhAAo1HwBhJoA8EFGD1AZZWJSABCUhAAhKQgAQkIAEJNBIB4yIBCUigXQgowKpDTt9+++2hkoFlwDJgGbAMDKQMVKu5GkgcdGsZbtEyYD/NvqplwDJgGbAMWAZ6KQPV6osOxB8FWAOhp1sJSEACEpCABCJCCBKQgAQkIAEJSEACEqgtAQVYteWb+77BBhuESgaWAY3nFIgAABAASURBVMtAj2XAesJ6spcykDcoVfixHFoXWQYsA5YBy4BlwDJgGbAM9LUMVKEbOmAvFGAVEN57772x8847x4gRIyLLslhsscXigAMOiMcff7xgy9tGJWC8JCABCUhAAhKQgAQkIAEJSEACEmhNAkUBVmumsMJU3XjjjbHZZpvFlVdembtYYYUVYubMmXHOOefEpptuGnfddVeu748EJCABCUhAAhKQgAQkIAEJSKDJCRh9CTQdAQVYHVnGCquDDz44pk6dGscee2zMmDEjX3U1ZcqU2GuvvWLy5Mlx1FFHxfTp0zts+y8BCUhAAhKQgAQkIAEJSEACEpCABCRQTwIKsDpoX3bZZXHffffFdtttF0cffXQMHz68QzdizJgxccYZZ8RGG20U1113Xdx00025vj8SkIAEJCABCUhAAlUgoBcSkIAEJCABCUigQgJtL8B69dVX4+qrr85x7bPPPjFq1Kj8Pv2MGzcuJk6cGPPnz4+rrroqaXuVgAQkIAEJNAQBIyEBCUhAAhKQgAQkIIF2IND2AqyXXnopX32F4GrNNdcsm+frrrturn/33Xe7jTAn4Y8EWoqAiZGABCQgAQlIQAISkIAEJCCBBifQ9gKsF198MaZOnZqvvOKrg+Xya/nll49FF100HnnkkXj55ZfLWWlzPZMvAQlIQAISkIAEJCABCUhAAhKQQOsTGLwUtr0A65VXXgm2ESK8Gjt27ODlhCFLQAISkIAEJCABCUhAAhKQQOsTMIUSkEC/CLS9AKtf1HQkAQlIQAISkIAEJCABCQwaAQOWgAQkIIH2I6AAq/3y3BRLQAISkIAEJCABCUhAAhKQgAQkIIGmItD2Aqwll1wyxowZE7NmzYqZM2f2mHnDhg2LIUPaHlmPjDSUgAQk0D4ETKkEJCABCUhAAhKQgAQkUC8CbS+NGT16dH5AO18jfOGFF8pyf/LJJ4OzslZaaaXAfllLakpAAn0noAsJSEACEpCABCQgAQlIQAISkEAFBNpegLXEEkvEWmutla++euCBB8oiu+WWW3L99dZbLzjsPX9okB+jIQEJSEACEpCABCQgAQlIQAISkEDrE2j3FLa9AGvkyJGxww475OXg/PPPzwVZ+cPrP6zKuvbaayPLsthxxx1f1/UiAQlIQAISkIAEJCABCUhAAk1GwOhKQAJNTKDtBVjk3cSJE/NVWNdcc02cdNJJXUKsadOmxeGHHx633XZbbLHFFrH55ptjXSUBCUhAAhKQgAQkIIE2JWCyJSABCUhAAoNDQAFWB/cVV1wxTjnllPwsrOOPPz7YVogeB7xfeOGFwdlXp512mtsHO1j5LwEJSEACEpDAAAnoXAISkIAEJCABCUigzwQUYL2ObKeddspXWnFF64knnohRo0bF/vvvHzfffHNMmDABbZUEJCABCTQAAaMgAQlIQAISkIAEJCABCbQXAQVYhfxee+2144orrohZs2bF/PnzY/r06XH22WcHq7EK1ryVQCsQMA0SkIAEJCABCUhAAhKQgAQkIIGmIaAAq99ZpUMJSEACEpCABCQgAQlIQAISkIAEWp+AKWwEAgqwGiEXjIMEJCABCUhAAhKQgAQkIIFWJmDaJCABCQyQgAKsAQLUuQQkIAEJSEACEpCABOpBwDAkIAEJSEAC7UxAAVY7575pl4AEJCABCbQXAVMrAQlIQAISkIAEJNCkBBRgNWnGGW0JSEACg0PAUCUgAQlIQAISkIAEJCABCdSfgAKs+jM3xHYnYPolIAEJSEACEpCABCQgAQlIQAIS6BOBphRg9SmFWpaABCQgAQlIQAISkIAEJCABCUigKQkYaQkkAgqwEgmvEpCABCQgAQlIQAISkIAEWo+AKZKABCTQEgQUYLVENpoICUhAAhKQgAQkIIHaEdBnCUhAAhKQgAQGm4ACrMHOAcOXgAQkIAEJtAMB0ygBCUhAAhKQgAQkIIEBEFCANQB4OpWABCRQTwKGJQEJSEACEpCABCQgAQlIoF0JKMBq15xvz3SbaglIQAISkIAEJCABCUhAAhKQgASakEAfBVhNmEKjLAEJSEACEpCABCQgAQlIQAISkEAfCWhdAo1FQAFWY+WHsZGABCQgAQlIQAISkIAEWoWA6ZCABCQggaoRUIBVNZR6JAEJSEACEpCABCRQbQL6JwEJSEACEpCABCCgAAsKKglIQAISkEDrEjBlEpCABCQgAQlIQAISaHoCCrCaPgtNgAQkUHsChiABCUhAAhKQgAQkIAEJSEACg0lAAdZg0m+nsE2rBCQgAQlIQAISkIAEJCABCUhAAq1PoEYpVIBVI7B6KwEJSEACEpCABCQgAQlIQAIS6A8B3UhAAgsTUIC1MBN1JCABCUhAAhKQgAQkIIHmJmDsJSABCUigxQgowGqxDDU5EpCABCQgAQlIoDoE9EUCEpCABCQgAQk0DgEFWI2TF8ZEAhKQgARajYDpkYAEJCABCUhAAhKQgASqQkABVlUw6okEJFArAvorAQlIQAISkIAEJCABCUhAAhJQgNX6ZcAUSkACEpCABCQgAQlIQAISkIAEJND6BFo6hQqwWjp7TZwEJCABCUhAAhKQgAQkIAEJVE5AmxKQQKMSUIDVqDljvCQgAQlIQAISkIAEJNCMBIyzBCQgAQlIoAYEFGDVAKpeSkACEpCABCQggYEQ0K0EJCABCUhAAhKQwIIEFGAtyMMnCUhAAhJoDQKmQgISkIAEJCABCUhAAhJoIQIKsFooM02KBKpLQN8kIAEJSEACEpCABCQgAQlIQAKNQUABVi3zQb8lIAEJSEACEpCABCQgAQlIQAISaH0CprDmBBRg1RyxAUhAAhKQgAQkIAEJSEACEpBAbwQ0l4AEJNATAQVYPdHRTAISkIAEJCABCUhAAs1DwJhKQAISkIAEWpaAAqyWzVoTJgEJSEACEpBA3wnoQgISkIAEJCABCUigEQkowGrEXDFOEpCABJqZgHGXgAQkIAEJSEACEpCABCRQZQIKsKoMVO8kUA0C+iEBCUhAAhKQgAQkIAEJSEACEpDAGwRaVYD1Rgq9k4AEJCABCUhAAhKQgAQkIAEJSKBVCZiuNiGgAKtNMtpkSkACEpCABCQgAQlIQAISKE9AXQlIQAKNT0ABVuPnkTGUgAQkIAEJSEACEmh0AsZPAhKQgAQkIIGaElCAVVO8ei4BCUhAAhKQQKUEtCcBCUhAAhKQgAQkIIHuCCjA6o6M+hKQgASaj4AxloAEJCABCUhAAhKQgAQk0JIEFGC1ZLaaqP4T0KUEJCABCUhAAhKQgAQkIAEJSEACjUag+gKsHlI4c+bMuPrqq+OGG26IOXPm9GAzcvPf//738bWvfS2mTp3ao10NJSABCUhAAhKQgAQkIAEJSEACEqgzAYOTQB0J1FWAhSDq4IMPjm984xvx6quv9phMzE899dT4xS9+EQi+erSsoQQkIAEJSEACEpCABCQggSYkYJQlIAEJSKAyAjUVYM2fPz9eeOGFeOqpp3L17LPP5iurXnvttXj66adzvWRWer3yyivjX//6VwwbNiyGDKlpNCsjpS0JSEACEpCABCQggUYkYJwkIAEJSEACEmgDAjWXDJ122mmx/PLL52rChAnx5JNPxi233BJrrLFGrpfMSq8f+chH8q2DG2+8cYwbN64NssIkSkACEpCABAaLgOFKQAISkIAEJCABCUigsQnUVICVZVkcdNBBscUWW8RKK60Uyy23XE6DFVUrrLBCrod+ObXaaqvFoYceGmwjZBVW7tAfCUhAAo1KwHhJQAISkIAEJCABCUhAAhKQQM0I1FSARaxXXHHFuPHGG+Oxxx6L22+/PVZeeeV4z3veE/fdd1+uh3459fDDD8cPf/jDWHbZZcO/9iBgKiUgAQlIQAISkIAEJCABCUhAAhJofQL9SWHNBVjFSI0dOzZ+8pOf5Ie4jxw5smjkvQQkIAEJSEACEpCABCQgAQlIQAKVEdCWBNqOQF0FWKNGjYoddtghttxyy/xw9rajbYIlIAEJSEACEpCABCQggQYhYDQkIAEJSKCZCNRVgJXA8HXCRx99NC677LL40Y9+FAceeGC36phjjompU6eGfxKQgAQkIAEJSEACDUbA6EhAAhKQgAQkIIE6Eai7AOull16Kj370o7HqqqvG7rvvHocddlicffbZ3aqLLrooZs6cWSccBiMBCUhAAhKoLwFDk4AEJCABCUhAAhKQgAR6J1B3ARZnYP3qV7/KY/bWt741PvWpT8UBBxzQrULYxdbD3IE/EpCABBYmoI4EJCABCUhAAhKQgAQkIAEJtDiBugqwpk+fHldffXVkWRYXXnhh/Pe//41zzz03zjrrrG7VSSedFBz+3uL5MMjJM3gJSEACEpCABCQgAQlIQAISkIAEWp9A86awrgKsl19+OR555JHYYIMNYvvtt88FWc2LzphLQAISkIAEJCABCUhAAhKQQNsRMMESkMCgEKirAGvIkCH51wdHjx4dw4cPD/8kIAEJSEACEpCABCQggfYjYIolIAEJSEACfSVQVwHWuHHjYuONN46HHnoonnvuub7GVfsSkIAEJCABCUhAAp0E/JWABCQgAQlIQAJtRaCuAqxhw4bF5z73uZgxY0accMIJfl2wrYqaiZWABCTQaASMjwQkIAEJSEACEpCABCTQLATqKsCaO3dujB8/Pr7zne/Ez372s1hllVXiE5/4RJx88slxySWXlFUc+j5z5sxm4Wk8JdBeBEytBCQgAQlIQAISkIAEJCABCUigDgTqKsB69tlnY6ONNooDDjgg5s2bl28j/MUvfhFHH3107LnnnmXVwQcfHFOnTq0DisEJwlAlIAEJSEACEpCABCQgAQlIQAISaH0CpnBgBOoqwBo1alR89KMfzQVYCLEqUdjH3cCSqWsJSEACEpCABCQgAQlIQAISaHICRl8CEmhjAnUVYI0dOzZOOumkOOussypW2MddG+eRSZeABCQgAQlIQAISkECVCOiNBCQgAQlIoDkJ1FWA1ZyIjLUEJCABCUhAAhIoEPBWAhKQgAQkIAEJSKDuBBRg1R25AUpAAhKQgAQkIAEJSEACEpCABCQgAQn0hUBdBVhPPfVU/uXBLMsiyypTfKkQd31JlHYl0AYETKIEJCABCUhAAhKQgAQkIAEJSKBtCNRVgNVXqsstt1ysvPLKMXTo0L46rcC+ViQgAQlIQAISkIAEJCABCUhAAhJofQKmsBUI1FWAhUBq0qRJMX/+/LLq5ZdfjkcffTSOO+64WGSRRWK33XaLP//5z7HMMsu0AmvTIAEJSEACEpCABCQgAQlIoDkJGGsJSEACg0ygrgKs3tK62GKL5VsMv/71r8d5552Xf6nw3HPP7c2Z5hKQgAQkIAEJSEACEmh4AkZQAhKQgAQkIIH+E2goAVYxGdtuu22sv/76cfHFF8f06dOLRt5LQAISkIAEJNCeBEy1BCQgAQlIQAISkECbEmhdH6D5AAAQAElEQVRYAdbw4cNj9OjR8cgjjwRbC8M/CUhAAhKoAgG9kIAEJCABCUhAAhKQgAQk0HwEGlaA9dxzz8VDDz0Uw4YNiyFDGjaazZfjxnjgBPRBAhKQgAQkIAEJSEACEpCABCQggboSGBTJUE8pnD17dtx3331xxBFHxBNPPBEbb7xxjBs3ricnmklAAhKQgAQkIAEJSEACEpCABCTQgASMkgSqRWBItTyqxJ+nnnoqP6Q9y7LIsvJqxIgR8ba3vS3+8Ic/xNixY+Nzn/tcvgqrEv+1IwEJSEACEpCABCQgAQlIoMUImBwJSEACEuggUFcBVkd4Ff9vsskmccUVV+QrsCp2pEUJSEACEpCABCQgAQksREANCUhAAhKQgASanUBdBVjLLbdcTJo0KebPn9+r+sc//hGbbbZZs/M1/hKQgAQkIIHWIGAqJCABCUhAAhKQgAQkMIgE6irAGsR0GrQEJCCBQSdgBCQgAQlIQAISkIAEJCABCUigfwQGVYA1efLkOPPMM+PAAw/sUjw/+uij+Qqt/iVJVy1MwKRJQAISkIAEJCABCUhAAhKQgAQk0PoEFkrhoAiwXnrppfjIRz4SK6+8chx88MFx9tlndymeV1111fjwhz8cL7744kIRVkMCEpCABCQgAQlIQAISkIAEJCCB3ghoLoHWIlB3ARbCqw9+8IPxq1/9Kie54YYbxgEHHNCleMbgN7/5TXzoQx8K7POskoAEJCABCUhAAhKQgAQkUFcCBiYBCUhAAg1DoO4CrIsuuiiuv/76WG211eJf//pX3HbbbXHWWWd1KZ7Rxxx7l19+ecPAMiISkIAEJCABCUhAAn0joG0JSEACEpCABCRQDQJ1FWC9+uqrgUBqxIgR8fOf/zzWW2+9smlAH3PsIfDCXVmLakpAAhKQgARan4AplIAEJCABCUhAAhKQQNsTqKsAa8qUKXHPPffExhtvHBMmTOgRPubYu++++9xG2CMpDSUggd4JaEMCEpCABCQgAQlIQAISkIAEmplAXQVYCdTQoUMjy7L0WPaaZVlgb86cOTFv3rzwb5AJGLwEJCABCUhAAhKQgAQkIAEJSEACrU+gQVNYVwHWYostln958KGHHornnnuuRySYY48vFeKuR8saSkACEpCABCQgAQlIQAISkIAEGoSA0ZCABKpPoK4CrMUXXzy23nrreOKJJ+KEE06ImTNnlk0R+phj753vfGfgrqxFNSUgAQlIQAISkIAEJCCBViRgmiQgAQlIQAILEKirAIuQP/axj8Vyyy0X5557bmy66aZxwQUXxKRJk+Kpp57Krzyjjzn2Dj/8cJypJCABCUhAAhKQgAT6REDLEpCABCQgAQlIoHUI1F2A9Za3vCUXWi211FJx1113xT777BPjx4+P5ZdfPr/yjD7mCLOw3zq4TYkEJCABCTQVASMrAQlIQAISkIAEJCABCTQEgboLsEj1VlttFQ8//HB8+9vfjtVXXx2tLsUz+phjr8vAGwlIoCkJGGkJSEACEpCABCQgAQlIQAISkMBACQyKAItIjxkzJo466qjgoPb58+dHUjyjjzn2VCECCUhAAhKQgAQkIAEJSEACEpCABFqfgCnsgcCgCLDmzp0bl156aX6QO4KrFL8ZM2bEbrvtFjvvvHPce++9SdurBCQgAQlIQAISkIAEJCABCUigAgJakYAEWpVA3QVYs2fPjkMOOST22GOP+OMf/xjTp0/vYsvXB1mBdeWVV8Y666wT3/3ud/OVWV0WvJGABCQgAQlIQAISkIAEaktA3yUgAQlIQAINSKDuAiy+Lnj22WcHWwT322+/GDlyZBeWJZdcMq655po47rjjYvjw4fkWw+uuu67L3BsJSEACEpCABCTQDASMowQkIAEJSEACEpBAdQnUVYD16quvxuWXXx4jRoyIK664Ivbdd99cUJWSNHTo0FhxxRXj61//elx00UW59plnnhlz5szJ7/2RgAQkIIG2IWBCJSABCUhAAhKQgAQkIAEJdBGoqwBrypQpcc8998TGG28cEyZM6IpEuRu+QLj++uvHnXfeGS+88EI5K+pJQAI9EtBQAhKQgAQkIAEJSEACEpCABCTQGgTqKsBKyFhplWVZeix7ZQvh6NGj89VX8+bNK2un5poGIAEJSEACEpCABCQgAQlIQAISkEDrEzCFDU+grgKsxRZbLFZeeeX8C4NPPfVUj3Cee+654EB37OOuR8saSkACEpCABCQgAQlIQAISkMCgEjBwCUhAArUkUFcB1uKLLx5bb711IJw6/vjjY8aMGWXTxtcITzjhhHjiiSfy7Ya4K2tRTQlIQAISkIAEJCABCbQOAVMiAQlIQAISkEA3BOoqwCIOn/zkJ2ONNdaICy64IFZdddU4+uij45JLLulSJ554Yqy11lrB1wqxd/jhh+NMJQEJSEACEpCABCogoBUJSEACEpCABCQggVYkUHcB1iqrrBK//vWvY/XVV89XYp188smx5557dqmvfOUr8dhjj+Xm2MN+K4I3TRKQgAQaloARk4AEJCABCUhAAhKQgAQk0GAE6i7AIv18gfC///1v/OEPf4gPfvCDsdJKK3Upnn/zm9/Ev//9716/VIhfKgk0IgHjJAEJSEACEpCABCQgAQlIQAISkED1CAyKAIvo85XBXXbZJd86yIqrpNhOuMcee8SoUaOwppKABCQgAQlIQAISkIAEJCABCUigdQmYMglURGDQBFgVxU5LEpCABCQgAQlIQAISkIAEJNALAY0lIAEJtD4BBVitn8emUAISkIAEJCABCUigNwKaS0ACEpCABCTQ0ATaQoA1e/bs4OuHWZbF5Zdf3m2G3HvvvbHzzjvHiBEjIsuyWGyxxeKAAw6Ixx9/vFs3GkhAAhKQgAQk0EnAXwlIQAISkIAEJCABCdSKQFsIsM4999z4+c9/3iPDG2+8MTbbbLO48sorc3srrLBCzJw5M84555zYdNNN46677sr1/ZGABCRQQwJ6LQEJSEACEpCABCQgAQlIQAJlCLS8AOvWW2+NL33pS2WS/oYWK6wOPvjgmDp1ahx77LExY8aMfNXVlClTYq+99orJkyfHUUcdFdOnT3/DkXcNSsBoSUACEpCABCQgAQlIQAISkIAEJNBqBBYWYLVQCl966aX48pe/nKdolVVWya/lfi677LK47777Yrvttoujjz46hg8fnlsbM2ZMnHHGGbHRRhvFddddFzfddFOu748EJCABCUhAAhKQgAQkIAEJSKDpCZgACTQRgYYTYL366qtVwTd//vw45ZRT4vrrr4+vfvWr8d73vresv4R39dVX52b77LNPjBo1Kr9PP+PGjYuJEycG/l111VVJ26sEJCABCUhAAhKQgAQkIIEQgQQkIAEJ1IfAoAiwpk2bFkcccUR84hOfiDlz5nSllC1622+/fSyzzDJx0UUXxdy5c7vM+nrDiqkTTzwx9txzzzj88MO7dc4qLVZfIbhac801y9pbd911c/27777bbYQ5CX8kIAEJSEACEpBA1QjokQQkIAEJSEACEuiVQN0FWAiMPvCBD8Tpp58efPXv5Zdf7ookZ09x3tRzzz2Xnz11yCGHBF8Q7LJQ4c2kSZPisMMOi/Hjx8fJJ5/ctSWwnPMXX3wxpk6dmq+84quD5ewsv/zyseiii8YjjzwSxfiWs6ueBCQgAQlIoP4EDFECEpCABCQgAQlIQAKtTaDuAqxTTz0139Y3YcKE4OuAY8eO7SL85je/OR544IH405/+FCuttFKcffbZ8atf/arLvJIbBF4nnHBCPPzww7nwanyHEKsnd6+88kqwjRDhVTEuPbnRTAISaEECJkkCEpCABCQgAQlIQAISkIAEGpZAXQVYbBG84YYbAkHR+eefH+utt15kWbYAnKFDh8Y222wTv/nNb/JVT2wlRMC0gKUeHhB4Ifjab7/9Ytddd+3BpkbVJqB/EpCABCQgAQlIQAISkIAEJCABCbQ+gcFIYV0FWGy/YxveO97xjuhtZdTaa68d66+/ftxzzz0xZcqUitjceeed8ZnPfCbWWWed+Na3vtXj1sGKPNSSBCQgAQlIQAISkIAEJCABCUig+gT0UQIS6COBugqwUtw4nJ2v+qXnctcsy4LVWFHhH2drffGLXwy2BP74xz/OD4KvxOmSSy4ZY8aMiVmzZsXMmTN7dDJs2LAYMmRQkPUYLw0lIAEJSEACEpCABCTQfgRMsQQkIAEJtBOBukpjEBStscYacccdd+RnXfUE+tFHH41//etfgX3c9WQXs4ceeij+8Y9/5IKoLbbYIt+amGVZ1/UXv/gF1vJthVmWBV9ARGP06NH5VkUEYC+88AJaC6knn3wyF4xxLhf2F7KghgQkIAEJSEACEmhGAsZZAhKQgAQkIAEJNAmBugqwEP5MnDgxFwYdfPDBgZCqHKfHH388Dj300Jg6dWp+Hhbuytkr6o0YMSJWX331/PB3BE2lavjw4bl1VlxhNm7cuPx5iSWWiLXWWitffcUB8rlmyc8tt9yS63BmF4e95w/+SEACEpCABCJCCBKQgAQkIAEJSEACEpBA7QnUVYBFcvbZZ5/Yeuut45///GesuuqqsdFGG8WBBx7YpbbaaqtYZZVV4m9/+1tuD0EX7npT6667btx9993x2GOPlVUf/ehHcy/OO++83Px73/te/jxy5MjYYYcd8nsOli/dRsiqrGuvvTZfybXjjjvm9vyRgASqSkDPJCABCUhAAhKQgAQkIAEJSEACPRKouwCLFU8XXHBB7L777nnEEGTx1cCk/vKXv8S8efNyc+xhP7dYw5+JEyfmq7CuueaaOOmkk/LVWAQ3bdq0OPzww+O2224LtiVuvvnmaDegMkoSkIAEJCABCUhAAhKQgAQkIAEJtD6B9k1h3QVYoF522WXjt7/9bb4S6ic/+UkccMABXYpnvlR46aWXBvawX2u14oorximnnJKfhXX88ccHQjP02G544YUX5tsSTzvttHD7YK1zQv8lIAEJSEACEpCABCQgAQnUmIDeS0ACTUlgUARYiRRnUR100EFx1llndSmex48fn2/Zmz17djz//PPBVwuTm1pdd9ppp3ylFVfCeOKJJ2LUqFGx//77x8033xwTJkxAWyUBCUhAAhKQgAQkIIG2JyAACUhAAhKQQL0J1FWA9dRTT+XnW2255ZYxffr0HtOK+TbbbBMbbLBBPPvssz3arcSQs6/mz58fu+yyS7fW11577bjiiivyLxlilziwtZHVWN060kACEpCABCQgAQn0nYAuJCABCUhAAhKQgAT6QKCuAqw+xCtee+214AyqvrjRrgQkIAEJtBMB0yoBCUhAAhKQgAQkIAEJtAuBmgqwZs2aFXxFcOWVVw4Uq6n4SiBfGFxrrbVyPfTLqeWWWy7uvPPO/EuFiy++eLvkh+mUQH0JGJoEJCABCUhAAhKQgAQkIAEJSKAJCNRUgDVixIjYe++945lnnonJkycHmD8tUAAAEABJREFUWwhhwlcGOWMKve4U518NHz48/wpgIx+eTnpUEpCABCQgAQlIQAISkIAEJCABCbQ2AVM3uARqKsAiaZtvvnk8+eSTubrrrrti+eWXj0022SQefPDBXC+ZlV6ffvrpmDFjRnzgAx/Am6ZWt99+e6hkYBmwDFgGLAMDKQPVaggHEgfdWoYtA5YBy4BlYIBlwHGRY0PLQJOWgWr1RQfiT80FWFmWxbhx44ItgajVVlstP8id+57Um9/85mAF1kASp1sJSEACEpCABCQgAQm0FgFTIwEJSEACEmhPAjUXYBWxLrPMMsH5VxdffHGMHj26aNTS95z9pdog/6KkHORgGbAMWAb6Vwaq1VDKf4PYYIP+5YHs5GYZsAxYBiwDlgHLQLuWgWr1RQfiT00FWHPnzo1nn302V9yjeOYsrEoV9nE3kERW6vbee++NnXfeOTi7K8uy4OytAw44IB5//PFKvdCeBCQggbYgYCIlIAEJSEACEpCABCQgAQnUk0BNBVgInzbaaKNAcY/innOwKlXYx12todx4442x2WabxZVXXpkHtcIKK8TMmTPjnHPOiU033TQ4vys38EcC1SGgLxKQgAQkIAEJSEACEpCABCQgAQlUSKCmAqwK49BPa9Vzxgqrgw8+OKZOnRrHHntsfng8elOmTIm99torJk+eHEcddVRMnz69eoHqkwQkIAEJSEACEpCABCQgAQlIQAIVENCKBCJqKsDikPZJkyYFinsU9/Pnz49KFfZxV8vMuuyyy+K+++6L7bbbLo4++uiuw+PHjBkTZ5xxRr6C7LrrroubbrqpltHQbwlIQAISkIAEJCABCUhAArUhoK8SkIAEmpxATQVYzcDm1VdfjauvvjqP6j777BOjRo3K79MPX1CcOHFiLnC76qqrkrZXCUhAAhKQgAQkIIE2I2ByJSABCUhAAhIYPAINJcB64YUX4vLLLw9WRLFtrx5YXnrppXz1FYKrNddcs2yQ6667bq5/9913u40wJ+GPBCQgAQlIoF8EdCQBCUhAAhKQgAQkIIF+ERgUAdYDDzwQO+20U+y44475eVPE/JprromVV145dt1119h9993z++9+97v5yifMa6VefPHFmDp1ar7yiq8OlguHA+cXXXTReOSRR+Lll18uZ0U9CUhAAnUiYDASkIAEJCABCUhAAhKQgATaj0DdBVj/+c9/8q/9sR2P86340h+roDg8/ZVXXomxY8fG6quvnucEB6dz9lT+UKMfwmQbIcIrwq5RMHrbSASMiwQkIAEJSEACEpCABCQgAQlIQAJNRaBfAqyBpPDMM8+M559/Pl9pdcUVV8RSSy0V//73v+P2228PDmu/7bbb4qGHHopLLrkkD+anP/1pzJkzJ7/3RwISkIAEJCABCUhAAhKQgAQkIIH6ETAkCTQKgboKsNh+d+edd8YKK6wQp512Wqy66qo5B1ZZIaTadNNNY/z48bneVlttFeuvv35w7hRb/HJNfyQgAQlIQAISkIAEJCABCTQXAWMrAQlIQAJVIFBXAdb06dPjsccei7e85S2x9NJL59Fn+x6rrnjYZpttYtiwYdzG8OHDY/To0fmh6bNnz45a/S255JIxZsyYmDVrVrCdsadwiNuQIXVF1lN0NJOABCQgAQlIQAJtQsBkSkACEpCABCTQ7gQGXRrz5JNPxh133BEckr7hhht25cf8+fNj7ty5uUCrlkIjhGSEzTlcfAWxKwKFG+LIWVkrrbRSLlQrGHkrAQlIQAISaA4CxlICEpCABCQgAQlIQAJNTKCuAixWOq2xxhpx7733xlNPPZVj++tf/xpPP/10rLvuuvnKrFyz4+euu+6KW2+9Nd9myAHrHVo1+V9iiSVirbXWyldf8XXEcoHccsstufZ6660XtYxLHog/EpBAwxIwYhKQgAQkIAEJSEACEpCABCQwOATqKsBitdPEiRPjueeei/e///3x0Y9+NA477LA85dtvv30gTGLV1e9///vYe++982192MddbqkGPyNHjowddtgh9/n888/PBVn5w+s/rMq69tprI8uy2HHHHV/X9dJPAjqTgAQkIAEJSEACEpCABCQgAQlIoPUJVD2FdRVgEft99tkn9thjj/wsrIsvvjjYmrf11lvH5z73OYxj2rRp8a1vfSsmT54c6GM/N6jhD0IyVmFdc801cdJJJ3UJsYjL4YcfHpzRtcUWW8Tmm29ew1jotQQkIAEJSEACEpCABCQgAQlIIBHwKgEJFAnUXYDFKisEV//85z/jlFNOieuvvz6uvvrqfPUVEVt88cWDrxGeccYZcfnll3fpY1YrteKKK+Zx4Sys448/Pg8TPQ54v/DCC4Ozr0477TS3D9YqA/RXAhKQgAQkIAEJSEACtSCgnxKQgAQk0DIE6i7AgtzQoUNjgw02iCOPPDK22mqr/IuD6KP40t/pp58en/nMZ2LUqFFo1UXttNNO+UorrgT4xBNP5OHvv//+cfPNN8eECRPQVklAAhKQgAQkIIG2ImBiJSABCUhAAhKQQCMQGBQBVl8SzhZDzsXqi5v+2l177bXjiiuuyM/e4iuI06dPj7PPPjtYjdVfP3UnAQlIQAJtT0AAEpCABCQgAQlIQAISkMAACQyKAIuzpVhldeCBB0Z3apNNNonll18+/zrhs88+O8Bk6rzaBOZ3ePiXe+fEvme+EtueNCO2PnFGbP/tGXHoz2bGzQ/ODcw7rCz0P+O1iDOvnxUfPO2V3A3udvvejDjhstdiyozuXEXcPXle7jdh4IYwCZs4dO9qoeDVaFoCRlwCEpCABCQgAQlIQAISkIAE2plA3QVYkyZNig033DCOOOKIfHUTK5zKqf/7v/+Lp556KubMmdPO+VO9tFfRp1kdWfLN370W3+oQOk1+YX4sMixiiUUjhnaUpvufmhdf/82r8cM/zVpIiIWA6shfzoxf/9/smPrK/Bi9SMTiIyNmvBrx5w5hGMKv/z07b6GYXvD32fGFDnf4jSFhDR8aQdjf6ojD969ZOCzsqSQgAQlIQAISkIAEJCABCUhAAm1HoEUT3CFyqG/KOJz9wQcfjDFjxsRRRx0VP/vZz2LllVeO1VdfPX7605/mXyPkmVhxoPr9998fyy23HI+qBiHw29tmx43/nROjRkR8cadF4g9fGB2/PWJ0/OHI0bHP5sNjSEep+tO/Z8e/H1tQGHVph7sHn54XS47O4pS9Rub2L/v86DjngFGxylJZPDttfpz3twWFUdi/9NZZMbfDq13eOSyu/OKCYSE0u+qu2fH3B+Y2CB2jIQEJSEACEpCABCQgAQk0OwHjLwEJNB6BDlFD/SL18ssvx6233hojRozIz5r69re/HZ/4xCdi8803jylTpgTbBr/3ve/FvffeGxymjrDr4Ycfrl8EDalXAjNnRS68wuIu6w+P7d8xLDIeOhTCpD3fNSJWXXpIsFXwnsffECpNmxnxjwc7n/fYeHi8c/zQDhed/+M77H/8PSOCVVX3TJ6Xr6zqNIn49+S5gVvsfGrLRfJVXpgR1t6bjYi1lh8Sszu8vf1/c9BWSUACEpCABCQgAQk0BgFjIQEJSEACEqgqgboKsDgU/bHHHov11lsv3v72t+cJybIs/yLhiy++GI8++miuN3r06DjppJPy7YNnnnlmrudPYxBAWDR8WORbBhFUlcYq3xY4qlOk9dy0eV3Gk56fFzwvPjJig1XfEF4lC29bfmiMXTSL6a/Oj0ee7ZBIvW7w1NTOE65YtTWm5KOUCLyWXryzCL84vdPe6868SEACEpCABFqAgEmQgAQkIAEJSEACEkgEOkf/6alOVwRUw4cP7wrtbW97W37/3//+N7/ys8oqq+RCrjvvvDNYuYWeavAJIEQ64+Oj8i2D267bIckqidIz0+bH01PnxZAOGdbbVnhDUPXi9Hnx2uyIxUZmseRiHYYl7hZdJIvFOwRfczpkXi/NfMNwjWWH5H5NfmFePDll/hsGHXes8nr8xQ4HHfcrLzUoRbkjZP8lIIGGJmDkJCABCUhAAhKQgAQkIIGWIFDXUf/IkSNjmWWWiblz58b8+W8II9BbdNFFu1ZgQTbLshg6dGiwYuv/s3cfgFGUeR/H/5OQkBCEUAUEQQ8booK9IId6FsSCXTk9Gwh6iogKnnrn6d35gqKiZwe7Yu8gWDg7olgQG1Y6CFJCCQmBJO/+Hpi42Wz67mbL987ZMvPMM8/zmWEy89/neUYtt4z/xbWAxqiaOa/Y/vlcoanV1N7bp1ufXX4PcCkopeBU4wzPMtMrBrDUMqt5k83zg1tgKY/dOqXb8rWl9p+XCk1jYglC42X938uF9tPSEtu+bZqduM/vAVEtZ0IAAQQQQAABBBBAAAEEEEg8AUqMQGUCaZUtiMb8rbbaytSySuNgzZw5s2wTW2+9tbVo0cJmzZplfrAqPz/fli5dWpaGD/EpcMWEQjvsxnw7YlS+Xf5Eof28rMSO3bORXds/yzJ/j1/VufDK458nZVmvHdNNTyEc8mCB294Zd663j34qtm7bpJmWq4thnTfCiggggAACCCCAAAIIJI8ANUEAAQSSUiAtlrVq1KiRnXzyyVZUVGTHHHOMaXyrgoICa926te2xxx72/vvv2xNPPGELFy60O++802bPnm077LCDe2Kh8b+4FNjccspMXQs1sLpaYumJgLMWFEesvBo/a/aSElObvawMc+Nv6V0b+HV1aSCwFbltKU8mBBBAAAEEEEh1AeqPAAIIIIAAAvEmENMAlip/0kkn2aBBg2zNmjU2fvx4KywsNHUtHDx4sBbbkCFDrFOnTvbvf//bfT/nnHNMY2a5L7zEncB1J2a58bBevCzHNKn11er1pabufbPmbx6fqj6F/mVZif3rxUJblV9qZ/XKsFcuz3Hbm3hljg09MtPyC0vt1tc2mP+Ew/psi3URQAABBCIoQFYIIIAAAggggAACCERQIOYBrIyMDLvnnnts4sSJ1r9/f8vOznbVOfbYY23ChAllra2U7qabbrLTTjvNLecl/gX0BMK/Ht7Ydu2YZhpgfdLMjfUu9HOfbLQV60ptvz+k29m9M02tvJSpRss6fq8MO3L3RlZQZPbMx0WmJyRqGRMCySJAPRBAAAEEEEAAAQQQQAABBDYLxDyApc1qcPZ+/frZNddc41pfaZ7neS5YlZeXZytXrjR1LbzyyitNgSwtZ0oMgYx0sy5bngi4JK+kLKjUPBCnbBQ42tRiqqBInQHL12dtoZlabmnudm0DmQQ+aJ4/aHvPLummoFVgdrn/9u3ayI21tWBFqf22pkK+5dLyBQEEEEAAAQQQQAABBBBAAAEEElMgEFKoquCxX+Z5nhvQXUGu2G+dLVYnsCSv1M69b70NuHO96amDVaXPSPesUfrmFC2bplnjDLPCjaW2pqBioGn9hlJbG5ivIJeCXVqrNJCsJDDpc6NAXnoPnTTbC8wsCST20wa+8h8CCCCAAAIIIIAAApwC0h0AABAASURBVAgggECtBEiMQHwLRDWAVVBQYJMnT7bnnnuuzpPWVz7xzZg6pctoZK5V1dI1pTZ7ccUxrtSNb+7yzfNbb+WVtZrq3DrN2jRLM7Wq+uTnioOuf7Wg2I1zlZvj2Q7tNke9tso2a9XUc7hfzS92g7i7L0EvX8wrtg2bzFrkpFmz7M1pgxbzEQEEEEAAAQQQQACB2AmwJQQQQACBqAlENYCl7oAalP2UU06xuk5aX/lETYCMayXQOhBQ2mf7zQEmjTv10U+/B6P0BMInPiyybxaWWHam2Z+6B6JdW3Jvlm12wA6b13t+RpEFrzf3txKbMK3INgXiXj07p1v7FpsDUXo9bNdGbtyrd2dvsmenbywLYqlh1pQvN9mrn28eZ0t5axtbNscbAggggAACCCSoAMVGAAEEEEAAAQTCCUQ1gJWdnW1nnHGGe+qgnjxYl0nrK59whWdewwj85eBMN1D76vVm1z5TaMeOybcTx+bbcbfk22MfbA4onfvHTPMDXX4pzzgg03oEAlT+ekrf/9Z8GziuwOYtL7WOLT07r09mWastrXfE7o3smJ4ZpuDYff8rsmNuzt+8rcA2b560wQ3gvn/XdPtLr0wlZ0IAAQQQMMMAAQQQQAABBBBAAIGkE4hqACs3N9dGjRpl999/f50nra98kk4+gSvUIsez287MtosOz7RtWniuC5+CUqrS7p3SbMyfs+2kfTL0tdykpxTecHKWnbpfhuU28dyTCtWlMCfL7NBujWzsWdnWtpnaXf2+mr5dcmSm/euULNupfZoLZGlb6jbYqZVnw/o2NuWZ+Xtjr99X5hMCdRZgRQQQQAABBBBAAAEEEEAAgXgSSIunwlCWxBFIDxw5ClI9emETe+OqHJt6dY5NujLHbgsEoRTEskqqoiDW4MMy7flhTdw6Wu/l4Tl2Tf/GpsBYuNUUxDpwh3S7+9xsmzIyx62nbT48uIkd27OR62IYbj3mIYAAAggggAACCCCAAAIIIIBAlAVilH0gDBGjLYVspri42D7++GMbPny49ejRw7bddlv3fs0119gPP/xgpaUa5ShkJb4igAACCCCAAAIIIIAAAgggkGQCVAcBBKoXaJAA1nfffWfdu3e3/fff32677Tb78ssvbcGCBe79xhtvtJ122skOP/xw+/XXX6uvASkQQAABBBBAAAEEEEAg1QWoPwIIIIBAkgvEPIA1b948O/7442327NmmwdkHDx5sTz75pD377LP2+OOP29lnn+3mT5061Y4++mhbtmxZku8CqocAAggggAACCMSDAGVAAAEEEEAAAQTiVyCmASx1C7z55pvtxx9/tBNPPNEWLlxo9957r51++ul28skn25///Gd7+OGH3fxDDjnEvvjiC7v77rvjV4+SIYAAAgggECzAZwQQQAABBBBAAAEEEIiKQEwDWHl5eW7cq/bt29vo0aOtZcuWYSul+ffdd5+1adPG1BJr7dq1YdMxEwEEkk+AGiGAAAIIIIAAAggggAACCCAQKhDTAFZhYaHrErjjjjtau3btQstS7ruCXN26dbP58+fbunXryi3jS5UCLEQAAQQQQAABBBBAAAEEEEAAgeQXSKkaxjSAlZWVZW3btrXffvvNFMyqSnrjxo2Wn5/v0mu9qtKyDAEEEEAAAQQQQAABBBBAAIHaC7AGAggkikBMA1gtWrRwY119++239uCDD5rGxKoM6o033rDPPvvM+vXrZ1qvsnTMRwABBBBAAAEEEEAAgQYUYNMIIIAAAgjEQCCmASzV5+KLL7ZzzjnHrrrqKrvooots7ty55QJZq1evtlGjRtlZZ51lRx55pF122WVajQkBBBBAAAEEEEhaASqGAAIIIIAAAgggULVATANYS5YsMY1r9fDDD7uglZ5AuN1221laWpp5nuem3Nxc+9vf/mbqQjhlyhTTd8/bvMzzNr937tzZlFfVVWMpAggggEAKCVBVBBBAAAEEEEAAAQQQSGKBtCSuG1VDAIFaCZAYAQQQQAABBBBAAAEEEEAAgfgUiGkAS08WnDdvnmt9pfGv6jopD+UVd6QUCAEEEEAAAQQQQAABBBBAAAEEkl+AGsZcIKYBrJjXjg0igAACCCCAAAIIIIAAAgjEpQCFQgABBGoj0KABLI1z9c0339hzzz1XNum75temEqRFAAEEEEAAAQQQQCAFBagyAggggAACKSPQIAEsBahuueUWa968uXXv3t1OOeWUsknfc3Jy7Oabb3YDuafMnqCiCCCAAAIIINAAAmwSAQQQQAABBBBAIBEEYh7AUvBq6NChdsUVV1hBQYFlZGRYp06dyiZ9V5oRI0bYX//6V4JYiXAUUUYEEEhtAWqPAAIIIIAAAggggAACCERZIOYBrFdffdXuu+8+a9KkiT3xxBMuiDV//nzzJwW1NF/Lx48fb1OnTo0yAdkj0PAClAABBBBAAAEEEEAAAQQQQAABBCoXiGkAa9OmTTZhwgRXmgcffNAGDBhg6enp7rv/ou+ar+WapyCW1tPnKiYWIYAAAggggAACCCCAAAIIIIBA8gtQwxQViGkAa8WKFfbFF1/YXnvtZUcccUSV5FqudN99953l5eVVmZaFCCCAAAIIIIAAAggggAACNRUgHQIIIJB4AjENYJWUlJhaU2mQdo11VRWXlivdunXrGAerKiiWIYAAAggggAACCMRegC0igAACCCCAQEwFYhrAysrKsrZt29rSpUstPz+/yopqudIpvdarMjELEUAAAQQQQCDhBCgwAggggAACCCCAAAI1FYhpACs3N9f2228/mz17tj3yyCNWWloatpyar+VK1717d9N6YRMyEwEEEEhtAWqPAAIIIIAAAggggAACCKSEQEwDWJ7n2bnnnuueQDhy5EgbPHiw/fzzz1ZcXOyw9a7vmq/lehLhkCFDzPM8t5wXBCIvQI4IIIAAAggggAACCCCAAAIIIBDvAvUPYNWyhnvuuaeNHj3a0tLSbNy4cda1a1dr1KiRC1LpXd81X8uVbt99963lFkiOAAIIIIAAAggggAACCCCAAAIRFyBDBBpQIOYBLM/z7OKLL7avvvrKjjrqqLBV13wtVzrPo/VVWCRmIoAAAggggAACCCCAQMIJUGAEEEAAgboJxDyAtXz5cvdUwW7dutnkyZPdUwk1WPvixYvd4O56SqHma3ndqsRaCCCAAAIIIIAAAkksQNUQQAABBBBAIAUFYhrAKiwstLPPPtt23nln++mnnxx3enq6ezJh+/bt3bu+uwW8IIAAAggggECUBMgWAQQQQAABBBBAAIHEEohpAGvVqlX29ddfW4cOHWzrrbdOLClKW2eBletK7ZpnCu2E2/LtsBtrNinttYF1VgTWrfOGWRGBaAqQNwIIIIAAAggggAACCCCAQMwEYhrAysjIsKZNm5paYqmrYMxqyYYaTEABqAsfKrDpPxXbmoLyxajqm9J+FFjnosC6+lxVWpYhgAACCCCAAAIIIIAAAggggED8CkSiZDENYLVu3doGDRpkn332mY0dO9YKCmoR0YhEbckj5gL3TS2y5WtL67xdrXvPWxvqvD4rIoAAAggggAACCCCAAAJJIEAVEEh5gZgGsBSw2mGHHewvf/mL3XDDDdakSRPXnbB///52wQUXhJ2uuuoqy8vLM/6XmAKfzy2ud8Fn/FL/POpdCDJAAAEEEEAAAQQQSHABio8AAgggkMgCMQ1gKRB10UUX2SOPPFJmtmTJEnv55Zdt3LhxYacnn3ySllplWon3YVV+3Vtf+bWNRB5+XrwjgAACCCCAQD0EWBUBBBBAAAEEEGgggZgGsHJzc+3ee++1Z599tsaT0mu9BvJhswgggAACCERUgMwQQAABBBBAAAEEEECg9gIxDWBlZ2db37597eSTT67xpPRar/ZVYw0EEEhSAaqFAAIIIIAAAggggAACCCCQYgIxDWAF2/7000/26quvBs9yTye88sor7fbbb7c1a9aUW8aXSAqQFwIIIIAAAggggAACCCCAAAIIJL9A8tQw5gGs0tJSu+WWW0yDuet93bp1ZZoa5P2dd96xYcOGWadOnWzy5Mlly/iAAAIIIIAAAggggAACCCCAQMwF2CACCMSFQMwDWGp1NWLECFf5nXfe2b37L1lZWXb11Vfb4Ycf7lpgDRgwwL744gt/Me8IIIAAAggggAACCCCQgAIUGQEEEEAAgfoKxDSAtWnTJnv00UdNrbCeeuopN6B706ZNy+qgsa5OOOEEe/3112306NGmpxbecccdLn1ZIj4ggAACCCCAAAKpJ0CNEUAAAQQQQACBlBaIaQBrxYoVrkXVXnvtZUcccUSl8J7n2XnnnWfdunWzTz75xLRepYlZgAACCCCAQI0ESIQAAggggAACCCCAAAKJKhDTAFZJSYmpFVZOTo5lZGRUaabuhG3atDGNkbVx48Yq07IQAQRiJMBmEEAAAQQQQAABBBBAAAEEEGgAgZgGsBSUatu2rc2dO9dWr15dZXXz8/Nt6dKlpvRar8rECbSQoiKAAAIIIIAAAggggAACCCCAQPILUMPICsQ0gJWbm2v77befzZs3zx566CErLi4OWxuNkfXII4/Y7NmzrXv37qb1wiZkJgIIIIAAAggggAACCCCAQLIKUC8EEECgTCCmASzP8+z88893Aam///3v1rdvX5syZYotWbKkbJo2bZr179/fRo4c6dINHTrUPM8rKzAfEEAAAQQQQAABBBBAoKYCpEMAAQQQQCA5BGIawBJZz5497YEHHnBjYL355psuiNWhQwfzp4MOOsheeeUVt1zplF7rMSGAAAIIIIAAAg0iwEYRQAABBBBAAAEEGlwg5gEs1fjEE0903QiHDx/uxrjSPH/SmFcXXXSR/fLLL6Z0/nzeEUAAAQQSV4CSI4AAAggggAACCCCAAAL1EWiQAJYK3L59e7vlllvcQO0a88qfNHD7XXfdZR07dlQyJgQQ2CzAKwIIIIAAAggggAACCCCAAAIpK9BgAazYi7NFBBBAAAEEEEAAAQQQQAABBBBIfgFqmIwCUQ1g5eXl2VVXXeUmfdak7xdccIHVdFJ6rZeM+NQJAQQQQAABBBBAAAEEEIhLAQqFAAIIxJlAVANYBQUF9uSTT7pJnzXp+7hx46ymk9JrvThzozgIIIAAAggggAACCFQpwEIEEEAAAQQQiJxAVANY2dnZdsYZZ7hJnzXp+6BBg6ymk9JrvchVmZwQQAABBBBAIEEEKCYCCCCAAAIIIIAAAk4gqgGs3NxcGzVqlJv0WZO+33///VbTSem1nistLwgggAACtRQgOQIIIIAAAggggAACCCCQ+AJRDWAlPg81QMDMQEAAAQQQQAABBBBAAAEEEEAAgQYViEkAq0FryMYRQAABBBBAAAEEEEAAAQQQQCAmAmwEgWgJRDWAtWTJEuvcubN5nlfnSesrn2gBkC8CCCCAAAIIIIAAAgggEEcCFAUBBBBAIIxAVANYYbbqYBX6AAAQAElEQVTHLAQQQAABBBBAAAEEoixA9ggggAACCCCQbAIxC2ClpaXZWWedZR9++KEtWrTIFi9eXKNpxowZ1rZt22Rzpz4IIIAAAgjEtwClQwABBBBAAAEEEEAgjgSiGsBS4GnixIk2ePBga9y4sT322GN20EEHWe/evW3ChAmmoFb79u2tqkl5pKenxxEZRUEAAQRqJkAqBBBAAAEEEEAAAQQQQACByAhENYClwNNuu+1m9957r61du9a1vjr11FNtzpw5dsUVV1i7du2sZ8+e9vjjj9vq1auN/yEQIsBXBBBAAAEEEEAAAQQQQAABBBBIfoFqaxjVAFbw1hXMOvDAA+3pp5+2wsJCe/311+3oo4+2WbNmua6Fubm5dsABB9jLL7/slgevy2cEEEAAAQQQQAABBBBAAAEEEKhKgGUIJLdAzAJYwYwZGRl2xBFH2KRJk2zNmjX2zDPP2P7772/Tp0+3/v37W05OjvXr18+12Nq4cWPwqnxGAAEEEEAAAQQQQAABBKIjQK4IIIAAAnEr0CABrGANBatOOeUU++ijjywvL8+Nk7X77rvba6+9Zr169bJdd93Vli1bFrwKnxFAAAEEEEAAAQTiVIBiIYAAAggggAAC0RBo8ABWcKWaNWtm++67r2ud1aZNG7dow4YNVlxc7D7zggACCCCAQAoIUEUEEEAAAQQQQAABBBAIEWjwAFZpaanNnTvXrr32Wtt6661tp512sptuusl+++0369Gjh40aNcpat24dUmy+IoAAAlUJsAwBBBBAAAEEEEAAAQQQQCCZBBokgBUatNpuu+3sP//5jwtaKYClpxYuX77cvvjiCzvjjDNMY2YlE3pC1IVCIoAAAggggAACCCCAAAIIIIBA8gskSA1jFsDyg1Y33nijdezY0YKDVh06dLDRo0fbr7/+arNnz7bBgwdbq1atEoSQYiKAAAIIIIAAAggggAACCKSyAHVHAIHoC0Q9gLVgwQILDlpdc801tnjxYtMYV/o8Z84cW7hwoY0YMcJ1IYx+ldkCAggggAACCCCAAAIIxJkAxUEAAQQQQKBKgagGsJYsWeKeJKhAlYJWubm5dumll9r3339vS5cutX//+9/WpUsX8zyvykKyEAEEEEAAAQQQQKA6AZYjgAACCCCAAALJKxDVAFYoW3Z2tr3wwgv2pz/9yTp37mzbbrtttdPBBx9sy5YtC82K7wgggAACCERegBwRQAABBBBAAAEEEEAgLgViGsBSiyx1KazNNH/+fCsuLo5LPAqFAAIVBZiDAAIIIIAAAggggAACCCCAQKQFohrAUpdBPVHw2WeftbpOWl/5RLricZwfRUMAAQQQQAABBBBAAAEEEEAAgeQXoIa1EIhqAEtdBvv27Wsnn3xynSetr3xqUSeSIoAAAggggAACCCCAAAIIpIQAlUQAgVQRiGoAK1UQqScCCCCAAAIIIIAAAgkrQMERQAABBBBIAAECWAmwkygiAggggAACCMS3AKVDAAEEEEAAAQQQiK4AAazo+pI7AggggEDNBEiFAAIIIIAAAggggAACCFQqQACrUhoWIJBoApQXAQQQQAABBBBAAAEEEEAAgeQUIIAVvF/5jAACCCCAAAIIIIAAAggggAACyS9ADRNOgABWwu0yCowAAggggAACCCCAAAIINLwAJUAAAQRiKUAAK5babAsBBBBAAAEEEEAAgd8F+IQAAggggAACNRQggFVDKJIhgAACCCCAQDwKUCYEEEAAAQQQQACBVBAggJUKe5k6IoAAAlUJsAwBBBBAAAEEEEAAAQQQiHMBAlhxvoMoXmIIUEoEEEAAAQQQQAABBBBAAAEEEIieQLwEsKJXQ3JGAAEEEEAAAQQQQAABBBBAAIF4EaAcCNRJgABWndhYCQEEEEAAAQQQQAABBBBoKAG2iwACCKSeQFIGsNasWWM33XSTdenSxTzPc1PTpk1t0KBBtnDhwkr38rfffmvHHHOMZWZm1nidSjNjAQIIIIAAAggggED8ClAyBBBAAAEEEEgogaQLYM2bN88OPPBAGzlypOlzmzZtbJtttrGCggIbP3687bTTTjZp0qQKO+ndd9+1gw46qGxZ8DrKb+bMmRXWYQYCCCCAAAKpLEDdEUAAAQQQQAABBBCIlUBSBbA2btxoV155pX3zzTd28MEH24IFC2zZsmWu1dWqVatswIABtn79ehs2bJhb5iOrVdaQIUMsLy/PrrvuOsvPzy+3jvIZMWKErVu3zl+FdwQQQCASAuSBAAIIIIAAAggggAACCCBQA4GkCmD99NNPNnXqVMvNzbW7777bOnbsWEbQrFkzu+OOO2yfffYxpXvvvffKlr300ks2e/ZsO/LII13LrYyMDLcseJ233nrLPvjgAzefl3gSoCwIIIAAAggggAACCCCAAAIIIJDsAmmWRDVctGiRpaenW48ePaxLly4VataqVSvbZZdd3Hy1utKHwsJCmzx5sj7aWWedZdnZ2e6z/6J1+vfvb6Wlpfbaa6/5s3lHAAEEEEAAAQQQQAABBBBAILEEKC0CCSyQVC2w/vSnP7kug2+//bZp0PbQ/bJp0ybXPTB4/urVq13rKwWudtxxx+BFZZ93220393nWrFl0I3QSvCCAAAIIIIAAAgggkJoC1BoBBBBAoGEEkiqAVR2hugmqi6GeMti7d2+XfOXKlZaXl+daXoULeilRhw4drEmTJjZnzhxbu3atZjEhgAACCCCAAAII1E2AtRBAAAEEEEAAgVoLpEwASy2tNHi7glXHH3+87b333g5Lg7qrG6GCV7m5uW4eLwgggAACCMS3AKVDAAEEEEAAAQQQQCC1BFIigKXg1cCBA90A7zvssIPdfPPN5g/Unlq7m9oigECZAB8QQAABBBBAAAEEEEAAAQQSRiDpA1i//vqrnXTSSfbcc8/Z9ttvby+//LJ17tw5YXZQPBeUsiGAAAIIIIAAAggggAACCCCAQPILxEMNkzqA9d1339khhxziWl7tuuuu9vrrr5c9hdDHb9GihTVr1syKioqsoKDAnx32vVGjRpaWltRkYevNTAQQQAABBBBAAAEEEEAAgXoJsDICCNRTIGmjMZMmTXLjXGng9iOOOMLee+8969q1awWunJwcN0C7uhmuWLGiwnLNWLx4sWmsrE6dOpnSax4TAggggAACCCCAAAIIxFKAbSGAAAIIpLJA0gWwSktL7emnn7bjjjvOBZ0uu+wye+mll6xly5Zh93Pz5s1t5513dq2vfvjhh7Bppk+f7ubvvvvupsHe3RdeEEAAAQQQQACBRBOgvAgggAACCCCAQIIKJF0A64UXXrABAwZYSUmJjR492g3Ynp2dXenuycrKsr59+7rljz32mAtkuS9bXtQq68033zTP8+zoo4/eMpc3BBBAAIFUFaDeCCCAAAIIIIAAAgggEHuBpApgLVy40K699tqy4NWVV15p6enp1ar279/ftcLSGFmjRo0qC2KtWbPGhg4dajNmzLDevXtbr169qs2LBAggUK0ACRBAAAEEEEAAAQQQQAABBBColUBSBbCeeOIJ05hXEhg5cqQbcN3zPNd6yvPKv6t1ltJp6tixo40ZM8aNhXXDDTeYuhVqngZ4nzBhgmnsq7Fjx8ZR90GVmgkBBBBAAAEEEEAAAQQQQAABBJJbgNr5AkkTwCosLHQDtfsVq+17v379XEsrvWvdRYsWmboeDhw40KZNm2Y9evTQbCYEEEAAAQQQQAABBBBAAIFEEqCsCCCQFAJJE8DSWFZ68qAGca/JpBZaoXuwW7duNnHiRCsqKjLlsW7dOhs3bpypNVZoWr4jgAACCCCAAAIIIJAqAtQTAQQQQACBhhZImgBWQ0OyfQQQQAABBBBAoAoBFiGAAAIIIIAAAgjUQ4AAVj3wWBUBBBBAIJYCbAsBBBBAAAEEEEAAAQRSVYAAVgz2/GeffWapOkWKN1X9Il7vFD4WsUzd81Cy7HvOpxzDyXIsUw+OZY4BjgGOAY4BjoHEOwYidS1an3wIYNVSj+QIIIAAAggggAACCCCAAAIIIJD8AtQwvgQIYMVgf+y1116WqlOkeFPVj3qn7r8d9j37PvQY4HzKMRF6TPCdY4JjgGMgAY6BlL0PYt/w7zPZjoFIXYvWJx8CWPXRY10EEEAAAQQQQAABBKIqQOYIIIAAAgggIAECWFLYMn377bd2zDHHWGZmpnmeZ02bNrVBgwbZwoULt6TgDQEEEEAAAQQSToACI4AAAggggAACCCS8AAGsLbvw3XfftYMOOsgmTZrk5myzzTZWUFBg48ePtwMPPNBmzpzp5vOCAAIIpKIAdUYAAQQQQAABBBBAAAEEGlKAAFZAXy2shgwZYnl5eXbddddZfn6+a3W1atUqGzBggC1YsMBGjBhh69atC6TmPwTqJMBKCCCAAAIIIIAAAggggAACCCBQR4EECmDVsYY1WO2ll16y2bNn25FHHmkjR460jIwMt1azZs3sjjvusH322cfeeust++CDD9x8XhBAAAEEEEAAAQQQQAABBBBAIFoC5ItARYGUD2AVFhba5MmTncxZZ51l2dnZ7rP/0qpVK+vfv7+Vlpbaa6+95s/mHQEEEEAAAQQQQAABBBCIXwFKhgACCCSZQMoHsFavXu1aXylwteOOO4bdvbvttpubP2vWLLoROgleEEAAAQQQQACB5BeghggggAACCCAQPwIpH8BauXKl5eXluZZXeupguF3ToUMHa9Kkic2ZM8fWrl0bLgnzEEAAAQQQQKCiAHMQQAABBBBAAAEEEIiIQMoHsNavX2/qRqjgVW5ubkRQyQQBBBCInAA5IYAAAggggAACCCCAAAIIpHwAi0MgBQSoIgIIIIAAAggggAACCCCAAAIIJLRAjQJYCV1DCo8AAggggAACCCCAAAIIIIAAAjUSIBEC8SqQ8gGsFi1aWLNmzayoqMgKCgqq3E+NGjWytLSUJ6vSiIUIIIAAAggggAACCKS4ANVHAAEEEIiCQMpHY3JyctwA7Xoa4YoVK8ISL1682DRWVqdOnUzpwyZiJgIIIIAAAggggECEBMgGAQQQQAABBBAoL5DyAazmzZvbzjvv7Fpf/fDDD+V1tnybPn26+7T77rubBnt3X3hBAAEEEEAgngUoGwIIIIAAAggggAACSSSQ8gGsrKws69u3r9uljz32mAtkuS9bXtQq68033zTP8+zoo4/eMpc3BBBIBQHqiAACCCCAAAIIIIAAAgggEB8CKR/A0m7o37+/a4X1+uuv26hRo8qCWGvWrLGhQ4fajBkzrHfv3tarVy8lZ6q5ACkRQAABBBBAIAkESgN1+Glpid3xepGdcsd6e+XzTYE51f9XUGQ2+ctNNuyxArvggQJbU/VwoxUyfOe7TXbU6Hw77Mb8Gm+zQibMQAABBBBAAIFYCER9GwSwAsQdO3a0MWPGuLGwbrjhBlO3Qs3TAO8TJkwwjX01duxYug8GrPgPAQQQVzm5tQAAEABJREFUQAABBFJDwA9ajXplg514W74NDgSgXv5so61cpyWVGyho9VIgnQJWx9+ab2MmbbCvFpRYcUnl64RbsmxNqT3wTpFtLA63lHkIIIBAMgpQJwQQqEqAANYWnX79+rmWVnrXrEWLFll2drYNHDjQpk2bZj169NBsJgQQQAABBBBAICUEZvxcbEMfKbA3v95kawvMOrb0LKdx9VX/+3OF9t/Xi+znpSWWlWHWubVX/UohKRQiezAQvFq8Sp9CFvIVgaoEWIYAAgggkLQCBLCCdm23bt1s4sSJVlRUZKWlpbZu3TobN26cqTVWUDI+IoAAAggggAACSSvgVyw9cJW4bes0G3JYpr1wWY799+wm1qZZYKZV/b+mgSBXr53SA+mz7eXLc6z/3plVrxBm6bvfbTJ1H2zZ1LPWgSlMEmYhgAACCCCAQIoJVH8VkmIgVBcBBBBAAIF6CrA6AkkhsNd26Xbvedl2yn4Z1iy75lX650lZdn1g6rZNmtW+7ZWZ33VQWzz74Exrml2XXIz/IYAAAggggECSCaQlWX2oDgIIJIUAlUAAAQQQSEUBdRj0uw722aWRHbRjeioyUGcEEEAAAQQQCCNAACsMSlLMohIIIIAAAggggECCCfhdBzu08Oy8PpmWnkbrqwTbhRQXAQQQQKAhBFJkmwSwUmRHU00EEEAAAQQQQCCeBYK7Dp4fCF61bUbwKp73F2VDINkEqA8CCMS/AAGs+N9HlBABBBBAAAEEEEhqgdCug3/cpVFS1zdJK0e1EEAAAQQQiKoAAayo8pI5AggggAACCCBQU4HUTRfadZC2V6l7LFBzBBBAAAEEKhMggFWZDPMRQAABBBJPgBIjgEDCCdB1MOF2GQVGAAEEEECgQQQIYDUIOxtFIH4FKBkCCCCAAAKxFHj24422eFWpbSw2+9eLG+ywG/PLphNuy7e5v5W44tw+ZfOy88cV2JoCN4sXBBBAAAEEEEghAQJYkd/Z5IgAAggggAACCCBQQ4HGGWbNm4SfmmWbpW+5Wm2SuTlNsywzzzP+hwACCCCAQDwIUIYYCmy5JIjhFtkUAggggAACCCCAAAJbBAb2ybQXhuWEnR4ZkmOdWm2+XB10aGOX5razsm2rQBBry+q8IYBAwgtQAQQQQKBmApuvCGqWllQIIIAAAggggAACCCAQbwKUBwEEEEAAgRQQIICVAjuZKiKAAAIIIIBA1QIsRQABBBBAAAEEEIhvAQJY8b1/KB0CCCCQKAKUEwEEEEAAAQQQQAABBBCImgABrKjRkjECtRUgPQIIIIAAAvEroAHVHxiUbVOvzrHj9mxU44IqrdbRusqjxisGEiq91tP6yicwi/8QQAABBBBAIEUFkiuAlaI7kWojgAACCCCAAAIIIIAAAgggkFICVDblBAhgpdwup8IIIIAAAggggAACCCCAgBkGCCCAQCIJEMBKpL1FWRFAAAEEEEAAAQTiSYCyIIAAAggggECMBAhgxQiazSCAAAIIIIBAOAHmIYAAAggggAACCCBQvQABrOqNSIEAAgjEtwClQwABBBBAAAEEEEAAAQSSXIAAVpLvYKpXMwFSIYAAAggggAACCCCAAAIIIIBA/ApEKoAVvzWkZAgggAACCCCAAAIIIIAAAgggECkB8kGgQQQIYDUIOxtFAAEEEEAAAQQQQACB1BWg5ggggAACtRUggFVbMdIjgAACCCCAAAIINLwAJUAAAQQQQACBlBIggJVSu5vKIoAAAggg8LsAnxBAAAEEEEAAAQQQSBQBAliJsqcoJwIIxKMAZUIAAQQQQAABBBBAAAEEEIiBAAGsGCCziaoEWIYAAggggAACCCCAAAIIIIAAAskvUL8aEsCqnx9rI4AAAggggAACCCCAAAIIIBAbAbaCQAoLEMBK4Z1P1RFAAAEEEEAAAQQQSDUB6osAAgggkJgCBLASc79RagQQQAABBBBAoKEE2C4CCCCAAAIIIBBzAQJYMSdngwgggAACCCCAAAIIIIAAAggggAACtREggFUbLdIigED8CFASBBBAAAEEEEAAAQQQQACBlBEggJUyu7piRZmDAAIIIIAAAggggAACCCCAAALJL5AMNSSAlQx7kToggAACCCCAAAIIIIAAAghEU4C8EUCggQUIYDXwDmDzCCCAAAIIIIAAAgikhgC1RAABBBBAoO4CBLDqbseaCCCAAAIIIIBAbAXYGgIIIIAAAgggkKICBLBSdMdTbQQQQCBVBag3AggggAACCCCAAAIIJJ4AAazE22eUGIGGFmD7CCCAAAIIIIAAAggggAACCMRUgABWTLn9jfGOAAIIIIAAAggggAACCCCAAALJL0ANIyVAACtSkuSDAAIIIIAAAggggAACCCAQeQFyRAABBAICBLACCPyHAAIIIIAAAggggEAyC1A3BBBAAAEEEl2AAFai70HKjwACCCCAAAKxEGAbCCCAAAIIIIAAAg0oQACrAfHZNAIIIJBaAtQWAQQQQAABBBBAAAEEEKibAAGsurmxFgINI8BWEUAAAQQQiFOBletK7ZpnCu2E2/LtsBtrNinttYF1VgTWjdNqUSwEEEAAAQQQiBOBlAtgxYk7xUAAAQQQQAABBJJGQAGoCx8qsOk/FduagppXS2k/CqxzUWBdfa75mqREAAEEEECgegFSJJcAAazk2p/UBgEEEEAAAQQQiLnAfVOLbPna0jpvV+ve89aGOq/PigggEDUBMkYAAQTiRoAAVtzsCgqCAAIIIIAAAggkpsDnc4vrXfAZv9Q/j3oXIioZkGk8CSjMOuqVDa6b64lj823hSs0pX8KCIrMLHyxwaSrrDlvZuuVz4hsCCCCAQCQFCGBFUpO8EEAAAQQQQCDyAuQY9wKr8isGAWpb6EjkUdttkj71BN79bpO9E5iqqvnGQCy1KDBVlYZlCCCAAAKxFyCAFXtztogAAgjEXIANIoAAAgggkOoCy9aU2gPvFJkCVFVZrCkotVX5JbZVltm952Xb1KtzKkwvDMuxji29qrJhGQIIIIBAhAUIYEUYlOySVoCKIYAAAggggAACCCSogNoIPhgIXi1eVWpd2qRZZqPKK1JQVGolJWZpgTul7Eyv8oQsQQABBBCIqUDgtByr7bEdBBBAAAEEEEAAAQQQQCD2An7XwQ4tPDt1vwyrKiy1Kr/UijaZtchJs2bZVaWMfT3YIgKJI0BJEYi8AAGsyJuSIwIIIIAAAggggAACCMSJgN91UMU5v09mIDBVdVAqb32p62aY09gsO1NrNdDEZhFAAAEEygkQwCrHwRcEEEAAAQQQQACBZBGgHggEdx3ss0sj+2Ngqk6lcKNZSWDFletK7dJHC+yo0fnuiYR6/9vThTb3t5LqsmA5AggggEAUBAhgRQGVLBFAAAEEEEgSAaqBAAIIJLRAcNfB8/pkVtl10K/onGWbH0G4JK/Uvl9S4lpjaZkGf//k52IbGghqffzT5jSaz4QAAgggEBsBAlixcWYrCCCQsgJUHAEEEEAAAQQaQiC062DbZlV3HfTL2D43zZpmme3cPq3sKYRvXZ1jo0/Pct0P8zeY3f3WBtNYWcb/EEAAAQRiJkAAK2bUbKjOAqyIAAIIIIAAAggggEAtBEoDaf2nDta062BgFfffqftn2MvDc+yuc7Nth3abb5cU+tp7+3QbcUxja9zITE8znPELrbAcGC8IIIBAJAWqyGvzGbmKBCxCAAEEEEAAAQQQQAABBBJJoC5dB2tSv55d0q1rIKilMbJ+/JWxsGpiRprYC7BFBJJVgABWsu5Z6oUAAggggAACCCCAQAoKrC00e+LDjW7sKrWUOuPO9W4Q9sNu3DwYuwZi37DJbPV6s7Pv3bzs9ikbgqUq/ZyRbpbZSO2xzDYVq51XpUlZgAACCCAQYQECWBEGJTsEEEAAAQQQQAABBBBoWIGmjc2aNwk/5TTeXDaFobbKMpcuJ0vfzGbOK7YBgYDXXx8qCDvGlQZyL9q0OXDVKH3zOptz4xUBBBBAINoCBLCiLUz+CCCAAAII1EWAdRBAAAEE6iSgoNRtZ2XbC8Nywk7X9s9y41g1CwS47jyniUszsE+m25YGcFf3wJ+Xldg3iyp2EZz7W4ktWFFiaYHY1Q7tuJVyaLwggAACMRLgrBsjaDaDAAKxF2CLCCCAAAIIIIBAbQTaNvesR+d01/3w3rc22E9Lfw9i6amD904tsjUFZtu2TrP9uzaqTdakRQABBBCopwABrHoCJvnqVA8BBBBAAAEEEEAAgZQR8AI1HXxYpnv64JK8UhvyQIH1vzXfTrgt307773rXxVBdEC84JNOaZQcS8x8CCCCQPAJxXxMCWHG/iyggAggggAACCCCAAAIIxEqgRY5nt/w5287tnWmtmnqmQeHV6io70+yPO6fb3ec2sf26pseqOGwnoQQoLAIIRFOAAFY0dckbAQQQQAABBBBAAAEEai4Qg5T7/iHdXhuxeXysji29sFtUK6sze2XY00Ob2NSrc9z08vAc+8eJWVbZOmEzYiYCCCCAQMQECGBFjJKMEEAAAQQQQACBhhegBAgggAACCCCAQDIKEMBKxr1KnRBAAAEE6iPAuggggAACCCCAAAIIIBBnAgSw4myHUJzyAhpn4NYzGSGzvEoifKOMCCAQbwKcT+Ntj1AeBBBAAAEEEEAAgdoIEMCqjVYs07ItO3nfDBt6VGPbY9vyh+nGjRtt+vTpNmTIENtjjz1syZIllWoVFhZav379zPO8SqfOnTtXmUelmbMAAQQQSBCBSJxPg6u6YsUKu+WWW2z33Xe39PR04zwarMNnBBBAAAEEEECglgIkr5FA+chAjVYhEQLRF2i9lWc9uqRb8yae25iCVh9++KGdfvrplpOTYwcccIDdd999lpeX55ZX9rJp0ybLz8+vbDHzEUAAgaQXiNT5VFClpaX26KOPWvv27e2KK66wr776ygWwtt12W/euNEwIIIAAAgg0hADbRACB5BcggJX8+zgha5iRbtYk0zNvS+lvvfVW69Wrlz399NPWqFEj69Onj3mev3RLojBva9eutTlz5li7du3s559/Nt18hU7z5s1zN2NhVmcWAgggkPACkTqf6typc/HZZ59t+lFBrWDnz59vRUVF9v7771vbtm0T3ooKIJDiAlQfAQQQQACBuBYggBXXuyd1C5ceODKDw1NNmjSxc845x3UdVFBqzJgxlp1d/dhYBQUF7uYqMzOzRulTV5yaI4BAsgpE6nz67bff2qhRoywtLc0eeughu/vuu61Tp07JylbHerEaAggggAACCCCAQLQE0qKVMfkiUB+B4hKz4pLSsiwuueQSd8O033771aqbyqpVq2zNmjW23Xbb2VZbbVWWHx8QQCBOBShWxAUicT5V66t77rnHli9fbueee66deeaZNWoFG/HKkCECCCCAAAIIIIBAygoQwErZXR/fFc9bX2pzfiuxok31K6cCWGqF1bp1a8vKyqpfZrDM13AAABAASURBVAmyNsVEIFIC+RvX2+0zH7UjXjrP9nn6ZDcd+sLZds1HY23lhtWR2gz5RFkgEudTDdr+9ttvm1qznn/++a4rd5SLTfYIIIAAAggggAACCJQTIIBVjsN94SUOBAqKzCZ/uck+m1tsaj1Q1yIpeKWWAxrnqn///u7my/M89z5o0CBbuHBhXbNmPQSSWmBx/jI7f+o19vj3r9iqDWusaUYTa5bZ1NYFglpvzP/A/jzlCvsxb15SGyRL5SJxPtVYgpr01EE9SOOMM85w51HP86xFixY2cuRI19o1WcyoBwIIIIAAAgikjAAVTSCBtAQqK0VNMYFflpXYf14qtFsnb6hzzTVmi1b+9NNPbdKkSW7gYX3XAMTjx4+3nj17mpZpHhMCCPwuMO6bZ+zn1QusdVYLe/jwUfb2iY/a1BMetiePutW2a9bRlheusjGfP2BFJRt/X4lPcStQ3/Ppr7/+avpBQE8d3Guvveypp56y3Nxca9OmjeXl5dlNN91ke++9t+nHgrhFoGAIIIAAAlESqDrb4uJi0zX5888/bw8++KDdf//97nvVa7EUAQQQqChAAKuiCXPiSEAtB6Z8uanOJerSpYt7MtZxxx1nv/zyi3sKYUlJiX3xxRe2/fbbu/FcLr74Ylu9enWdt8GKCCSbgFpcfb3iR1et83Y9yXZt2dV91ssfmneyC7qfao3SGtkvaxbakvzfNJspAQTqcz798cfNx8OGDRusR48e9sMPP9iyZcvcpGU77LCD6f1f//qXbdpU93N2AjBSRASiI0CuCCSpgH4A0Y8eH3zwgak7uv5GNG7c2Bo1apSkNaZaCCAQTQECWNHUJe8GFzjttNNs6dKl9vLLL7uB3FUgz/PcDdgzzzxjerrhJ598YjNmzNAiJgQQCAho7Ku1RfnWOD3TtslpG5hT/r/2OW0sK7BsY8kmW8VYWOVxkvSbWq2qagr8P/vss6aAlb5r6tq1qz3wwAOm8bHU0nX+/PmaHfOJDSKAAALxIqAHCKlr9dZbb+0eeOF5nnUJ/Kiq1qpaFi/l9MuxMvC3XONbapxLf8xLjX9502fj6zXmpf4eTJkyxfLz861Zs2Z2+OGH28CBA+3ss8+2HXfc0d887wgggECNBQhg1ZiKhMkmsMcee1jfvn1dq6xZs2YlVfV0s/n999/bK6+8YmquXVhYmFT1i1Vl1GJFY7ENe6zALnigwNYURGbL2h+6oFOA9cgjj7R169ZFJuP65VK2dsusXGub3co2FBfZp8u+KZvvf/g5b4EVbCq0po2ybesmrf3ZvKeAQK9evdxNWGhVu3fvbhofSz8YqLVr6PJE/s75NL72nm7+QwMDChJonpbFV2mjXxqOz+gb13YLM2fONJ0TFazSk1u32WYba9++vetireP0wAMPdJ9rm69LXzjPir883ja909I2Tc3YPAU+a54Flrk0tXyZ/uuXdtrky0zjW64P/G1vnrmVG/Myb8Nae/anKfaXN0bWaczLoqIi++yzz0zvHTp0sBNOOMH9mJyWllbLEpI82gLxfl0a7fqTf2IJcAZJrP1FaSMooKbLGoxYWeoCUO/1mxp2bdXhm2++cQGrRx55xN59911Ts211mWzYkiXW1hW0eumzjS5gdfyt+TZm0gb7akFJvR4mIAFdHKgloAJWOu4UPFUrQHXJ0vJ4mpo0yrK/7HK8a4H1zI+T7cFvn3fBrOLSYps49x3776zHA8X17M87H2ftm7QJfOa/ZBfwW1wtWrTI/ZIeWt+MjAzTca2HZmisLEvw/3E+jc8dGBwYUBdWBQU06bOCBakyDhvHZ3wenyqVhqQYMmSILViwwAYMGGCrVq1yDwxavHixm3fwwQebrtVuu+029wOq1qnpVLr0Gdv08d5Wuvw1s+LAD1/pzcw0BT5r3qZPDrDSvPdrmp1Lt6Iwz27+fLzlbVhje7Xd1V47/n5764SHyo15uXT9ctO4mKVW6tap6Yse/KEAnno7KGinboM1XZd00RdIpOvS6GuwhUQSiK8AViLJUda4F9Bgw2oRcOyxx4Yd40p98NWkWRXRzZfeE3l6/fXX7cMPP3TjCyg4l5ubm8jVabCy//25Qvvv60X289ISy8ow69zai0hZBg8ebP3797c33njDWrVqZbqIjUjGUcrkT50OtH/se5Hp6YP3fPWk9XpugO3/zGl2/cd3umDWX3cfYKfveHSUtk628SbQtm1bN17JkiVL3GDuoeXTDbXOp57nWXZ2dujihPvO+TT+dpnGzrngggtcEECBAQUKFBTQpPHXFGTV+1VXXZX047BxfMbf8emXSENSaGiKnXfe2W699VbXbc5f1rFjR7v66qtdl0Jdr+kBGP6yat/Xf2/FP/3NbFOeec32tUYH/WiN+qxwU3rPyWYZgR+TNv5mJT+OMCtZX212foLpv860ReuWWtvslnbtPhday8bN/UWmMS/P3Ok4S/fS7Ie8uba8YFXZspp80EM99KOG6t2yZcuarEKaGArEzXVpDOvMppJDIC05qkEtEKgooF9l9dQTBQz05JPQFPp1bPr06e5CQoGu0OWJ9l2/bGl8BQVJzjnnHNd8PdHqEA/lbdrYrNdO6fbfs7Pt5ctzrP/emREpli7eLr30Uvv+++/duGxXXnllRPKNVibqPvjJ0q9sZeFq8wL/b5bZ1DTpc+GmDTZr+fe2pig/Wpsn3zgT2G233UxPH9S5VN1fQ4v39ddfm7piq5vIH/7wh9DFCfed82n87TLd8Cs4EC4woHHY7rjjDvM8z9555x3TuDvxV4PIlYjjM3KWkc5JP44qYKNhKpo2bVohez25VUF+tRpUC5gKCSqZUbL0ObPC+WaZbS19l7vNsjqXpfRaHmZpnS8PfE+z0vwfrHT1J4HPNftvU0mxbRX4+75N063d3/jQtVpn57qHtuRvLDB1LwxdXtl31U0BurS0NNd9Uv9+H374Yff0wfHjx9sLL7zgeglUtj7zoy+QaNel0RdhC4kiQAArUfYU5ay1gFq5nHjiia7v/dChQ23u3LlleWicjGuvvdbUHaZ37962//77ly1L1A8aGPOII44wtZRI1DrEQ7n/eVKWXR+Yum2TZl4EC6TuAmPHjnWDlnpeJHOOYCG3ZKVuArfPfNRe/mWqdWm2jT151K2uO8HUEx62icfdZ7u12tHeWfSJ/WP67a411pbVeEtigebNm9vFF1/sanjJJZfYtGnT3Ge9/PTTT3b++ee7c+3JJ59sCqRrfiJPnE/jb+999913rlD77ruvacwr9yXoRQGDTp06mf6+q9tW0KLqPibcco7P+N1lRx11lAugPvXUU65bdWhJ1Ttg/fr17kfGFi1ahC6u9Hvp+u/dMi97e7Ome7jPwS9pLQ8xa9TcrLTIbMOS4EVVfj5++8Pszf4P2v2H/itsAOublT+7v/Ptm7SxNtktq8wreKGGR1AQSy2wFLxSt0kNaZGVleWSqWvhxIkTTR5uBi8xF0ik69KY47DBuBZIi+vSUTgE6iHgeZ5dccUVpouJTz/91A0cqdYB+mVMFw0TJkyw1q1b25gxYyzcr2T12DSrIpDQAj+smmtvzP/QNBbWyL0GuW4EfoXUzeDqfQZbq6xc+3Tp1/bRrzP9RbwnuYAeOqCxXfSr+kEHHWQtW7Z0AfMddtjB1HXrsMMOs+uvv948L74DtEm+m5K2en/9619N3QVvv/32sHXUcakHYqiFS7t27cKmYSYCDSWgLq/jxo0zHce5ubl23XXXmR/MqUmZ0rv+nzXa92NL3/WRsMlLFbRS8Cq9iVmTrmHT1GamxsbS8AGPfPeiuxYY2P0U917TPPRvUa3RFMDSOhoD65xzzrG//OUvbtK1uAJaX375pa1cuVJJmBBAAIEaCRDAqhETiRJVQK0G1ExZg5rvtNNOpvFb1OpKgavhw4e7Li8a9DVR60e5k0QgzqrxbeAX19VFa61tk1a2ffNOFUqneWqZVVSy0T4L85TCCiswIykENFbgnXfeaU8//bTtuuuubnDi3377zTp37mx33HGHvfrqq6ZzblJUlkrEnYB+aNLQALr5D1e4qVOnuhvhAw44IGwLrXDrMA+BaAroCXw5OTkuqK/jVmO47bjjjm68UrUkrNW2G29jttWeZtnbh12t5LdXzYrzTS20vKa7hk1T3cxpSz53413u8/TJdtTLA90DXPRj1dje11jvDntXt3q55QpOaYbnea77uZ7KqO6EmpeZmWnq/dCsWTNTa7R58+ZpNhMCCCBQI4G0GqUiEQJxJqCxWDRgsP7o6YK2quJprAH94jN79mzTL0Gali5darfccovrl1/VuixDIBUF9LRB1VsDt6YFLj71OXjyzLM0b/Ofj00lm4z/JbZAbc6n6enpduqpp5rGvNK5VNPcuXNN3Qp1rk1sCUqfqALqnqTWf3ramVpe60EmiVoXyp08AgrUaExAdW1Vy3/VTE/SfOihhyyST2st/e0VK136tFlalqV1Ghp4b6JN1XrKTM+0Fo2bWW5gymmU7dZfkv+bPfvjZMvfWPOB4d2KW1788dq2fC17U0Da7wqsH0LKFvABAQQQqEZg8x2IWTXJWIwAAgggkCoCHXLaWOPAhezS9Sts4bpfK1Rb8+atWeTmqzWW+8ALAggg0AAC6pqlB2RoTB11y9pzzz0boBRsEoGKAnr4hR5uMX/+fNc6UIHWHj16uKEr/va3v7kfVSuuVcs5hXM3P52weJ15bU80r91ptczg9+R7t+1urx57rxsT652THnPjYrUPXA+8uWCaXf/JXabxMX9PXfWnrbbayj25Vt0I1Z0wXGq16tX8oqIivTHFXoAtIpCQAgSwEnK3UWgEEEAgegJ7tN7Zujbf1tYFfnH91yf32LKClWUbW7lhtf17xuZ5WzdpbQe261m2jA8IIIBALAUUvDrppJNM3QcHDRpkl112mXmeF8sisK2UFqhd5bt162Z33323qWWWumLPmTOndhmEpg4ErzZ90c9s/Q/m5R5s6TvfFUgRuVu7nm12sct6nmOZaRluuIDvV9W8vKqjpuLiYlOPiUDBKvy3ceNGN0/p3AdeEEAAgRoIRO4sV4ONkQQBBBBAIP4FcjKa2DX7XGits1rYz6vn2zGvDLbDXjzH/vTiuXb0yxe4C1ml+dveF5gevW38DwEEEKiLQD3W0c3vlVde6YJXeoDAzTffbH6Ljnpky6oIRFWgS5cu1q5dO1OLQT2UoM4bK15nxd+c54JX1mRHS9/1QbP0pnXOrrIVt2vW0ZpkZNv6TYVhW2RXtp6686qe6mauITwUyApOq1ZZGs5D8/yuhPrMhAACCFQnQACrOiGWI4AAAikosENuZ3viqDF2StejLLfxVramaJ2tLlprejLhYZ0OsEcOH2UHtaerTkMfGmwfgVQUUPBKT3PTU90OOeQQe+aZZ3iAQCoeCHFY53vvvde23XZb04OCqiqegq0aH6qqNJUuU/Bq5nFWmve+WZMdrNF5UgegAAAQAElEQVQeL5pldak0eVUL7pr1hB3+0nk28sMxVSWzdC/NDS1QZaKQhbvuuqupjr/++qtNmzbN/IHd1WXwvffeszVr1pjGwtpuu+1C1uQrAgggULkAAazKbViCAALJL0ANqxBo2bi5jdhroL3R/0GbcdpzbvrfiY/YqAMvt85bdahiTRYhgAAC0RFQS44xY8aYgle6QdaA2C1btozOxsgVgVoKaOynBQsWuICNuriGrq6HXiigoye2tmrVKnRx9d9Li6z4uyGbg1eZ7Sx9l/sCQawdq1+vkhRqXZW3YY39tHqerSjMq5BqzpqFtn5jgQtetcmu3b+zNm3auCcQ6umD3333nT344IP26KOPumnhwoWuxeRBBx1kehphhQ0zAwEEEKhEgABWJTDMrqkA6RBAAAEEEEAAgegLqDuSniB89dVX2w477GCTJk2yzp07R3/DbAGBGgr07t3bunbtah9//LHpyZjBTxtU0GbkyJGmFkj9+/d3LbVqmO2WZCVW/O0gc08czGhj6btNMC/34C3L6vbWu8Pe1ior1+avXWI3fTa+3NMGf169wO6eNcGKSjba7q13sro8tKV79+52zDHHmIJZKmFhYaEpoKUnM8qAf79SYUIg0QQatrwEsBrWn60jgAACCCCAAAIIVCOg4NUzzzxjenqbglevvfYawatqzFgcXmDlulK75plCO+G2fDvsxppNSnttYJ0VgXXD57p5rgIzY8eONY0Bddttt7kuch07drQOHTqYlr3//vumMdtGjRrlntK3ea2avJZYyc/X/R686v5YvYNXFvjfH5pvaxd0P9W1sPrfwul22IvnuvEuD3vxHDtjynBTC6yuzTvbtftc6AZzD6xS6/80FtYJJ5xgAwcOtAsuuMDOO+8869u3r7Vo0aLWeSXNClQEAQTqLEAAq850rIgAAggggAACCCAQC4FZs2aZnjSocXQ0+PWhhx5qGmso3HTwwQfbsmXLYlEsttFAAnXdrAJQFz5UYNN/KrY1BTXPRWk/CqxzUWBdfa5qzX79+tn3339vF110kbVu3doWLVpkS5YsMXV5veuuu+zVV181dSGsKo/QZaXLXrCS+beblRabFa+14q9Ot03vtgk/TdvJbN2s0Cwq/X7iH46wRw4fbWqNpXEuNd7l2qJ8a9uklf1l5/42/rB/uVZalWbAAgQQQCCGAgSwYojNphBAAAEEEEAAgTgQSLgibNq0yTT+lQqen59vGmeosmn+/PllaZWeCQFf4L6pRbZ8ban/tdbvWveetzZUu55aXSlYpSftqfWgpq+//toFtbKzs6tdv0KCko2BWVvKXVJotimv8mnjqkCga1Mgfc3/+0PzTnbLwVeZxrnUmJefnPasTTz2XrtkjzMtJ6NJzTMiJQIIIBBlAQJYUQYmewQaSqBbt26uqfYpp5xiWVlZDVWMhN/ucXs2sqlX59gDg7KtWR2uOSsDOPbYY00XtO+8847rYlBZOubHqwDlSiUBzqcNv7f32msvU+BK583qpnnz5ln79u0bvtAxKgHHZ82hP59bXPPElaSc8Uv986gk60pne+3OsEaHrLVGh22sfvrjMrOt9qw0LxYgEE6A69JwKsyLRwECWPG4VygTAqkgQB0RQAABBBBAAIEYCqzK39KKqR7bjEQe9dg8qyKAAAIpLUAAK4F3P0VHAAEEEEAAAQQQQAABBBBAAIHkF6CGZgSwOAoQQAABBBBAAAEEEEAAAQSSXYD6IYBAggsQwErwHUjxEUAAAQQQQAABBBCIjQBbQQABBBBAoOEECGA1nD1bRgABBBBAAIFUE6C+CCCAAAIIIIAAAnUSIIBVJzZWQgABBBBoKAG2iwACCCCAAAIIIIAAAqknQAAr9fY5NUYAAQQQQAABBBBAAAEEEEAAAQQSSoAAVp12FyshgAACCCCAAAIIIIAAAggggEDyC1DDeBEggBUve4JyIIAAAggggAACCCCAAALJKECdEEAAgQgIEMCKACJZIIAAAggggAACCCAQTQHyRgABBBBAINUFCGCl+hFA/RFAAAEEEEgNAWqJAAIIIIAAAgggkMACBLASeOdRdAQQQCC2AmwNAQQQQAABBBBAAAEEEGgYAQJYDePOVlNVgHojgAACCCCAAAIIIIAAAggggECtBRIugFXrGrICAggggAACCCCAAAIIIIAAAggknAAFRiBYgABWsAafEUAAAQQQQAABBBBAAIHkEaAmCCCAQNIIEMBKml1JRRBAAAEEEEAAAQQiL0COCCCAAAIIIBAPAgSw4mEvUAYEEEAAAQSSWYC6IYAAAggggAACCCBQTwECWPUEZHUEEEAgFgJsAwEEEEAAAQQQQAABBBBIZQECWKm89xO87r/++qsde+yx1qZNG/M8r7rJLVfa4447zpYsWZLgtaf4CCCAQOQEOJ9GzpKcEEAAAQQQQAABBKIjUIsAVnQKEE+5fvvtt3bMMcdYZmamC3Y0bdrUBg0aZAsXLoynYlKWgIACUPvss49NnDjRli9fHphTs/+U9tVXX7V9993XVq5cWbOVSIUAAggksQDn0yTeuVQNAQQQQACBOguwIgLxJ0AAa8s+effdd+2ggw6ySZMmuTnbbLONFRQU2Pjx4+3AAw+0mTNnuvm8xIfAlVdeWa/AooKSw4cPj4/KUAoEEECgAQU4nzYgPptGAIHkFqB2CCCAAAIRFSCAFeBUMGPIkCGWl5dn1113neXn57vgyKpVq2zAgAG2YMECGzFihK1bty6Qmv/iQeCtt96qdzGmTJlS7zzIAAEEEEh0Ac6nib4Hk7v81A4BBBBAAAEEEPAFCGAFJF566SWbPXu2HXnkkTZy5EjLyMgIzDVr1qyZ3XHHHaauarrA/+CDD9x8XhpeYOnSpfUuRCTyqHchyAABBBCIrkC1uUfiXBiJPKotKAkQQAABBBBAAAEEUlog5QNYhYWFNnnyZHcQnHXWWZadne0++y+tWrWy/v37W2lpqb322mv+bN4RQCBlBKgoAggggAACCCCAAAIIIIBAQwukfABr9erVrvWVAlc77rhj2P2x2267ufmzZs2iG6GTqOULyRFAICEESq3U7v/6aTvq5YG2z9Mn12rSOuO/eTaQQ2lC1JVCIoAAAggggEDkBT777DN77LHH7P7776/VpHU+//zzyBeIHBFAIPYCUdxiygew9CS6vLw81/JKTx0MZ92hQwdr0qSJzZkzx9auXRsuCfMQQACBhBe4Z9aTNi4QhFpRmFfrumid+wLBL+VR65VZAQEEEEAAAQQSXmDGjBmmAJYehFXbymidTz/91JRHbddNxvTUCQEEwgukfABr/fr1pm6ECl7l5uaGV2IuAgggkAICL/8ytd61jEQe9S4EGSCAAAIIpLpATOv/4osv2q677mqe59Vp0rqvvPJKzMr89sKP7dTJw2rV0jq4ZbbWfW/RjArl1ZjCFWbWckYk8qjlJkmOAAIJJJDyAawE2lcUFQEEEIiqwMoNq+udfyTyqHchyAABBCIgQBYIIFBTgeHDh9u3335b0+QV0mndyy67rML8aM24bebDNmfNwjpnr3Vv/eKhCuurFVWFmbWcEYk8arlJkiOAQAIJEMCKwc7ae++9LVWnSPGG+kUr39DtxPv3UaNG1Wp8gXDjESiPeK9ntMvXZ+RXdtiN+fWalEdoOdX12PPq9mus521eT3mE5hut7/y7ivC5OsLn/mjtn2jlG63jNFr56lwY7hxZm3nKI1rli/d8o3Uc6RzoeZvPh55Xt3flEe9+1ZVPx1ZtjsVwaZVHddtJ9uXROk7nzp1b76x/+eWXCvcLsx/fyjZNzajXpDxC9+uS/N/qXd5F+csqlLfemW7JILS8fI/M9YnOhZ5Xt/Oo521eT3mwPyKzPxLRccs/0QZ9S/kAVosWLaxZs2ZWVFRk1UX8GzVqZGlpKU/WoAcsGy8v0LJly/Iz6vAtEnnUYbM1WiVWidKbb1/vTYXLo7pzSk02Gok8arId0iCQ6gKROBdGIo9U3w+h9Y/EOTASeYSWK9bfI3FsRSKPWNc71bfXtX1hvQkikUe9C0EGcSEQiXNhJPKICwwKkbACKR+NycnJcQO062mEK1asCLsjFy9ebBorq1OnTqb0YRNVMVMDEjbQZA293alX51gkptB6lJaWWiSm0HwT7fsFF1xgkZgSrd6RLm8kjlHlEVquSByjyiM032h9n3HacxaJKVrlS/V8dYxFYgp11DEWiSk030T7HolzqfJItHpHqryRODaVR2h5InFsKo/QfBPtu46tSEyJVu9Il1fHWCSm0HLpGIvEFJpvo8M2WiSm0Hwj8bdeeYTmG4ljVHmE5sv3TyNyTxeJY1R5sD8isz+i5BiRY6WyslUR8ojZopQPYDVv3tx23nln1/rqhx9+CAs/ffp0N3/33Xc3DfbuvvCCAAIIIIAAAggggAACCCCQRAJUBQEE4lkg5QNYWVlZ1rdvX7ePHnvsMRfIcl+2vKhV1ptvvumeKHL00UdvmcsbAggggAACCCCAAAIIVBBgBgIIIIAAAlESSPkAllz79+/vWmG9/vrrpgEu/b69a9assaFDh9qMGTOsd+/e1qtXLyVnQgABBBBAAAEEoiZAxggggAACCCCAAAIVBQhgBUw6duxoY8aMcWNh3XDDDaZuhZqnAd4nTJhgGvtq7NixdB8MWPEfAgggkAACFBEBBBBAAAEEEEAAAQSSTIAA1pYd2q9fP9fSSu+atWjRIsvOzraBAwfatGnTrEePHprNhECKCFBNBBBAAAEEEEAAAQQQQAABBOJHgABW0L7o1q2bTZw40YqKitwT7tatW2fjxo0ztcYKSlazj6RCAAEEEEAAAQQQQAABBBBAAIHkF6CGMREggBUTZjaCAAIIIIAAAggggAACCCBQmQDzEUAAgeoECGBVJ8RyBBBAAAEEEEAAAQTiX4ASIoAAAgggkNQCBLCSevdSOQQQQAABBBCouQApEUAAAQQQQAABBOJVgABWvO4ZyoUAAggkogBlRgABBBBAAAEEEEAAAQSiIEAAKwqoZIlAfQRYFwEEEEAAAQQQQAABBBBAAAEEygskYwCrfA35hgACCCCAAAIIIIAAAggggAACyShAnVJIgABWCu3sZKvqunXrrE+fPuZ5XqXTNttsY5dffrktWbLEQv/32WefWU5OjnXu3Dns8tD0kfz+6quvujKfffbZkcyWvBJIQPve8yo/dlu2bGnnnnuuff/99xVqpeNZx62OXx3HFRIwA4EwAqWlpTZs2DB37mnRooV98sknYVKVn/XFF1+Y0nqeZzfddJMpj/Ipqv42evRotz0d735KHbM6dnUM61j25/OOQLCA/3fS88KfJzMzM+3ggw+2SZMmWXFxcfCqfEYg5gLXXHONO9edfPLJtmnTprDb/+6776xVq1Yu3T777GOrVq0Km27hwoXWsWNHS0tLs7feestdo+p8qfOmzp9hVwoz0/83FHz+VbKCggJ3OCAT+AAAEABJREFUPlfe+r554hWBzQI1ub/yPM/S09Nt9913t9tuu83y8/MtFv8Ld00Ri+2yjfgSIIAVX/uD0kRYYPHixXbrrbe6E+ynn34a4dzJDoHoCejC9uGHH7bddtvNXnjhhehtiJxTRsDzPLv66qtt1113tby8PLv22mtNF6qVAWjZyJEjXdrDDz/cLrroInfjVVl65iMQS4GNGzfaBx98YMccc4xdfPHFpu+x3H6FbTEjpQUOOeQQd35U0H/FihVhLT7//HNbuXKlW/btt9/aL7/84j6HvsyePdt0/brtttvaLrvsErq43t8vueQS07ldgax6Z0YGSS2goGmnTp0sdFIDAVX8q6++suHDh9vxxx9vq1ev1iwmBKIuQAAr6sRsIBYCr7zyimsZoNYB/lRUVGT6papHjx62fPlyu/76640/1rHYG2yjNgKjRo2qcOzq11u1vDruuOPcTdk//vEPW7ZsWW2yJS0CYQXatm3rfi3VL/tvvvmmPf7442HTaaaWKU1ubq7pV8+mTZtqdtQmMkYgnMAf//hHW7t2bYXzpP6u33jjja6Vyv3332/vvPNOuNWZh0BMBLbffnvbeuutbf78+fbjjz9W2Kb+rr/44ovWqFEj69mzp61fv94q+2FVrWN1Lbv33nu7PCtkVsMZxx57rPt388gjj5Rbg2BvOQ6+VCHw97//3R3TOq6DJ7US1H3WE088YU2aNLGpU6e6a4sqsmIRAhETIIAVMUoyijeBjIwM23PPPe3uu+82dTV499137Ycffoi3YlIeBCoIqFn2jjvuaGPHjjX9yvXNN9+4YGyFhOVn8A2BGgn86U9/Mv0Cr8S6ONXxpc/Bk+Zpmeb93//9n7vh0mcmBOJFQF2xrrzySjv11FOtpKTEnn766XgpGuVIQYEOHTq4a04FqnT+DCVYunSpC1jpb7uOW8/zTD++FhYWlkuq7x9++KGbp5avCni5L7wgEGcCulYdMGCAG5pARVMQSz826DMTAtEUIIAVTV3yjguBLl26WLt27dwYGbqwqLxQvy9RS60JEybYfvvt5/p4e97mMTiUl8aBWbNmze+Jgz6p1YzGLVJLBc/z3Lq9evWy9957z/0KZtX8T81vTznlFNcMXeMj6BeOalZhcRILtGnTxrp27epqWJNjV+NceJ7nWsu4lUJeqlquY23QoEFW12M3ZFN8jWMBz/u9K6FasVx//fWupZ9fZJ3/rrrqKtdyVeej888/31/k3tX1Rd229MOA53nuBwJ913yXoB4vanXw8ccfu25hVeWvm7x+/fq51jfhxnFRizHP89x4Mxp3JrhIupFUtxwFQEKXBafjc/wL6OZeraxV0tBWJf757vnnn7e//e1v7u+xbrhOPPHEshatNT3elP99993n/jYPHTpUX8tNau2trjae55nSBS/UNtTF0fM2L9O4bxrPSJPOu88884ztvPPOLm/P8+yAAw6o8TVD8Hb43LACWVlZ1rt3b1eIcNd8OteoBcu+++7rxm5T90B1KVRXQbfSlhd1P1QATK1a1AJry+yyN433FnrMqEXX//73vwrXmaFjYPnH6aOPPuryUytvz6t4zaDjkusBR8RLDQT22msvl0rHt4YecF+2vPjHa/fu3cvOcWqpqC6sld1L6Zypf0M6F3re5vsv/duiEcIWVN4sLaIGZIZAHArMnTvXfv31VzcQsQbGrq6ICiKp2fWf//xnN8ixbnLU91sXp/PmzXPjBugCWOmC89I4RRqv6OGHH3ZdFdVyJjs72/RLmrpA3HzzzRUuLoLX102jBpx/7rnnTBctamquQTyD0/A5tQR+++03++mnn1yAoHXr1lGrvAZB3mmnnWz8+PFlx27z5s3Ljl39Whx6cxi1wpBxTATUldDvfvXss8+Wa72iG/6JEyda+/btTWnUmlWF0kXlnXfe6cZl0zGjeTo3KtCk7zr/abnSaVltJx1jOtb2339/NzC38lX+ykf5a+yuW265xZ1H/ZtFbevtt99WkrJJwS1d/GqGxpvR3wB99ieN2aEfG/QjgX6U8OfznngCCuzPnDnTFXy77bZz76EvakGogKb+luu8puNsq622ckHbmh5vylN/lxVU+OijjyoMvq2uYOoSpnQzZszQW9mkgISOUXXFPeigg8rm62/+4MGD7bTTTnNjIelY17+16dOnm64ZdD4uS8yHhBDQ/lVQVTfaGmcwuNA6BnS+UgvYdoEfVXU86dr066+/Dk5mfqCrW7dupm6JwQvVZUuBpdBjRv8GDjvsMPc3PDh96GedU//whz+YjjMt0wM6dNzp34W+a9K5lusBSTDVREDn06eeesolVZBKx5T7EnjRfdLpp5/uznEKymqZ7o30w5kaAyi9jt1A0rL/9G9E90s6B+pcqHsvraN7KTUqeP/998vS8iF1BQhgpe6+T/qa66SqE54GHtYfff1qWpObFT1NQ81gdaJcsGCB+6VWvyqoWexLL73kgglaPm3atDJDnZh1Iaptarwi/QKhX7C0zlOBE7vGm1F3HJ2My1YK+qD1Lr30UnvggQfcAMsKYhG8CgJKsY/6xUo32frVftGiRaaWBLrYjQaDjt1zzjnHjccRfOzqpkvHuS5uFTSge0409Bs2z6OPPtouuOACV4j//Oc/pnOWgj3XXXed+6VU50K/BaASqaWTzlP6rJtr3YDr3KiLVI2DoaCSgvAaWFtpajvpGNOxppsrnQuVr/LXdtSdVufRESNGmFoVKG/9IqsbMp3ndc7VPE26OP7yyy/10U2h5fFvJDXosn5kcIl4STgBtaTTcavWKDvssIN7amu4SqiVi45Ppdd5TQFa7ffaHm/6t6AgrVoaBg++rRsuP2Cq7evY00M49FmTBuRWQGOPPfaw4GsQ/UAxZcoUF3TQMa5jXce83+JRx7yOZeXBlBgCakmnLoIKkGt/+qXW+UnnKf2IqqEtFORS90At13lV7/6kVlI6ptT6RDf8/ny9K2CrgJceTqSnvmkbtTlmdPzOmjXLzjjjDGVnGhtLeQwZMsR953rAMfBSAwFdp/7888/217/+1fQjmP4+6z5I1wFaXcewriV0P6NArM6L+kFJ1xk6P1544YWmeyxdg+i8rHU06d+DWswqP11n6PjWOjpfHnrooe7HLaVjSm0BAlipvf+TpvZ+M2jP29zU1PM8F2hS9z39sVerKN1YeZ5XZZ3VnFUnWUX8//nPf1pwEMnzPFOXFbXOUia6CNC7JnU31IWmutvoyV66ONZ8z/Pc+BwKoukXLrWm0fzgScErBdfGjRtnugjXr1/qWhCchs/JK6CuWp7nuYCB521+18WtHk08efJku+GGG+z2228v+8U00hLq7qJjV0Gs0GNXFwu6ifI8z9SyRhcSkd4++TWcgI6za665xnTTpZvse+65xw3CqpvzgQMHmlqa+qVTqyYdCxpr6N///redd955rkuWlqtblsbBUABUPxZo3EHdaGlZTScdWzrGlP5f//pXhfx1jtQTFLV95a8bfpVb/04U7NWFsNbVpLqoW44CXKqjfuFV+bXMv5FU4EvLNY8pvgU0fqVaTHne5vOj521+b9eunenv9KGHHmrqPlXZ303tZ/3d9rzN62nf1+V4099wtXJRSyu1uPLVdPOlY0x/vxWg0r8ftazxlytwoX8Pffr0cV20/fl6101c8L8lXTvoOFfddEzrBwylY0oMAbXyUxdB/Xipa0+/1NqXOk8pgKQfhTRfP0qFtujTecoPhqqlltKFTjpmhg0bVnZNEMljhuuBUG2+h7tG9TzPPYxAQX3duzRr1sx0H6TzrC+mv8OPPfaYG+Bdy/S32l+m9GqBpVZWarGqh8Vomc6TDz74oBvTUOfB4HOjgr/626+/+0rLlNoCaaldfWqfCgI6IermR78C6BeBquqsk6q67ukm56ijjqqQVDdDCm4FL9CFin/BceaZZ5ZdVPhpPM+z//73v64l11lnneXPdu8q25gxY+zee+91wSudxCu7CHcr8JJSAjpedTOvG3sFOiNdef0Kpu4wnueZusyq5UvoNtQlQl1z1OpArXNCl/M9sQUUpB89erQbS0pdre644w53LlJgK/h4UEBILVl0Edm/f38XcA2tuc6ZCjToCVq6qQ9dXtV3tVDRjwK6cdcPAaFpPc8zBcm0fV3w6lhU6wS1UtCvuiqbv462r8/nnHOOe4KXWhX45fFvJHUxzYWwlBJ/0i/2+hsfHDQKrpVusjS2X/C8uhxvWl+t9jzPM/2t1t9vzZszZ45pOvLII+3AAw80HY/+U+j8gISuHcIFJPSjmOd5yqZs0jWGAhtq4eBvo2whH+JawPM8UxdoFVJj+eldk64RdVzo76l/LKpViroJ6m+rgp5Kp/OUzlc6D6p7leaFTuGOGZ0LdS6vzzHD9UCoNN8loPORgq7+pO+ar0nHos6Fat2qbq2e9/u5TH+Tdcz3CQTu1fpU6YMn/TtQ4wPN0zlc7zr+9fdbQVkt87zf89NyjZ0V/MOa5jGlpgABrNTc70lXaz3JRTf7wZMu/NTiSeMFqGWVbn78ric1BVDQQCfmd955x/RrgboVPv744+VWV7BLTbB1wal+2uUWVvPlySefNP3KoGS6eFBe+syUYAL1KO6oUaMs+LjVZ7Uy0S/v//znP93DB9RtSoGFemwm7Ko65tQ0W9vUvw8NKhs6aXBOBQsUqNVxHjYjZia0gN+VUMeBmu0rkBUaSFcASy31dEGqViihx4m+9+3b13ScKJCg46o2KFpHrao09orG5wq3rh5qoBs7Hbf696E0KrvneaYLYJVfAQO1eNETwRRMUJBKaRVgUHr/RlKBL930aR5TfAvoV3odV9q/wZPmqTugbqz0w9Nf/vIXC/c3VC2jQmtY1+NNLWh0jKoFlq4NlK9u1HTsKril86Xm+cELHXcaOkDdynQsapk/6Zoh3LGuG0TVyU/He2IJ+C2rvvjiC3c+1LWobvI9zzMdI35tdP7ReUgt+tTKUPN1vOh8pW6GOodpXvBU2TGjHxt03ASnre1nnVd13ta/Ma4HaquXvOk1/Imu/fxJrVfVtU/XCuoloJZWjRs3rgCgwKxm6tjX+U/XCKGTWnMrje7VdO7WeVldBfW3XgFZLQud/HNs6Hy+p5YAAazU2t9xW9toFEzdWjRY5V133WX6JV5BAY0boJNkVdvTL1gaU0MXm+pqoBsmXXToiRn6ZaCqdWu7TBcK+hVOgwnr5jD0aWC1zY/0ySHgeZ7p4lVdsvw/8GrFpwvbSNZQF6wK7ipPXTSodUropG3q347SMCWngFqHKBCk2umiUYEffQ6edKzoRkzz9BS10ONE3zVfy6M1aWwNXdjqvKmAgbajgIIuinVu1q+3CrQpoKBffBWEUwsHlVvL9a6Lac/zTL/uan2mxBXQL/j6NV7jr+jGXvtWXQkjVaNwx5sCTmpho5s5DbbtH1NqGagnW6pln+d5pgCWxijSsegHfaP5II5I1Zl86gRY1ioAABAASURBVC+gazqdd3QDr4CQAp0KeOo8pWMkeAt+qzyNqapjScF3vavbq46/4LTR/qxzPNcD0VZO/Px1b6WuffqhS9eGGhdTD7EKrZmOfc1TQwBdH4SbdMwpjT/p2Nc9mP893LuCteHmMy8xBepaagJYdZVjvYQR0MlOF7kqsH7d0q+2+hxu0o2RBhFWU1gNwqmnXmn8KrW60vgFumlSN8Fw69Zlnn4Zfv311+2hhx4yXdzqQlwDy9YlL9ZJPgHP8+yII45wYwgowKRfpyJZS9306SJZ3b40houO/6qm4PENIlkO8op/ATXp9zzPPRVLx2FVx4lu3KPxK6laV+nfgQJuar0gNXUpUCsGdQnTL8HqiqMbRv8GUN0XlE4DI6vcld1IKg1TYgro77R+BFLpFVTSeySmcMeb53mmroI6/vUwgLy8PPfUOAVS1WpKP3zpxwcdiwpcqWWgyuIHKvSZKbkFdG7SOUn7X62XdUwq4KmWWTpfBdde3QT1I6laa+n8pO7ROr+pq2Fwulh85nogFsoR30aDZOh5nuneSA8iUBDrkksuMbWiCi6MxgzUdz2UQufLqib1ctEPEjr2FSBTEEuT1mdCIJwAAaxwKsxLWQFddI4ePdqNB6MxszQIp1pwaXwgXWiomax+IQgGUgBAv8qqGbhaqwQv8z/rCUg6OetpHcEnZV3kaHwOXYBroESl11M7dNGjz0wIREpAN2Nq5Recn1qz6OJZQd158+YFL+IzAuUE1D1aN2a6yfJ/WS2XoJ5fdNOvGyj9cLBs2bKwuWnbamGlsQo1WLIS6YL3mGOOMZ2X1XpBQQXN9wNoavGg1jEK0Orx27qRVItabU/pmFJTQPu/LsebtDRIt86bOt4UcFDwVC2v9DdeP0Sp9Z+OUz39Ui3/1BLQPx61PlM8CUSnLH7A0j8GdPOum32dr4K3qONQ3QXVelWt9RTIUncrBUKD08XiM9cDsVBOnm3ofKcxWnUe1fH7n//8x9Tayq+h7mv0WYGt6nq+KJ0mXWfohwD9CFXZfZAaEygtU2oLEMBK7f2fErXXjc3LL7/s6qrBqNXaxH0J86ITrX41q6wbjR4Z698g+avrpk6BKH1XS63gE7jm6bu2r1YJupnSrwuaHzrpqV8HH3ywqQXBjTfeWO4PQWhavqeOgH7BV3DUv7isquYam0XLFYjVBbM++5OCDro49r/rXUEA3czrc7hjV/PVckW/pOmCWkEAzWNKPYEuXbqYWrnoWHzppZfcuG2hCupGoIC+uiBWFswPXcf/rkC+WrEoSKWWqP58/13Hs1qn5uXlmdLpItdfphtABan0BFd1IQvuqqNAg7r06GJYD8tQPrq59Lzyg8P6efFeS4E4SK6gpwJJKor+xuq9uqk+x5sfdNCNlI5JXWPomNI2dfz36NHD/fvQ07QU3ArX8kZpmZJXQD946tyjroHq2qqbfB0HoTXW8aLWomrd/8Ybb5gC7AqQ6m9zaNpof9c2uR6ItnJy5a9jdfjw4a5Sjz76qKkllfsSeFErwtzcXNODgkKvPQOL3Y9Ouu9RIGzYsGFuvFf/GNQ59amnnnLnUaX1Jw0ToOsP/zvvqStAACt1931K1FxR/Msuu8weeOABV9/TTz+9wmOs3YItL7ow1YWG+mq/9tprZSdP3fToCVl6OpZ+adiSvOxt8ODBZV0ANWaRLka0UK2t9NhXDTSrC+bjjz9es8NOChLoFwyNu6XyanDEsAmZmRICGihTA7xrAE1VWE9+0/Gpz5VNumjWMv2Bnzp1qj66ScErjVkQeux6nmdq3q2LDAUNNJaBPwaGVtSTtIYMGWKap+6ufoBMy5giI5AouagLoboMaOBWBdjVUtU/z+n8qIGqdRG6YcMG00VtdcdqaL11/rv44ovdbB3zuvnX+VMz9K6HGGi72r4umHXRq2WaumwJrqmFlcqhX351Iaxl+oFBLWIUeNMA7rqp9H9w0HKmxBXQj0Pqgq8u/9q/2u8an6omNarP8aaggx5YoB+7HnnkEVPwVOdHf7u9evVyH/Xjg27ETjjhBAtteeMS8JK0AmqVr7+XunlXKyyNiaVAergK60Zfx8fDDz/sbuoVDPW82ATYFYT1y+R5HtcDPgbvNRLwPM90/6MfONWVUE8vVpBJK2ue7rmKiopMvVj045KuFbRM526N66rhU3QdoacZ6sd9z/v9GLznnntMf/f191/r6DpUT5v1f6zQPKbUFSCAlbr7PqlqrgF5Pc9zj3b3vN/fdbNy5513urrqRlw36+5LJS/qBqATrU6y+mVArbX0a77edROkQIA/npZu7v1sdOF83333mcbbuuGGG0wXx1pP77qp0wXv2LFjLbjVgL9u8LsufC+88ELTHwI9nbCyrjTB66T454SvvrqOet7vx6znbf6soNLf/vY31xLvqKOOMg3w73lelfU99NBDTd0U1EpF77qI1qTjbu7cuaYbqdAMevbs6QK8OnZ1waAbfrVA1HrqyqAxg3R869+Rghih6/M9dQQ0BtpNN93kzk86NnV+03lOwSIFhRT4r+mxGk5NgYjLL7/cHfM6V/v567jTeVTnRW1f5QheX8v9lgOarxYNOufqs6bgZWqtVdvgmvJgajiBd9991/Q32PO8cn/j9WOPjje1jFbXPQUAdN6qaUnrerwpfx3v+rFLn0NbBCpwoWsPLVNwS8ecPjOljoAC7ApMKaCvIKaOF/1tDSegG339rVUr/VgdLwqoqSwKOOh8qB8k9J3rASkw1UZA14s6jrSOgks6D+uzgrL6EVbnaF0b6OnFulbQNYOemKkfovy/6Qraah1NOgb1lEN91t99/X3XNvTvZ8KECeafW7WcKXUFCGCl7r7fUvPkftMJTwOuqjWKbsB1k15VjbX89ttvd1F//VHXBYVOvLo41h94XSirRZdOzBr/Qi28/PwU2NKvWXrioeZpPf3ycPLJJ5vGNtAvDJpf1eR5nl1xxRWmC5pvvvnG1OJAwbSq1mFZcgroD/x+++1nahn1yiuvuKBodTXVRfOLL75oagWoGzkNeK1gloKx6sqg/MLloWNX3XCUThcL6v6ldTV2i34B00WJPodbl3mpI+B5numi88svvzT/fKbznJ4kpCCnulNNnDixRsdqODWdf2+++WZTwELnbZ0/lb/SKtigc6ICXJ7naVa5STeLOi97nmeh4w3pfOoHG9RyJisrq9y6fElMAbXGU8tmPa1V3abDddGqqmb1Od7UmsYPAuiHL517/W3p3Ksglr6r222XLl30kSnFBBQ497zN56rgG/RQBt3Uq9Wq5ocGQzUvGpN+0NUDifRvSC2z9TdegTZti+sBKTDVRuCkk04yjUWpdfQgLA3Hos/6EUrXr08++aTpGkHXCv7fdF1DVPY3XfnpfkpPR1YLLF2TtmvXzhTA0g+typupvgKJvT4BrMTefyldel0wvvPOO66bn4I84SY18Z8yZYqpZYqapwaD6SZHAap58+ZZ+/btyxbpBl5P1NAJ089TrVdGjBhhGjxYraTU/FVPlgl9oowuWtUkVjdeWlfvCkBoftkGAh/UgkDL1f0g8LXcf/qlQXlr+dixY90vzuUS8CUpBLTvtY8rmzTopbpDKQCqG63gSut41XGr41fHcfAyBb70a5iCq8pbx+C4ceNMx9XIkSPdvxe9B6+jz9ttt50pnbar9TTNnTvX9G9B/yaUhil5Bfxzko4rHV+V1dTzPNMNuwJVOrZ0nGjSAy9OPfVUCz3P6ljTch3vfp46ZnXshtuW53mmFlQ6b/v5613jYfgBAz+f4Hf/vKxfdENvFv3tqRx+N8XgdfkcnwL+Man9Fm7SjY1aQl9//fWmIEBoLXTMaT0dg6HL/O+eV7fjTT+O6aZf+SvI7+en9+BrEx3HoedP/fvSsa9/Azo2tU7w5K9f2fLgtHyOXwGdh3Q+0jGiXgKVldTzPNN1o9Lpmlb7PzRtXY8Z/9+Q/i0E56nAwmOPPebGHdJ29dAi/QDgp+F6wJeo4j2JF+kY1LGoY6Oq86dPoHPcq6++6q4v9QAL/bDgL9P1q7oS6hpB+WnS33RdQ1T1N13LNK6lzvNaR/dkZ5xxhmk4DX0PPab97fGeGgIEsFJjP1NLBBBAAAEEEEAAAQTiQoBCIIAAAgggUBcBAlh1UWMdBBBAAAEEEECg4QTYMgIIIIAAAgggkHICBLBSbpdTYQQQQAABMwwQQAABBBBAAAEEEEAgkQQIYCXS3qKsCMSTAGVBAAEEEEAAAQQQQAABBBBAIEYCBLBiBB1uM8xDAAEEEEAAAQQQQAABBBBAAIHkF6CG9RcggFV/Q3JAAAEEEEAAAQQQQAABBBCIrgC5I4BAigsQwErxA4DqI4AAAggggAACCKSKAPVEAAEEEEAgcQUIYCXuvqPkCCCAAAIIIBBrAbaHAAIIIIAAAggg0CACBLAahJ2NIoAAAqkrQM0RQAABBBBAAAEEEEAAgdoKEMCqrRjpEWh4AUqAAAIIxETgs88+s5ycHPM8z01PPfVUtdudM2eOdezY0aXXusqj2pVinGDJkiXWuXNnV7dYlK+goMBuuukme+utt2Jc04bZ3CuvvGJpaWkW7njJz8+3xx9/3Pbbbz9LT093x4nneda1a1e79tprTfsmUqUePXq0y//ss8+OVJbkgwACCCCAAAINKJCiAawGFGfTCCCAAAIIJKjAyy+/bJs2baqy9NOmTbNFixZVmSbVFl5yySU2cuRIUyArFequQN3WW29t++67b1l1S0tL7emnn7YOHTrYWWedZZ988ok1b97cOnXqZG3atLGff/7Z/vOf/5gCi3fffbcpfdnKfEAAAQQQQKBeAqycLAIEsJJlT1IPBBBAAAEEoijgeZ69//77tmDBgkq3ouDWiy++WOnyVF2wcePGlKn6qlWr7KOPPrI999zTBatUcQWjbr31Vjv99NNtzZo1dvHFF9vy5ctt5cqVNn/+fFu2bJn7fuGFF5qsFPB74YUXtCoTAgjEiwDlQAABBOJAgABWHOwEioAAAggggEA8C7Rr1851+VLLKrWwqqysP/74o7399tu29957m9apLB3zk1fgm2++sZkzZ1rv3r0tKyvLVfSDDz6wq6++uqxb4R133GGtWrVyy/wXff/vf//rglslJSV26aWXmrqjWhL9j6oggAACCCCAQP0ECGDVz4+1EUAAAQQQSHqBzMxMO+mkk1w91cJKLa3cl5CXqVOnulY1J598smmdkMVlX7///ns799xzrWnTpm6MIo2F1KtXL3vvvfcqdB3TGFUaS6tPnz6uBdguu+zi1tlmm21swoQJFrz8119/tauuuspatGjh0uhdXffU6qds4yEfiouL7ZlnnrGdd97ZreN5nvXs2dP+97//VSiLv2pNy++X7dFHH3WrHnfccW4bGpvpvvvuc5/79Olj69atc8tDX5TO8zwX1FErJv+73n/44Qfr169f2ThSKr/qofqE5qPv6r6oAFE6FeNTAAAQAElEQVSXLl3cdj3PM33WPC1TmtDp22+/tWOOOcbtS8/z3La0nyZNmmSVbefDDz906f/0pz+Z/qdjRV0Ci4qK3DF04oknuu1rWeik42D48OG20047uf2xevXqcklk8PHHH5crk44zlVFlLZe4mi86JjQumQw8z3Nl0ufKPDSOlud5JvtwWYdbrrSe59moUaPsnnvusSZNmrjtHHjggab9Fy4f5iGAAAIIIIBA5QIEsCq3YQkCCCCQZAJUB4G6C+imW0EjBSjU7Ss0JwVBJk6caEpz8MEHhy523xWAuPPOO61bt2728MMPm4IaGgMpOzvblO8f//hHu+iii1w3MrdC0Itu+BUY01hJ2oa6qmnsJD9JXl6eKTiioIG6obVv3940T0EKtQibN2+en7TsXdsfNGiQnXbaafbLL7+48ZgyMjJcC6LDDjvMxo8fX5ZWH2pbfgVX/vCHP5jy1PoKqKm+Gvvp8MMPt3bt2tmMGTNMATEtD54U1Jo8ebILePTv39+9+8s1ftRBBx1kr732mmvJpHyVh+rhd8Pz0+p94cKFrkXU0KFDTQ5yk48+a55aSymN0vrT888/b7vttpspWKV6+OXWflLA6IYbbqgQ4CssLHRBSO3f7bff3mWlVnlvvPGG+3zmmWeWWbgZYV622247mz17thvwvkePHmUptE+vvPJK23///cuVSQlUxl133dVuueWWCmXS8tBJLcS6d+/uxiWTgSxkos/y2GeffZxT6Hp1/a5Aq7pNZmVlufG+NJB9bm5uXbNjPQQQQAABBFJWIC1la07FEaiLAOsggAACKSqgwbUVdFErJ41xFMqgwJJaxyh4pWBH6HJ9V1eyyy+/3NRF7Prrrze1sFEwbO3ataYB4tVC5d577zV1MVP64ElPp9txxx1N21ewReseeuihZUm+/PJL0/YVdNKyxYsXu/G6VB4FURRAUJCtbIXAB7UO+vrrr03jMymooLJo3fPPPz+w1Gzs2LFubCb3JfBS2/IrADRr1iw744wzAmubPfLII27MpyFDhti2225rffr0sfXr17tgjUsQ9PLVV1+5saQ0ELoCKkGLTONDNWvWzFRnjR+1YsUKmzJliikoMm7cOHvggQfKkqvOCmp9+umnJguNYaZ1fB+1CtMytXxSkEgryuDmm2/WR/ckQe0f2Wg7erKgnjCofaTugi7Rlhd1+Zs+fbodcMABrhWcZs+dO9e1ylOwTkEjzavLpAHgFaBSMFD1UxlVJtVP+0llGjFihL366qtVZq86XHDBBe7YUJBSHrKQicqvYKfqpcCmgohVZlbDhdqXOt5/++03N96XjtO2bdvWcG2SIYAAAggggIAvEPMAlr9h3hFAAAEEEEAgcQQUIDjhhBNcgcN1I1QrGLV4UrCmUaNGLl3wi4JFflcyBYg0JpJaXimN53mmQIq61em7glBLly7Vx3KTWuC0bNnSzVMgQ13O3JctL8rzvPPOc13dNKtjx4724IMPmlrYKMCjLn2aHzwpuDNs2LCylkEqk/JRwEXBDY37pfSRKL/y8ScZyUrf5amAjD770+uvv+5aqB111FHuaX3+fL2rRdTDDz9su+++u7661llHHnmkqfubZijAoxZq+qwWU9o3ahGlrowy0XxN+qwWcV27dnUBRAWyNF9BNQUM5aaWXp7nabbbjrqSapK/Wq25BVtePv/8cxes8rsParaCTHrXflPQTZ9rO8lG5dR6//rXvyx4H+sYUKsp7TMFRnWMKailtOGmN99807V6U50feughk4GfrkuXLvbkk0+640VPUlTA0l9Wn3cFf88999yy41ItseqTH+sigAACiSRAWRGIpAABrEhqkhcCCCCAAAJJLLDXXnuZbsYVFPEDE6quWqqou5vGYdpvv/00q8KkllN6iqECN+ecc47pPTSRgjXqfqbucGq1Erx8q622ctsOnhf8WQGSAQMGuCBL8Hx14VNwRwEojbEVvEyfNY6U520O0Oi7JnXJU2BD4zxpPc2rb/mVR+gkK5l98cUXFjyGkwI2CripRdqxxx4bupopQBTaKkuJDjnkEGekFkQ//fSTZrlB9dX1UfVUgMbNDHpRazl13VR3Sr9lnYJTGp9MwTt1FVQrKuWh1bTfNNaWWiwp6Kh5mrRcQR8dHzpONE+Tgpp6Vxe9ugZu1H1ULdkUVDzllFOUXbnJ8zzTvtcxoC6ZKm+5BFu+qIx+C61TTz3VdRndsqjsTYEtdVVVWnXRLFtQjw/KU63j6pEFq6a2ALVHAAEEENgikLblnTcEEEAAAQQQQKBKgQ4dOrgBtBXM8YMdWkHBJn1Xl6zKukapRZVaBSkPBZW0XuikoImCLAoeqEti8HIFlSrLW+nUwkgBDn0OnjzPMwWJNE+BMb37kwJE4fJUAEcDx/vp9F7f8iuP0EnblpmCR2px5S+Xp1qLqcufAnr+fP9dY0OFCwZpbC35qQWS9pGCb36d1RJN3RbDTeoWqLzVJVHvrVu3NnWh02d1SdS4VAognn766a6rosa60rLgSQEtdR9UF7ytt966bJECgfqi7nPh1tOy6ibVRXXS4O4yC5deAbJ27dqZjjEF3sqn2fxN3UT9ZRpLa/Pciq8aT0tzdQzWtcxa3580Zlvo8eQv4x0BBBBAAAEEai5AAKvmVqREAAEEEEAgNQW21NrzPBfA8jzPPQHQv7lX8EXjJ2lwb88r35ppy6o1elNQRsETJfZb7uhzTSYFCBR4qknaaKWpbfk9zzN/gHa1uFLLK5VNLZwUfFKXTXVp1LzgqaZd8bR/li9f7lZV8EZdIsNNWuYSBb1ceuml9u6777pB0zVbaTQOVd++fU3WerqjgkpapklBNwXLNE6aWmlpniYFszzPc10L9eQ/zYvGJHsFsRT8DC5XXbalIKvWU521H/SZCQEEEEAAAQQaXoAAVsPvA0qAAAIpIEAVEUgWgZ49e5pawqi1jQa9VosXjbG0yy67mFrf1KeewQEXv+VOTfNTdz8FL2qaPhrp6lJ+dQXUQO1+N0IFnKZOnWpqTaRgULhyqq7h5ofOUyBJwSbN1wDo8qlq0iDzSqvJ8zz35EK1rFNASGNHDR482A0Ur7Gm9HRHPfFRaTW9/fbbpmBb6DGg40KtvtSKSgPmK21Vk8qn7ah7pd/dr6r0/jLZq5WX6qzWev78urxrUHetp2BqVlaWPjIhgAACCCCAQBwIEMCKg51AEWokQCIEEEAAgTgQUIsaBVZWrlxpGlNK4y3NnDnTtSTSDX9lRVRARi1kFBxQ16xw6dQCSQODe55n2k64NJXN05hPCmCELldAZPbs2W72Hnvs4d7r8hKt8qvbn8b+UjfCiRMnmiy/++4769Onj3tSYbiyarD0cC2D5Kfxn9TdT0EjBV/87ppqISWLcPlVN0/5aNwtPSFSATYNpK513nnnHdP4Z5o0LpqCcQpuapk/aT/qqYT6/vjjj5ta6ulzZZOODQWuPvnkE9OxonRqEaXunmrhpa6Kmhc6KUCm9Gqd1qpVq9DF7ruCedttt537rACs+xDyIiNZaba2q4CYPlc1KXgml6rSsAwBBBBAAAEEaiUQNjEBrLAszEQAAQQQQACBygQ0eLfnefbKK6/Y888/75Kpa5n7UMmLH8hQ4EVP0NN7aFK18lGwScEXtdwJXV7VdwUwpk2bViGJAiLq4qgn9/mBlAqJajAjmuXXQO0K0CgI9NJLL5mCKHpCYWXBE9VTgarQYqsV1Lx580zjZmksLC0/+uij3cD2MpCF5gVPCj4pWKYB0O+44w63SIOxK3ijgd/V+srN3PKip/6FBgJVFo2fpScWahyzLUndm+pwxRVXmOqnY+WFF15w9XMLQ14U3FLLLj0BUeNQqQulkmgQ9N122820j5999lnNKjfJS90b1e1U6TQwfbkEW754nmca0F9f1U1T3Sn1OXiSkcqoeQra6V2TH5jT8antaZ4/LVy40NSCzv/OOwIIIBAfApQCgeQTIICVfPuUGiGAAAIIIBBVgR49epgCTHry4F133WV66pwCB1VtVIGMiy66yBRIeuCBB+zGG280PziigICCYeo6pjwuueQS08DX+lybSespUKP8tJ4CC+edd54pIHLWWWeZWghpfl2mSJTfb9kTun0FnDRgu57S+NBDD5kGnVcXutB0/nfVR/VS/TRP9VW9VX/P82zEiBGmll1a1qtXL/fUQq2jJ/gFP+1QYzxde+21bqwrBaY0oLzWUauttLQ001P4brvttnKtptTyTvOUTseBWjUp8KbWX3oKouaHTnvuuaddd911pq6Hp59+ug0dOtRWrFhhwf9Td1Q9/U+Dxmvb119/vfkDtqsuF198sUv+97//3TQgvd+NUu8KvOl40nrDhw+30CCaW3HLi1oP6jhQi71zzz3XfEMtViBOgUNZKd2hhx6q2W7q3r27e1eAUV083ZfAi9bXvtA6ga/8l2wC1AcBBBBAIK4ECGDF1e6gMAgggAACCMS/gLoKavBxBU7UakZd4BRkqK7kCqZoLCYFGhTQ0DpqbaUub8cff7ytX7/ehgwZ4gIc1eUVulwtfNR1TGXRu1oQqSWOgkIKDv373/82BaFC16vN97qWXwEqbeeaa64xlSt47CjN19hRam2kAI8MFEjygzdaHjp17tzZFAxT/ZSf6qt6qwXSP/7xD1OLLn8dBXMUFFKLJnVP1Lvy1hhj6m53++23mwa/v++++0zLtJ662ams2k96VxdCpfe3pZZeGutKLasUQFLLObVQChfEVH6e59nll19uY8eONeV55513mo4htfrS/lcZt99+e9eiT2VSV8qTTjpJq5ZNp512mstDx9v555/vAnRaV3bDhg1zwTG13gque9nKQR9kdf/995vsFIjSu+olE9X7008/dQ4yU7n8VRXMUlBLxnpXek1af+7cuab956flHQEEEEAAAQSiI0AAKzqu5IoAAggggEAkBOI2D3UZVEBIgaPqggZ+JTzPM7WkUfBFAQm1xlI3LrXEOuKII1xLoLvvvtsFVPx1avqugIgGk9fT89QtTi1iFJhQ6xy1TmrXrl1Ns6o0nefVrfwKyp155pkueKNyzZgxw0K7UCooojJ63u9PJqysIH/84x9NrZ4UmFN+Gkh///33d34KDCogFbyuAl4ff/yxKYCkzxorbNGiRW7Q9YEDB5rGHTvxxBODV3GBRHVVVDdCBYmUXtvS+jLV+GcKai1dutQU9NH2FdApl0nQF7Xw0r5RsEdBMbXyUrm1/9USTMGzMWPGmL7r2Apa1X1UnW6++WZXR3UD1JhhSquFOpY0FpuCZJ5X/VMw1XJMA8or2Kf6qF4yURBOLQq1fzRfefuTglkvvviiKRCqeiq9glnyk1NVLeb8PHhHAAEEEEAAgfoJEMCqnx9rI4BA3AtQQAQQqKuAugYquDBv3jxr3759uWzUGkmtYbRc6YIXKq3WCbdM6dQi6amnnnIDgKsVl1rxKMjUu3dvN16T0viTF9TaVQAAAttJREFU8lY+yk/5+vPDvav1joI0Cm4oXwVd1K1OAZjg9MpH+Slf5R+8TJ8VrNAA5ZUtr035lZ9amj322GOmeqpczz33XKWtwfREQnVx03pVTSqDgkjKT5OeFhjOz89DXf38AJLSa1KgTy2NFIjy0/nvnueZgjJqDaV0Sq9JAahgU3X11Dx1ffS86oNHarGkIJC68Ck/f1JASQEo7UO/DKHvnue5JyNOmTLF/H2sdx1L8ghNP3LkSFP+wU9X9NNoO+qmqLIrjSaNb6VurqHHi7+ODBV8U9BO6bVt38/flt799PqsdOG276fhHQEEEEAAAQRqLkAAq+ZWqZuSmiOAAAIIIIBAVAU03pQGKVdXNAW8oroxMkcAAQQQQAABBCoTiOP5BLDieOdQNAQQQAABBBBIXoHCwkJXuVmzZpkGRlfLsNCxn1wCXhBAAAEEEkqAwiKAQHQECGBFx5VcEUAAAQQQQACBKgX01EXP82yPPfZw41ANGzbMNDZUlSuxEIHUEKCWCCCAAAIIVBAggFWBhBkIIIAAAggggED0BXr27Ok2ojGXNB7TZZddVmEMMJegTi+shAACCCCAAAIIJJcAAazk2p/UBgEEEEAgUgLkkxACGoRdg61rUHZ1wUuIQm8ppFpcaZDv9evXm56IpyftbVkU9o1BwcOyMBMBBBBAAAEEUkSAAFaK7GiqiUBDCLBNBBBAAAEEEEAAAQQQQAABBCIhQAArEorRy4OcEUAAAQQQQAABBBBAAAEEEEAg+QWoYTUCBLCqAWIxAggggAACCCCAAAIIIIBAIghQRgQQSGYBAljJvHepGwIIIIAAAggggAACtREgLQIIIIAAAnEqQAArTncMxUIAAQQQQACBxBSg1AgggAACCCCAAAKRFyCAFXlTckQAAQQQqJ8AayOAAAIIIIAAAggggAAC5QQIYJXj4AsCySJAPRBAAAEEEEAAAQQQQAABBBBIHoH/BwAA//+EjoxMAAAABklEQVQDACjCb4k3zuJ9AAAAAElFTkSuQmCC"/>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9" name="Table 8"/>
          <p:cNvGraphicFramePr>
            <a:graphicFrameLocks noGrp="1"/>
          </p:cNvGraphicFramePr>
          <p:nvPr>
            <p:extLst>
              <p:ext uri="{D42A27DB-BD31-4B8C-83A1-F6EECF244321}">
                <p14:modId xmlns:p14="http://schemas.microsoft.com/office/powerpoint/2010/main" val="3368550342"/>
              </p:ext>
            </p:extLst>
          </p:nvPr>
        </p:nvGraphicFramePr>
        <p:xfrm>
          <a:off x="838199" y="875755"/>
          <a:ext cx="16306800" cy="9154781"/>
        </p:xfrm>
        <a:graphic>
          <a:graphicData uri="http://schemas.openxmlformats.org/drawingml/2006/table">
            <a:tbl>
              <a:tblPr firstRow="1" bandRow="1">
                <a:tableStyleId>{5940675A-B579-460E-94D1-54222C63F5DA}</a:tableStyleId>
              </a:tblPr>
              <a:tblGrid>
                <a:gridCol w="2717800"/>
                <a:gridCol w="2717800"/>
                <a:gridCol w="2717800"/>
                <a:gridCol w="2717800"/>
                <a:gridCol w="2717800"/>
                <a:gridCol w="2717800"/>
              </a:tblGrid>
              <a:tr h="290728">
                <a:tc>
                  <a:txBody>
                    <a:bodyPr/>
                    <a:lstStyle/>
                    <a:p>
                      <a:r>
                        <a:rPr lang="en-US" sz="1300" dirty="0" smtClean="0"/>
                        <a:t>STATE</a:t>
                      </a:r>
                      <a:endParaRPr lang="en-US" sz="1300" dirty="0">
                        <a:latin typeface="Arimo" charset="0"/>
                        <a:ea typeface="Arimo" charset="0"/>
                        <a:cs typeface="Arimo" charset="0"/>
                      </a:endParaRPr>
                    </a:p>
                  </a:txBody>
                  <a:tcPr/>
                </a:tc>
                <a:tc>
                  <a:txBody>
                    <a:bodyPr/>
                    <a:lstStyle/>
                    <a:p>
                      <a:r>
                        <a:rPr lang="en-US" sz="1300" dirty="0" smtClean="0"/>
                        <a:t>SAMPLING LOCATIONS</a:t>
                      </a:r>
                      <a:endParaRPr lang="en-US" sz="1300" dirty="0">
                        <a:latin typeface="Arimo" charset="0"/>
                        <a:ea typeface="Arimo" charset="0"/>
                        <a:cs typeface="Arimo" charset="0"/>
                      </a:endParaRPr>
                    </a:p>
                  </a:txBody>
                  <a:tcPr/>
                </a:tc>
                <a:tc>
                  <a:txBody>
                    <a:bodyPr/>
                    <a:lstStyle/>
                    <a:p>
                      <a:r>
                        <a:rPr lang="en-US" sz="1300" dirty="0" smtClean="0"/>
                        <a:t>ENGLISH</a:t>
                      </a:r>
                      <a:r>
                        <a:rPr lang="en-US" sz="1300" baseline="0" dirty="0" smtClean="0"/>
                        <a:t> NAME</a:t>
                      </a:r>
                      <a:endParaRPr lang="en-US" sz="1300" dirty="0">
                        <a:latin typeface="Arimo" charset="0"/>
                        <a:ea typeface="Arimo" charset="0"/>
                        <a:cs typeface="Arimo" charset="0"/>
                      </a:endParaRPr>
                    </a:p>
                  </a:txBody>
                  <a:tcPr/>
                </a:tc>
                <a:tc>
                  <a:txBody>
                    <a:bodyPr/>
                    <a:lstStyle/>
                    <a:p>
                      <a:r>
                        <a:rPr lang="en-US" sz="1300" dirty="0" smtClean="0"/>
                        <a:t>SCIENTIFIC NAME</a:t>
                      </a:r>
                      <a:endParaRPr lang="en-US" sz="1300" dirty="0">
                        <a:latin typeface="Arimo" charset="0"/>
                        <a:ea typeface="Arimo" charset="0"/>
                        <a:cs typeface="Arimo" charset="0"/>
                      </a:endParaRPr>
                    </a:p>
                  </a:txBody>
                  <a:tcPr/>
                </a:tc>
                <a:tc>
                  <a:txBody>
                    <a:bodyPr/>
                    <a:lstStyle/>
                    <a:p>
                      <a:r>
                        <a:rPr lang="en-US" sz="1300" dirty="0" smtClean="0"/>
                        <a:t>WEIGHT (g)</a:t>
                      </a:r>
                      <a:endParaRPr lang="en-US" sz="1300" dirty="0">
                        <a:latin typeface="Arimo" charset="0"/>
                        <a:ea typeface="Arimo" charset="0"/>
                        <a:cs typeface="Arimo" charset="0"/>
                      </a:endParaRPr>
                    </a:p>
                  </a:txBody>
                  <a:tcPr/>
                </a:tc>
                <a:tc>
                  <a:txBody>
                    <a:bodyPr/>
                    <a:lstStyle/>
                    <a:p>
                      <a:r>
                        <a:rPr lang="en-US" sz="1300" dirty="0" smtClean="0"/>
                        <a:t>TOTAL LENGTH</a:t>
                      </a:r>
                      <a:r>
                        <a:rPr lang="en-US" sz="1300" baseline="0" dirty="0" smtClean="0"/>
                        <a:t> (cm)</a:t>
                      </a:r>
                      <a:endParaRPr lang="en-US" sz="1300" dirty="0">
                        <a:latin typeface="Arimo" charset="0"/>
                        <a:ea typeface="Arimo" charset="0"/>
                        <a:cs typeface="Arimo" charset="0"/>
                      </a:endParaRPr>
                    </a:p>
                  </a:txBody>
                  <a:tcPr/>
                </a:tc>
              </a:tr>
              <a:tr h="290728">
                <a:tc gridSpan="6">
                  <a:txBody>
                    <a:bodyPr/>
                    <a:lstStyle/>
                    <a:p>
                      <a:pPr algn="ctr"/>
                      <a:r>
                        <a:rPr lang="en-US" sz="1300" dirty="0" smtClean="0"/>
                        <a:t>FISH</a:t>
                      </a:r>
                      <a:endParaRPr lang="en-US" sz="1300" b="1" dirty="0">
                        <a:latin typeface="Arimo" charset="0"/>
                        <a:ea typeface="Arimo" charset="0"/>
                        <a:cs typeface="Arimo" charset="0"/>
                      </a:endParaRPr>
                    </a:p>
                  </a:txBody>
                  <a:tcPr/>
                </a:tc>
                <a:tc hMerge="1">
                  <a:txBody>
                    <a:bodyPr/>
                    <a:lstStyle/>
                    <a:p>
                      <a:endParaRPr lang="en-US" sz="1300" dirty="0">
                        <a:latin typeface="Arimo" charset="0"/>
                        <a:ea typeface="Arimo" charset="0"/>
                        <a:cs typeface="Arimo" charset="0"/>
                      </a:endParaRPr>
                    </a:p>
                  </a:txBody>
                  <a:tcPr/>
                </a:tc>
                <a:tc hMerge="1">
                  <a:txBody>
                    <a:bodyPr/>
                    <a:lstStyle/>
                    <a:p>
                      <a:endParaRPr lang="en-US" sz="1300" dirty="0">
                        <a:latin typeface="Arimo" charset="0"/>
                        <a:ea typeface="Arimo" charset="0"/>
                        <a:cs typeface="Arimo" charset="0"/>
                      </a:endParaRPr>
                    </a:p>
                  </a:txBody>
                  <a:tcPr/>
                </a:tc>
                <a:tc hMerge="1">
                  <a:txBody>
                    <a:bodyPr/>
                    <a:lstStyle/>
                    <a:p>
                      <a:endParaRPr lang="en-US" sz="1300" dirty="0">
                        <a:latin typeface="Arimo" charset="0"/>
                        <a:ea typeface="Arimo" charset="0"/>
                        <a:cs typeface="Arimo" charset="0"/>
                      </a:endParaRPr>
                    </a:p>
                  </a:txBody>
                  <a:tcPr/>
                </a:tc>
                <a:tc hMerge="1">
                  <a:txBody>
                    <a:bodyPr/>
                    <a:lstStyle/>
                    <a:p>
                      <a:endParaRPr lang="en-US" sz="1300" dirty="0">
                        <a:latin typeface="Arimo" charset="0"/>
                        <a:ea typeface="Arimo" charset="0"/>
                        <a:cs typeface="Arimo" charset="0"/>
                      </a:endParaRPr>
                    </a:p>
                  </a:txBody>
                  <a:tcPr/>
                </a:tc>
                <a:tc hMerge="1">
                  <a:txBody>
                    <a:bodyPr/>
                    <a:lstStyle/>
                    <a:p>
                      <a:endParaRPr lang="en-US" sz="1300" dirty="0">
                        <a:latin typeface="Arimo" charset="0"/>
                        <a:ea typeface="Arimo" charset="0"/>
                        <a:cs typeface="Arimo" charset="0"/>
                      </a:endParaRPr>
                    </a:p>
                  </a:txBody>
                  <a:tcPr/>
                </a:tc>
              </a:tr>
              <a:tr h="218046">
                <a:tc rowSpan="29">
                  <a:txBody>
                    <a:bodyPr/>
                    <a:lstStyle/>
                    <a:p>
                      <a:pPr algn="ctr" rtl="0" fontAlgn="ctr"/>
                      <a:r>
                        <a:rPr lang="en-US" sz="1300" dirty="0">
                          <a:effectLst/>
                        </a:rPr>
                        <a:t>LAGOS</a:t>
                      </a:r>
                      <a:endParaRPr lang="en-US" sz="1300" b="1" dirty="0">
                        <a:effectLst/>
                        <a:latin typeface="Arimo" charset="0"/>
                        <a:ea typeface="Arimo" charset="0"/>
                        <a:cs typeface="Arimo" charset="0"/>
                      </a:endParaRPr>
                    </a:p>
                  </a:txBody>
                  <a:tcPr marL="28575" marR="28575" marT="0" marB="0" anchor="ctr"/>
                </a:tc>
                <a:tc rowSpan="5">
                  <a:txBody>
                    <a:bodyPr/>
                    <a:lstStyle/>
                    <a:p>
                      <a:pPr algn="ctr" rtl="0" fontAlgn="ctr"/>
                      <a:r>
                        <a:rPr lang="en-US" sz="1300" dirty="0">
                          <a:effectLst/>
                        </a:rPr>
                        <a:t>Epe</a:t>
                      </a:r>
                      <a:endParaRPr lang="en-US" sz="1300" b="0"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White-bellied snapper</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Lutjanus rivulatus</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76</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18</a:t>
                      </a:r>
                      <a:endParaRPr lang="en-US" sz="1300" b="0">
                        <a:effectLst/>
                        <a:latin typeface="Arimo" charset="0"/>
                        <a:ea typeface="Arimo" charset="0"/>
                        <a:cs typeface="Arimo" charset="0"/>
                      </a:endParaRPr>
                    </a:p>
                  </a:txBody>
                  <a:tcPr marL="28575" marR="28575" marT="0" marB="0" anchor="ctr"/>
                </a:tc>
              </a:tr>
              <a:tr h="218046">
                <a:tc vMerge="1">
                  <a:txBody>
                    <a:bodyPr/>
                    <a:lstStyle/>
                    <a:p>
                      <a:endParaRPr lang="en-US"/>
                    </a:p>
                  </a:txBody>
                  <a:tcPr/>
                </a:tc>
                <a:tc vMerge="1">
                  <a:txBody>
                    <a:bodyPr/>
                    <a:lstStyle/>
                    <a:p>
                      <a:endParaRPr lang="en-US"/>
                    </a:p>
                  </a:txBody>
                  <a:tcPr/>
                </a:tc>
                <a:tc>
                  <a:txBody>
                    <a:bodyPr/>
                    <a:lstStyle/>
                    <a:p>
                      <a:pPr algn="ctr" rtl="0" fontAlgn="ctr"/>
                      <a:r>
                        <a:rPr lang="en-US" sz="1300">
                          <a:effectLst/>
                        </a:rPr>
                        <a:t>Mormyrid fish</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Marcusenius mento</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58</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17.8</a:t>
                      </a:r>
                      <a:endParaRPr lang="en-US" sz="1300" b="0">
                        <a:effectLst/>
                        <a:latin typeface="Arimo" charset="0"/>
                        <a:ea typeface="Arimo" charset="0"/>
                        <a:cs typeface="Arimo" charset="0"/>
                      </a:endParaRPr>
                    </a:p>
                  </a:txBody>
                  <a:tcPr marL="28575" marR="28575" marT="0" marB="0" anchor="ctr"/>
                </a:tc>
              </a:tr>
              <a:tr h="366236">
                <a:tc vMerge="1">
                  <a:txBody>
                    <a:bodyPr/>
                    <a:lstStyle/>
                    <a:p>
                      <a:endParaRPr lang="en-US"/>
                    </a:p>
                  </a:txBody>
                  <a:tcPr/>
                </a:tc>
                <a:tc vMerge="1">
                  <a:txBody>
                    <a:bodyPr/>
                    <a:lstStyle/>
                    <a:p>
                      <a:endParaRPr lang="en-US"/>
                    </a:p>
                  </a:txBody>
                  <a:tcPr/>
                </a:tc>
                <a:tc>
                  <a:txBody>
                    <a:bodyPr/>
                    <a:lstStyle/>
                    <a:p>
                      <a:pPr algn="ctr" rtl="0" fontAlgn="ctr"/>
                      <a:r>
                        <a:rPr lang="en-US" sz="1300">
                          <a:effectLst/>
                        </a:rPr>
                        <a:t>Silver Cat Fish</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Chrysichthys nigrodigitatus</a:t>
                      </a:r>
                      <a:endParaRPr lang="en-US" sz="1300" b="0" i="1"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135</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26</a:t>
                      </a:r>
                      <a:endParaRPr lang="en-US" sz="1300" b="0">
                        <a:effectLst/>
                        <a:latin typeface="Arimo" charset="0"/>
                        <a:ea typeface="Arimo" charset="0"/>
                        <a:cs typeface="Arimo" charset="0"/>
                      </a:endParaRPr>
                    </a:p>
                  </a:txBody>
                  <a:tcPr marL="28575" marR="28575" marT="0" marB="0" anchor="ctr"/>
                </a:tc>
              </a:tr>
              <a:tr h="218046">
                <a:tc vMerge="1">
                  <a:txBody>
                    <a:bodyPr/>
                    <a:lstStyle/>
                    <a:p>
                      <a:endParaRPr lang="en-US"/>
                    </a:p>
                  </a:txBody>
                  <a:tcPr/>
                </a:tc>
                <a:tc vMerge="1">
                  <a:txBody>
                    <a:bodyPr/>
                    <a:lstStyle/>
                    <a:p>
                      <a:endParaRPr lang="en-US"/>
                    </a:p>
                  </a:txBody>
                  <a:tcPr/>
                </a:tc>
                <a:tc>
                  <a:txBody>
                    <a:bodyPr/>
                    <a:lstStyle/>
                    <a:p>
                      <a:pPr algn="ctr" rtl="0" fontAlgn="ctr"/>
                      <a:r>
                        <a:rPr lang="en-US" sz="1300">
                          <a:effectLst/>
                        </a:rPr>
                        <a:t>Bebe mormyrid</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Hyperopisus bebe</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135</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27</a:t>
                      </a:r>
                      <a:endParaRPr lang="en-US" sz="1300" b="0">
                        <a:effectLst/>
                        <a:latin typeface="Arimo" charset="0"/>
                        <a:ea typeface="Arimo" charset="0"/>
                        <a:cs typeface="Arimo" charset="0"/>
                      </a:endParaRPr>
                    </a:p>
                  </a:txBody>
                  <a:tcPr marL="28575" marR="28575" marT="0" marB="0" anchor="ctr"/>
                </a:tc>
              </a:tr>
              <a:tr h="218046">
                <a:tc vMerge="1">
                  <a:txBody>
                    <a:bodyPr/>
                    <a:lstStyle/>
                    <a:p>
                      <a:endParaRPr lang="en-US"/>
                    </a:p>
                  </a:txBody>
                  <a:tcPr/>
                </a:tc>
                <a:tc vMerge="1">
                  <a:txBody>
                    <a:bodyPr/>
                    <a:lstStyle/>
                    <a:p>
                      <a:endParaRPr lang="en-US"/>
                    </a:p>
                  </a:txBody>
                  <a:tcPr/>
                </a:tc>
                <a:tc>
                  <a:txBody>
                    <a:bodyPr/>
                    <a:lstStyle/>
                    <a:p>
                      <a:pPr algn="ctr" rtl="0" fontAlgn="ctr"/>
                      <a:r>
                        <a:rPr lang="en-US" sz="1300">
                          <a:effectLst/>
                        </a:rPr>
                        <a:t>Sole fish</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Solea solea</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185</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40</a:t>
                      </a:r>
                      <a:endParaRPr lang="en-US" sz="1300" b="0">
                        <a:effectLst/>
                        <a:latin typeface="Arimo" charset="0"/>
                        <a:ea typeface="Arimo" charset="0"/>
                        <a:cs typeface="Arimo" charset="0"/>
                      </a:endParaRPr>
                    </a:p>
                  </a:txBody>
                  <a:tcPr marL="28575" marR="28575" marT="0" marB="0" anchor="ctr"/>
                </a:tc>
              </a:tr>
              <a:tr h="183118">
                <a:tc vMerge="1">
                  <a:txBody>
                    <a:bodyPr/>
                    <a:lstStyle/>
                    <a:p>
                      <a:endParaRPr lang="en-US"/>
                    </a:p>
                  </a:txBody>
                  <a:tcPr/>
                </a:tc>
                <a:tc rowSpan="6">
                  <a:txBody>
                    <a:bodyPr/>
                    <a:lstStyle/>
                    <a:p>
                      <a:pPr algn="ctr" rtl="0" fontAlgn="ctr"/>
                      <a:r>
                        <a:rPr lang="en-US" sz="1300" dirty="0">
                          <a:effectLst/>
                        </a:rPr>
                        <a:t>Apapa</a:t>
                      </a:r>
                      <a:endParaRPr lang="en-US" sz="1300" b="0"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Diamond Trevally</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Alectic Indica</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160</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21.9</a:t>
                      </a:r>
                      <a:endParaRPr lang="en-US" sz="1300" b="0">
                        <a:effectLst/>
                        <a:latin typeface="Arimo" charset="0"/>
                        <a:ea typeface="Arimo" charset="0"/>
                        <a:cs typeface="Arimo" charset="0"/>
                      </a:endParaRPr>
                    </a:p>
                  </a:txBody>
                  <a:tcPr marL="28575" marR="28575" marT="0" marB="0" anchor="ctr"/>
                </a:tc>
              </a:tr>
              <a:tr h="183118">
                <a:tc vMerge="1">
                  <a:txBody>
                    <a:bodyPr/>
                    <a:lstStyle/>
                    <a:p>
                      <a:endParaRPr lang="en-US"/>
                    </a:p>
                  </a:txBody>
                  <a:tcPr/>
                </a:tc>
                <a:tc vMerge="1">
                  <a:txBody>
                    <a:bodyPr/>
                    <a:lstStyle/>
                    <a:p>
                      <a:endParaRPr lang="en-US"/>
                    </a:p>
                  </a:txBody>
                  <a:tcPr/>
                </a:tc>
                <a:tc>
                  <a:txBody>
                    <a:bodyPr/>
                    <a:lstStyle/>
                    <a:p>
                      <a:pPr algn="ctr" rtl="0" fontAlgn="ctr"/>
                      <a:r>
                        <a:rPr lang="en-US" sz="1300">
                          <a:effectLst/>
                        </a:rPr>
                        <a:t>Silver Pomfret</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Pampus Argenteus</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86</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14</a:t>
                      </a:r>
                      <a:endParaRPr lang="en-US" sz="1300" b="0">
                        <a:effectLst/>
                        <a:latin typeface="Arimo" charset="0"/>
                        <a:ea typeface="Arimo" charset="0"/>
                        <a:cs typeface="Arimo" charset="0"/>
                      </a:endParaRPr>
                    </a:p>
                  </a:txBody>
                  <a:tcPr marL="28575" marR="28575" marT="0" marB="0" anchor="ctr"/>
                </a:tc>
              </a:tr>
              <a:tr h="290728">
                <a:tc vMerge="1">
                  <a:txBody>
                    <a:bodyPr/>
                    <a:lstStyle/>
                    <a:p>
                      <a:endParaRPr lang="en-US"/>
                    </a:p>
                  </a:txBody>
                  <a:tcPr/>
                </a:tc>
                <a:tc vMerge="1">
                  <a:txBody>
                    <a:bodyPr/>
                    <a:lstStyle/>
                    <a:p>
                      <a:endParaRPr lang="en-US"/>
                    </a:p>
                  </a:txBody>
                  <a:tcPr/>
                </a:tc>
                <a:tc>
                  <a:txBody>
                    <a:bodyPr/>
                    <a:lstStyle/>
                    <a:p>
                      <a:pPr algn="ctr" rtl="0" fontAlgn="ctr"/>
                      <a:r>
                        <a:rPr lang="en-US" sz="1300">
                          <a:effectLst/>
                        </a:rPr>
                        <a:t>Shiny Nose</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Polydactylus quadrifilis</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90</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21.5</a:t>
                      </a:r>
                      <a:endParaRPr lang="en-US" sz="1300" b="0">
                        <a:effectLst/>
                        <a:latin typeface="Arimo" charset="0"/>
                        <a:ea typeface="Arimo" charset="0"/>
                        <a:cs typeface="Arimo" charset="0"/>
                      </a:endParaRPr>
                    </a:p>
                  </a:txBody>
                  <a:tcPr marL="28575" marR="28575" marT="0" marB="0" anchor="ctr"/>
                </a:tc>
              </a:tr>
              <a:tr h="183118">
                <a:tc vMerge="1">
                  <a:txBody>
                    <a:bodyPr/>
                    <a:lstStyle/>
                    <a:p>
                      <a:endParaRPr lang="en-US"/>
                    </a:p>
                  </a:txBody>
                  <a:tcPr/>
                </a:tc>
                <a:tc vMerge="1">
                  <a:txBody>
                    <a:bodyPr/>
                    <a:lstStyle/>
                    <a:p>
                      <a:endParaRPr lang="en-US"/>
                    </a:p>
                  </a:txBody>
                  <a:tcPr/>
                </a:tc>
                <a:tc>
                  <a:txBody>
                    <a:bodyPr/>
                    <a:lstStyle/>
                    <a:p>
                      <a:pPr algn="ctr" rtl="0" fontAlgn="ctr"/>
                      <a:r>
                        <a:rPr lang="en-US" sz="1300">
                          <a:effectLst/>
                        </a:rPr>
                        <a:t>Silver white croaker</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Genyonemus lineatus</a:t>
                      </a:r>
                      <a:endParaRPr lang="en-US" sz="1300" b="0" i="1"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44</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15</a:t>
                      </a:r>
                      <a:endParaRPr lang="en-US" sz="1300" b="0">
                        <a:effectLst/>
                        <a:latin typeface="Arimo" charset="0"/>
                        <a:ea typeface="Arimo" charset="0"/>
                        <a:cs typeface="Arimo" charset="0"/>
                      </a:endParaRPr>
                    </a:p>
                  </a:txBody>
                  <a:tcPr marL="28575" marR="28575" marT="0" marB="0" anchor="ctr"/>
                </a:tc>
              </a:tr>
              <a:tr h="183118">
                <a:tc vMerge="1">
                  <a:txBody>
                    <a:bodyPr/>
                    <a:lstStyle/>
                    <a:p>
                      <a:endParaRPr lang="en-US"/>
                    </a:p>
                  </a:txBody>
                  <a:tcPr/>
                </a:tc>
                <a:tc vMerge="1">
                  <a:txBody>
                    <a:bodyPr/>
                    <a:lstStyle/>
                    <a:p>
                      <a:endParaRPr lang="en-US"/>
                    </a:p>
                  </a:txBody>
                  <a:tcPr/>
                </a:tc>
                <a:tc>
                  <a:txBody>
                    <a:bodyPr/>
                    <a:lstStyle/>
                    <a:p>
                      <a:pPr algn="ctr" rtl="0" fontAlgn="ctr"/>
                      <a:r>
                        <a:rPr lang="en-US" sz="1300">
                          <a:effectLst/>
                        </a:rPr>
                        <a:t>Sole fish</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Solea solea</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55</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23</a:t>
                      </a:r>
                      <a:endParaRPr lang="en-US" sz="1300" b="0" dirty="0">
                        <a:effectLst/>
                        <a:latin typeface="Arimo" charset="0"/>
                        <a:ea typeface="Arimo" charset="0"/>
                        <a:cs typeface="Arimo" charset="0"/>
                      </a:endParaRPr>
                    </a:p>
                  </a:txBody>
                  <a:tcPr marL="28575" marR="28575" marT="0" marB="0" anchor="ctr"/>
                </a:tc>
              </a:tr>
              <a:tr h="366236">
                <a:tc vMerge="1">
                  <a:txBody>
                    <a:bodyPr/>
                    <a:lstStyle/>
                    <a:p>
                      <a:endParaRPr lang="en-US"/>
                    </a:p>
                  </a:txBody>
                  <a:tcPr/>
                </a:tc>
                <a:tc vMerge="1">
                  <a:txBody>
                    <a:bodyPr/>
                    <a:lstStyle/>
                    <a:p>
                      <a:endParaRPr lang="en-US"/>
                    </a:p>
                  </a:txBody>
                  <a:tcPr/>
                </a:tc>
                <a:tc>
                  <a:txBody>
                    <a:bodyPr/>
                    <a:lstStyle/>
                    <a:p>
                      <a:pPr algn="ctr" rtl="0" fontAlgn="ctr"/>
                      <a:r>
                        <a:rPr lang="en-US" sz="1300">
                          <a:effectLst/>
                        </a:rPr>
                        <a:t>Booseman Croaker </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Boesemania microlepsis</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64</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20.3</a:t>
                      </a:r>
                      <a:endParaRPr lang="en-US" sz="1300" b="0">
                        <a:effectLst/>
                        <a:latin typeface="Arimo" charset="0"/>
                        <a:ea typeface="Arimo" charset="0"/>
                        <a:cs typeface="Arimo" charset="0"/>
                      </a:endParaRPr>
                    </a:p>
                  </a:txBody>
                  <a:tcPr marL="28575" marR="28575" marT="0" marB="0" anchor="ctr"/>
                </a:tc>
              </a:tr>
              <a:tr h="183118">
                <a:tc vMerge="1">
                  <a:txBody>
                    <a:bodyPr/>
                    <a:lstStyle/>
                    <a:p>
                      <a:endParaRPr lang="en-US"/>
                    </a:p>
                  </a:txBody>
                  <a:tcPr/>
                </a:tc>
                <a:tc rowSpan="6">
                  <a:txBody>
                    <a:bodyPr/>
                    <a:lstStyle/>
                    <a:p>
                      <a:pPr algn="ctr" rtl="0" fontAlgn="ctr"/>
                      <a:r>
                        <a:rPr lang="en-US" sz="1300">
                          <a:effectLst/>
                        </a:rPr>
                        <a:t>Victoria Island</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Red Seabream</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Pagrus major</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179</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22</a:t>
                      </a:r>
                      <a:endParaRPr lang="en-US" sz="1300" b="0">
                        <a:effectLst/>
                        <a:latin typeface="Arimo" charset="0"/>
                        <a:ea typeface="Arimo" charset="0"/>
                        <a:cs typeface="Arimo" charset="0"/>
                      </a:endParaRPr>
                    </a:p>
                  </a:txBody>
                  <a:tcPr marL="28575" marR="28575" marT="0" marB="0" anchor="ctr"/>
                </a:tc>
              </a:tr>
              <a:tr h="183118">
                <a:tc vMerge="1">
                  <a:txBody>
                    <a:bodyPr/>
                    <a:lstStyle/>
                    <a:p>
                      <a:endParaRPr lang="en-US"/>
                    </a:p>
                  </a:txBody>
                  <a:tcPr/>
                </a:tc>
                <a:tc vMerge="1">
                  <a:txBody>
                    <a:bodyPr/>
                    <a:lstStyle/>
                    <a:p>
                      <a:endParaRPr lang="en-US"/>
                    </a:p>
                  </a:txBody>
                  <a:tcPr/>
                </a:tc>
                <a:tc>
                  <a:txBody>
                    <a:bodyPr/>
                    <a:lstStyle/>
                    <a:p>
                      <a:pPr algn="ctr" rtl="0" fontAlgn="ctr"/>
                      <a:r>
                        <a:rPr lang="en-US" sz="1300">
                          <a:effectLst/>
                        </a:rPr>
                        <a:t>Red Snapper</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Lutjanus campechanus</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84</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17</a:t>
                      </a:r>
                      <a:endParaRPr lang="en-US" sz="1300" b="0">
                        <a:effectLst/>
                        <a:latin typeface="Arimo" charset="0"/>
                        <a:ea typeface="Arimo" charset="0"/>
                        <a:cs typeface="Arimo" charset="0"/>
                      </a:endParaRPr>
                    </a:p>
                  </a:txBody>
                  <a:tcPr marL="28575" marR="28575" marT="0" marB="0" anchor="ctr"/>
                </a:tc>
              </a:tr>
              <a:tr h="183118">
                <a:tc vMerge="1">
                  <a:txBody>
                    <a:bodyPr/>
                    <a:lstStyle/>
                    <a:p>
                      <a:endParaRPr lang="en-US"/>
                    </a:p>
                  </a:txBody>
                  <a:tcPr/>
                </a:tc>
                <a:tc vMerge="1">
                  <a:txBody>
                    <a:bodyPr/>
                    <a:lstStyle/>
                    <a:p>
                      <a:endParaRPr lang="en-US"/>
                    </a:p>
                  </a:txBody>
                  <a:tcPr/>
                </a:tc>
                <a:tc>
                  <a:txBody>
                    <a:bodyPr/>
                    <a:lstStyle/>
                    <a:p>
                      <a:pPr algn="ctr" rtl="0" fontAlgn="ctr"/>
                      <a:r>
                        <a:rPr lang="en-US" sz="1300">
                          <a:effectLst/>
                        </a:rPr>
                        <a:t>White-bellied snapper</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Lutjanus rivulatus</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160</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22</a:t>
                      </a:r>
                      <a:endParaRPr lang="en-US" sz="1300" b="0">
                        <a:effectLst/>
                        <a:latin typeface="Arimo" charset="0"/>
                        <a:ea typeface="Arimo" charset="0"/>
                        <a:cs typeface="Arimo" charset="0"/>
                      </a:endParaRPr>
                    </a:p>
                  </a:txBody>
                  <a:tcPr marL="28575" marR="28575" marT="0" marB="0" anchor="ctr"/>
                </a:tc>
              </a:tr>
              <a:tr h="183118">
                <a:tc vMerge="1">
                  <a:txBody>
                    <a:bodyPr/>
                    <a:lstStyle/>
                    <a:p>
                      <a:endParaRPr lang="en-US"/>
                    </a:p>
                  </a:txBody>
                  <a:tcPr/>
                </a:tc>
                <a:tc vMerge="1">
                  <a:txBody>
                    <a:bodyPr/>
                    <a:lstStyle/>
                    <a:p>
                      <a:endParaRPr lang="en-US"/>
                    </a:p>
                  </a:txBody>
                  <a:tcPr/>
                </a:tc>
                <a:tc>
                  <a:txBody>
                    <a:bodyPr/>
                    <a:lstStyle/>
                    <a:p>
                      <a:pPr algn="ctr" rtl="0" fontAlgn="ctr"/>
                      <a:r>
                        <a:rPr lang="en-US" sz="1300">
                          <a:effectLst/>
                        </a:rPr>
                        <a:t>Sardine fish</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Sardina pilchardus</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55</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17.5</a:t>
                      </a:r>
                      <a:endParaRPr lang="en-US" sz="1300" b="0">
                        <a:effectLst/>
                        <a:latin typeface="Arimo" charset="0"/>
                        <a:ea typeface="Arimo" charset="0"/>
                        <a:cs typeface="Arimo" charset="0"/>
                      </a:endParaRPr>
                    </a:p>
                  </a:txBody>
                  <a:tcPr marL="28575" marR="28575" marT="0" marB="0" anchor="ctr"/>
                </a:tc>
              </a:tr>
              <a:tr h="366236">
                <a:tc vMerge="1">
                  <a:txBody>
                    <a:bodyPr/>
                    <a:lstStyle/>
                    <a:p>
                      <a:endParaRPr lang="en-US"/>
                    </a:p>
                  </a:txBody>
                  <a:tcPr/>
                </a:tc>
                <a:tc vMerge="1">
                  <a:txBody>
                    <a:bodyPr/>
                    <a:lstStyle/>
                    <a:p>
                      <a:endParaRPr lang="en-US"/>
                    </a:p>
                  </a:txBody>
                  <a:tcPr/>
                </a:tc>
                <a:tc>
                  <a:txBody>
                    <a:bodyPr/>
                    <a:lstStyle/>
                    <a:p>
                      <a:pPr algn="ctr" rtl="0" fontAlgn="ctr"/>
                      <a:r>
                        <a:rPr lang="en-US" sz="1300">
                          <a:effectLst/>
                        </a:rPr>
                        <a:t>Blue Spot mullet</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Mugil cephalus</a:t>
                      </a:r>
                      <a:br>
                        <a:rPr lang="en-US" sz="1300">
                          <a:effectLst/>
                        </a:rPr>
                      </a:b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52</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17.5</a:t>
                      </a:r>
                      <a:endParaRPr lang="en-US" sz="1300" b="0">
                        <a:effectLst/>
                        <a:latin typeface="Arimo" charset="0"/>
                        <a:ea typeface="Arimo" charset="0"/>
                        <a:cs typeface="Arimo" charset="0"/>
                      </a:endParaRPr>
                    </a:p>
                  </a:txBody>
                  <a:tcPr marL="28575" marR="28575" marT="0" marB="0" anchor="ctr"/>
                </a:tc>
              </a:tr>
              <a:tr h="290728">
                <a:tc vMerge="1">
                  <a:txBody>
                    <a:bodyPr/>
                    <a:lstStyle/>
                    <a:p>
                      <a:endParaRPr lang="en-US"/>
                    </a:p>
                  </a:txBody>
                  <a:tcPr/>
                </a:tc>
                <a:tc vMerge="1">
                  <a:txBody>
                    <a:bodyPr/>
                    <a:lstStyle/>
                    <a:p>
                      <a:endParaRPr lang="en-US"/>
                    </a:p>
                  </a:txBody>
                  <a:tcPr/>
                </a:tc>
                <a:tc>
                  <a:txBody>
                    <a:bodyPr/>
                    <a:lstStyle/>
                    <a:p>
                      <a:pPr algn="ctr" rtl="0" fontAlgn="ctr"/>
                      <a:r>
                        <a:rPr lang="en-US" sz="1300">
                          <a:effectLst/>
                        </a:rPr>
                        <a:t>Shiny Nose</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Polydactylus quadrifilis</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60</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20</a:t>
                      </a:r>
                      <a:endParaRPr lang="en-US" sz="1300" b="0">
                        <a:effectLst/>
                        <a:latin typeface="Arimo" charset="0"/>
                        <a:ea typeface="Arimo" charset="0"/>
                        <a:cs typeface="Arimo" charset="0"/>
                      </a:endParaRPr>
                    </a:p>
                  </a:txBody>
                  <a:tcPr marL="28575" marR="28575" marT="0" marB="0" anchor="ctr"/>
                </a:tc>
              </a:tr>
              <a:tr h="549355">
                <a:tc vMerge="1">
                  <a:txBody>
                    <a:bodyPr/>
                    <a:lstStyle/>
                    <a:p>
                      <a:endParaRPr lang="en-US"/>
                    </a:p>
                  </a:txBody>
                  <a:tcPr/>
                </a:tc>
                <a:tc rowSpan="12">
                  <a:txBody>
                    <a:bodyPr/>
                    <a:lstStyle/>
                    <a:p>
                      <a:pPr algn="ctr" rtl="0" fontAlgn="ctr"/>
                      <a:r>
                        <a:rPr lang="en-US" sz="1300" dirty="0">
                          <a:effectLst/>
                        </a:rPr>
                        <a:t>Badagry</a:t>
                      </a:r>
                      <a:endParaRPr lang="en-US" sz="1300" b="0"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Diamomd Trevally/Indian threadfin</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Alectic Indica</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59</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15.7</a:t>
                      </a:r>
                      <a:endParaRPr lang="en-US" sz="1300" b="0">
                        <a:effectLst/>
                        <a:latin typeface="Arimo" charset="0"/>
                        <a:ea typeface="Arimo" charset="0"/>
                        <a:cs typeface="Arimo" charset="0"/>
                      </a:endParaRPr>
                    </a:p>
                  </a:txBody>
                  <a:tcPr marL="28575" marR="28575" marT="0" marB="0" anchor="ctr"/>
                </a:tc>
              </a:tr>
              <a:tr h="290728">
                <a:tc vMerge="1">
                  <a:txBody>
                    <a:bodyPr/>
                    <a:lstStyle/>
                    <a:p>
                      <a:endParaRPr lang="en-US"/>
                    </a:p>
                  </a:txBody>
                  <a:tcPr/>
                </a:tc>
                <a:tc vMerge="1">
                  <a:txBody>
                    <a:bodyPr/>
                    <a:lstStyle/>
                    <a:p>
                      <a:endParaRPr lang="en-US"/>
                    </a:p>
                  </a:txBody>
                  <a:tcPr/>
                </a:tc>
                <a:tc>
                  <a:txBody>
                    <a:bodyPr/>
                    <a:lstStyle/>
                    <a:p>
                      <a:pPr algn="ctr" rtl="0" fontAlgn="ctr"/>
                      <a:r>
                        <a:rPr lang="en-US" sz="1300">
                          <a:effectLst/>
                        </a:rPr>
                        <a:t>Shiny Nose</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Polydactylus quadrifilis</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81</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19.5</a:t>
                      </a:r>
                      <a:endParaRPr lang="en-US" sz="1300" b="0">
                        <a:effectLst/>
                        <a:latin typeface="Arimo" charset="0"/>
                        <a:ea typeface="Arimo" charset="0"/>
                        <a:cs typeface="Arimo" charset="0"/>
                      </a:endParaRPr>
                    </a:p>
                  </a:txBody>
                  <a:tcPr marL="28575" marR="28575" marT="0" marB="0" anchor="ctr"/>
                </a:tc>
              </a:tr>
              <a:tr h="183118">
                <a:tc vMerge="1">
                  <a:txBody>
                    <a:bodyPr/>
                    <a:lstStyle/>
                    <a:p>
                      <a:endParaRPr lang="en-US"/>
                    </a:p>
                  </a:txBody>
                  <a:tcPr/>
                </a:tc>
                <a:tc vMerge="1">
                  <a:txBody>
                    <a:bodyPr/>
                    <a:lstStyle/>
                    <a:p>
                      <a:endParaRPr lang="en-US"/>
                    </a:p>
                  </a:txBody>
                  <a:tcPr/>
                </a:tc>
                <a:tc>
                  <a:txBody>
                    <a:bodyPr/>
                    <a:lstStyle/>
                    <a:p>
                      <a:pPr algn="ctr" rtl="0" fontAlgn="ctr"/>
                      <a:r>
                        <a:rPr lang="en-US" sz="1300">
                          <a:effectLst/>
                        </a:rPr>
                        <a:t>Bartail Flathead</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Platycephalus indicus </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16</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14</a:t>
                      </a:r>
                      <a:endParaRPr lang="en-US" sz="1300" b="0">
                        <a:effectLst/>
                        <a:latin typeface="Arimo" charset="0"/>
                        <a:ea typeface="Arimo" charset="0"/>
                        <a:cs typeface="Arimo" charset="0"/>
                      </a:endParaRPr>
                    </a:p>
                  </a:txBody>
                  <a:tcPr marL="28575" marR="28575" marT="0" marB="0" anchor="ctr"/>
                </a:tc>
              </a:tr>
              <a:tr h="183118">
                <a:tc vMerge="1">
                  <a:txBody>
                    <a:bodyPr/>
                    <a:lstStyle/>
                    <a:p>
                      <a:endParaRPr lang="en-US"/>
                    </a:p>
                  </a:txBody>
                  <a:tcPr/>
                </a:tc>
                <a:tc vMerge="1">
                  <a:txBody>
                    <a:bodyPr/>
                    <a:lstStyle/>
                    <a:p>
                      <a:endParaRPr lang="en-US"/>
                    </a:p>
                  </a:txBody>
                  <a:tcPr/>
                </a:tc>
                <a:tc>
                  <a:txBody>
                    <a:bodyPr/>
                    <a:lstStyle/>
                    <a:p>
                      <a:pPr algn="ctr" rtl="0" fontAlgn="ctr"/>
                      <a:r>
                        <a:rPr lang="en-US" sz="1300">
                          <a:effectLst/>
                        </a:rPr>
                        <a:t>Obtuse Baracuda</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Sphyraena obtusata</a:t>
                      </a:r>
                      <a:endParaRPr lang="en-US" sz="1300" b="0" i="1"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36</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19.8</a:t>
                      </a:r>
                      <a:endParaRPr lang="en-US" sz="1300" b="0">
                        <a:effectLst/>
                        <a:latin typeface="Arimo" charset="0"/>
                        <a:ea typeface="Arimo" charset="0"/>
                        <a:cs typeface="Arimo" charset="0"/>
                      </a:endParaRPr>
                    </a:p>
                  </a:txBody>
                  <a:tcPr marL="28575" marR="28575" marT="0" marB="0" anchor="ctr"/>
                </a:tc>
              </a:tr>
              <a:tr h="183118">
                <a:tc vMerge="1">
                  <a:txBody>
                    <a:bodyPr/>
                    <a:lstStyle/>
                    <a:p>
                      <a:endParaRPr lang="en-US"/>
                    </a:p>
                  </a:txBody>
                  <a:tcPr/>
                </a:tc>
                <a:tc vMerge="1">
                  <a:txBody>
                    <a:bodyPr/>
                    <a:lstStyle/>
                    <a:p>
                      <a:endParaRPr lang="en-US"/>
                    </a:p>
                  </a:txBody>
                  <a:tcPr/>
                </a:tc>
                <a:tc>
                  <a:txBody>
                    <a:bodyPr/>
                    <a:lstStyle/>
                    <a:p>
                      <a:pPr algn="ctr" rtl="0" fontAlgn="ctr"/>
                      <a:r>
                        <a:rPr lang="en-US" sz="1300">
                          <a:effectLst/>
                        </a:rPr>
                        <a:t>Bogue </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Boops boops</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52</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16</a:t>
                      </a:r>
                      <a:endParaRPr lang="en-US" sz="1300" b="0">
                        <a:effectLst/>
                        <a:latin typeface="Arimo" charset="0"/>
                        <a:ea typeface="Arimo" charset="0"/>
                        <a:cs typeface="Arimo" charset="0"/>
                      </a:endParaRPr>
                    </a:p>
                  </a:txBody>
                  <a:tcPr marL="28575" marR="28575" marT="0" marB="0" anchor="ctr"/>
                </a:tc>
              </a:tr>
              <a:tr h="183118">
                <a:tc vMerge="1">
                  <a:txBody>
                    <a:bodyPr/>
                    <a:lstStyle/>
                    <a:p>
                      <a:endParaRPr lang="en-US"/>
                    </a:p>
                  </a:txBody>
                  <a:tcPr/>
                </a:tc>
                <a:tc vMerge="1">
                  <a:txBody>
                    <a:bodyPr/>
                    <a:lstStyle/>
                    <a:p>
                      <a:endParaRPr lang="en-US"/>
                    </a:p>
                  </a:txBody>
                  <a:tcPr/>
                </a:tc>
                <a:tc>
                  <a:txBody>
                    <a:bodyPr/>
                    <a:lstStyle/>
                    <a:p>
                      <a:pPr algn="ctr" rtl="0" fontAlgn="ctr"/>
                      <a:r>
                        <a:rPr lang="en-US" sz="1300">
                          <a:effectLst/>
                        </a:rPr>
                        <a:t>Yellow croacker</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Larimichthyts polyactis</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39</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14.5</a:t>
                      </a:r>
                      <a:endParaRPr lang="en-US" sz="1300" b="0">
                        <a:effectLst/>
                        <a:latin typeface="Arimo" charset="0"/>
                        <a:ea typeface="Arimo" charset="0"/>
                        <a:cs typeface="Arimo" charset="0"/>
                      </a:endParaRPr>
                    </a:p>
                  </a:txBody>
                  <a:tcPr marL="28575" marR="28575" marT="0" marB="0" anchor="ctr"/>
                </a:tc>
              </a:tr>
              <a:tr h="183118">
                <a:tc vMerge="1">
                  <a:txBody>
                    <a:bodyPr/>
                    <a:lstStyle/>
                    <a:p>
                      <a:endParaRPr lang="en-US"/>
                    </a:p>
                  </a:txBody>
                  <a:tcPr/>
                </a:tc>
                <a:tc vMerge="1">
                  <a:txBody>
                    <a:bodyPr/>
                    <a:lstStyle/>
                    <a:p>
                      <a:endParaRPr lang="en-US"/>
                    </a:p>
                  </a:txBody>
                  <a:tcPr/>
                </a:tc>
                <a:tc>
                  <a:txBody>
                    <a:bodyPr/>
                    <a:lstStyle/>
                    <a:p>
                      <a:pPr algn="ctr" rtl="0" fontAlgn="ctr"/>
                      <a:r>
                        <a:rPr lang="en-US" sz="1300">
                          <a:effectLst/>
                        </a:rPr>
                        <a:t>American butterfish</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Peprilus triacanthus</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14</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13</a:t>
                      </a:r>
                      <a:endParaRPr lang="en-US" sz="1300" b="0">
                        <a:effectLst/>
                        <a:latin typeface="Arimo" charset="0"/>
                        <a:ea typeface="Arimo" charset="0"/>
                        <a:cs typeface="Arimo" charset="0"/>
                      </a:endParaRPr>
                    </a:p>
                  </a:txBody>
                  <a:tcPr marL="28575" marR="28575" marT="0" marB="0" anchor="ctr"/>
                </a:tc>
              </a:tr>
              <a:tr h="183118">
                <a:tc vMerge="1">
                  <a:txBody>
                    <a:bodyPr/>
                    <a:lstStyle/>
                    <a:p>
                      <a:endParaRPr lang="en-US"/>
                    </a:p>
                  </a:txBody>
                  <a:tcPr/>
                </a:tc>
                <a:tc vMerge="1">
                  <a:txBody>
                    <a:bodyPr/>
                    <a:lstStyle/>
                    <a:p>
                      <a:endParaRPr lang="en-US"/>
                    </a:p>
                  </a:txBody>
                  <a:tcPr/>
                </a:tc>
                <a:tc>
                  <a:txBody>
                    <a:bodyPr/>
                    <a:lstStyle/>
                    <a:p>
                      <a:pPr algn="ctr" rtl="0" fontAlgn="ctr"/>
                      <a:r>
                        <a:rPr lang="en-US" sz="1300">
                          <a:effectLst/>
                        </a:rPr>
                        <a:t>Silver Pomfret</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Pampus Argenteus</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88</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15.2</a:t>
                      </a:r>
                      <a:endParaRPr lang="en-US" sz="1300" b="0">
                        <a:effectLst/>
                        <a:latin typeface="Arimo" charset="0"/>
                        <a:ea typeface="Arimo" charset="0"/>
                        <a:cs typeface="Arimo" charset="0"/>
                      </a:endParaRPr>
                    </a:p>
                  </a:txBody>
                  <a:tcPr marL="28575" marR="28575" marT="0" marB="0" anchor="ctr"/>
                </a:tc>
              </a:tr>
              <a:tr h="366236">
                <a:tc vMerge="1">
                  <a:txBody>
                    <a:bodyPr/>
                    <a:lstStyle/>
                    <a:p>
                      <a:endParaRPr lang="en-US"/>
                    </a:p>
                  </a:txBody>
                  <a:tcPr/>
                </a:tc>
                <a:tc vMerge="1">
                  <a:txBody>
                    <a:bodyPr/>
                    <a:lstStyle/>
                    <a:p>
                      <a:endParaRPr lang="en-US"/>
                    </a:p>
                  </a:txBody>
                  <a:tcPr/>
                </a:tc>
                <a:tc>
                  <a:txBody>
                    <a:bodyPr/>
                    <a:lstStyle/>
                    <a:p>
                      <a:pPr algn="ctr" rtl="0" fontAlgn="ctr"/>
                      <a:r>
                        <a:rPr lang="en-US" sz="1300">
                          <a:effectLst/>
                        </a:rPr>
                        <a:t>Bumpnose Trevally</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Carangaides hedlandensis</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50</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16.4</a:t>
                      </a:r>
                      <a:endParaRPr lang="en-US" sz="1300" b="0">
                        <a:effectLst/>
                        <a:latin typeface="Arimo" charset="0"/>
                        <a:ea typeface="Arimo" charset="0"/>
                        <a:cs typeface="Arimo" charset="0"/>
                      </a:endParaRPr>
                    </a:p>
                  </a:txBody>
                  <a:tcPr marL="28575" marR="28575" marT="0" marB="0" anchor="ctr"/>
                </a:tc>
              </a:tr>
              <a:tr h="183118">
                <a:tc vMerge="1">
                  <a:txBody>
                    <a:bodyPr/>
                    <a:lstStyle/>
                    <a:p>
                      <a:endParaRPr lang="en-US"/>
                    </a:p>
                  </a:txBody>
                  <a:tcPr/>
                </a:tc>
                <a:tc vMerge="1">
                  <a:txBody>
                    <a:bodyPr/>
                    <a:lstStyle/>
                    <a:p>
                      <a:endParaRPr lang="en-US"/>
                    </a:p>
                  </a:txBody>
                  <a:tcPr/>
                </a:tc>
                <a:tc>
                  <a:txBody>
                    <a:bodyPr/>
                    <a:lstStyle/>
                    <a:p>
                      <a:pPr algn="ctr" rtl="0" fontAlgn="ctr"/>
                      <a:r>
                        <a:rPr lang="en-US" sz="1300">
                          <a:effectLst/>
                        </a:rPr>
                        <a:t>Atlantic herring</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Clupea harengus</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19</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12.5</a:t>
                      </a:r>
                      <a:endParaRPr lang="en-US" sz="1300" b="0">
                        <a:effectLst/>
                        <a:latin typeface="Arimo" charset="0"/>
                        <a:ea typeface="Arimo" charset="0"/>
                        <a:cs typeface="Arimo" charset="0"/>
                      </a:endParaRPr>
                    </a:p>
                  </a:txBody>
                  <a:tcPr marL="28575" marR="28575" marT="0" marB="0" anchor="ctr"/>
                </a:tc>
              </a:tr>
              <a:tr h="183118">
                <a:tc vMerge="1">
                  <a:txBody>
                    <a:bodyPr/>
                    <a:lstStyle/>
                    <a:p>
                      <a:endParaRPr lang="en-US"/>
                    </a:p>
                  </a:txBody>
                  <a:tcPr/>
                </a:tc>
                <a:tc vMerge="1">
                  <a:txBody>
                    <a:bodyPr/>
                    <a:lstStyle/>
                    <a:p>
                      <a:endParaRPr lang="en-US"/>
                    </a:p>
                  </a:txBody>
                  <a:tcPr/>
                </a:tc>
                <a:tc>
                  <a:txBody>
                    <a:bodyPr/>
                    <a:lstStyle/>
                    <a:p>
                      <a:pPr algn="ctr" rtl="0" fontAlgn="ctr"/>
                      <a:r>
                        <a:rPr lang="en-US" sz="1300">
                          <a:effectLst/>
                        </a:rPr>
                        <a:t>Bonga</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Ethmalosa fimbriata</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19</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13.5</a:t>
                      </a:r>
                      <a:endParaRPr lang="en-US" sz="1300" b="0">
                        <a:effectLst/>
                        <a:latin typeface="Arimo" charset="0"/>
                        <a:ea typeface="Arimo" charset="0"/>
                        <a:cs typeface="Arimo" charset="0"/>
                      </a:endParaRPr>
                    </a:p>
                  </a:txBody>
                  <a:tcPr marL="28575" marR="28575" marT="0" marB="0" anchor="ctr"/>
                </a:tc>
              </a:tr>
              <a:tr h="183118">
                <a:tc vMerge="1">
                  <a:txBody>
                    <a:bodyPr/>
                    <a:lstStyle/>
                    <a:p>
                      <a:endParaRPr lang="en-US"/>
                    </a:p>
                  </a:txBody>
                  <a:tcPr/>
                </a:tc>
                <a:tc vMerge="1">
                  <a:txBody>
                    <a:bodyPr/>
                    <a:lstStyle/>
                    <a:p>
                      <a:endParaRPr lang="en-US"/>
                    </a:p>
                  </a:txBody>
                  <a:tcPr/>
                </a:tc>
                <a:tc>
                  <a:txBody>
                    <a:bodyPr/>
                    <a:lstStyle/>
                    <a:p>
                      <a:pPr algn="ctr" rtl="0" fontAlgn="ctr"/>
                      <a:r>
                        <a:rPr lang="en-US" sz="1300">
                          <a:effectLst/>
                        </a:rPr>
                        <a:t>Longneck croaker</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Pseudotolithus Typhus</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22</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15.7</a:t>
                      </a:r>
                      <a:endParaRPr lang="en-US" sz="1300" b="0">
                        <a:effectLst/>
                        <a:latin typeface="Arimo" charset="0"/>
                        <a:ea typeface="Arimo" charset="0"/>
                        <a:cs typeface="Arimo" charset="0"/>
                      </a:endParaRPr>
                    </a:p>
                  </a:txBody>
                  <a:tcPr marL="28575" marR="28575" marT="0" marB="0" anchor="ctr"/>
                </a:tc>
              </a:tr>
              <a:tr h="218046">
                <a:tc rowSpan="5">
                  <a:txBody>
                    <a:bodyPr/>
                    <a:lstStyle/>
                    <a:p>
                      <a:pPr algn="ctr" rtl="0" fontAlgn="ctr"/>
                      <a:r>
                        <a:rPr lang="en-US" sz="1300" dirty="0">
                          <a:effectLst/>
                        </a:rPr>
                        <a:t>ONDO</a:t>
                      </a:r>
                      <a:endParaRPr lang="en-US" sz="1300" b="1" dirty="0">
                        <a:effectLst/>
                        <a:latin typeface="Arimo" charset="0"/>
                        <a:ea typeface="Arimo" charset="0"/>
                        <a:cs typeface="Arimo" charset="0"/>
                      </a:endParaRPr>
                    </a:p>
                  </a:txBody>
                  <a:tcPr marL="28575" marR="28575" marT="0" marB="0" anchor="ctr"/>
                </a:tc>
                <a:tc rowSpan="5">
                  <a:txBody>
                    <a:bodyPr/>
                    <a:lstStyle/>
                    <a:p>
                      <a:pPr algn="ctr" rtl="0" fontAlgn="ctr"/>
                      <a:r>
                        <a:rPr lang="en-US" sz="1300" dirty="0">
                          <a:effectLst/>
                        </a:rPr>
                        <a:t>Aiyetoro</a:t>
                      </a:r>
                      <a:endParaRPr lang="en-US" sz="1300" b="0"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Obtuse Baracuda</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Sphyraena obtusata</a:t>
                      </a:r>
                      <a:endParaRPr lang="en-US" sz="1300" b="0" i="1"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30</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19.2</a:t>
                      </a:r>
                      <a:endParaRPr lang="en-US" sz="1300" b="0">
                        <a:effectLst/>
                        <a:latin typeface="Arimo" charset="0"/>
                        <a:ea typeface="Arimo" charset="0"/>
                        <a:cs typeface="Arimo" charset="0"/>
                      </a:endParaRPr>
                    </a:p>
                  </a:txBody>
                  <a:tcPr marL="28575" marR="28575" marT="0" marB="0" anchor="ctr"/>
                </a:tc>
              </a:tr>
              <a:tr h="218046">
                <a:tc vMerge="1">
                  <a:txBody>
                    <a:bodyPr/>
                    <a:lstStyle/>
                    <a:p>
                      <a:endParaRPr lang="en-US"/>
                    </a:p>
                  </a:txBody>
                  <a:tcPr/>
                </a:tc>
                <a:tc vMerge="1">
                  <a:txBody>
                    <a:bodyPr/>
                    <a:lstStyle/>
                    <a:p>
                      <a:endParaRPr lang="en-US"/>
                    </a:p>
                  </a:txBody>
                  <a:tcPr/>
                </a:tc>
                <a:tc>
                  <a:txBody>
                    <a:bodyPr/>
                    <a:lstStyle/>
                    <a:p>
                      <a:pPr algn="ctr" rtl="0" fontAlgn="ctr"/>
                      <a:r>
                        <a:rPr lang="en-US" sz="1300">
                          <a:effectLst/>
                        </a:rPr>
                        <a:t>Silver white croaker</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Genyonemus lineatus</a:t>
                      </a:r>
                      <a:endParaRPr lang="en-US" sz="1300" b="0" i="1"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27</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15.6</a:t>
                      </a:r>
                      <a:endParaRPr lang="en-US" sz="1300" b="0">
                        <a:effectLst/>
                        <a:latin typeface="Arimo" charset="0"/>
                        <a:ea typeface="Arimo" charset="0"/>
                        <a:cs typeface="Arimo" charset="0"/>
                      </a:endParaRPr>
                    </a:p>
                  </a:txBody>
                  <a:tcPr marL="28575" marR="28575" marT="0" marB="0" anchor="ctr"/>
                </a:tc>
              </a:tr>
              <a:tr h="366236">
                <a:tc vMerge="1">
                  <a:txBody>
                    <a:bodyPr/>
                    <a:lstStyle/>
                    <a:p>
                      <a:endParaRPr lang="en-US"/>
                    </a:p>
                  </a:txBody>
                  <a:tcPr/>
                </a:tc>
                <a:tc vMerge="1">
                  <a:txBody>
                    <a:bodyPr/>
                    <a:lstStyle/>
                    <a:p>
                      <a:endParaRPr lang="en-US"/>
                    </a:p>
                  </a:txBody>
                  <a:tcPr/>
                </a:tc>
                <a:tc>
                  <a:txBody>
                    <a:bodyPr/>
                    <a:lstStyle/>
                    <a:p>
                      <a:pPr algn="ctr" rtl="0" fontAlgn="ctr"/>
                      <a:r>
                        <a:rPr lang="en-US" sz="1300">
                          <a:effectLst/>
                        </a:rPr>
                        <a:t>Blue Spot mullet</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Mugil cephalus</a:t>
                      </a:r>
                      <a:br>
                        <a:rPr lang="en-US" sz="1300">
                          <a:effectLst/>
                        </a:rPr>
                      </a:b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27</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15.4</a:t>
                      </a:r>
                      <a:endParaRPr lang="en-US" sz="1300" b="0">
                        <a:effectLst/>
                        <a:latin typeface="Arimo" charset="0"/>
                        <a:ea typeface="Arimo" charset="0"/>
                        <a:cs typeface="Arimo" charset="0"/>
                      </a:endParaRPr>
                    </a:p>
                  </a:txBody>
                  <a:tcPr marL="28575" marR="28575" marT="0" marB="0" anchor="ctr"/>
                </a:tc>
              </a:tr>
              <a:tr h="218046">
                <a:tc vMerge="1">
                  <a:txBody>
                    <a:bodyPr/>
                    <a:lstStyle/>
                    <a:p>
                      <a:endParaRPr lang="en-US"/>
                    </a:p>
                  </a:txBody>
                  <a:tcPr/>
                </a:tc>
                <a:tc vMerge="1">
                  <a:txBody>
                    <a:bodyPr/>
                    <a:lstStyle/>
                    <a:p>
                      <a:endParaRPr lang="en-US"/>
                    </a:p>
                  </a:txBody>
                  <a:tcPr/>
                </a:tc>
                <a:tc>
                  <a:txBody>
                    <a:bodyPr/>
                    <a:lstStyle/>
                    <a:p>
                      <a:pPr algn="ctr" rtl="0" fontAlgn="ctr"/>
                      <a:r>
                        <a:rPr lang="en-US" sz="1300">
                          <a:effectLst/>
                        </a:rPr>
                        <a:t>Giant trevally</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Caranx ignobilis</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42</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14.6</a:t>
                      </a:r>
                      <a:endParaRPr lang="en-US" sz="1300" b="0">
                        <a:effectLst/>
                        <a:latin typeface="Arimo" charset="0"/>
                        <a:ea typeface="Arimo" charset="0"/>
                        <a:cs typeface="Arimo" charset="0"/>
                      </a:endParaRPr>
                    </a:p>
                  </a:txBody>
                  <a:tcPr marL="28575" marR="28575" marT="0" marB="0" anchor="ctr"/>
                </a:tc>
              </a:tr>
              <a:tr h="366236">
                <a:tc vMerge="1">
                  <a:txBody>
                    <a:bodyPr/>
                    <a:lstStyle/>
                    <a:p>
                      <a:endParaRPr lang="en-US"/>
                    </a:p>
                  </a:txBody>
                  <a:tcPr/>
                </a:tc>
                <a:tc vMerge="1">
                  <a:txBody>
                    <a:bodyPr/>
                    <a:lstStyle/>
                    <a:p>
                      <a:endParaRPr lang="en-US"/>
                    </a:p>
                  </a:txBody>
                  <a:tcPr/>
                </a:tc>
                <a:tc>
                  <a:txBody>
                    <a:bodyPr/>
                    <a:lstStyle/>
                    <a:p>
                      <a:pPr algn="ctr" rtl="0" fontAlgn="ctr"/>
                      <a:r>
                        <a:rPr lang="en-US" sz="1300">
                          <a:effectLst/>
                        </a:rPr>
                        <a:t>Mackerel</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Scomberomorus cavalla.</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30</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16.7</a:t>
                      </a:r>
                      <a:endParaRPr lang="en-US" sz="1300" b="0" dirty="0">
                        <a:effectLst/>
                        <a:latin typeface="Arimo" charset="0"/>
                        <a:ea typeface="Arimo" charset="0"/>
                        <a:cs typeface="Arimo" charset="0"/>
                      </a:endParaRPr>
                    </a:p>
                  </a:txBody>
                  <a:tcPr marL="28575" marR="28575" marT="0" marB="0" anchor="ctr"/>
                </a:tc>
              </a:tr>
            </a:tbl>
          </a:graphicData>
        </a:graphic>
      </p:graphicFrame>
      <p:sp>
        <p:nvSpPr>
          <p:cNvPr id="2" name="TextBox 1"/>
          <p:cNvSpPr txBox="1"/>
          <p:nvPr/>
        </p:nvSpPr>
        <p:spPr>
          <a:xfrm>
            <a:off x="307976" y="38100"/>
            <a:ext cx="17294224" cy="707886"/>
          </a:xfrm>
          <a:prstGeom prst="rect">
            <a:avLst/>
          </a:prstGeom>
          <a:noFill/>
        </p:spPr>
        <p:txBody>
          <a:bodyPr wrap="square" rtlCol="0">
            <a:spAutoFit/>
          </a:bodyPr>
          <a:lstStyle/>
          <a:p>
            <a:pPr algn="ctr"/>
            <a:r>
              <a:rPr lang="en-US" sz="2000" b="1" dirty="0" smtClean="0">
                <a:latin typeface="Arimo" charset="0"/>
                <a:ea typeface="Arimo" charset="0"/>
                <a:cs typeface="Arimo" charset="0"/>
              </a:rPr>
              <a:t>MORPHOMETRICS OF FISH AND MACROINVERTEBRATES SPECIES PROCURED FROM NINE MAJOR LANDING SITES ACROSS SIX COASTAL STATES IN NIGERIA</a:t>
            </a:r>
            <a:endParaRPr lang="en-US" sz="2000" b="1" dirty="0">
              <a:latin typeface="Arimo" charset="0"/>
              <a:ea typeface="Arimo" charset="0"/>
              <a:cs typeface="Arimo" charset="0"/>
            </a:endParaRPr>
          </a:p>
        </p:txBody>
      </p:sp>
    </p:spTree>
    <p:extLst>
      <p:ext uri="{BB962C8B-B14F-4D97-AF65-F5344CB8AC3E}">
        <p14:creationId xmlns:p14="http://schemas.microsoft.com/office/powerpoint/2010/main" val="118147141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p:sp>
        <p:nvSpPr>
          <p:cNvPr id="5" name="TextBox 4"/>
          <p:cNvSpPr txBox="1"/>
          <p:nvPr/>
        </p:nvSpPr>
        <p:spPr>
          <a:xfrm>
            <a:off x="3581400" y="723900"/>
            <a:ext cx="184731" cy="369332"/>
          </a:xfrm>
          <a:prstGeom prst="rect">
            <a:avLst/>
          </a:prstGeom>
          <a:noFill/>
        </p:spPr>
        <p:txBody>
          <a:bodyPr wrap="none" rtlCol="0">
            <a:spAutoFit/>
          </a:bodyPr>
          <a:lstStyle/>
          <a:p>
            <a:endParaRPr lang="en-US" dirty="0"/>
          </a:p>
        </p:txBody>
      </p:sp>
      <p:graphicFrame>
        <p:nvGraphicFramePr>
          <p:cNvPr id="6" name="Object 5"/>
          <p:cNvGraphicFramePr>
            <a:graphicFrameLocks noChangeAspect="1"/>
          </p:cNvGraphicFramePr>
          <p:nvPr>
            <p:extLst>
              <p:ext uri="{D42A27DB-BD31-4B8C-83A1-F6EECF244321}">
                <p14:modId xmlns:p14="http://schemas.microsoft.com/office/powerpoint/2010/main" val="3176576334"/>
              </p:ext>
            </p:extLst>
          </p:nvPr>
        </p:nvGraphicFramePr>
        <p:xfrm>
          <a:off x="8529638" y="4948238"/>
          <a:ext cx="1228725" cy="390525"/>
        </p:xfrm>
        <a:graphic>
          <a:graphicData uri="http://schemas.openxmlformats.org/presentationml/2006/ole">
            <mc:AlternateContent xmlns:mc="http://schemas.openxmlformats.org/markup-compatibility/2006">
              <mc:Choice xmlns:v="urn:schemas-microsoft-com:vml" Requires="v">
                <p:oleObj spid="_x0000_s6195" name="Worksheet" r:id="rId4" imgW="1228944" imgH="390652" progId="Excel.Sheet.12">
                  <p:embed/>
                </p:oleObj>
              </mc:Choice>
              <mc:Fallback>
                <p:oleObj name="Worksheet" r:id="rId4" imgW="1228944" imgH="390652" progId="Excel.Sheet.12">
                  <p:embed/>
                  <p:pic>
                    <p:nvPicPr>
                      <p:cNvPr id="0" name=""/>
                      <p:cNvPicPr/>
                      <p:nvPr/>
                    </p:nvPicPr>
                    <p:blipFill>
                      <a:blip r:embed="rId5"/>
                      <a:stretch>
                        <a:fillRect/>
                      </a:stretch>
                    </p:blipFill>
                    <p:spPr>
                      <a:xfrm>
                        <a:off x="8529638" y="4948238"/>
                        <a:ext cx="1228725" cy="390525"/>
                      </a:xfrm>
                      <a:prstGeom prst="rect">
                        <a:avLst/>
                      </a:prstGeom>
                    </p:spPr>
                  </p:pic>
                </p:oleObj>
              </mc:Fallback>
            </mc:AlternateContent>
          </a:graphicData>
        </a:graphic>
      </p:graphicFrame>
      <p:sp>
        <p:nvSpPr>
          <p:cNvPr id="7" name="AutoShape 4" descr="data:image/png;base64,iVBORw0KGgoAAAANSUhEUgAABLAAAALmCAYAAABSJm0fAAAQAElEQVR4AeydCbylc/34P89sZgxjNMhuEIlosiUkkX0bRQspZaekFFpF8ZeUpdVWiVBRypZQlORHliRZY4x9mzFmDLP+7/u5vtczZ86999x7zzn3LO/7ut/zPM93/76/3+e7fL7LM2S+fxKQgAQkIAEJSEACEpCABCQgAQm0OgHTJ4GmJjAk/JOABCQgAQlIQAISkIAEJCCBCghoRQISkIAEBouAAqzBIm+4EpCABCQgAQlIoB0JmGYJSEACEpCABCTQDwIKsPoBTScSkIAEJCCBwSRg2BKQgAQkIAEJSEACEmg3Agqw2i3HTa8EJAABlQQkIAEJSEACEpCABCQgAQk0EQEFWE2UWY0VVWMjAQlIQAISkIAEJCABCUhAAhKQQOsTaIwUKsBqjHwwFhKQgAQkIAEJSEACEpCABCTQqgRMlwQkMGACCrAGjFAPJCABCUhAAhKQgAQkIIFaE9B/CUhAAhJobwIKsNo7/029BCQgAQlIQALtQ8CUSkACEpCABCQggaYloACrabPOiEtAAhKQQP0JGKIEJCABCUhAAhKQgAQkMBgEFGANBnXDlEA7EzDtEpCABCQgAQlIQAISkIAEJCCBPhJQgNVHYI1g3ThIQAISkIAEJCABCUhAAhKQgAQk0PoETOEbBBRgvcHCOwlIQAISkIAEJCABCUhAAhJoLQKmRgISaBECCrBaJCNNhgQkIAEJSEACEpCABGpDQF8lIAEJSEACg09AAdbg54ExkIAEJCABCUig1QmYPglIQAISkIAEJCCBARFQgDUgfDqWgAQkIIF6ETAcCUhAAhKQgAQkIAEJSKB9CSjAat+8N+XtR8AUS0ACEpCABCQgAQlIQAISkIAEmpKAAqw+ZZuWJSABCUhAAhKQgAQkIAEJSEACEmh9Aqaw0QgowGq0HDE+EpCABCQgAQlIQAISkIAEWoGAaZCABCRQRQIKsKoIU68kIAEJSEACEpCABCRQTQL6JQEJSEACEpBAJwEFWJ0c/JWABCQgAQlIoDUJmCoJSEACEpCABCQggRYgMOgCrBkzZsTll18e++67b6yyyiqRZVmXGjFiREyYMCG+8pWvxAMPPBDz588fVOS33357jB49uit+xHtQI9QkgU+fPj223HLLLm5Z9kYeZ1n5+6FDh8aKK64Y73//++Pcc8+NZ555pk+pJW+yrNNv8oy865MHDWj5qaeeWuAd+fa3v71QLCuxs5CjJtIgzVnWma/UF6S3iaLfFFGdO3duXHrppfGud70reA+zDN5ZvOlNb4rtt98+XnzxxT6lg3ePdzDLOv3Jss7rJz/5yQHV6ffcc08sueSSC9QrhEN4fYpgC1luxXqvhbKnqZNCXUudm2Wd7y91cVMnqCPypX2TT3ziEx26zf9fmldZ1plnWTbwa2JkXdP85aQRU3DvvffGRz7ykVhsscW62nbGgmussUbcfPPNfYpyd+8B4xHe/T55VrDMeORtb3tbV/yyrPO94p0oWPN2AARK864V2psB4NBpGQKDJsCicB522GExZsyY2HXXXeO8886Lxx57bIEozp49O/71r3/FiSeeGG9961tj/fXXj7///e8L2PGhNQnMmzcvnnjiibj++utj//33j2WXXTY+9KEPxeOPP97wCUbQ+n//939x5JFHRlcj2fCxHvwIIjj5/e9/H8cdd9zgR6ZNY0Cde8ghh8Qee+wRt956a/AeJhRTpkyJOXPmxCKLLJK0BnT9y1/+Ek8++WS//bjhhhti6tSp/Xavw8YiMG3atDj++OPjuuuua6yIGZumJUA/8+ijj877kU2bCCMugTYhwMTZuuuuG7/61a+CxQ0p2fRLEBoxQZX0BnK97bbb4v777++3F3feeeeA3Pc7YB1KQAJdBOouwGKQ+tOf/jRfSfKjH/1ogQFSV6zK3KB11113xeabbx7f+ta3ggoNPVX7EPjNb36TCzKvvPLKhk00ArYPfvCDsckmm0Q7rwTpawYx6/bud787Jk6cGP/73//66lz7VSLAasezzz67W9/Gjx+fr0Lt1kIfDCZNmtTvd2TmzJlxxRVX9CE0rTYqAfoEF110Uay00kpx7LHHBnnbqHE1Xs1BgDJ08skn5/3MH/zgB7ngvTlibiwl0J4E/vOf/8TBBx/c7Zhw6aWXzieyq0HnlVde6fdECRPU9D24ViMu+tE7AW1IoByBugqwEDoxG7bffvstIIAaMmRIvrqGTixbBZmVnzx5clx11VVx0EEHxahRoxaI+9e+9rU4/PDDF/BjAQs+NDQBVtOdf/75gUCqO/X1r389dtttt4UGyzQ8u+++e/z2t79tyDSy3fV3v/tdQ8atUSPFKrVDDz00mBVr1Di2Q7yY8bzkkksWSCqrH//973/nK6Wom6m/F7AwwAfelf50BB9++OFgleMAg9d5AxC4q2NiinLGCqwGiI5RaAECrOKjrqLP2QLJ6XMSxo4dGz/5yU967GPR93rPe97T5fewYcPipJNO6tUNbXWXI2+agUBTxPGaa66J559/viuuG220UVx99dV534Px4K9//esYN25cl/lAb/Cbvmdf/Xn22WfznSF9dad9CUigugTqJsBikHLqqafGd7/73QVS8OlPfzrYmsKSUfY9s895ueWWy88/2mGHHfJG+IUXXogvfOELC7ijcWa1wAKaPjQFAbYDstKGbUrdKbaRXXbZZfHSSy/Fn/70p3x2PiWOTimCTWZskl7pdZdddgnKHIqB+QYbbFBqpemeeS9YtUKaUHTQmy4RA4wwaSbtKFjAZIBe6vx1AggQHnzwwdefIlhJ+OMf/zje/va3B5ypm1FdFvp5U9wG0N9thKzCTNsHsyzrZ0x0JgEJVEqAOoA6l7oXRV1cqdvmttd8sWfSl/5zd/2rpL/qqqt2JY5zhjhzNJl1d+VsRBy1Yh+LdKkGhwDHxaSQGSNcfPHFwZmb1Duch0sfHiFrstOf6/Dhw/Nzq3DLhGl/thEycXbffffhRZdf+YM/VSVAvtveVBVpy3lWNwEWM2Jf+tKXugCy6ooK6owzzsjPweoyKHNDY8xy8NJD3Dgv46GHHirjQq1WIcAh0ttss0387W9/i+LgmZkahFwIs1olraZDAo1EgBnQgXYYy6Vnp512ClYIYEYHpa9bbZk1ZfYU9wy6tt12W25VjUrAeElAAhKQgAQqJMAujWWWWaZC25Vb4wga/MYFuzkYl3JfqUJwz6rxZJ+J+HTvVQISqC+BugiwWEHF1qrigcDnnXdefPjDH65Ygp1lWXzuc5+LPffcs4sQB3RecMEFXc/etC4Bvn5EXqeBLynlwO9bbrmFW5UEWpZAqyWMr/ekWXzSxgpLOobcV6KYNWX2FLvvfOc7Y8KECdyqJCABCUhAAhKQQFkCrOTaeuutu8xYAc55eV0avdxwvA1usLbCCitEcQsueioJSKB+BOoiwLr22msXON9m5513zren9DWZLP9k2fqiiy7a5ZR9/KzG6dLwpmUJbLzxxnHMMcd0pW/WrFn510p6Gfx22fdGAhIYfAKsqKUNSDG5/vrrg3Ml0nNvV2ZNmT3FHufhLbnkktyqJCABCUhAAhKQQFkCWZYFfY8s6zx2gO2AnKdZ1nIZTVaLs2ocI3aGrL766tyqJCCBQSBQgQBrYLF69dVXgwO7ky9ZlsVhhx220MHsyby36zve8Y78cG+EGWwp5GC/JZZYokdnnIHE6p1NNtkkFltssXzVV5ZlwfYT9E4//fRglViPnvTTkC8s3XzzzcH5XiyJzbKsK/y3vOUt8dnPfjb4AltvQhhWm7EKKcs63ZP2SqL0iU98oiu8LbfcMth+U+oOv7Ks01/sY06c2OrDFr4sy4LZhiOPPDKIRwzi34c+9KE8LikKfA2EWZH0nK6XX355V7o5c4eGJ5mVXmGPOV9AIZ1Z1skiy7Igz9iHj6CUclTqludiWL/4xS/QytWNN94Yiy++eFc8sJcbdPxwn2Wd4aR84QuGBxxwQF4usyyLN73pTfHJT34yWHHS4SRn358ygFvON2Ib7vjx47viw7tA2ohLb1sxyff+hE15yrIF00l8UKncwQhW6KFgmGWdbkrzLrnJsiyID/HCTU+Kd5uz91ipwzufZZ1+k37O/KBu6C5vi/7CKcs63aY8w5w4fPWrXw3e5yzrNOe9WW+99fIz/2CPvVqogdYvlHsYZ1kWyy+/fDz22GNd0URYnGWd6cmyLGDfZTjAG/iNHTs294Xyfeedd+b3vf1Qf6Xtg0xkkH+9uSlnTn6T79T/lIMs60wn5QO9StsE8p5ymGVZ/sEJeDKj+/3vfz+vp7Kss51hppZzu8gv4gPLLOsMk3cEPeohOtR0sIlHlnWa885SvjjIFnv9UbwDvP/VKqOkYyDtGvlIGciyLDbccMNIAknStuuuu3bVUdh5+eWX83owyzp5ILC85557sFqR+sY3vtHlH6v/nnnmmdxdMQ5ZlgXvNwbkH3UQZ79lWWeYvM+sGqTMUHaw1xeFG9xStorljXv0MMNOpX5SVihr/W2zKg2naK9Y1rOsfH0AwyzrZEbewRg/cEsZrlb5w89SRRjpXaQMJXPKFmUsyzrjld63ZF7umso37yJ5lGWdbmmT6cvxnpIH5dx2p0f+ks/kd9FP7tHDDDvduW80/WJe04ZQHruLI6wwr1Z5rZZ/xXqYskMZ6i4NSZ90kN4s6ywTcEhm3V2JL31q0k84WdbpNss6+zHoY4697vwo1adfwTnAlJ1ie8H9WmutFUz28+GVvvhZGkZPz/hLnIl7aZroR++7775BG8G7VM4f6oYtO8YkWdbJgjo32aM/SL8wyzrNsIf9ZD6QK6u20zZCztG84YYbKvKO9Ba3DzJ5lmVZRW6LlnjHGU9wxhzjiyzLutqnYt719Xgc4kd+k+/FejbLKitj8IVzlnXGh3I9d+7cYIxNecqyLGgH6deSV7STUeaP9FGXUS6p27Ks0z/Shl5/+lZZVp/2hr4BfYQs64wzeTRnzpwyqVxYi4U066yzTldefvSjH41K3S7smzqVEBhSiaWB2EG4cMcdd3R5QeGgM9Gl0ccbzmS58MIL8y9QHXXUUUGBYWVWOW8YlH/nO98JOrz77LNP7oaXK9nFnI7IEUcckR9STAe/u5cyuenLlUqYinKzzTbLVwo999xzCzhH8s8ZYKSBA5MRYCxgYZAeGGhx/g1fgUzbPsnH733ve3HppZcOUqw6g2Uw9973vrfzoeP3iSeeiEceeaTjrn//MCd/KJNnnnlm/sWTok/kGV9HQXC29NJLx89//vPorkEuuuvrPQP4TTfdNM4555yur2vycQPCYzBM49RXP5P9f/zjH8FMEQ3bpEmTknbwLpA2Ovu8l2lbVpeFJr8hfXytdKmllso/AsEhobzzKVmYs/qHugHhDV9B7UveYpf3l87bCSecELzPyW/eG77ex8cnVlpppUDQOpA8TP4Wr81av5AGyiMCAe7hUikfmFKejBC/EwAAEABJREFUcUcdRf3KfaWK/K9lm0CH+OMf/3j+lVzqTOJFmDfddFNeBunkoFeqaHcOOeSQoINH/YubZId3lvK18sorxxe/+MXAbjLr7UoZ/elPf5q3b7z/1Sij9S53WZYtcNwAjG+44Ybekp6bU4fCM3/o+GHW/M1vfnPHXfl/Bg2UK4QcxY+E8D7feuutkeqKSssr/KkjuuuDUAfRB0n+VlIHNUqbVZ7ggrop/YNVRy4Ym8qe4LvddtsF/QLKDnmUXFKe+OAQ7ylHYLz44ovJqNtrYlDNMtBtYA1oAE9YVquPVW3/aoqsw/NHH300L0v08+ljFieJOozzSSP0Ma9kHEB7+aMf/Sjo1+y///75uKbYXnDPpBDjGdpHJilhFlX8Q1BC+02ciXtpmmj7OCaGfH/3u9+dT9JXMfgBeYXQqLiNkLq8kjaVfGQ3EYFTn3GoPPeVKvIl9T0YTzCWYnxRdI+dlHec+Yu9SuoY8peyQ36T78V2Hv/JH/KJ/Kq03mKHC30G7BMn/KEdpA/GwovSMIh7Sh/tGe1ase7EHL1ajbeJX6pryR/6TMU4prj31Cenb0AfAb9Qf//73/P3k/ve1D//+c/473//m1vLsizoQyCvyDX8qQmBmguwKPhPP/10V+RZBVHNT6F2eVxyw9fr9tprr0DIxYtTYrzQI3Z4WT/wgQ/kX75byEIfNGhgfvCDH8RWW221wKC2Jy+Q7DMzwEvQk71am1E5sQqIWcvSsJhVYVVWqX49n7Msi2LDgYS7ONDoS1wYGJJHaUDcm1saOVZEsZqHPO7NfqXmvB+f+tSnotwKC2Yt9t5771yqX6l/RXscfr/jjjsu8Hnionm6p6Kns/Hb3/42aTX1lQad2SSEf5UkhNlM6gu+ikpd0JsbGkMaaxry3uzj92677RZsfevN30rMKXvNWr+k9PV3GyECVzpW+MPsGDN83Feiat0mkC/f+ta34pJLLikbHTqCdJBKDV977bV8JS4dzFKz0udTTjklKm2jiM+JJ54Y++23X5dQvNS/9FxJGcW/wSp3DH4Rsqf4wpgZ4/Tc3ZXVEijMqUuZFeW+nPrf//4X1JW9tSew4gtsTOjApJxf6NFesNq8kjoC+/hLHUQ/pLs6pVHaLOLbm6pGHdlbGNU2p79Kn4CJjd78ZhUFgxTyuTu7mFW7DHQXViPqV7u8Vtu/WjOjb4lAnGslYTEOYCLzrrvuKmud+oZ+B2Wquzqi1CFnTFKmYVdq1p9nhLqMVSqd8MQe475G6VtmWdavbYQIX5gwhxkrM5n05L4SRV6RZ5WOR5OfldQxjBnJD8pOctfTFT/pQ5QKz0rdMHnOWKdUn2eEoqzK4h5V674VYfSmqtXe0Eegr0B4jM2S0JLn7hTvJYJQrtihr0KfhXtV7QjUXICVJJIpCQgfsixLjzW5UlkwU00nNwXAKq2vf/3r+WodCjqKyoglxGPGjEnW4o9//GM+y40fXZp9vKGiptNKGMkpq1xoxBh8UcjZFnHZZZcFFXuyw+w8HdhqNTTJ375cWQnEMmpWjdDwISAizqwg4CB+VkD1xb9a2GVmouhvbwOOot10Tx6ceuqp8eCDDyatOPjgg4OZJdKLOWlnRh79LksdN8yoMxvTcZv/M5jBPorVF7lmxw8rxchn9FHY69Be6J9OM+GwJYrttoRP2HfffXcwAC2WkYUc96JBZ4MVC1gjHaxWo1wSBnlK5wozFGUeAQ5x4bnWioEaXGAEqxQeDNFHMYNDnZHMKrnSmO67775Bw57s844z+KZBwl/4kk4+DEHdkOz95Cc/CcoFdpJeuSvsmOHBjNVEzKaRDtwxaGGbG/qYo2BOZwAzngeiqlm/wBbGxJtZU1b5pLiddNJJgX5S5Fcyq8Z1yy23jLFjx+Ze8Q5Q9+QP3fyQr9TPGOMO99xXoijbtW4TyNu0MojVVNTnsKPMnXbaaUHdXi6uLNE/++yzcyPKDGUJv3CLH//v//2/KJZRGBx77LGBefTwN3PmzOBDF1ghX3/2s58FdQHu0vtfrFsoo1/72te6ncCpZrlD8Agr4sJ7St1HPFF/+MMf8rRhhh3sstqg+AEXBkWUGex3p3BPG8sVO6wEWHfddbktq6gLUntAe039Sz2BIiy2jBQdMhjpTiiNm89//vNRFEqmOoh+B6yJF/nLqlvMkt/UE+XqIOyjn+KIfer0/rRZuK21qncdudxyywV9JzhRhlL6KFuUMfRRrAxJZqVXBqmJL6sIUhnAHe/xN77xjRgy5I1uM4OW9I6V+lWLMlAaRiM/w6ya5bXa/tWaHe0ZAnHe8RQW9QqrOlL9Tj2MsAr9ZIeJTFbeUJaTXrqyZQ8BVnpO7QUrA+GDoh9CG4JZskeZpv5Pz/29sgr1Yx/72AJbvulD0t9JaeL617/+NYorWWh/mUjBfQqbep36nTij6PclM/qDpAN9FPawn8wHekXgw2ol/KFNxH/uu1O8y+k9z7JsAQFYd26K+owZUhuPPnnDalvKBulDwa20LGCXPjyrnrkvVZQR+hX4k8xo02n3Ej/8JX8IM9nBP8bDpCvplV6p29CjbDK5QxxhRTlinJBWF5G3te5bEY/eVLXaG/oI9BVSeAgGYZiey13pOydemNNXoc/Cvap2BN5oiWsUxqOPPrqAz6XChwUMq/TA3l06hcm71VZbLdg+dNxxxwUCmCzL8hUtSNDphDJDy9LKZJ+KhmXi6bkvVxofzo6hg4o7Oju88FQoLDtPAxEqY1ZlsEf8oIMOwmquaGioDKgUco1B+OHFgyENEHueiTOrcxiUZVk2CDFaMEjyjU5p0mVgm+4rvVLhkCfJPoIilmVTPkkv+qSdSv/HP/5xXHzxxXmZQZ8BCMI97qulKCd0OugcED5hU5Fy7hirVQYSDoN9ZhFIRyr/hEGe0pliMJz8R3iJ4KKnhi3ZbdQrQqjiDDrnDzEAZQYsrYCBL3nLKgoac8p8Sg+DeBrDiKSz8JXGHF3yi7qFGS3eafRGjhwZzFAhsC7OwrAajg4odvqrWqF+SWmHP9sQeIYnHQCuPJdTsGNQgBnucM99JYr6rF5tAp07Vv6llcaUOSY01lxzzbJRTWl+3/veF3TwKUuUISzjB+0JZYx2DD0UbVRxaz563SlWqjEQR6ibzotM7z8dd96P5JYVuAh203O6NkK5YwIg1fusECZPU/zKXanjKVPJDA7pHU16xWvKB9oChHXUv9QTKPKO+pm2nLoad7TxCLHLrQTjS1VnnXUW1nJFnjJ5QB1E+5Vlne0o+cvADjPyP7fc8UNfpTR/SU8jtVkd0ezxP/Gsdx3ZY6QqMKSMUW445yWVAZzxHtNWcoRFlnXmH/qsCk1p5TmpWpSB5HczXKtdXqvtXy0ZMuBFQMCAn3AoUwhAeH9ZYZXqd+phzvVFnz5mqlsYB3zzm99c6AwdymUSVtAeIECnbqGPRzgo6jj0GNcU63ZW3iS32Ourop5jvJTShHveB/qQ9HdSmrgSLkITFghgD4U72kbOY+R5MFVftxHS/tF/I84IvhCAcV+J4lylYt+DMQb9U87So/5PfsAtlYUiN+oWjnNJ9tIVfYSZlJWkx1iSMSVjS8oB+vhL/lAeilsnOVqAiSDsdKcQwP7yl7+MVVddNbdC/4F+BGOHXKPjh3a4mD7KJf0V2rA03siyzjNWKT/Eo1rj7Y7gu/7hwcNA2xu40VfALxSTGuxQ4b47RdlAmIg5q7fYgs69qrYEai7AKgoXsizr9+HtlWKg4aDjmAozDQcdDpb0decHB94hsCoOYlmtUYx7d25L9WmkigMAtpSwzDzL3ujwFN0gnGCWiiWpSR8/mDFMz/W+stWFg/oGHG6dPGAFSV8FLsympiW0VDis5siy8nlEMrbddtvgwwHM8tIIpNkHzKqhEBYy61QNv0r9YDDd3WHXdKBYWVMsf8w4FBvFUv8a+ZnOAkufUxxpTBmILLvssklroSuzLdQRqfPIrCjCzN7KFEuo2dLFga4LedqhwZlpRxxxRMdd5z+D7tTIder0/Ze6odnrl5Rq6r5iuaNT19PXCBkokje4xx3uue9N1bNNGDt2bNCJROjRW7yK5nRqEY5wSHRRP93TfiGYTWWUsoT91M4le6VX2jaEtHQ8S814Rv/QQw/lNlf4W66MNkK5W3vttYOBUR7Rjh9WovXURhc7lXCl3u5w1uM/2+c5I6Nc/mVZ57kWn/nMZ7r8YKVBqbCb8sYqKgRcWKSzzuQBceC5nMKMAQX1FebkQ2n+NlqbRTx7U4NRR/YWp97METz0dFQCg0H6Askf6mMG9+mZa63KAH43i6p2ea22f7XkyKQYK2dSGNQHrGTJsvJ9zCzLglVXjBeSGwTm9913X3rMr0zi5DcdP6x8YqdEx23Zf+p22iL6JwhdqDtLy2lZh91oUs9R3yVjBBnsyqAPmfSKV+pQJuOZvEn6CEyYTE3Pg3XNsgVXUfUmpMCciWviSzuCAIz7ShSC7GI+Hn/88fkHiLpzm2Wd7Qx1Z7JTrp1jcQiCz2SHMQT90e76RZQHBGOMiXFDXwqBKPflVJZlQVuHQKecOXrUc4M53iYORQUzGFDmi/rpvtI+OXlMm4w7BK/Fdxm9omKcQP8o6TERxSq49Ny21zokvOYCrGIaeLE4yLKoV+17Kng6rslfziwqdjaSfumVTiazo0mfmXAq2/RcyZXGobhtkZeJs42yrHyjlfyEy5e//OX863PoUbGwvJT7wVB03rKs5zgPRry6C5NZJb522Z15b/rwZiVCT4NByu0tt9ySH/LOrBez5r352xdzBGSUg764qcQuK1VYudCTXcKl7GdZZ55zaGSxo9KT20Yzo6NR7CywLYhZoN7iSaNDBzLZY4Vdb0I8ZjmZlU9uyl2pA1KHAfPe/MROd6pV6pdi+oodBVbJsQKoaJ7u6cAhsOAZIRECZ+4rUfVsE9iSmWYrK4lbskP9z8Gj6bncdfPNN19gWwYd495msynTPQ1yCIdZ39RZ47m0jDZKuaOeKm7jYya3u/JS2qmkfkVISPq6U3RuGXB1NyDDXZZlwcHJlEGeaTNKZ8cZWBT7Dmzzq2TAQz1F24u/qJ7ytxHaLOLYm6p3HdlbfHozZ6KD7R892WMgWOxTckAy70jRTT3KQDG8Rr+vdnmttn/V5kedQN2Av/QBivUWeuVUlmUxceLE/OvTmDNwZnUT9+UUdQwrg8qZJT3OT6Vs0idiAoQ6Jpn15UpamOTnijvqP3YH9FRXYi/Lsvx8R87P5RnFMRkD6a/jRzUUq+OZGMKvnlgX25IsW1DwhdveFII8VkTBYMKECUFfszc3CGCKfctyYxxWWiWhWpZlwZb1noRNhMk4l8lsJuJTnDj4HLNSRT+mt5Vm9exblcav3HO12hv6CvQZUhhM6tMHTc/FK/U/48ek15fJ1eTGa/8I1FWAxawiy4D7F9XKXFFREw62s6yzQciyzoE5ej0pOo90krFDRU0HmUozC0EAABAASURBVPtKFasHGIQl+0jEi5VQ0i93ffvb356v8ElmbPmg4UnP9bouvvjiwRaHaKI/GgYq/L5EmcHi+PHju5wwgGQvOUtfB2P7ZmpIuyJUpRs6TnS4e/OOhooGK9lDgMU7kJ6b5YoAK8WVQTkCkvTc05UVdcWBC0I8ZtZ7crPJJpv0ZJyb8S4VV3bmmv38aYX6pTTplLnEkfJWPLumaBdBRaqP2YLByqKieU/39WwTqFP6WhcxaN5iiy16SkJuRtvE+5w/dPyw7QzVcdvtf2LbrYUOAwYjPXV8G6nc0amkvu+Idr69hvPDuC9VpZ1KDmblHS+1V3wmDyiPRb1y95Q9ymAyY1sr542kZ7b+UX/wTJ4xicB9JaoomCVvUcldo7VZKV49XSspf9WsI3uKSyVmrFSpRNiYymB3ftaqDHQXXiPqV7u89tG/QUPCeVQcH5AisP7660clZQr7K664YrDSlHtUaT+sWO9wLhGrx1lx3ttEBn4NRCHgueeee7q8IB7Ug10aPdzQJhZ3F+APjHpwUhcj+mXF/iF9j3KCtWJbQj8dwVdfIki/kpVSfFiItqLSMWExjHK7TJjgSHY445Ltzum5uyvbCVktxDicOLH6GgFbOfu0hT31C3BTz74V4fWmqtXe0Fegz5DCI98Q1qXn4pUVhawORY92ATkC96raE6i5AIsOQe2T8UYIxUJGRZGW5L9ho/s7Gg9mYZONol9Jr6crlQKS8mSnLx1XBEfFuNJxLXaKk5+1vrLSqNLGttZx6c5/lq0yA5fMqWyyrDIhZXJD48XquPTMlTMImCGhkifvOICXmVQG1pjXSrFCp1bMi52hnuJPQ0WDlewws0OjmZ6b4cpMWVGAzPuEcKDSuNNBJi+S/Z7ef+wx8Ep263FthfqllBPvGlsrkj7bCIt1aNLnPA3yl2fs4477SlQxH2vdJjBzV0mcinZoIyt9/5lBpb7DPfVg6jjxXKqqVUYbqdwxGGJiKKWVziPbhtNzurICIrFhBQT1eTLr7sqWnMS2OzvoU/ZoJ7hHMcApTjYVyxt5xGqdLMvyMxSzrOcrn0LHTxRuUxp4rm+bRYgDU9UqfwOLRd9c0wbQFvbN1cK2a1UGFg6pcXWqXV6r7V+tyCGcQViR/E/HE2RZz+9+lmXBxxzYqpfclvbDGBxTnyVz6gd2mcCGto3VnuwQKCeISW76cy1NE/Uf9WAlfmVZFsUjSWjfaVMqcVtrO/QlsizLg2GHBeOu/KHwgzASzmgh8II199VW5BnCvZNPPjlfpcU21O7CoL0pTrAiTGQiqjv7/dFHGNPbZFyxnqP80eeuNKyBjrdLw6l2e0OfIb1rjDc5wqI0TNpoVmclfbbp9rbiPdn1OnACNRdg0SEoRrNY4Iv61bovNhycbcQMaKV+I0QqDuIZwKdBUyV+UMkX7dMYVeIu2SkKG3hheDmSmdc3CLAioMiZivAN08rvDj/88PzLg6UuOLuELaR0BigPiyyySHDgIkt2u1tuW+pHIzz3pUKnoaLBSvHmfDAa1PTcDFfiS+coxZU09bbEPdnlikCq2DmZNm0a2g2jWrV+YeULq+UAzVdr+RIP90mRbrZ08ow97HNfqRqUNqHSyHXYo42sdNBMe0a71uEs/691e0og8C/Wt4PZrmVZFpzRmGWdgw4E1syOEs+kaDeLZ3sg8KJzncy7uxbb3+7sJP0iA+qc4oCsWN6S/f5eS+ugVm+z+sup0dzVsgw0Wlp7ik+1y2u1/esp7v01o74sfW/76xdjkOKOAPq6bMEr9lOS3/SLmXSlvqOdYPDN2VvVWJ1VmqZi/ZfC7+larFsbaWyDII5VVcSdVbOseOM+Kdq9JKDIsiwQeCWz/l4RPrHlDEEV5yOTT7T/5BmrqDiTtrczkJlUL45F6LvT3+1vnPrrrljP0S8hDZX6NdDxdqXh9NcefQa2JCb3nIPFe5CeuXK4e9r1kWWdZ5dVMgmGW9XACdRFgFXMULbG8fINPOq194GOKYPi2oe0cAg0gKUvy8K22lOHZavFlBcbx6J+b/cINzisn6W0NCLd2acDwf5/vrzB3nEGR81ShrtLU2/6NLKkuzd7tTJvBH+LjXMjxKeacWik+gUhcVr6zXvFUv5iWv/zn/9EEmpxfkR/VjkV/RvI/WC2CQOJd6O4rUa5YwtHGnRQXqibuaY0ItRL52DSqS5uBUh2muVKPVyMq21WkUZ73JeWgWZKdbXLa7X9a3SWHIdSFFQQX+o/xlFs/0of9UC/VCHc54MUCLuoAxHQlNoZjGeEQo0ytoENq6oSB/oexTEfq2vTOWScb4lKdvt6pV1iyyeCG/oxCKr4wBD5hKCyL/5RJxC3vrhpdLuN2LfiPCv6ELDjCAsU90kh1GJ7Lc+spOcoFu5V9SFQcwEWgw3256bkMBAZ6IzAn//85+Cz1nzdoprLZekEFxuLvsyMp/QN5FoMm4qVFSH99K9lndG4pAaFRCLxpyxw3x/F/m8OM2TlBw0CX7Cgg9CdX6xMwv5vf/vb7qy0hD7vLLNCLZGYChPB+4dK1vsrGE3uG+1aTFsj1S9sRSjObJZuIyxuH+QMqOKESK0ZD3ab0Fv6qr1toLfw+mNe7XJH2eVckRQXzgIproC6/PLLg4Ef5gwYmNXmvlaK8stq13L+U48SN8pRfxRfESv11zarlEhjP9eiDDR2iheMXbXLa7X9WzC21X866aSToj/vPm6YvKG+K40VE6k//OEPg/4wW5tYydNTW8DxGHzQo7uDqEv9r/ZzcTKUurKRxjb0PbKsc0Vv6TbC4vZBzl/kiJW+siEfWQnH9n/87849K6gQpvGlQFb18NGW7uzS5lR67EB3fgy2PlyKfYN6j7crST99B/oQ2CW+LHbgyjPvUlqdxzOrtVi1xf0gq7YJvuYCLF6y4pYPBAW9LY/siT6FB+EBX0o644wz8q8ynX766V1OkIKmh74uVR2oVJvzdhCopPCZbU73lVyRxFdiDzukn2u7KfZ9s5UvpZtGgf3f6XkgV/Yu82UVvu5C2WE/+gknnBDFMoX/bDFEeFpuvzzmjaIYxLGsvJL4MAPEeQvJLtsme5rda8TyRweApdQpDaSp2HFK+t1dOUunUWYGy8WxnvVLufBrqUcbwfZAwqCNYKKDe2bl6DRwT/pTZ4LnSlXx/eW9ZotZpW4H2iZUEg5pZCBSiV3KZzH+9RgIwL1e7VolDLDDl1UZCHE/adKkSCuu6FSmr1Vitscee0SlgngETbipRBXrSvwvDh6LH82g/KQZ2kr87audVmuz+pr+RrVfzzLQqAzKxava5bWa/lG3VtpfKpe2pEe9hIAhPRfriqRXrSsr0hCscJA78actYRUR26wxK4bDxNCpp55a1Kr4noF5UXjT17FNI/YXU+IX3kb419yINpnzy3hg0myHHXbgts+K8epRRx21gDvCRFDF5Avna9Evoa1gQQZ2mTxFULuAo8IDeUt/N2lRxujvpud6XRu9bzVQDrTt9CGSP7xDqY5gRV06voBVWqzWSva81odAzQVYWbbgmRUIoJg5KHbC+5JU9pxSISQ3dBw52DA9I8VN9wxI+VJHeu7tit/FTiyVSG9uiubjxo2LYscFKXrRvKd7Gh9eiGSHbTUsNU3PpddKBuZUiHTuS9026zNlh+0ixQEBeV9sWKuVNhoIhGN8nZAti5MnTw4O6Ev+02Cgn54b9cqqskriBlOEg8kuhyUXG8ikn66NWP6yLAvineLIu0/nID33diU/Efole319/5O7Wl3rWb/UKg3d+Ut9V24bIYIsBFq4Ywsvqxm474sazDahknjyoQjq6krs0kZRD2KX9qE/PHDbF9WI5Y53s1gf82UltqYUv1aJ4G3HHXesOKmsdqjEMgMb8iHZZZV58UwY2o1kxradeg3eWqXNSuya+TpYZaAhmFUYiWqX14H6x2oQ6pDeos8YodhPKLXPh6Coe5I+2/0qrd+Tm/5eqasR7rPiijHWOeecE8WJSA6I74+gg74gq75SvGiXqQfTc09XmDIpnOywoqweEy8pvN6uxIeVT8keAkDSxgR1WjGFwKn4Tie7vV2ZUPnOd74TTHpjF0EHE3J33HFHIKjacsstA+EgZRfzpGjjKY/pufRKfhQna4lrpWXsl7/8ZT6pw7EpnCnHOLnU/0qfG71vVWk6erJHHyK9zywySUKriy66KBA84pYtoZQR7lX1I1BzARZJYSkkM+zcozhD6NJLL+W2T4pBMwffPfXUU13utt9+++BFTBrcMwPCM5UAlQVXnntTSL+pbLGXZVn0db8zq82KEunuvpCE/6WKwTMNXdLnqx1If9MzgxUGeemZePaWLiTFvHDJTbNfaQQ5syqlY+zYsVGUjif9Sq408MxSUQFvt9120VujzuGZJ554YjATk/wv5lfSa7QrZZCy0lu8WMFQFHa+//3vX8BJs5Q/vhySIs7gkRmT9NzTFUbUS8kOq4GqtbIv+TnQay3rl4HGbaDumbFmKX/yh6X7CPWZoUz1HO968f1Ldnu7Dmab0FvcMEdAV8mqZAYkxSXrCHGKAlv8qoVqxHLHijC2k6b0Un8xyVDcbsrgoC8CPurKSjrzCPqLq4Dp3zCgSHGh7Wagkp4vuOCCoO+Snnu7dmfeLm1Wd+lvJv1alYFmYlDt8lpt/2BJHcoVRTuTBA08d6eSUKM7c/ql5H8ypy1Lg96k158r4x52CDDRg8Ccuq4nf1jBw9bCYj2JML2vq6cIgzS9/e1v5zZX1H/Ug/lDLz/Uy0Vm+FOLSedeotGjMX2PLOvcRohwCSElV/qQOOzvRDmTU8WFCXvttVd+EHyWdYaF3+UU568W3ZXaybIsimNqBFiVlDHKOONcxjuMDSmbxbaqNJzenhu9b9Vb/Csxpw9BXwK78GOcwNi6OLZg9RV9Euyo6kegLgIsBDFf+cpXFpgJ+NSnPhW/+c1v8r3hlSSXgsPy17PPPrvLOoIqDiksDmpokIozsz/72c+CL8p1OermhtlXVoYlYwRR7H9Nz5VcSSeDrGQXodRPf/rTXtPIwAThSJLmZlkWSH2TP1yzLFtAeELlykuEWXfqqquuir6sQOnOn0bQR7jysY99LFgplOJD49yfWRHcM1P/61//OlihxKwUeYV+XxRCrb7YHwy7nAdDI9VT2MwS/ehHP+qywsxOURCEQZY1R/kj3jSqxBlFnUEngvueFIISykOys9FGG0U9hAMpvEqutaxfKgm/1nbokCE4JBxmeBFKpK8PliuT2CujFtIazDZhociU0aBto+2hHShj3KWFgAWVNJi8Ka74TfrVvjZquWPrDOWC9LIilkFV8XxEDi4u9g2w15OiDSgKCMvZRdBNXqV2iM4/EyBFu5S34mGuTNYxq1+0U+6ecnDEEUcEftJppg/AICPZbZc2K6W3ma+1KgPNxKTa5bXa/sGyWD9Q//a2awIBd3EHCH6UKvzknNSkT7/+uOOOC/pZSa9y1GqXAAAQAElEQVS7K+MQVuQwaUA/5nvf+15Q52Cf+LGljTi+/PLLQb2SzDCvROEvk0WV2C3aybIFd9JQ/3GuU2+Ceeo0jnihfk7+sRWvP3FI7mtxZfVM+jAIYya+RpjaAurj0jq+0jiQP8WVVKw8y7KehVcwI5+T8Ky7sFiRjmARc9zQLlFGeO5OIRRDAJPMOZJhIMJE6rnBGm+nNNT6yvtMXyKFw1gB4RUTj+gtu+yyC43X0VfVnkBdBFgkgyV2Bx54ILe5ouLjUEGWMPY2I8Ch7/vuu2/w1Ybc8es/xx57bKy//vqvP3VekIISTpZ1VhIs9UXqnQpbp60Ff5lJYDUO+8eTCWcc0ZCk50qvNFzFlRtf/epX47zzzgsqmHJ+UOF87nOfi2KlgrT/ve997wLWmeGlskiadLZ78hcp+9e+9rVkvWmvlBOWvDKjxexRSgjbNuCWZZ35nPQrvSIxp2HCPmXki1/8YvTUYJBPLMemQcINDcc73vEObrtVNFzd5Xu3jqpsQOdpv/32C8p4Oa+Zifn0pz/ddYZMRMRnPvOZKK72w109yx+M+8uNd5a6gjij2Eb48Y9/vEdBLgI+6og0+8qSe2Y6qUvwo5FUreqXRkgjZY7ZZeJCGUCojyCLZzpJnHfCfV8V+TiYbUIl8aX+50wM6rty9imjvMepjCK4QYBfzm4t9OpZ7rpjUJouBMzbbLNNl/ZPfvKTYJCLBoM/hNnc90V96UtfCtrOcm6ozxlQEk4y5+BWhN3pmStCRQRR3KPIs/333z8QsPFcTlHfMQD5/ve/n6/WYtUC7RL5nOzXo81KYbXSFbbkQT3TVKsyUM80DDSsapfXavtH+qhD0qQJz5yry2Qp96WKvhIT5vS9S81KnxHSFOsfBrz0KehHltpNz6y6oe/CxDQfC3rggQfySTQG0NhBqL3llltymysm5xFiUb5zjTI/CLuKK7WIE33XMlZ71WKlKZNMyeLPf/7z4IzY7upr6ku2zyHASm6YcGbcl54b5Vq6jZB6njwjfkxGFMde6FWqWGRRFNaxIwgBWXfuYQnTb33rW91Z6dKnjfvgBz/Y9dxbHwIBKuPaNM4lbgPtQzRD36oL0ABueG/gjRe8l5Tr9N7xTvJuYqaqL4Eh9QqOSpivcRRXKBE2W8KQACNAYkUWjQdLZbnyjD6zBnxuFPtJHXDAAdGdAIM94HQYk10GsQgbEHixGoOCh2KZKFsS2SrIzEeyz37oosQ16VdyXWmllYJ0MgjGPh2nT37ykzFx4sRgGS0VFPrsV+bcjk033TTOPPNMtHJF44LgiYoh1yj8EKckdEEbgd6hhx4aKU00GHTgGbDTsWeWJMv6J+DB/1opKnAq8ksuuSTKKZaKsz+cbWwITlh5VRRywohtGWz/628c+dIgg7LkHqn6xhtvHISNwDTpk0+sBEGgiMAw6X/kIx+JVKElPa50XLmiWNl1/PHHB2WZMs2+evTrqbIsCwR/lPFzzz03UtqIC6s5qJhhmeJE2T/44IPT4wLXWpU/6gbyOQVGHjCQo0PHjGd6Z5J5b1fiTzqSPfKPFZUMEPEPfd4VzrH5/Oc/H+RtatQxQ1BAo8R9oymEOLWqXwY7rXT0WMqf4kHnG0EWz7yrlBPu+6MGs02oNL7M0jOryiqiVOYpr9QhpWWUMoDAr1K/B2qvluWOjjR5n+LIZMINN9wQ1JnUV7TVyax4zbIs6B9kWWcbR32bJiEQLCHMLtqv5J42k7bzkEMOWahdxU/a3OQPZ8J885vfXGBldDJjYEEfJT3jL3mLv9Q71D+YpfaFGX4mDugvoE//gVXrrH7jGVWrNgu/W03Rf8qyznKB0ICB27/+9a+8TJEX9UhvLcpAPeJdrTCqXV6r7R/pZCKUlZzco+gr0XdglRV9JPQY+COsQYiR+kpZ1lm2MC+n6AciDKOvmszpf7GrA79579GnHqCfwzgE4U5xKzkT2QjCsIei/aO/n8YA1BX0Q5mcYfyS2ozkJ+3G+973vq4vshIX+jZZ1nPcCaucoi4inviTzFObxYczEi+u9LmIe7G+pE7DPuO55L6RrvQ9sqyTDeOoVE8MZKUzAtLiBAcroBjX0PeGE+mnfWMsyjiQVWCM/9AvKvIUe0U9ygN2KcNJH760M/BP/lPWKHOMAZJQDvv0fUsXgKDfV9UMfau+pqnUPn0J2n/06ZMWt2syLiIvMItefujTMG7NsiyyLAvu0evFWSBozLJON1mWBTtrenODnSx7ww1+9Oam2czrJsACDJU6gigETzwnRUXM9h0k87zwLLPkyjP6mCe7XBFuMBgtPfgOMxT6SEiLwjIqdyp0Ov1UpChmN6lgi8IRGi8aKeKKX/1RFHRmHQgjuWcLAcs1aXyyLAvOFEKolVYYYI9ZAGZUEKTwXKpowEsLIbPBKU28RKxUOv/883OnNIhsocofGuiHbRH77LNP7LnnnmUVFQL5R2VLvhWjDiO2RnbHqGi3p/tURoqVPwMLwiaMLOt88cknZp04fyv5Rz4wuIB30ktXBELpnuspp5ySz6JRposCMMxqrRgYMutHOaSMI9RNaaODT8eNjk+KB+WFTlZ3ZZ9016L8MXidMGFCikZ+4CUDDgbNDBJvvPHGLrNKbog/HU7im+yTflaaLbvssnnDQd6xUpL3o1jG9t1330CP8pHcNtq1VvVLI6STd604I06cqKdL3yv0+6LIT+qUwWoTeoor7+nqq6+eW6GeYaY7tROUVyZeimWUlWnUU7mDOv7UqtyRxtVWW60rJUw4MfCizqQ8IMTqMiy54R2n01/Uhh2rNYp6ldzTmRw7dmxutVy7ShueG3b8YI/JF+qQjseF/lN5Y/BTNMRf3FD/ZFlnP4A0MqBJ9qivqYcZ6CQ9rsnPardZ+N1qivLEoCOlixWMtDGUqb333jvS4C6Z1+Ka8quaZaAW8ayVnyn91Sqv1faPdPMeMh7hfeYZRT8Q4SN9pCzLAjMmoTluAnPqY+po7ntS9FF5j4l3spf8pl+ZZZ3HMtDPKR2HsOKY41KIQ3LLlXARmnOfFDsDOFeKei/L3vCTeKZ2gzoFd7wDyV1/rqSJ8RFtVnJPm4WwirhmWRZcS+s0GLBijDYkuSt3HUw92JRrS5hc6G+8YMFYgbxJftDnpu+NWZZl+dE69HGYeKV8RMcf/QHGvx23+T9lD0FU/lD4oc1iuyH9+qRNfsA/+U9Zozwnv7HHooBjjjkm7wvzPBBF3jZq32og6Sp1S5+imI+Ys4hhoH1T/FH1j0BdBVhEkZeKvdMIJ8h89CpVVDAMZpl95qXpyR2DWF5sZgx6s4s/2GELB1JLOtTo9VdlWRYMlv/85z8HFVEl/nDQIlLdrbbaqlvrxJHBNbMw3Vp63QBBHFsh6Mi9rtXUFxpgZqiphBEEViMxVP7sdacxqdQ/OjKU3e7Ov6KSg305/2i4yunXUo8VCuzlL3Y4yoWHMBEWMClnjl4tyx+ziMWOLuGhmHUiz7nviyJ/WMVBmanEHYeiUl/QGSyuBqvEbb3tZFlt6pd6p6NceAjj0zbCZM6KmPHjx6fHfl8Hs03oKdJ0PlmN21vnnjLK6kQ6nhzQ25OftTDLstqUO1Zgkybq+NJ4s1qX7TSl+ukZdtRd6Zkrwi/6Ctz3RbHKjTPXGFD25I4ZdVYHsnq6J3uUN2a+6VdQd/ZkN5nRX6DfgCA9y7Kk3XWlfqaermab1eV5C91QjyCYKJckVqyXGwyWsztQvVqUgR7i1HBG1S6v1fYPYAhl2BHQ23vPO8wkJCtXytVV+FWqqNOZpKbOKDXr7pk+C9v+yo1DsiwLVqiyEICxVHd+FPUR2rJC6rDDDquKwIKVYYxVKk0T9mDAzpAsW7hOK8Z1MO9pS0r77ow1WDU3kHghjKR80X735g9ljG2qnHHMCt4s6+TFCq3u+sFM4iC0Iq69+Y/5cccdF2eddVZUs59LPUf/eTDG26SpHoo+BX2LYli838WJkqKZ97UnUHcBFknKsiwQ1LCckq8nsEoFKSYdWcyT4mVm69+Xv/zlYNUOLzWS5SzrfKmTve6uuKeyZ4keA1PCKL603KPHiiW+eMXKrkobhe7CLOrTIebsrWuuuSbf6sDndZM5DSAzsUjnka7T0WXQncy7uxJnVp+xD/+ggw4KGqdkFzMaF7agEGa5BjDZbfQreYfwjRU/zHyzgoYl2ZU0An1JG4xo3BEucR4beULeJD+IB2Xw61//en7gO4fy9xQHKnLykrJUulSaRojlp8nvelyzLMu/esIZWHS8inHifWOgRNp/9atfRenKl3Lxo4zVovzRMWXgxioxwiiGzftRfK70Hn8oM7hnEEk+kp/JPelndo3yxRZCVrUMhmAgxaev11rUL32NQ7XtsxqPpfxFfxHuZ1lldX7RXbl78n8w24RycUKPd4/VxpxjwRaAVAcR39RGUX8gkM6y6rAg3P6oWpQ7OoJs4y6mnbhR7/e0Ags7bGEoCuiZROhfOx7BYOuee+4J6gvqJPxHUVfAnraV1Txrrrkm2r0q4kFb0F0fBA84P4N2Dr/p58AX/e5Utdus7sJpZv0sy4LVx7RrrCwupoVtppSrol4t72tRBmoZ32r7Xe3yWm3/SC/vHO8e561S31Lvoo9CqEx9wDuMECbVzZhVoth6SJ3BESL02Xnfi+7opxDmaaedFvRD6LOgV7RTvM+yLNjBgGCfsQtCF+qnoh3GGqy6oW/z6KOPBpNAWVa9doP6r6c0kUbSSt8SYT8MivFr1Hv6Hln2BidWlrF1cqDxxR/ONWSsi0CsWIbIa/KfMSr5z2omxhisBoMjYTNuYPKKCV2eSxUTfLQf8IZ7cpfsUYYZa9KHYCxDnZTMqnXlnWnEvlW10gcz+hbJP1ZjFZ+Tvtf6ERgUAVZKXpZlwYtHR4PKnY4FL2hSHECN5J5D7agws+yNiiX5Ucl13Lhxwd5vwmDmLfnPPXosp6QS6c0v9hBzkGNyT8e5Nze81MyWUvlwOGNyy55m9ttzWF9vMz/lwuBMH7Yj8HWP5CfpYQDEzHAaiBPHZH7DDTdEucqY5cvJDuc1sW2rXJj91SNMwk5hVHIl75lxYCsYaagkf4rxw00Khzwj74rmxfssy4IGlm2f5Al5k9wSD8ogsxaV5hONDx0ezq9J/nBlywlL1gm7L/HDPop8IX/wC0W+oV9URTvFdKPPysdinHjfWNZN2rOsb+9WNctfij8CXJbNU45JX1K8/8kOaU76sCBdyay7K/nGIJJ8JD+Te9KP8JK84D3tzn3Sx15yW2SbzMtdiR/xTO6Ifzl7/dUj3tWqXwYc124SwbsHr0oZ0AFLdrnSqezG61wbpthDEQ7h5QY9/FSrTagmM+psJiA4yynVQZTXvrRR9Sqj1Sx3ZFOWZcHkVDHt5CdbYNg2g53uFIzo4GPOVgwYct9fRf1NfcHAjzigqCtow4tta1/876684Tf1A+1cX/zOsuq2WZWkpZKyXq/yceBcKQAAEABJREFUV0l8eZ/YhoNAEs5JIYhgcgw/SvsmrLBBvzdVrHPIP9j05qbaZaC38CoxJ72JS6V1Z/K3L3mdZdUtr1lWXf9IEwNUPuZCfUudkrgw+Ud9QP5hr7TMwAH9nhRlESEFfXbKS/KbK/0dwuTYhBRGT34lM/rEjF3YaUH9hF9JMdagv0ncqKuTm2pee0oTaSStfelbFssi4wU4DzS+vJfEJXEhjJ78ZNs2R9Yk+7znPdmHb7LLlefu7NOuMNa9++67I7XvuEn5zxgVO8k9bVmxDeK86Czrvp+eZZ3vBNyLaSYMyjBjTXgk/0uv8IY79lG9sSp1n54pw6SFMk3a8AvFPXqUWcpust/dlbgW01EuL+CN36hK669K/O0uTuysIizUa6+9FpWuekv+lYZN+tBL5t1dyQvCTIp0d2c36WMn2eeKH8msVa6DKsBqFYimQwLVIKAfEpCABCTQNwKsNmbAiSu2ayCw5l4lAQlIQAISkIAEJNB6BFpJgNV6uWOKJCABCUhAAhIoS4BtGWz7wTDLsvxrPWmVK3oqCUhAAhKQgARamoCJa0MCCrDaMNNNsgQkIAEJSKCZCbC9kC9rsT2CdHAYc1+X9ONOJQEJSKC9CZh6CUhAAs1FQAFWc+WXsZWABCQgAQm0HQHOsOMrR5zt8qMf/Sje+c53BmfmJRBHHHFE8BGN9OxVAnUjYEASkIAEJCABCdSNgAKsuqE2IAlIQAISkIAESglU8swXmo455pjYc88947DDDgu+uJTc8TWg3XbbLT16lYAEJCABCUhAAhJoUQIKsFo0Y02WBCTQNgRMqARansCSSy4ZfCmsNKHrrLNO8IWmcmaldn2WgAQkIAEJSEACEmhuAgqwmjv/jH1VCOiJBCQgAQk0MoHVV189ttxyyxgypLPbsswyy8RRRx0VN998c6yyyiqNHHXjJgEJSEACEpCABCRQJQKdPcGBeqZ7CUhAAhKQgAQqInD00UfH/PnzczVp0qRYbrnlKnLXzpbGjh0bV155ZcydOzfn9swzz8S3v/3tGDNmTL+wLLbYYnHDDTfkfpEX5513Xr/80ZEEJCABCUigLQmYaAkMEgEFWIME3mAlIAEJSEACEpCABCQggfYkYKolIAEJSKDvBBRg9Z2ZLiQgAQlIQAISkIAEBpeAoUtAAhKQgAQk0GYEFGC1WYabXAlIQAISkEAnAX8lIAEJSEACEpCABCTQPAQUYDVPXhlTCUig0QgYHwlIQAISkIAEJCABCUhAAhKoCwEFWHXBbCDdEVBfAhKQgAQkIAEJSEACEpCABCQggdYnMNAUKsAaKEHdS0ACEpCABCQgAQlIQAISkIAEak/AECTQ1gQUYLV19pt4CUhAAhKQgAQkIAEJtBMB0yoBCUhAAs1KQAFWs+ac8ZaABCQgAQlIQAKDQcAwJSABCUhAAhKQwCAQUIA1CNANUgISkIAE2puAqZeABCQgAQlIQAISkIAE+kZAAVbfeGlbAhJoDALGQgISkIAEJCABCUhAAhKQgATaiIACrDbK7AWT6pMEJCABCUhAAhKQgAQkIAEJSEACrU+gNVKoAKs18tFUSEACEpCABCQgAQlIQAISkECtCOivBCQw6AQUYA16FhgBCUhAAhKQgAQkIAEJtD4BUygBCUhAAhIYCAEFWAOhp1sJSEACEpCABCRQPwKGJAEJSEACEpCABNqWgAKsts16Ey4BCUigHQmYZglIQAISkIAEJCABCUigGQkowGrGXDPOEhhMAoYtAQlIQAISkIAEJCABCUhAAhKoMwEFWHUGTnAqCUhAAhKQgAQkIAEJSEACEpCABFqfgCmsHoGWFGDNnTs3fv3rX8daa60VWZblaoUVVojvfOc7MWPGjG7p3XvvvbHzzjvHiBEjcjeLLbZYHHDAAfH4449360YDCUhAAhKQgAQkIAEJSEACEqgZAT2WgAQkkBNoOQHW7Nmz45BDDokPf/jDcf/998eSSy4Zyy23XDz55JNx1FFHxZZbbllWIHXjjTfGZpttFldeeWUOBoHXzJkz45xzzolNN9007rrrrlzfHwlIQAISkEA1CPzhjjmx9YkzKlbYLxfurDkRmB107szY6Tud/vFczu4zL82Pj3z/lR7D3O/smTFtZjnX6klAAs1LwJhLQAISkIAEmp9AywmwLr300jj77LNj7Nix8cc//jFeeOGFXHj1yCOPxIYbbhj//Oc/45RTTon58+d35R4rrA4++OCYOnVqHHvssfkqLfSmTJkSe+21V0yePDkXfk2fPr3LjTcSkIAEJCCBgRAYOTxiiUV7VouPjMgiYtSIiJXHcdfxUPj/9+R5sc+PX4nT//haPPTMvHhtdgRu8Ltgret29tyIWXPfaP+6DLzpnYA2JCABCUhAAhKQgAQGlUBLCbDmzJkTl1xySQ70m9/8Zmy33XaRZZ0d/vHjx8fJJ58cw4YNi8svvzyeffbZ3B4/l112Wdx33325/aOPPjqGD+8YVXQYjBkzJs4444zYaKON4rrrroubbrqpQ9d/CUhAAhLoDwHdLEhg23WHxW+PGN2j+si7RwTipjWWHRLrrDh0AQ/+76G58ZVfz4znX54fyy+ZxbEfGBnXHDM6Lvv86MDvBSy//vDklHnx6qyI5cZm8avDF43rvzx6IXXuAaNizKjXHXiRgAQkIAEJSEACEpBAgxBoKQHWq6++Gs8//3yOdpVVVsmvxZ8VV1wx31L44osvdgmwcHP11Vfn1vbZZ58YNWrBXvu4ceNi4sSJwYqtq666KrfnjwQGiYDBSkACbURgxmsRf7l3TgzvkFvttsHw/JqSj9kv/jYruE5YZWj8cN9FY4u1hsbQIclG+evMWfNj7ryIRYZnMWJo5wRPeZvqSkACEpCABCQgAQlIoLEIDGms6AwsNqNHj45VV10194TVUgid8ofXfx5++OFcwLX88svn52Kh/dJLL+WrrxBcrbnmmmgtpNZdd91c7+677w63EeYo/JGABCQggRoT+Ot9c+J/z86LVZYaEhutNmyB0DB74Ol58abFsvj0tiMqXjH10syIOR0CrCVHZxW7WSBgHyQgAQlIQAISkEDTEDCirUagpQRYWZblB7iPHTs2P+fqrLPOClZY8VXCa6+9Ng488MB8JdWnPvWpWGqppfK8ZDXW1KlT85VXfHUw1yz5QeC16KKLBudovfzyyyWmPkqg9QmwyuOuSXOjmurpl9gY1frsTOHgEnjooYfihhtuqJrigx9MfNQ6VbPmRPzxX7NjXsdr8r61h8XoRRYM8ZYH5+RmG602NFZduvKm/LlpHdKrDq/GdQi+Oi4t/D8v5k+7NeZPubF6qsO/mD+3hZk1b9LmzZ8X/3nxwbj92f9UTeEf/jYvFWM+bdq0/BxcPuRULTVr1qz2A2uKJSABCTQQgcp7vQ0U6Z6isvHGG8ff//73WG+99YKD2VlZxblX2267bTDouPjii+Pzn/98lxevvPJKLuRCeIXgq8vAGwlIICdw7b/nxAdOnRFH/vLVqqq9f/hKnPj71/Iw/JFALQh87GMfizXWWCPe9773VU1tueWWscwyy8QFF1xQiyh3+Xnr/+bG/U/Ny8+22mqdBVdfTX1lfjz2wrwY1tGCv2PlofH9a2bFbt/r/PrgtifNiEN+OjPuntwpqOry8PWb6a92SMQ67ic9Py/2PfOVwP7WJ86InU+ZESdc9lpMmdFp3mGlef9nPx9z/r5GzL1ts5h7x/urpzr8m3PTKhGvTmpeNi0Y82deeT52+sNBse+1X4qD/3Js1RT+7XL5wTHltWkDpqYH9Sfw5z//OejzX3HFFVFN9Ytf/CIefPDB+ifIECUgAQlIICfQ0f3Nry3zw4oqDnC/66678jQtvfTSXdsFmYn57ne/a8OTk/FHApUR+PX/zc63HFVmu2+2rv/PnHhxegsMmPuWbG3XgcCjjz4av/zlL2sSEjPwP/jBD2riN57ypcAr7pgdXDd/67BYZkyGdpea/mrESzPn5yuwzrjmtbjs9o53dG50bQl84Ol58YVfzoxLb5vd5SbdTH6x8317sMPO5Bfm5+dhYTZzVsSf750Th/5sZr5tEb0GUn2KyrynOvL91cf65KZiy7OeiXlPX1yxdS3WnsD1j98Sz786pSYBPTvzxbh60l9r4ree1o4AuyVYfVuLEObNmxf/+c9/auG1fkpAAhKQQAUEWkqAxflUH/nIR/IZl/e85z0xefLk/LD2J598Ml99dcghh8Rtt90WO++8c0ya5AxqBeVDKxIIDn2uJYbX5lTH989+9rOxwgorVKQ++MEPxowZM6oTcFP4UvtIsl37Rz/6Ufztb3+rfWAVhMDq2gqs9dsKA6R+Oy445GzF1VdffYFyO37lFeL8I1eP+364Zhy/z6oLmP3pT3+KZ16aF690lN9Hfvux+Nf314tdV7s//nDk6Pjd50bHGk98OXf37D/Piov/MTseeW7BlVgrvimLkcMj3v2WoXHRpxcNvkL4p2NGx+d3WCRGjYh4dtr8+P6fXsuFZ4VoNtft3Om1je/cV6ri/w9/+MMF8ran+mujjTaKZ555Jg+XK88o7tHkyjNliTKFXruo6bNqW5dXy//+5ne75GM108nRIdX0r9Sv1157rVSrX8/U5z2995itvfba8fGPfzzuuOOO/BiUfgVUcET9QD1BfUG9gRFXntHHHL2BqEbrDwwkLbqVgAQaj0BLCbA4uP26666L1VZbLVjiu+KKK3YRHzNmTJx++umx55575iuwfvazn+VmSy65ZGDGjPrMmTNzve5+2Io4ZEhLIesuqeqXEvBZAhLokcBXvvKVOOGEE6K3erRHTzSsiABfEZw/P4J1WcOGRnBG1tDXmya2FUbH35hRWb668R8Pzu14euP/iO0XiSu/ODq+9aGRXSu7cLvTO4fFp947IoZ0ePrwM/PivifnveHIOwlIQAISGBQCHH9y/fXXxy677BI//vGPqyLEqnVC7A/UmrD+S6C9Cbze5a09hHqE8K9//Suv2DfZZJNYZZVVFgpy+PDhsdtuu+X6rMRihmD06NHBAe00EC+88EJuVvrz5JNPBrP5K620UmC/1NxnCUigcQjsscce8cQTT/SoLr30Ut/lKmfZnDlVWkpX5Xg1i3cjR46Mq6++Om64fXJs/IUH4p2feyCuvPmxhcox5zmSpqEjRse6e18QN93+UH7mI3pFlbYd3v/kggKsop3S+y3eNizevEQWfLThsecVYJXyqdUzfZYHHnhgobwu1mP0Wd785jfnUeDKM4r7XNOfpiHQ1/xumoQZ0X4T4GNRrLAqvvPcP/7448HkfKr3Tz755Lj11lv7HU69HNofqBfpxg/HGEqgFgRaSoDVF0As/2WJ8RJLLBFrrbVWvmqADmQ5P2655ZZcm4PhOew9f/BHAhKQgAQkUGUCv/vn7Jg2M+LtKw6NdTpUOe/fvMSQWGR4xGuzI99OWM7OiKGdujNmdV4r+R0xNGULMPUAABAASURBVOvwN8utzp2fX/yRgAQkIIFBIpBlWay66qrxve99L97xjnfE7Nmz4/LLLx+k2BisBCQggcYgMKQxolGdWGywwQaRZVn85S9/iYcffnghT6n4f//73+f67CkfPXp0MOu9ww475Hrnn39+LsjKH17/YVXWtddem/u74447vq7rRQISaBUC6eysK6+8Mk488cRg6zFqv/32i+effz5PJqs1f/e738VOO+2Um3MuBYqvnnLuU3fnIbF68wtf+EKwIhT7b3vb2/Jtds8++2xwDlfxvIl0BgXnUODusssui/XXXz8/I4f48FVV9IkQ9ds+++zTFZctttgi+OLSfPaVYaGgENT/4Q9/yL/CRxxQCOPZ7lcu3okHZ3Mg1C+GQ3x++tOf5l9uTUFwXgbpuOSSS3KtT37yk3mcOe8l1/CnYgLPTZsftz8yN4Z3CJ92Xn94fi3nePTIiEWyV+KBX38sPrj1mkEelNqbNTfi1efujet/+ME8P8j3LbbeOd5/5F/iS7+aucAZV7gnDz/20Q/GMw/fGg//cvs4ZJdV8vJHuU9+8x6Q/5R7/ENxjx5myZ7X2hIo1hXc9xRa6fu8++67d5WH973vffnqDuoNVplTJ1BHka9cGTQ3f772RKe5zKivaW9458gjFPc9vX+Uj29/+9uBPeyjaE8mTpwYHLlB+1CkYHkp0mice447oZ0nRnwBkfeV+6RoqzknK/U1uPKMfrIzkCv+4B/+Uoa48ox+0d/UltgfKFLxXgISqDaBlhJgsSz7/e9/fzz11FPxqU99Kh555JEuXhzYfPzxx8dvfvObWGqppeKggw7qMqMhZxXWNddcEyeddFKXEIuvFh5++OH5we80HJtvvnmXG28kIIHWIvD9738/ELrQUeRcPJbAs+KSeuATn/hEfPrTnw6+boo5y/1HjRqVb/lh0Lf//vsH9opE2NLMsv+LLrooGCQsu+yy+ewpAxA6fnwxtWg/3TNgROh12GGH5X4us8wy+dZoZl333nvvQKDOhygQ1LN9iLP5EGjhJ2bJH67EiY9XoOhosuKUeBA28dhqq63innvuwepCCgHaNttskwvG+JorbhkMfe1rX8tZEE8cDR8+PMaPHx/Eg2fswWfxxRfnUdUHAn+9f048//L8WGWpIfHOVYZ263KpxbJghdb8Dhtz50bMLrN78+6bfx+PXrJHPPvoXUEZorw+fN+d8d+LPxZ/uezMeOTZDocd7ov/D//vf3H3JZ+O2dMei3FLL5t//GTcuHG5FYSnCD/If7a2vOlNb8r95R49zLCTW/an4QggiOR9Z9shdQDvK3UCH7654oor4pOf/GRQJ6DPO0zd8d3vfje+8Y1vBHVhwyWozSJEPU3+0d7wzvFO8w5yz/vHRCzbzYpY7rzzzthyyy3jjDPOCN5N8h2FHcoB7dqZZ56Zty/oFZXlpUijse5HjBgRQ14/jxfhM2f6UjY4J4uY0v7SLvOMPubYw6yvCne4xx/8w31P/hOu/QEoqSQggVoSaCkBFoPNs88+O9ZZZ538S1gc5k4jz2wTA9JvfetbQeVKg42dBBbzU045JT8LCyEXnTf0GKheeOGFwdlXp512WuB/cuNVAhJoLQL//ve/cwEWM4h8Ipu6hBWaXDmD4p3vfGcuzMYenX9mQZn5pk7B/J///GcXkClTpsSXvvSl4IqA/L///W/cfvvtcf/99wd1DYMRBo9dDgo3CJf++te/5vawzyDkxhtvzIUFuNl3332DzmTRTz5OQUcTAX0abPJMWKwsW3nllXPB17333pvHA7cIvBjUHHXUUXk8C1HIb1mtiqDsvvvuC+IAEwa4WZblZzXBAIus1KBjSzp5pq7EDP95VlVO4K5Jc/ND1CduODxGLxI9/u34zuExtKMFn9chxfrN/80KDnbHwZx5/EbMePb+GLvyxnHFdbfm+UdZOunbp3QYZvHYX0+Jr/3wz7mwrEMj/+/wJqa+8GwMX2LV2PMbt+TlhLzfbLPN8hV3lGfeDVZykL+8B5QL7hHUYnbcccflQtrcQ38aigCrMDkDlHc/1UWsKqeeYHXnY489ltcR5CvvOsJ8EvDHP/4xF9RzrxocArQj1NPU10yk8s7x7pFXHHHBilraBiY+mKwllgggEWxxZSL2oYceyt9p8p57Jnmxx86DtNKY56QsL4lEY1wpA/QLiA3jF/om3PPVX/KZe9r7/3VMQlA+qO9/8IMfxCKLLBLUy/09N6uv/tsfICdUEpBArQl0dH9rHUR9/WdZ68033xwsmeb+ueeeyztfCKVYJUHl/oEPfGChSLE1iEqfK4bMajFjjRv8mzBhAtqq+hMwRAn0iQBL11ni3p367Gc/W9Y/VnCy4ijLsnzLMLOcbNlgMEddcOSRRwYzj8lxlmWx9dZbB27QY2DIFUVHkxVYnFmB4DytRho6dGiw4oEBBfa6U8yMYw/72HnLW96SC624Z6sXqyKSn3Rk2Y6IGUI1BizcM0jhsHrMGYyybRp9FG6/+tWvBmkmnsQX/aIqDSfLsnwLJTP92EMYxlVVHQKsaPvnubvHvT9YM/bfcZWubV6pHJMfCIlSaG9ddkgsu0RHWe3Q+Ov9c2On78yI3U+dEX+5d06HTsSIsavESSd/L975thXyZ8rSx/b+SHx8/89EFvPjXzf9Jj5yxrTczZEXzMzP08Li6psfEIfv8uZ8++Lw4R1Cso4yS9vIdiMEoazmKL4H3LMqZPz48cEqZsoT/qgqJ4AQYs0111woz1Pe837PmDGjcg/L2KT8lNYbH/3oR7tssn061RFZlgWrztdYY42gD4Vwq8uiNwMm0Nf8pn7mveIdO/XUUxdoh5hgZWKByVqEDUlQ8eijj+YTE5QrhFW0Ayni3NO3XXrppYPt7OxaSGbpanlJJAb3ytEnCCpZfU0ZYDKeiSViRZvBBBtC6KOPPjrvW1DPY8aVVbGf//zn80mF8847r88rKWvtP/FUSUACEuiGQI/aLSfAIrVU8MxW0YBTsaNY1UBFz8oq7JRTdN5YSj9r1qx8SfX06dOjNzfl/FFPAhJoPgIMDjgXrxhzBD2sskIY9L73va9olN+z3YavmOYPhR8GHDwiEGclJ/dJZVkWu+66a1BPJb3S63vf+97IsmwBbVaUosFKMAYe3CeFgJ5BCYNcOrzo0+mdOnVqbLrppkHdhl5RkVZWzqCX4st9UpzFVRoO6U3xTiu9kn2v9Sew1OJZDB8WMX6pzrLC4e9DOm/jIx/cJXbZbKUFIpVlWXx49+3ysx+HTP13LDJ/auCGg947jGL4yNFx3D6rxmrLLNg1+Pvf/577g8CWAXP+UPhBiIUwlLLHCo+CkbcNQqBcvbHUUkvlZYH8K60jWLkx7vXtozNnzmyQVLRfNOi/ch4hKd9ll10WEF6hh1p11VXzyQXuWQ3LlVVZvLdsNS+txzGnvUBAzX05ZXkpR6V2eqyu44zJJLRO1/EdEwPbb799ILzKsiy++c1vxtvf/vY8Imzpp50fO3ZsYCfLXq/8c9POny233DL/4jIr9ljF1alb2W+t/a8sFtrqPwFdSqB1CSzYS23ddJoyCUigTQjsscce+apLVlGWU6effnpZEklAVNbwdU0G6KxIYFUms94IqFjl9LpxfkGIhPCcB1YwcC1VDAzpdJbq88zAIp1TwnN/FVtKcItw6j3veU8gkCpViQXxJd7YT6o7Ht3pJ3de+0eAfL/66qu7Lbucc8agtNR3BFbH7Doy/nj06Lj+y6Nj63WG5Vbes8k78mvpz3LLLRecnfPay8/G/9v1pdzNTz41KhbpcLb0m5aI1VZaegEnCCoJG82LL764bDmiXLHlFDuuzINC39Qmm2wSvK/l6iv0qGMQOPfN1wVtsxJnQR2fBotAX/Kbw7qffvrpPKoIOPKbMj9vfetbc91JkyblW37zh8IP9TtnZFHHsOUMYRhCk4KVBW4tLxGxAJHBe+Csy4997GNx4403Bv2bFBMETEzOM1H1oQ99qGzdjDvyvruVdsmvctda+18uTPUkIAEJVEJAAVYllLQjAQm0LQEOYOc8ELbUMBvKdmLOnGLbFIe69wcMq7ZY9dAft5W6SdtCEEAwUCmnXnrppUq9016TEWC1XDWi/NprrwWDJPxiJU65coQeZthRSSAR8Fo/Agg5CA2BF20W92yBp53iXCIEUu9617uCrYOsKuadxY6qMQjQH7jjjjvKTmCgz7EobOssxhbBVcprBFTkaalCv+imL/e19r8vcdGuBCQggSIBBVhFGjW6Z0uF6vauA0Rl0VwsGMDW6NXIvWUJfDXKxAsvvJD7x7Uv/mEfh6x0KHXHwezMVvMVP1ahcAYQBx9zrgRnAXFoOkv0i+5Zqs/2Y/TYeljqJ8+cU0J48+bNC87OQo/zjdi+XNRDPyns4yfxTXrpih+4wz3+oJ8ECnyZFQFcT+rLX/5ycGA37vCfcAiP51KFfjnz5K67NJf6U+tnzi4jnrVSnA8y0DRQplI+FeOJ348++miPdSZ5zorAorviPX4wg87WkxRP3jVWELItiTNSUEU33CPU5Cy15Ab3KRzO0umpHGHG4f3J7WBdGcSRllophMPVSFt6l6gvqDcq9ZN3nHcdxT3uuPJMPUDZQA+V3kvC4rmosId93OG+aEZ8iBcMG+WdLsaveE9+EM9aKfwvhtffe/KAOMIVvpX4gz3s466nfKBNwU6WZcFHQlh5++EPfzj/siQrcN7xjnfkZyR95StfiXPPPTfOOeecYAsp+U85SHFplfICA3jUSlG/JmYDuZKnxLHcO9ibv5MnT8ZpILw877zzgvq3O/XrX/86PwsLP8lv8r0YJu8/z+hjjr3++o/bVI5IH8+q5ur3m1/mV09lIK94BvlHAdYgZ4DBS0ACtSIwcH/ZcvHb3/42P4+KQ1L5qg9f7EJoxWosDnpPM6ApNLaC0aHkGfdcSxVCAmY3S/Wr+YywDf/YflJOSIKZanAJUAbYvsmgAZUGDgjf0gCguxgygEK4jDsEYRy0TV6jjxu2uVL+WIHHM4oBCgNiBFucZYYgi3sU95izBSl9CAA3nIWUtrRihj30VRKQQO0JFNsTtpmWC5F3kvcfM7YHs/oSARbCZ1b2nHnmmfnZSXvttVewCiudiYU73KiakwBHEXBOJ2db9dZe9CeFtfa/P3HSjQQkIAEIKMCCQo3VBhtsEE2pjLf51lEGGMDW8hVZd911q8KZzhbx5NqX9w37uOPQ1FJ3bPVjGwbnBjGbXWqOW1YuFd1vuOGGwVfD0GOLIWdGlbpjJh5/hwwZEmzvwJzzjRCIFfXQT4r44SdhJr10xQ/c4R5/0OesDIQU999/f3BYL3pFxYz8hRdeGKSL84vYGok5/hMO4fFcqtAvZ57c8cXEUjeD8bzOOusQzZopBpbVSFfKO/KP+0r95JDlxRZbLHDH1hIElgiaiBeJZka9tOxxhg6rqxB6cS4ajBC2orIsi2L5KcYjfa2Z7APkAAAQAElEQVSOFVzkc9GM+7XWWiv4it0+++wTlHn0BlMxaIdBrRT1QTXSl94l8pH8rNRP3nHyCsU97rjyTHkoliPyCw6Ehb2iwh72cYf7ohnxIV64bZR3uhi/4j35QTxrpfC/GF5/78kD4ghX+FbiT7E94Wug5eJCHmOG39T7+MtKS575iAdfjkWvqFiVhdCD/KccJDP8wh1xTXrpij3sN0N5SQedk5ZaKOrZxGUgV94t4leOaW/+br/99kGdniYeuC91w+QEZeK4447LPwCAebl85P0nDuQv5tjrr/+4TeWI9PGschxoGWiiMtAx9uspv6izBlsNGewIGL4EJCCBRiWQBAJsSfrzn/8cacaaK4dVH3TQQVHujAnOy0JAxAz4V7/61UBYRRpZrcVB2CeffDKPNVV0HHfbbbd828CnP/3puOmmm7riz5YwzkH51a9+lR/4yzbDctvJ+hPBJNDrj1vdVI9AubLH1iHyHcHmfvvtl68srCTEjTfeOBB4UdYp88WVIJy5w/kst9xySy5M23zzzSvxUjsSkECFBFJ7wmrNz33uc0F7lJyyzevQQw/N2yHe0c022yw34swrbliJySQG9yjqfj4KwJe6eVY1LwGEaPvuu29ej3OkwQ9/+MO8PSdF9FHYAnTssccGAq4JEyYE/RnMKlUjR46Mgfrfrv2BShlrTwIS6B+BIf1z1pquGJDuvPPO+Sx0lmXBLNkBBxwQbMNozRSbKglIoCcCzER+4AMfyK184QtfCL4qyBfXuG6zzTb5QILZbSz873//45KrJZdcMv7f//t/wfWyyy7rWmXFl6KOPPLIGD9+fNA5ZLsHq19yR1X+YRsJZ1ttueWWeTxZacWKG+KPcIsZWTq5CNgY+Aw0+DRgQpjB6gI60wP1U/f9J7DrrrsGK+sow8ykUfYYzODjSSedFJQF7itRfAHvlFNOCfKY7Y3ve9/7Iq2cRA/BGOUNwSzhVOKndiQggcoI0I7wbrGykIkI6nDqWN5BvmjIakveQ95R3lV8ZfJi1VVXzev+rbbaqut9Re/www/P3/+11147F3g8//zzOGkkZVwqJEA/hDactpw+B/Uv5YP6nTYAYSd9APovWZZV6Osb1vrrP+URX+wPQEElAQlUm4ACrNeJ3njjjcHM1ZVXXpnrsHyac2M46JIl2GyLyA38kYAE2oYAW++++c1v5ueHIGiiTqBDiOCJw3D/8Y9/xIEHHhisXmILR9q2ASBWYP3pT38Ktl9hzvlE+Ie7s846Kzi7Anu1VKy0+fnPf54f5EuHkrO3iD9hbr311vGXv/wlONMry/rescWPomL7GMK+LMvy1QDUmcXzl4p2va89gd133z1Y7YewlbLH2VgMZFlJyOA2y/qW5yuuuGLQPh533HFB+8iXCfEXQSxlnHeBDxzUPmWG0DsBbbQaAbbE8e6yAov3j9WQvINsH+ZLg1dffXXwjqZ0c8/B3bybCJexy3YytiRy4Pfvfve7oA3A/vXXXx8IQLhXNReBLMuCVbHXXnttV37SxtPW0+b/+Mc/jl/84hdBX6A/Kcuy/vlvf6A/tHUjAQlUSkABVgcpVlgxiONAXWaoORsAPQ5G5NBLlmiz3Dp9CabDif8SkECDETj99NPzT1Bz7UvUsM+ZVIcddlhZZwzQ+foan7LGHoovPrFtAyEU26s4QJdDc9PhuMkjZsyZFZ80aVIeNw7pxh2Hb7OtkIEFZ05gHwEZQjAO5OY8CvSKivgRNvEt6nOPfdzhHn/QSwqhGQILhFW4RxEfOrV0cJO9dMV/7BBe0ite0S9nTgf5+9//fr5iFfOzzz47SF/RbdPc1zGiKe/IP+4rDZqVFmwFKnWX8m/bbbcNtvOlfKdNO//88/NVVKVhEC7+lCs/RbucCbf//vsH5Z88RvGVKco4Zb1o1/veCaR3iXwkP3t30WmDd5y8QnGPLleeyUfyEz1UKg+ExXNRYQ/7uMN90Yz4EC/ymLJUNPO+fwTIA3jCFb599YX2hpU0xfePdodtXrRTpf7xTvJuUt8TLnUAK4LTlvFjjjkmb5cQgGVZlju3vOQY6vbDu0XelHsHK41ElmXBajra9JTX+EndzyosJtCKfpV773n/iQP1AeZF+1nWN/9xa38ACioJSKBWBBRgdZClQWef9nbbbRd8aYwBX4d2PmPBvnKW41533XX5GTLoqyQggZ4JtLspwhu2d3zjG98oi4KDtFkRw1Y+BiVlLakpAQlIQAISkIAEJCABCUhAAl0E2l6AxSCSpdcQYcnrqFGjuO1SfElj4sSJ+fLqq666qku/xjd6L4G2ITCkc+K3pdLLV9nYssEh6cyWp+0ZXJnlZKUnCebrQOVmzjFTDYxAltW2YJXOag8strquKoEa531kbd91qmp2DdSzrMb5UWv/B5p+3S9MIMtqW/8vHKI6EpCABAZMQA8qJND2vTD2ibP6CsFVue00cGQlBVcOynQbISRU7UTgrcsNrVlyl1g0YukxrdfR5GBdth9PmzYtOIuIA1VZycl5RAjE2Z6MwNwzg2pWtILDipdYYomaBbD++uvXzG89HhiBbPENBuZBL66zxSf0YkPjehJYa8lVaxrcOm96S0391/PqE+AjTIssskj1PX7dx9LjAl7X9jLoBIyABCTQDgTaXoDFKgnOvkKARYNXLtM5R2DRRReNRx55JDi3ppwd9STQqgQOef+I+PAmw2O9lYdUVW3z9mFxwodGRSuuwBo+fHjwpTcOa58wYUIgyOJgVVZ8IsjiDBS+GIS9Vi03g50uVraxunbvvfeO9773vVVTfNGJMxH5utJgp9HwyxPIxm0XQ992ZnDNxm4RVVMd/g556+mRLb1b+YDVHRQC71l+wzhqg/1j0+XeGesvvXbVFP59ecODc38HJWGDEWiLhMkK2R122CHYpr/ccstFNRUfaHn3u9/dIqRMhgQkIIHmI9D2AqxXXnklGFQivBo7dmzz5aAxlkCNCSy1eBYHbjUiTv3YqKqqY3ZdJN62fOtWQXSgd9ppp/zLbRyey6GqXDlzjxVaWdZ6K89qXBT77D2DjAsuuCBuuOGGqikOxkV49eY3v7nP8dFB/Qhky38qhk64IoZucH31VId/Q1Y8tMdEaDg4BPZ8y/Zx+hZfiTO3Or5qCv92X/394V9zElhmmWViq622il122aWq6l3veleMKjlupDkJGWsJSEACzUmgdUePzZkfxloCEpBAOxMw7RKQgAQkIAEJSEACEpCABMoSUIBVFouaEmhWAsZbAhKQgAQkIAEJSEACEpCABCTQegTaXoC15JJLxpgxY2LWrFkxc+bMiB7yeNiwYTFkSNsj64GQRhKQgAQkIAEJSEACEpCABCQggSYhYDSbikDbS2NGjx4dHNDO1whfeOGFspnH4cuclbXSSisF9staUlMCEpCABCQgAQlIQAISkECbETC5EpCABOpFoO0FWEsssUSstdZa+eqrBx54oCz3W265Jddfb731gsPe8wd/JCABCUhAAhKQgAQkMHAC+iABCUhAAhKQQAUE2l6ANXLkyOBTu7A6//zzc0EW90mxKuvaa6+NLMtixx13TNpeJSABCUhAAhJoGAJGRAISkIAEJCABCUig1Qm0vQCLDJ44cWK+Cuuaa66Jk046qUuINW3atDj88MPjtttuiy222CI233xzrKskIAEJtB4BUyQBCUhAAhKQgAQkIAEJSKCBCSjA6sicFVdcMU455ZT8LKzjjz8+2FaIHge8X3jhhcHZV6eddprbBztY+d89AU0kIAEJSEACEpCABCQgAQlIQAISqA2BRhJg1SaFFfq600475SutuOLkiSeeiFGjRsX+++8fN998c0yYMAFtlQQkIAEJSEACEpCABCQgAQlIQAIDI6BrCfSZgAKsArK11147rrjiipg1a1bMnz8/pk+fHmeffXawGqtgzVsJSEACEpCABCQgAQlIQAKDTMDgJSABCbQXAQVY7ZXfplYCEpCABCQgAQlIIBHwKgEJSEACEpBA0xBQgNU0WWVEJSABCUhAAo1HwBhJQAISkIAEJCABCUigHgQUYNWDsmFIQAIS6J6AJhKQgAQkIAEJSEACEpCABCTQCwEFWL0A0rgZCBhHCUhAAhKQgAQkIAEJSEACEpCABFqZQKcAq5VTaNokIAEJSEACLULgxenz4yu/fjV2P3VGbH1iZQq7X+1w80KH2xbBYDIkIAEJSEACEhgIAd1KoEkJKMBq0owz2hKQgAQk0F4EEEAd8rOZcctDc2PazMrTjt1/dLg5tMMt95W71KYEJCABCXRHQH0JSEACEqg/AQVY9WduiBKQgAQkIIE+Ezjz+lnx/Mvz++wuOcDtj697LT16lcBgEzB8CUhAAhKQgAQk0CcCCrD6hEvLEpCABCQggcEhcMejc0sC7vvjbf8buB99D1UXEpCABCQgAQlIQAISGDgBBVgDZ6gPEpBAsxIw3hJoIgJTZvR/9VVKZjX8SH55lYAEJCABCUhAAhKQQD0JKMCqJ+0WDMskSUACEpCABCQgAQlIQAISkIAEJND6BAY7hQqwBjsHDF8CEpCABCQgAQlIQAISkIAE2oGAaZSABAZAQAHWAODpVAISkIAEJCABCUhAAhKoJwHDkoAEJCCBdiWgAKtdc950S0ACEpCABCTQngRMtQQkIAEJSEACEmhCAgqwmjDTjLIEJCABCQwuAUOXgAQkIAEJSEACEpCABOpLQAFWfXkbmgQk0EnAXwlIQAISkIAEJCABCUhAAhKQQMUEFGBVjKrRLBofCUhAAhKQgAQkIAEJSEACEpCABFqfgCmEgAIsKKgkIAEJSEACEpCABCQgAQlIoHUJmDIJSKDpCSjAavosNAESkIAEJCABCUhAAhKoPQFDkIAEJCABCQwmAQVYg0nfsCUgAQlIQAISaCcCplUCEpCABCQgAQlIoJ8EFGD1E5zOJCABCUhgMAgYpgQkIAEJSEACEpCABCTQjgQUYLVjrpvm9iZg6iUgAQlIQAISkIAEJCABCUhAAk1GQAFWPzJMJxKQgAQkIAEJSEACEpCABCQgAQm0PgFT2DgEFGA1Tl4YEwlIQAISkIAEJCABCUhAAq1GwPRIQAISqAoBBVhVwagnEpCABCQgAQlIQAISqBUB/ZWABCQgAQlIQAGWZUACEpCABCQggdYnYAolIAEJSEACEpCABJqagAKsps4+Iy8BCUigfgQMSQISkIAEJCABCUhAAhKQwGARUIA1WOQNtx0JmGYJSEACEpCABCQgAQlIQAISkIAE+kGgyQRY/UihTiQgAQlIQAISkIAEJCABCUhAAhJoMgJGVwILElCAtSAPnyQgAQlIQAISkIAEJCABCbQGAVMhAQlIoIUIKMBqocw0KRKQgAQkIAEJSEAC1SWgbxKQgAQkIAEJNAYBBViNkQ/GQgISkIAEJNCqBEyXBCQgAQlIQAISkIAEBkxAAdaAEeqBBCQggVoT0H8JSEACEpCAeD+NlgAAEABJREFUBCQgAQlIQALtTUABVnvnf/uk3pRKQAISkIAEJCABCUhAAhKQgAQk0LQEKhZgNW0KjbgEJCABCUhAAhKQgAQkIAEJSEACFRPQogQakYACrEbMFeMkAQlIQAISkIAEJCABCTQzAeMuAQlIQAJVJqAAq8pA9U4CEpCABCQgAQlIoBoE9EMCEpCABCQgAQm8QUAB1hssvJOABCQgAQm0FgFTIwEJSEACEpCABCQggRYhoACrRTLSZEhAArUhoK8SkIAEJCABCUhAAhKQgAQkMPgEFGANfh60egxMnwQkIAEJSEACEpCABCQgAQlIQAKtT6CmKVSAVVO8ei4BCUhAAhKQgAQkIAEJSEACEqiUgPYkIIHuCCjA6o6M+hKQgAQkIAEJSEACEpBA8xEwxhKQgAQk0JIEFGC1ZLaaKAlIQAISkIAEJNB/ArqUgAQkIAEJSEACjUZAAVaj5YjxkYAEJCCBViBgGiQgAQlIQAISkIAEJCCBKhJQgFVFmHolAQlUk4B+SUACEpCABCQgAQlIQAISkIAEOgkowOrk0Jq/pkoCEpCABCQgAQlIQAISkIAEJCCB1ifQBilUgNUGmWwSJSABCUhAAhKQgAQkIAEJSKBnAppKQAKNTUABVmPnj7GTgAQkIAEJSEACEpBAsxAwnhKQgAQkIIGaEVCAVTO0eiwBCUhAAhKQgAT6SkD7EpCABCQgAQlIQALlCCjAKkdFPQlIQAISaF4CxlwCEpCABCQgAQlIQAISaDkCCrBaLktNkAQGTkAfJCABCUhAAhKQgAQkIAEJSEACjURAAVZtckNfJSABCUhAAhKQgAQkIAEJSEACEmh9AqawTgQUYNUJtMFIQAISkIAEJCABCUhAAhKQQDkC6klAAhLonYACrN4ZaUMCEpCABCQgAQlIQAKNTcDYSUACEpCABFqcgAKsFs9gkycBCUhAAhKQQGUEtCUBCUhAAhKQgAQk0LgEFGA1bt4YMwlIQALNRsD4SkACEpCABCQgAQlIQAISqAkBBVg1waqnEugvAd1JQAISkIAEJCABCUhAAhKQgAQkUEqg9QRYpSn0WQISkIAEJCABCUhAAhKQgAQkIIHWI2CK2oqAAqy2ym4TKwEJSEACEpCABCQgAQlI4A0C3klAAhJoFgIKsJolp4ynBCQgAQlIQAISkEAjEjBOEpCABCQgAQnUgYACrDpANggJSEACEpCABHoioJkEJCABCUhAAhKQgAR6JqAAq2c+mkpAAhJoDgLGUgISkIAEJCABCUhAAhKQQAsTUIDVwplr0vpGQNsSkIAEJCABCUhAAhKQgAQkIAEJNCaBagqwGjOFxkoCEpCABCQgAQlIQAISkIAEJCCBahLQLwnUnYACrLojN0AJSEACEpCABCQgAQlIQAISkIAEJCCBvhBQgNUXWtqVgAQkIAEJSEACEmgcAsZEAhKQgAQkIIG2IaAAq22y2oRKQAISkIAEFiagjgQkIAEJSEACEpCABJqBgAKsZsgl4ygBCTQyAeMmAQlIQAISkIAEJCABCUhAAjUmoACrxoD1vhIC2pGABCQgAQlIQAISkIAEJCABCUig9Qn0P4UKsPrPTpcSkIAEJCABCUhAAhKQgAQkIIH6EjA0CbQpAQVYbZrxJlsCEpCABCQgAQlIQALtSsB0S0ACEpBA8xFQgNV8eWaMJSABCUhAAhKQwGATMHwJSEACEpCABCRQVwIKsOqK28AkIAEJSEACiYBXCUhAAhKQgAQkIAEJSKBSAgqwKiWlPQlIoPEIGCMJSEACEpCABCQgAQlIQAISaAsCCrDaIpu7T6QmEpCABCQgAQlIQAISkIAEJCABCbQ+gWZPoQKsZs9B4y8BCUhAAhKQgAQkIAEJSEAC9SBgGBKQwCASUIA1iPANWgISkIAEJCABCUhAAu1FwNRKQAISkIAE+kdAAVb/uOlKAhKQgAQkIAEJDA4BQ5WABCQgAQlIQAJtSEABVhtmukmWgAQk0O4ETL8EJCABCUhAAhKQgAQk0FwEFGA1V34ZWwk0CgHjIQEJSEACEpCABCQgAQlIQAISqBsBBVh1Q10akM8SkIAEJCABCUhAAhKQgAQkIAEJtD4BU1gNAgqwqkFRPyQgAQlIQAISkIAEJCABCUigdgT0WQISaHsCCrDavggIQAISkIAEJCABCUigHQiYRglIQAISkEAzE1CA1cy5Z9wlIAEJSEACEqgnAcOSgAQkIAEJSEACEhgkAgqwBgm8wUpAAhJoTwKmWgISkIAEJCABCUhAAhKQQN8JKMDqOzNdSGBwCRi6BCQgAQlIQAISkIAEJCABCUigzQi0pQCrzfLY5EpAAhKQgAQkIAEJSEACEpCABNqSgIluHQIKsFonL02JBCQgAQlIQAISkIAEJCCBahPQPwlIQAINQUABVkNkg5GQgAQkIAEJSEACEmhdAqZMAhKQgAQkIIGBElCANVCCupeABCQgAQlIoPYEDEECEpCABCQgAQlIoK0JKMBq6+w38RKQQDsRMK0SkIAEJCABCUhAAhKQgASalYACrGbNOeM9GAQMUwISkIAEJCABCUhAAhKQgAQkIIFBIFBnAdYgpNAgJSABCUhAAhKQgAQkIAEJSEACEqgzAYOTQHUJKMCqLk99k4AEJCABCUhAAhKQgAQkUB0C+iIBCUhAAl0EFGB1ofBGAhKQgAQkIAEJSKDVCJgeCUhAAhKQgARag4ACrNbIR1MhAQlIQAISqBUB/ZWABCQgAQlIQAISkMCgE1CANehZYAQkIIHWJ2AKJSABCUhAAhKQgAQkIAEJSGAgBBRgDYSebutHwJAkIAEJSEACEpCABCQgAQlIQAISaH0C3aRQAVY3YNSWgAQkIAEJSEACEpCABCQgAQk0IwHjLIFWJKAAqxVz1TRJQAISkIAEJCABCUhAAgMhoFsJSEACEmgwAgqwGixDjI4EJCABCUhAAhJoDQKmQgISkIAEJCABCVSPgAKs6rHUJwlIQAISkEB1CeibBCQgAQlIQAISkIAEJJATaFkB1r333hs777xzjBgxIrIsi6FDh8ZOO+0U//znP6O7v1I3iy22WBxwwAHx+OOPd+dEfQlIoMEJGD0JSEACEpCABCQgAQlIQAISaH4CLSnAuvTSS2PdddeNK6+8Ms+hlVZaKRdgXXXVVfGud70rMM8NCj833nhjbLbZZl1uVlhhhZg5c2acc845semmm8Zdd91VsN1WtyZWAhKQgAQkIAEJSEACEpCABCQggdYn0NApbDkB1q233hr7779/Dv20007LhVCPPfZYvPTSS/H1r3895s2bF5/97GfjkUceifTHCquDDz44pk6dGscee2zMmDEjX3U1ZcqU2GuvvWLy5Mlx1FFHxfTp05MTrxKQgAQkIAEJSEACEpCABCQggRICPkpAArUi0FICrDlz5sSpp56aC6K+/OUvx+GHH56vvALeqFGj4phjjontttsunnrqqXjwwQfRztVll10W9913X2529NFHx/Dhw3P9MWPGxBlnnBEbbbRRXHfddXHTTTfl+v5IQAISkIAEJCABCUhAAjUioLcSkIAEJCCBMgRaSoDFSqsbbrghll122fjkJz+Zn31VTDNCrD/+8Y8xd+7c2HbbbXOjV199Na6++ur8fp999gns5A+v/4wbNy4mTpwY8+fPD7Ygvq7tRQISkIAEJCABCTQsASMmAQlIQAISkIAEWo1ASwmw7r///nj66adj/fXXj+WXX76ivGJrIauvEFytueaaZd1wnhYGd999t9sIAaGSgAQk0PoETKEEJCABCUhAAhKQgAQk0EAEWkqA9d///jdHu/rqq+crpr7//e8Hh7FnWZZ/jXDPPfeMhx9+OLeTfl588cWYOnVqvvKKrw4m/eIVYdiiiy6an5v18ssvF428l4AEuiWggQQkIAEJSEACEpCABCQgAQlIoDoEhlTHm8bwZfbs2XlEOAtriy22yM/A4kuCCLHYNnjJJZfEeuut1/WlQSy/8sorwTZChFdjx45Fq3GUMZGABCQgAQlIQAISkIAEJCABCUig9QmYwl4JtJQAKx3M/uMf/zieeeaZuP766+OFF17o+qLgxz/+8UBgdcABB8RDDz3UKxwtSEACEpCABCQgAQlIQAISkEBzEDCWEpBAaxNoKQEW2/zIriFDhsS5554bW221VddB7nxR8Ic//GG8973vzb9CyGHu2FVJQAISkIAEJCABCUhAAjkBfyQgAQlIQAINS6ClBFhsFYQ0h7hvuOGG3C6g2CaYvj5422235WZLLrlkINyaNWtWsN0w1+zmZ9iwYYFwrBtjtSUgAQlIQAISaHsCApCABCQgAQlIQAISqAWBlhJgrbjiijmj0aNHx/Dhw/P70p+11lprAS3ssnKLrxGy3XABw9cfnnzyyXzr4UorrRTYf13biwQkIAEJ1IKAfkpAAhKQgAQkIAEJSEACEigh0FICrFVWWSVYJfXoo48GAqmStOaP9913X35NAq4lllgiEGqx+uqBBx7IzUp/brnlllyLA+BZxZU/+COBBiZg1CQgAQlIQAISkIAEJCABCUhAAq1EoKUEWOuuu25ssMEGMWnSpPjLX/6yUD6xwuqyyy7L9d///vfn15EjR8YOO+yQ359//vlpG2H+zA9urr322vwsrR133BEtlQQkIAEJSEACEpCABCQgAQlIQAKtQcBUNAmBlhJgsZrq05/+dI7+oIMOit/97ncxd+7c/HnatGlx+OGHB2dfbbTRRrHNNtvk+vxMnDgxX4V1zTXXxEknndQlxCq62WKLLWLzzTfHukoCEpCABCQgAQlIQAISkIAEugh4IwEJSKD2BFpKgAWuD3/4w3HsscfmZ1Z94AMfCIRanI3FYe0XXnhhLLXUUvGjH/0oxo0bh/VcYX7KKacEZ2Edf/zxC7nh7KvTTjst3D6Y4/JHAhKQgAQkIAEJSKDaBPRPAhKQgAQkIIEeCbScAIuzrRBg3XjjjcEXBznb6oknnsi/NPj5z38+7r777ij3hcKddtopX53FFWK4GTVqVOy///5x8803x4QJE9BWSUACEpCABCTQoASMlgQkIAEJSEACEpBA6xJoOQEWWZVlWbDljy2BbCGcP39+TJkyJb773e/Gcssth5Wyau21144rrrgiZs2aFbiZPn16nH322cEKrbIO1JSABCTQWgRMjQQkIAEJSEACEpCABCQggYYk0JICrIYkbaTahIDJlIAEJCABCUhAAhKQgAQkIAEJSKDaBBpPgFXtFOqfBCQgAQlIQAISkIAEJCABCUhAAo1HwBhJoA8EFGD1AZZWJSABCUhAAhKQgAQkIAEJNBIB4yIBCUigXQgowKpDTt9+++2hkoFlwDJgGbAMDKQMVKu5GkgcdGsZbtEyYD/NvqplwDJgGbAMWAZ6KQPV6osOxB8FWAOhp1sJSEACEpCABCJCCBKQgAQkIAEJSEACEqgtAQVYteWb+77BBhuESgaWAY3nFIgAABAASURBVMtAj2XAesJ6spcykDcoVfixHFoXWQYsA5YBy4BlwDJgGbAM9LUMVKEbOmAvFGAVEN57772x8847x4gRIyLLslhsscXigAMOiMcff7xgy9tGJWC8JCABCUhAAhKQgAQkIAEJSEACEmhNAkUBVmumsMJU3XjjjbHZZpvFlVdembtYYYUVYubMmXHOOefEpptuGnfddVeu748EJCABCUhAAhKQgAQkIAEJSKDJCRh9CTQdAQVYHVnGCquDDz44pk6dGscee2zMmDEjX3U1ZcqU2GuvvWLy5Mlx1FFHxfTp0zts+y8BCUhAAhKQgAQkIAEJSEACEpCABCRQTwIKsDpoX3bZZXHffffFdtttF0cffXQMHz68QzdizJgxccYZZ8RGG20U1113Xdx00025vj8SkIAEJCABCUhAAlUgoBcSkIAEJCABCUigQgJtL8B69dVX4+qrr85x7bPPPjFq1Kj8Pv2MGzcuJk6cGPPnz4+rrroqaXuVgAQkIAEJNAQBIyEBCUhAAhKQgAQkIIF2IND2AqyXXnopX32F4GrNNdcsm+frrrturn/33Xe7jTAn4Y8EWoqAiZGABCQgAQlIQAISkIAEJCCBBifQ9gKsF198MaZOnZqvvOKrg+Xya/nll49FF100HnnkkXj55ZfLWWlzPZMvAQlIQAISkIAEJCABCUhAAhKQQOsTGLwUtr0A65VXXgm2ESK8Gjt27ODlhCFLQAISkIAEJCABCUhAAhKQQOsTMIUSkEC/CLS9AKtf1HQkAQlIQAISkIAEJCABCQwaAQOWgAQkIIH2I6AAq/3y3BRLQAISkIAEJCABCUhAAhKQgAQkIIGmItD2Aqwll1wyxowZE7NmzYqZM2f2mHnDhg2LIUPaHlmPjDSUgAQk0D4ETKkEJCABCUhAAhKQgAQkUC8CbS+NGT16dH5AO18jfOGFF8pyf/LJJ4OzslZaaaXAfllLakpAAn0noAsJSEACEpCABCQgAQlIQAISkEAFBNpegLXEEkvEWmutla++euCBB8oiu+WWW3L99dZbLzjsPX9okB+jIQEJSEACEpCABCQgAQlIQAISkEDrE2j3FLa9AGvkyJGxww475OXg/PPPzwVZ+cPrP6zKuvbaayPLsthxxx1f1/UiAQlIQAISkIAEJCABCUhAAk1GwOhKQAJNTKDtBVjk3cSJE/NVWNdcc02cdNJJXUKsadOmxeGHHx633XZbbLHFFrH55ptjXSUBCUhAAhKQgAQkIIE2JWCyJSABCUhAAoNDQAFWB/cVV1wxTjnllPwsrOOPPz7YVogeB7xfeOGFwdlXp512mtsHO1j5LwEJSEACEpDAAAnoXAISkIAEJCABCUigzwQUYL2ObKeddspXWnFF64knnohRo0bF/vvvHzfffHNMmDABbZUEJCABCTQAAaMgAQlIQAISkIAEJCABCbQXAQVYhfxee+2144orrohZs2bF/PnzY/r06XH22WcHq7EK1ryVQCsQMA0SkIAEJCABCUhAAhKQgAQkIIGmIaAAq99ZpUMJSEACEpCABCQgAQlIQAISkIAEWp+AKWwEAgqwGiEXjIMEJCABCUhAAhKQgAQkIIFWJmDaJCABCQyQgAKsAQLUuQQkIAEJSEACEpCABOpBwDAkIAEJSEAC7UxAAVY7575pl4AEJCABCbQXAVMrAQlIQAISkIAEJNCkBBRgNWnGGW0JSEACg0PAUCUgAQlIQAISkIAEJCABCdSfgAKs+jM3xHYnYPolIAEJSEACEpCABCQgAQlIQAIS6BOBphRg9SmFWpaABCQgAQlIQAISkIAEJCABCUigKQkYaQkkAgqwEgmvEpCABCQgAQlIQAISkIAEWo+AKZKABCTQEgQUYLVENpoICUhAAhKQgAQkIIHaEdBnCUhAAhKQgAQGm4ACrMHOAcOXgAQkIAEJtAMB0ygBCUhAAhKQgAQkIIEBEFCANQB4OpWABCRQTwKGJQEJSEACEpCABCQgAQlIoF0JKMBq15xvz3SbaglIQAISkIAEJCABCUhAAhKQgASakEAfBVhNmEKjLAEJSEACEpCABCQgAQlIQAISkEAfCWhdAo1FQAFWY+WHsZGABCQgAQlIQAISkIAEWoWA6ZCABCQggaoRUIBVNZR6JAEJSEACEpCABCRQbQL6JwEJSEACEpCABCCgAAsKKglIQAISkEDrEjBlEpCABCQgAQlIQAISaHoCCrCaPgtNgAQkUHsChiABCUhAAhKQgAQkIAEJSEACg0lAAdZg0m+nsE2rBCQgAQlIQAISkIAEJCABCUhAAq1PoEYpVIBVI7B6KwEJSEACEpCABCQgAQlIQAIS6A8B3UhAAgsTUIC1MBN1JCABCUhAAhKQgAQkIIHmJmDsJSABCUigxQgowGqxDDU5EpCABCQgAQlIoDoE9EUCEpCABCQgAQk0DgEFWI2TF8ZEAhKQgARajYDpkYAEJCABCUhAAhKQgASqQkABVlUw6okEJFArAvorAQlIQAISkIAEJCABCUhAAhJQgNX6ZcAUSkACEpCABCQgAQlIQAISkIAEJND6BFo6hQqwWjp7TZwEJCABCUhAAhKQgAQkIAEJVE5AmxKQQKMSUIDVqDljvCQgAQlIQAISkIAEJNCMBIyzBCQgAQlIoAYEFGDVAKpeSkACEpCABCQggYEQ0K0EJCABCUhAAhKQwIIEFGAtyMMnCUhAAhJoDQKmQgISkIAEJCABCUhAAhJoIQIKsFooM02KBKpLQN8kIAEJSEACEpCABCQgAQlIQAKNQUABVi3zQb8lIAEJSEACEpCABCQgAQlIQAISaH0CprDmBBRg1RyxAUhAAhKQgAQkIAEJSEACEpBAbwQ0l4AEJNATAQVYPdHRTAISkIAEJCABCUhAAs1DwJhKQAISkIAEWpaAAqyWzVoTJgEJSEACEpBA3wnoQgISkIAEJCABCUigEQkowGrEXDFOEpCABJqZgHGXgAQkIAEJSEACEpCABCRQZQIKsKoMVO8kUA0C+iEBCUhAAhKQgAQkIAEJSEACEpDAGwRaVYD1Rgq9k4AEJCABCUhAAhKQgAQkIAEJSKBVCZiuNiGgAKtNMtpkSkACEpCABCQgAQlIQAISKE9AXQlIQAKNT0ABVuPnkTGUgAQkIAEJSEACEmh0AsZPAhKQgAQkIIGaElCAVVO8ei4BCUhAAhKQQKUEtCcBCUhAAhKQgAQkIIHuCCjA6o6M+hKQgASaj4AxloAEJCABCUhAAhKQgAQk0JIEFGC1ZLaaqP4T0KUEJCABCUhAAhKQgAQkIAEJSEACjUag+gKsHlI4c+bMuPrqq+OGG26IOXPm9GAzcvPf//738bWvfS2mTp3ao10NJSABCUhAAhKQgAQkIAEJSEACEqgzAYOTQB0J1FWAhSDq4IMPjm984xvx6quv9phMzE899dT4xS9+EQi+erSsoQQkIAEJSEACEpCABCQggSYkYJQlIAEJSKAyAjUVYM2fPz9eeOGFeOqpp3L17LPP5iurXnvttXj66adzvWRWer3yyivjX//6VwwbNiyGDKlpNCsjpS0JSEACEpCABCQggUYkYJwkIAEJSEACEmgDAjWXDJ122mmx/PLL52rChAnx5JNPxi233BJrrLFGrpfMSq8f+chH8q2DG2+8cYwbN64NssIkSkACEpCABAaLgOFKQAISkIAEJCABCUigsQnUVICVZVkcdNBBscUWW8RKK60Uyy23XE6DFVUrrLBCrod+ObXaaqvFoYceGmwjZBVW7tAfCUhAAo1KwHhJQAISkIAEJCABCUhAAhKQQM0I1FSARaxXXHHFuPHGG+Oxxx6L22+/PVZeeeV4z3veE/fdd1+uh3459fDDD8cPf/jDWHbZZcO/9iBgKiUgAQlIQAISkIAEJCABCUhAAhJofQL9SWHNBVjFSI0dOzZ+8pOf5Ie4jxw5smjkvQQkIAEJSEACEpCABCQgAQlIQAKVEdCWBNqOQF0FWKNGjYoddtghttxyy/xw9rajbYIlIAEJSEACEpCABCQggQYhYDQkIAEJSKCZCNRVgJXA8HXCRx99NC677LL40Y9+FAceeGC36phjjompU6eGfxKQgAQkIAEJSEACDUbA6EhAAhKQgAQkIIE6Eai7AOull16Kj370o7HqqqvG7rvvHocddlicffbZ3aqLLrooZs6cWSccBiMBCUhAAhKoLwFDk4AEJCABCUhAAhKQgAR6J1B3ARZnYP3qV7/KY/bWt741PvWpT8UBBxzQrULYxdbD3IE/EpCABBYmoI4EJCABCUhAAhKQgAQkIAEJtDiBugqwpk+fHldffXVkWRYXXnhh/Pe//41zzz03zjrrrG7VSSedFBz+3uL5MMjJM3gJSEACEpCABCQgAQlIQAISkIAEWp9A86awrgKsl19+OR555JHYYIMNYvvtt88FWc2LzphLQAISkIAEJCABCUhAAhKQQNsRMMESkMCgEKirAGvIkCH51wdHjx4dw4cPD/8kIAEJSEACEpCABCQggfYjYIolIAEJSEACfSVQVwHWuHHjYuONN46HHnoonnvuub7GVfsSkIAEJCABCUhAAp0E/JWABCQgAQlIQAJtRaCuAqxhw4bF5z73uZgxY0accMIJfl2wrYqaiZWABCTQaASMjwQkIAEJSEACEpCABCTQLATqKsCaO3dujB8/Pr7zne/Ez372s1hllVXiE5/4RJx88slxySWXlFUc+j5z5sxm4Wk8JdBeBEytBCQgAQlIQAISkIAEJCABCUigDgTqKsB69tlnY6ONNooDDjgg5s2bl28j/MUvfhFHH3107LnnnmXVwQcfHFOnTq0DisEJwlAlIAEJSEACEpCABCQgAQlIQAISaH0CpnBgBOoqwBo1alR89KMfzQVYCLEqUdjH3cCSqWsJSEACEpCABCQgAQlIQAISaHICRl8CEmhjAnUVYI0dOzZOOumkOOussypW2MddG+eRSZeABCQgAQlIQAISkECVCOiNBCQgAQlIoDkJ1FWA1ZyIjLUEJCABCUhAAhIoEPBWAhKQgAQkIAEJSKDuBBRg1R25AUpAAhKQgAQkIAEJSEACEpCABCQgAQn0hUBdBVhPPfVU/uXBLMsiyypTfKkQd31JlHYl0AYETKIEJCABCUhAAhKQgAQkIAEJSKBtCNRVgNVXqsstt1ysvPLKMXTo0L46rcC+ViQgAQlIQAISkIAEJCABCUhAAhJofQKmsBUI1FWAhUBq0qRJMX/+/LLq5ZdfjkcffTSOO+64WGSRRWK33XaLP//5z7HMMsu0AmvTIAEJSEACEpCABCQgAQlIoDkJGGsJSEACg0ygrgKs3tK62GKL5VsMv/71r8d5552Xf6nw3HPP7c2Z5hKQgAQkIAEJSEACEmh4AkZQAhKQgAQkIIH+E2goAVYxGdtuu22sv/76cfHFF8f06dOLRt5LQAISkIAEJNCeBEy1BCQgAQlIQAISkECbEmhdH6D5AAAQAElEQVRYAdbw4cNj9OjR8cgjjwRbC8M/CUhAAhKoAgG9kIAEJCABCUhAAhKQgAQk0HwEGlaA9dxzz8VDDz0Uw4YNiyFDGjaazZfjxnjgBPRBAhKQgAQkIAEJSEACEpCABCQggboSGBTJUE8pnD17dtx3331xxBFHxBNPPBEbb7xxjBs3ricnmklAAhKQgAQkIAEJSEACEpCABCTQgASMkgSqRWBItTyqxJ+nnnoqP6Q9y7LIsvJqxIgR8ba3vS3+8Ic/xNixY+Nzn/tcvgqrEv+1IwEJSEACEpCABCQgAQlIoMUImBwJSEACEuggUFcBVkd4Ff9vsskmccUVV+QrsCp2pEUJSEACEpCABCQgAQksREANCUhAAhKQgASanUBdBVjLLbdcTJo0KebPn9+r+sc//hGbbbZZs/M1/hKQgAQkIIHWIGAqJCABCUhAAhKQgAQkMIgE6irAGsR0GrQEJCCBQSdgBCQgAQlIQAISkIAEJCABCUigfwQGVYA1efLkOPPMM+PAAw/sUjw/+uij+Qqt/iVJVy1MwKRJQAISkIAEJCABCUhAAhKQgAQk0PoEFkrhoAiwXnrppfjIRz4SK6+8chx88MFx9tlndymeV1111fjwhz8cL7744kIRVkMCEpCABCQgAQlIQAISkIAEJCCB3ghoLoHWIlB3ARbCqw9+8IPxq1/9Kie54YYbxgEHHNCleMbgN7/5TXzoQx8K7POskoAEJCABCUhAAhKQgAQkUFcCBiYBCUhAAg1DoO4CrIsuuiiuv/76WG211eJf//pX3HbbbXHWWWd1KZ7Rxxx7l19+ecPAMiISkIAEJCABCUhAAn0joG0JSEACEpCABCRQDQJ1FWC9+uqrgUBqxIgR8fOf/zzWW2+9smlAH3PsIfDCXVmLakpAAhKQgARan4AplIAEJCABCUhAAhKQQNsTqKsAa8qUKXHPPffExhtvHBMmTOgRPubYu++++9xG2CMpDSUggd4JaEMCEpCABCQgAQlIQAISkIAEmplAXQVYCdTQoUMjy7L0WPaaZVlgb86cOTFv3rzwb5AJGLwEJCABCUhAAhKQgAQkIAEJSEACrU+gQVNYVwHWYostln958KGHHornnnuuRySYY48vFeKuR8saSkACEpCABCQgAQlIQAISkIAEGoSA0ZCABKpPoK4CrMUXXzy23nrreOKJJ+KEE06ImTNnlk0R+phj753vfGfgrqxFNSUgAQlIQAISkIAEJCCBViRgmiQgAQlIQAILEKirAIuQP/axj8Vyyy0X5557bmy66aZxwQUXxKRJk+Kpp57Krzyjjzn2Dj/8cJypJCABCUhAAhKQgAT6REDLEpCABCQgAQlIoHUI1F2A9Za3vCUXWi211FJx1113xT777BPjx4+P5ZdfPr/yjD7mCLOw3zq4TYkEJCABCTQVASMrAQlIQAISkIAEJCABCTQEgboLsEj1VlttFQ8//HB8+9vfjtVXXx2tLsUz+phjr8vAGwlIoCkJGGkJSEACEpCABCQgAQlIQAISkMBACQyKAItIjxkzJo466qjgoPb58+dHUjyjjzn2VCECCUhAAhKQgAQkIAEJSEACEpCABFqfgCnsgcCgCLDmzp0bl156aX6QO4KrFL8ZM2bEbrvtFjvvvHPce++9SdurBCQgAQlIQAISkIAEJCABCUigAgJakYAEWpVA3QVYs2fPjkMOOST22GOP+OMf/xjTp0/vYsvXB1mBdeWVV8Y666wT3/3ud/OVWV0WvJGABCQgAQlIQAISkIAEaktA3yUgAQlIQAINSKDuAiy+Lnj22WcHWwT322+/GDlyZBeWJZdcMq655po47rjjYvjw4fkWw+uuu67L3BsJSEACEpCABCTQDASMowQkIAEJSEACEpBAdQnUVYD16quvxuWXXx4jRoyIK664Ivbdd99cUJWSNHTo0FhxxRXj61//elx00UW59plnnhlz5szJ7/2RgAQkIIG2IWBCJSABCUhAAhKQgAQkIAEJdBGoqwBrypQpcc8998TGG28cEyZM6IpEuRu+QLj++uvHnXfeGS+88EI5K+pJQAI9EtBQAhKQgAQkIAEJSEACEpCABCTQGgTqKsBKyFhplWVZeix7ZQvh6NGj89VX8+bNK2un5poGIAEJSEACEpCABCQgAQlIQAISkEDrEzCFDU+grgKsxRZbLFZeeeX8C4NPPfVUj3Cee+654EB37OOuR8saSkACEpCABCQgAQlIQAISkMCgEjBwCUhAArUkUFcB1uKLLx5bb711IJw6/vjjY8aMGWXTxtcITzjhhHjiiSfy7Ya4K2tRTQlIQAISkIAEJCABCbQOAVMiAQlIQAISkEA3BOoqwCIOn/zkJ2ONNdaICy64IFZdddU4+uij45JLLulSJ554Yqy11lrB1wqxd/jhh+NMJQEJSEACEpCABCogoBUJSEACEpCABCQggVYkUHcB1iqrrBK//vWvY/XVV89XYp188smx5557dqmvfOUr8dhjj+Xm2MN+K4I3TRKQgAQaloARk4AEJCABCUhAAhKQgAQk0GAE6i7AIv18gfC///1v/OEPf4gPfvCDsdJKK3Upnn/zm9/Ev//9716/VIhfKgk0IgHjJAEJSEACEpCABCQgAQlIQAISkED1CAyKAIvo85XBXXbZJd86yIqrpNhOuMcee8SoUaOwppKABCQgAQlIQAISkIAEJCABCUigdQmYMglURGDQBFgVxU5LEpCABCQgAQlIQAISkIAEJNALAY0lIAEJtD4BBVitn8emUAISkIAEJCABCUigNwKaS0ACEpCABCTQ0ATaQoA1e/bs4OuHWZbF5Zdf3m2G3HvvvbHzzjvHiBEjIsuyWGyxxeKAAw6Ixx9/vFs3GkhAAhKQgAQk0EnAXwlIQAISkIAEJCABCdSKQFsIsM4999z4+c9/3iPDG2+8MTbbbLO48sorc3srrLBCzJw5M84555zYdNNN46677sr1/ZGABCRQQwJ6LQEJSEACEpCABCQgAQlIQAJlCLS8AOvWW2+NL33pS2WS/oYWK6wOPvjgmDp1ahx77LExY8aMfNXVlClTYq+99orJkyfHUUcdFdOnT3/DkXcNSsBoSUACEpCABCQgAQlIQAISkIAEJNBqBBYWYLVQCl966aX48pe/nKdolVVWya/lfi677LK47777Yrvttoujjz46hg8fnlsbM2ZMnHHGGbHRRhvFddddFzfddFOu748EJCABCUhAAhKQgAQkIAEJSKDpCZgACTQRgYYTYL366qtVwTd//vw45ZRT4vrrr4+vfvWr8d73vresv4R39dVX52b77LNPjBo1Kr9PP+PGjYuJEycG/l111VVJ26sEJCABCUhAAhKQgAQkIIEQgQQkIAEJ1IfAoAiwpk2bFkcccUR84hOfiDlz5nSllC1622+/fSyzzDJx0UUXxdy5c7vM+nrDiqkTTzwx9txzzzj88MO7dc4qLVZfIbhac801y9pbd911c/27777bbYQ5CX8kIAEJSEACEpBA1QjokQQkIAEJSEACEuiVQN0FWAiMPvCBD8Tpp58efPXv5Zdf7ookZ09x3tRzzz2Xnz11yCGHBF8Q7LJQ4c2kSZPisMMOi/Hjx8fJJ5/ctSWwnPMXX3wxpk6dmq+84quD5ewsv/zyseiii8YjjzwSxfiWs6ueBCQgAQlIoP4EDFECEpCABCQgAQlIQAKtTaDuAqxTTz0139Y3YcKE4OuAY8eO7SL85je/OR544IH405/+FCuttFKcffbZ8atf/arLvJIbBF4nnHBCPPzww7nwanyHEKsnd6+88kqwjRDhVTEuPbnRTAISaEECJkkCEpCABCQgAQlIQAISkIAEGpZAXQVYbBG84YYbAkHR+eefH+utt15kWbYAnKFDh8Y222wTv/nNb/JVT2wlRMC0gKUeHhB4Ifjab7/9Ytddd+3BpkbVJqB/EpCABCQgAQlIQAISkIAEJCABCbQ+gcFIYV0FWGy/YxveO97xjuhtZdTaa68d66+/ftxzzz0xZcqUitjceeed8ZnPfCbWWWed+Na3vtXj1sGKPNSSBCQgAQlIQAISkIAEJCABCUig+gT0UQIS6COBugqwUtw4nJ2v+qXnctcsy4LVWFHhH2drffGLXwy2BP74xz/OD4KvxOmSSy4ZY8aMiVmzZsXMmTN7dDJs2LAYMmRQkPUYLw0lIAEJSEACEpCABCTQfgRMsQQkIAEJtBOBukpjEBStscYacccdd+RnXfUE+tFHH41//etfgX3c9WQXs4ceeij+8Y9/5IKoLbbYIt+amGVZ1/UXv/gF1vJthVmWBV9ARGP06NH5VkUEYC+88AJaC6knn3wyF4xxLhf2F7KghgQkIAEJSEACEmhGAsZZAhKQgAQkIAEJNAmBugqwEP5MnDgxFwYdfPDBgZCqHKfHH388Dj300Jg6dWp+Hhbuytkr6o0YMSJWX331/PB3BE2lavjw4bl1VlxhNm7cuPx5iSWWiLXWWitffcUB8rlmyc8tt9yS63BmF4e95w/+SEACEpCABCJCCBKQgAQkIAEJSEACEpBA7QnUVYBFcvbZZ5/Yeuut45///GesuuqqsdFGG8WBBx7YpbbaaqtYZZVV4m9/+1tuD0EX7npT6667btx9993x2GOPlVUf/ehHcy/OO++83Px73/te/jxy5MjYYYcd8nsOli/dRsiqrGuvvTZfybXjjjvm9vyRgASqSkDPJCABCUhAAhKQgAQkIAEJSEACPRKouwCLFU8XXHBB7L777nnEEGTx1cCk/vKXv8S8efNyc+xhP7dYw5+JEyfmq7CuueaaOOmkk/LVWAQ3bdq0OPzww+O2224LtiVuvvnmaDegMkoSkIAEJCABCUhAAhKQgAQkIAEJtD6B9k1h3QVYoF522WXjt7/9bb4S6ic/+UkccMABXYpnvlR46aWXBvawX2u14oorximnnJKfhXX88ccHQjP02G544YUX5tsSTzvttHD7YK1zQv8lIAEJSEACEpCABCQgAQnUmIDeS0ACTUlgUARYiRRnUR100EFx1llndSmex48fn2/Zmz17djz//PPBVwuTm1pdd9ppp3ylFVfCeOKJJ2LUqFGx//77x8033xwTJkxAWyUBCUhAAhKQgAQkIIG2JyAACUhAAhKQQL0J1FWA9dRTT+XnW2255ZYxffr0HtOK+TbbbBMbbLBBPPvssz3arcSQs6/mz58fu+yyS7fW11577bjiiivyLxlilziwtZHVWN060kACEpCABCQgAQn0nYAuJCABCUhAAhKQgAT6QKCuAqw+xCtee+214AyqvrjRrgQkIAEJtBMB0yoBCUhAAhKQgAQkIAEJtAuBmgqwZs2aFXxFcOWVVw4Uq6n4SiBfGFxrrbVyPfTLqeWWWy7uvPPO/EuFiy++eLvkh+mUQH0JGJoEJCABCUhAAhKQgAQkIAEJSKAJCNRUgDVixIjYe++945lnnonJkycHmD8tUAAAEABJREFUWwhhwlcGOWMKve4U518NHz48/wpgIx+eTnpUEpCABCQgAQlIQAISkIAEJCABCbQ2AVM3uARqKsAiaZtvvnk8+eSTubrrrrti+eWXj0022SQefPDBXC+ZlV6ffvrpmDFjRnzgAx/Am6ZWt99+e6hkYBmwDFgGLAMDKQPVaggHEgfdWoYtA5YBy4BlYIBlwHGRY0PLQJOWgWr1RQfiT80FWFmWxbhx44ItgajVVlstP8id+57Um9/85mAF1kASp1sJSEACEpCABCQgAQm0FgFTIwEJSEACEmhPAjUXYBWxLrPMMsH5VxdffHGMHj26aNTS95z9pdog/6KkHORgGbAMWAb6Vwaq1VDKf4PYYIP+5YHs5GYZsAxYBiwDlgHLQLuWgWr1RQfiT00FWHPnzo1nn302V9yjeOYsrEoV9nE3kERW6vbee++NnXfeOTi7K8uy4OytAw44IB5//PFKvdCeBCQggbYgYCIlIAEJSEACEpCABCQgAQnUk0BNBVgInzbaaKNAcY/innOwKlXYx12todx4442x2WabxZVXXpkHtcIKK8TMmTPjnHPOiU033TQ4vys38EcC1SGgLxKQgAQkIAEJSEACEpCABCQgAQlUSKCmAqwK49BPa9Vzxgqrgw8+OKZOnRrHHntsfng8elOmTIm99torJk+eHEcddVRMnz69eoHqkwQkIAEJSEACEpCABCQgAQlIQAIVENCKBCJqKsDikPZJkyYFinsU9/Pnz49KFfZxV8vMuuyyy+K+++6L7bbbLo4++uiuw+PHjBkTZ5xxRr6C7LrrroubbrqpltHQbwlIQAISkIAEJCABCUhAArUhoK8SkIAEmpxATQVYzcDm1VdfjauvvjqP6j777BOjRo3K79MPX1CcOHFiLnC76qqrkrZXCUhAAhKQgAQkIIE2I2ByJSABCUhAAhIYPAINJcB64YUX4vLLLw9WRLFtrx5YXnrppXz1FYKrNddcs2yQ6667bq5/9913u40wJ+GPBCQgAQlIoF8EdCQBCUhAAhKQgAQkIIF+ERgUAdYDDzwQO+20U+y44475eVPE/JprromVV145dt1119h9993z++9+97v5yifMa6VefPHFmDp1ar7yiq8OlguHA+cXXXTReOSRR+Lll18uZ0U9CUhAAnUiYDASkIAEJCABCUhAAhKQgATaj0DdBVj/+c9/8q/9sR2P86340h+roDg8/ZVXXomxY8fG6quvnucEB6dz9lT+UKMfwmQbIcIrwq5RMHrbSASMiwQkIAEJSEACEpCABCQgAQlIQAJNRaBfAqyBpPDMM8+M559/Pl9pdcUVV8RSSy0V//73v+P2228PDmu/7bbb4qGHHopLLrkkD+anP/1pzJkzJ7/3RwISkIAEJCABCUhAAhKQgAQkIIH6ETAkCTQKgboKsNh+d+edd8YKK6wQp512Wqy66qo5B1ZZIaTadNNNY/z48bneVlttFeuvv35w7hRb/HJNfyQgAQlIQAISkIAEJCABCTQXAWMrAQlIQAJVIFBXAdb06dPjsccei7e85S2x9NJL59Fn+x6rrnjYZpttYtiwYdzG8OHDY/To0fmh6bNnz45a/S255JIxZsyYmDVrVrCdsadwiNuQIXVF1lN0NJOABCQgAQlIQAJtQsBkSkACEpCABCTQ7gQGXRrz5JNPxh133BEckr7hhht25cf8+fNj7ty5uUCrlkIjhGSEzTlcfAWxKwKFG+LIWVkrrbRSLlQrGHkrAQlIQAISaA4CxlICEpCABCQgAQlIQAJNTKCuAixWOq2xxhpx7733xlNPPZVj++tf/xpPP/10rLvuuvnKrFyz4+euu+6KW2+9Nd9myAHrHVo1+V9iiSVirbXWyldf8XXEcoHccsstufZ6660XtYxLHog/EpBAwxIwYhKQgAQkIAEJSEACEpCABCQwOATqKsBitdPEiRPjueeei/e///3x0Y9+NA477LA85dtvv30gTGLV1e9///vYe++982192MddbqkGPyNHjowddtgh9/n888/PBVn5w+s/rMq69tprI8uy2HHHHV/X9dJPAjqTgAQkIAEJSEACEpCABCQgAQlIoPUJVD2FdRVgEft99tkn9thjj/wsrIsvvjjYmrf11lvH5z73OYxj2rRp8a1vfSsmT54c6GM/N6jhD0IyVmFdc801cdJJJ3UJsYjL4YcfHpzRtcUWW8Tmm29ew1jotQQkIAEJSEACEpCABCQgAQlIIBHwKgEJFAnUXYDFKisEV//85z/jlFNOieuvvz6uvvrqfPUVEVt88cWDrxGeccYZcfnll3fpY1YrteKKK+Zx4Sys448/Pg8TPQ54v/DCC4Ozr0477TS3D9YqA/RXAhKQgAQkIAEJSEACtSCgnxKQgAQk0DIE6i7AgtzQoUNjgw02iCOPPDK22mqr/IuD6KP40t/pp58en/nMZ2LUqFFo1UXttNNO+UorrgT4xBNP5OHvv//+cfPNN8eECRPQVklAAhKQgAQkIIG2ImBiJSABCUhAAhKQQCMQGBQBVl8SzhZDzsXqi5v+2l177bXjiiuuyM/e4iuI06dPj7PPPjtYjdVfP3UnAQlIQAJtT0AAEpCABCQgAQlIQAISkMAACQyKAIuzpVhldeCBB0Z3apNNNonll18+/zrhs88+O8Bk6rzaBOZ3ePiXe+fEvme+EtueNCO2PnFGbP/tGXHoz2bGzQ/ODcw7rCz0P+O1iDOvnxUfPO2V3A3udvvejDjhstdiyozuXEXcPXle7jdh4IYwCZs4dO9qoeDVaFoCRlwCEpCABCQgAQlIQAISkIAE2plA3QVYkyZNig033DCOOOKIfHUTK5zKqf/7v/+Lp556KubMmdPO+VO9tFfRp1kdWfLN370W3+oQOk1+YX4sMixiiUUjhnaUpvufmhdf/82r8cM/zVpIiIWA6shfzoxf/9/smPrK/Bi9SMTiIyNmvBrx5w5hGMKv/z07b6GYXvD32fGFDnf4jSFhDR8aQdjf6ojD969ZOCzsqSQgAQlIQAISkIAEJCABCUhAAm1HoEUT3CFyqG/KOJz9wQcfjDFjxsRRRx0VP/vZz2LllVeO1VdfPX7605/mXyPkmVhxoPr9998fyy23HI+qBiHw29tmx43/nROjRkR8cadF4g9fGB2/PWJ0/OHI0bHP5sNjSEep+tO/Z8e/H1tQGHVph7sHn54XS47O4pS9Rub2L/v86DjngFGxylJZPDttfpz3twWFUdi/9NZZMbfDq13eOSyu/OKCYSE0u+qu2fH3B+Y2CB2jIQEJSEACEpCABCQgAQk0OwHjLwEJNB6BDlFD/SL18ssvx6233hojRozIz5r69re/HZ/4xCdi8803jylTpgTbBr/3ve/FvffeGxymjrDr4Ycfrl8EDalXAjNnRS68wuIu6w+P7d8xLDIeOhTCpD3fNSJWXXpIsFXwnsffECpNmxnxjwc7n/fYeHi8c/zQDhed/+M77H/8PSOCVVX3TJ6Xr6zqNIn49+S5gVvsfGrLRfJVXpgR1t6bjYi1lh8Sszu8vf1/c9BWSUACEpCABCQgAQk0BgFjIQEJSEACEqgqgboKsDgU/bHHHov11lsv3v72t+cJybIs/yLhiy++GI8++miuN3r06DjppJPy7YNnnnlmrudPYxBAWDR8WORbBhFUlcYq3xY4qlOk9dy0eV3Gk56fFzwvPjJig1XfEF4lC29bfmiMXTSL6a/Oj0ee7ZBIvW7w1NTOE65YtTWm5KOUCLyWXryzCL84vdPe6868SEACEpCABFqAgEmQgAQkIAEJSEACEkgEOkf/6alOVwRUw4cP7wrtbW97W37/3//+N7/ys8oqq+RCrjvvvDNYuYWeavAJIEQ64+Oj8i2D267bIckqidIz0+bH01PnxZAOGdbbVnhDUPXi9Hnx2uyIxUZmseRiHYYl7hZdJIvFOwRfczpkXi/NfMNwjWWH5H5NfmFePDll/hsGHXes8nr8xQ4HHfcrLzUoRbkjZP8lIIGGJmDkJCABCUhAAhKQgAQkIIGWIFDXUf/IkSNjmWWWiblz58b8+W8II9BbdNFFu1ZgQTbLshg6dGiwYuv/s3cfgFGUeR/H/5OQkBCEUAUEQQ8booK9IId6FsSCXTk9Gwh6iogKnnrn6d35gqKiZwe7Yu8gWDg7olgQG1Y6CFJCCQmBJO/+Hpi42Wz67mbL987ZMvPMM8/zmWEy89/neUYtt4z/xbWAxqiaOa/Y/vlcoanV1N7bp1ufXX4PcCkopeBU4wzPMtMrBrDUMqt5k83zg1tgKY/dOqXb8rWl9p+XCk1jYglC42X938uF9tPSEtu+bZqduM/vAVEtZ0IAAQQQQAABBBBAAAEEEEg8AUqMQGUCaZUtiMb8rbbaytSySuNgzZw5s2wTW2+9tbVo0cJmzZplfrAqPz/fli5dWpaGD/EpcMWEQjvsxnw7YlS+Xf5Eof28rMSO3bORXds/yzJ/j1/VufDK458nZVmvHdNNTyEc8mCB294Zd663j34qtm7bpJmWq4thnTfCiggggAACCCCAAAIIJI8ANUEAAQSSUiAtlrVq1KiRnXzyyVZUVGTHHHOMaXyrgoICa926te2xxx72/vvv2xNPPGELFy60O++802bPnm077LCDe2Kh8b+4FNjccspMXQs1sLpaYumJgLMWFEesvBo/a/aSElObvawMc+Nv6V0b+HV1aSCwFbltKU8mBBBAAAEEEEh1AeqPAAIIIIAAAvEmENMAlip/0kkn2aBBg2zNmjU2fvx4KywsNHUtHDx4sBbbkCFDrFOnTvbvf//bfT/nnHNMY2a5L7zEncB1J2a58bBevCzHNKn11er1pabufbPmbx6fqj6F/mVZif3rxUJblV9qZ/XKsFcuz3Hbm3hljg09MtPyC0vt1tc2mP+Ew/psi3URQAABBCIoQFYIIIAAAggggAACCERQIOYBrIyMDLvnnnts4sSJ1r9/f8vOznbVOfbYY23ChAllra2U7qabbrLTTjvNLecl/gX0BMK/Ht7Ydu2YZhpgfdLMjfUu9HOfbLQV60ptvz+k29m9M02tvJSpRss6fq8MO3L3RlZQZPbMx0WmJyRqGRMCySJAPRBAAAEEEEAAAQQQQAABBDYLxDyApc1qcPZ+/frZNddc41pfaZ7neS5YlZeXZytXrjR1LbzyyitNgSwtZ0oMgYx0sy5bngi4JK+kLKjUPBCnbBQ42tRiqqBInQHL12dtoZlabmnudm0DmQQ+aJ4/aHvPLummoFVgdrn/9u3ayI21tWBFqf22pkK+5dLyBQEEEEAAAQQQQAABBBBAAAEEElMgEFKoquCxX+Z5nhvQXUGu2G+dLVYnsCSv1M69b70NuHO96amDVaXPSPesUfrmFC2bplnjDLPCjaW2pqBioGn9hlJbG5ivIJeCXVqrNJCsJDDpc6NAXnoPnTTbC8wsCST20wa+8h8CCCCAAAIIIIAAApwC0h0AABAASURBVAgggECtBEiMQHwLRDWAVVBQYJMnT7bnnnuuzpPWVz7xzZg6pctoZK5V1dI1pTZ7ccUxrtSNb+7yzfNbb+WVtZrq3DrN2jRLM7Wq+uTnioOuf7Wg2I1zlZvj2Q7tNke9tso2a9XUc7hfzS92g7i7L0EvX8wrtg2bzFrkpFmz7M1pgxbzEQEEEEAAAQQQQACB2AmwJQQQQACBqAlENYCl7oAalP2UU06xuk5aX/lETYCMayXQOhBQ2mf7zQEmjTv10U+/B6P0BMInPiyybxaWWHam2Z+6B6JdW3Jvlm12wA6b13t+RpEFrzf3txKbMK3INgXiXj07p1v7FpsDUXo9bNdGbtyrd2dvsmenbywLYqlh1pQvN9mrn28eZ0t5axtbNscbAggggAACCCSoAMVGAAEEEEAAAQTCCUQ1gJWdnW1nnHGGe+qgnjxYl0nrK59whWdewwj85eBMN1D76vVm1z5TaMeOybcTx+bbcbfk22MfbA4onfvHTPMDXX4pzzgg03oEAlT+ekrf/9Z8GziuwOYtL7WOLT07r09mWastrXfE7o3smJ4ZpuDYff8rsmNuzt+8rcA2b560wQ3gvn/XdPtLr0wlZ0IAAQQQMMMAAQQQQAABBBBAAIGkE4hqACs3N9dGjRpl999/f50nra98kk4+gSvUIsez287MtosOz7RtWniuC5+CUqrS7p3SbMyfs+2kfTL0tdykpxTecHKWnbpfhuU28dyTCtWlMCfL7NBujWzsWdnWtpnaXf2+mr5dcmSm/euULNupfZoLZGlb6jbYqZVnw/o2NuWZ+Xtjr99X5hMCdRZgRQQQQAABBBBAAAEEEEAAgXgSSIunwlCWxBFIDxw5ClI9emETe+OqHJt6dY5NujLHbgsEoRTEskqqoiDW4MMy7flhTdw6Wu/l4Tl2Tf/GpsBYuNUUxDpwh3S7+9xsmzIyx62nbT48uIkd27OR62IYbj3mIYAAAggggAACCCCAAAIIIIBAlAVilH0gDBGjLYVspri42D7++GMbPny49ejRw7bddlv3fs0119gPP/xgpaUa5ShkJb4igAACCCCAAAIIIIAAAgggkGQCVAcBBKoXaJAA1nfffWfdu3e3/fff32677Tb78ssvbcGCBe79xhtvtJ122skOP/xw+/XXX6uvASkQQAABBBBAAAEEEEAg1QWoPwIIIIBAkgvEPIA1b948O/7442327NmmwdkHDx5sTz75pD377LP2+OOP29lnn+3mT5061Y4++mhbtmxZku8CqocAAggggAACCMSDAGVAAAEEEEAAAQTiVyCmASx1C7z55pvtxx9/tBNPPNEWLlxo9957r51++ul28skn25///Gd7+OGH3fxDDjnEvvjiC7v77rvjV4+SIYAAAgggECzAZwQQQAABBBBAAAEEEIiKQEwDWHl5eW7cq/bt29vo0aOtZcuWYSul+ffdd5+1adPG1BJr7dq1YdMxEwEEkk+AGiGAAAIIIIAAAggggAACCCAQKhDTAFZhYaHrErjjjjtau3btQstS7ruCXN26dbP58+fbunXryi3jS5UCLEQAAQQQQAABBBBAAAEEEEAAgeQXSKkaxjSAlZWVZW3btrXffvvNFMyqSnrjxo2Wn5/v0mu9qtKyDAEEEEAAAQQQQAABBBBAAIHaC7AGAggkikBMA1gtWrRwY119++239uCDD5rGxKoM6o033rDPPvvM+vXrZ1qvsnTMRwABBBBAAAEEEEAAgQYUYNMIIIAAAgjEQCCmASzV5+KLL7ZzzjnHrrrqKrvooots7ty55QJZq1evtlGjRtlZZ51lRx55pF122WVajQkBBBBAAAEEEEhaASqGAAIIIIAAAgggULVATANYS5YsMY1r9fDDD7uglZ5AuN1221laWpp5nuem3Nxc+9vf/mbqQjhlyhTTd8/bvMzzNr937tzZlFfVVWMpAggggEAKCVBVBBBAAAEEEEAAAQQQSGKBtCSuG1VDAIFaCZAYAQQQQAABBBBAAAEEEEAAgfgUiGkAS08WnDdvnmt9pfGv6jopD+UVd6QUCAEEEEAAAQQQQAABBBBAAAEEkl+AGsZcIKYBrJjXjg0igAACCCCAAAIIIIAAAgjEpQCFQgABBGoj0KABLI1z9c0339hzzz1XNum75temEqRFAAEEEEAAAQQQQCAFBagyAggggAACKSPQIAEsBahuueUWa968uXXv3t1OOeWUsknfc3Jy7Oabb3YDuafMnqCiCCCAAAIIINAAAmwSAQQQQAABBBBAIBEEYh7AUvBq6NChdsUVV1hBQYFlZGRYp06dyiZ9V5oRI0bYX//6V4JYiXAUUUYEEEhtAWqPAAIIIIAAAggggAACCERZIOYBrFdffdXuu+8+a9KkiT3xxBMuiDV//nzzJwW1NF/Lx48fb1OnTo0yAdkj0PAClAABBBBAAAEEEEAAAQQQQAABBCoXiGkAa9OmTTZhwgRXmgcffNAGDBhg6enp7rv/ou+ar+WapyCW1tPnKiYWIYAAAggggAACCCCAAAIIIIBA8gtQwxQViGkAa8WKFfbFF1/YXnvtZUcccUSV5FqudN99953l5eVVmZaFCCCAAAIIIIAAAggggAACNRUgHQIIIJB4AjENYJWUlJhaU2mQdo11VRWXlivdunXrGAerKiiWIYAAAggggAACCMRegC0igAACCCCAQEwFYhrAysrKsrZt29rSpUstPz+/yopqudIpvdarMjELEUAAAQQQQCDhBCgwAggggAACCCCAAAI1FYhpACs3N9f2228/mz17tj3yyCNWWloatpyar+VK1717d9N6YRMyEwEEEEhtAWqPAAIIIIAAAggggAACCKSEQEwDWJ7n2bnnnuueQDhy5EgbPHiw/fzzz1ZcXOyw9a7vmq/lehLhkCFDzPM8t5wXBCIvQI4IIIAAAggggAACCCCAAAIIIBDvAvUPYNWyhnvuuaeNHj3a0tLSbNy4cda1a1dr1KiRC1LpXd81X8uVbt99963lFkiOAAIIIIAAAggggAACCCCAAAIRFyBDBBpQIOYBLM/z7OKLL7avvvrKjjrqqLBV13wtVzrPo/VVWCRmIoAAAggggAACCCCAQMIJUGAEEEAAgboJxDyAtXz5cvdUwW7dutnkyZPdUwk1WPvixYvd4O56SqHma3ndqsRaCCCAAAIIIIAAAkksQNUQQAABBBBAIAUFYhrAKiwstLPPPtt23nln++mnnxx3enq6ezJh+/bt3bu+uwW8IIAAAggggECUBMgWAQQQQAABBBBAAIHEEohpAGvVqlX29ddfW4cOHWzrrbdOLClKW2eBletK7ZpnCu2E2/LtsBtrNinttYF1VgTWrfOGWRGBaAqQNwIIIIAAAggggAACCCCAQMwEYhrAysjIsKZNm5paYqmrYMxqyYYaTEABqAsfKrDpPxXbmoLyxajqm9J+FFjnosC6+lxVWpYhgAACCCCAAAIIIIAAAggggED8CkSiZDENYLVu3doGDRpkn332mY0dO9YKCmoR0YhEbckj5gL3TS2y5WtL67xdrXvPWxvqvD4rIoAAAggggAACCCCAAAJJIEAVEEh5gZgGsBSw2mGHHewvf/mL3XDDDdakSRPXnbB///52wQUXhJ2uuuoqy8vLM/6XmAKfzy2ud8Fn/FL/POpdCDJAAAEEEEAAAQQQSHABio8AAgggkMgCMQ1gKRB10UUX2SOPPFJmtmTJEnv55Zdt3LhxYacnn3ySllplWon3YVV+3Vtf+bWNRB5+XrwjgAACCCCAQD0EWBUBBBBAAAEEEGgggZgGsHJzc+3ee++1Z599tsaT0mu9BvJhswgggAACCERUgMwQQAABBBBAAAEEEECg9gIxDWBlZ2db37597eSTT67xpPRar/ZVYw0EEEhSAaqFAAIIIIAAAggggAACCCCQYgIxDWAF2/7000/26quvBs9yTye88sor7fbbb7c1a9aUW8aXSAqQFwIIIIAAAggggAACCCCAAAIIJL9A8tQw5gGs0tJSu+WWW0yDuet93bp1ZZoa5P2dd96xYcOGWadOnWzy5Mlly/iAAAIIIIAAAggggAACCCCAQMwF2CACCMSFQMwDWGp1NWLECFf5nXfe2b37L1lZWXb11Vfb4Ycf7lpgDRgwwL744gt/Me8IIIAAAggggAACCCCQgAIUGQEEEEAAgfoKxDSAtWnTJnv00UdNrbCeeuopN6B706ZNy+qgsa5OOOEEe/3112306NGmpxbecccdLn1ZIj4ggAACCCCAAAKpJ0CNEUAAAQQQQACBlBaIaQBrxYoVrkXVXnvtZUcccUSl8J7n2XnnnWfdunWzTz75xLRepYlZgAACCCCAQI0ESIQAAggggAACCCCAAAKJKhDTAFZJSYmpFVZOTo5lZGRUaabuhG3atDGNkbVx48Yq07IQAQRiJMBmEEAAAQQQQAABBBBAAAEEEGgAgZgGsBSUatu2rc2dO9dWr15dZXXz8/Nt6dKlpvRar8rECbSQoiKAAAIIIIAAAggggAACCCCAQPILUMPICsQ0gJWbm2v77befzZs3zx566CErLi4OWxuNkfXII4/Y7NmzrXv37qb1wiZkJgIIIIAAAggggAACCCCAQLIKUC8EEECgTCCmASzP8+z88893Aam///3v1rdvX5syZYotWbKkbJo2bZr179/fRo4c6dINHTrUPM8rKzAfEEAAAQQQQAABBBBAoKYCpEMAAQQQQCA5BGIawBJZz5497YEHHnBjYL355psuiNWhQwfzp4MOOsheeeUVt1zplF7rMSGAAAIIIIAAAg0iwEYRQAABBBBAAAEEGlwg5gEs1fjEE0903QiHDx/uxrjSPH/SmFcXXXSR/fLLL6Z0/nzeEUAAAQQSV4CSI4AAAggggAACCCCAAAL1EWiQAJYK3L59e7vlllvcQO0a88qfNHD7XXfdZR07dlQyJgQQ2CzAKwIIIIAAAggggAACCCCAAAIpK9BgAazYi7NFBBBAAAEEEEAAAQQQQAABBBBIfgFqmIwCUQ1g5eXl2VVXXeUmfdak7xdccIHVdFJ6rZeM+NQJAQQQQAABBBBAAAEEEIhLAQqFAAIIxJlAVANYBQUF9uSTT7pJnzXp+7hx46ymk9JrvThzozgIIIAAAggggAACCFQpwEIEEEAAAQQQiJxAVANY2dnZdsYZZ7hJnzXp+6BBg6ymk9JrvchVmZwQQAABBBBAIEEEKCYCCCCAAAIIIIAAAk4gqgGs3NxcGzVqlJv0WZO+33///VbTSem1nistLwgggAACtRQgOQIIIIAAAggggAACCCCQ+AJRDWAlPg81QMDMQEAAAQQQQAABBBBAAAEEEEAAgQYViEkAq0FryMYRQAABBBBAAAEEEEAAAQQQQCAmAmwEgWgJRDWAtWTJEuvcubN5nlfnSesrn2gBkC8CCCCAAAIIIIAAAgggEEcCFAUBBBBAIIxAVANYYbbqYBX6AAAQAElEQVTHLAQQQAABBBBAAAEEoixA9ggggAACCCCQbAIxC2ClpaXZWWedZR9++KEtWrTIFi9eXKNpxowZ1rZt22Rzpz4IIIAAAgjEtwClQwABBBBAAAEEEEAgjgSiGsBS4GnixIk2ePBga9y4sT322GN20EEHWe/evW3ChAmmoFb79u2tqkl5pKenxxEZRUEAAQRqJkAqBBBAAAEEEEAAAQQQQACByAhENYClwNNuu+1m9957r61du9a1vjr11FNtzpw5dsUVV1i7du2sZ8+e9vjjj9vq1auN/yEQIsBXBBBAAAEEEEAAAQQQQAABBBBIfoFqaxjVAFbw1hXMOvDAA+3pp5+2wsJCe/311+3oo4+2WbNmua6Fubm5dsABB9jLL7/slgevy2cEEEAAAQQQQAABBBBAAAEEEKhKgGUIJLdAzAJYwYwZGRl2xBFH2KRJk2zNmjX2zDPP2P7772/Tp0+3/v37W05OjvXr18+12Nq4cWPwqnxGAAEEEEAAAQQQQAABBKIjQK4IIIAAAnEr0CABrGANBatOOeUU++ijjywvL8+Nk7X77rvba6+9Zr169bJdd93Vli1bFrwKnxFAAAEEEEAAAQTiVIBiIYAAAggggAAC0RBo8ABWcKWaNWtm++67r2ud1aZNG7dow4YNVlxc7D7zggACCCCAQAoIUEUEEEAAAQQQQAABBBAIEWjwAFZpaanNnTvXrr32Wtt6661tp512sptuusl+++0369Gjh40aNcpat24dUmy+IoAAAlUJsAwBBBBAAAEEEEAAAQQQQCCZBBokgBUatNpuu+3sP//5jwtaKYClpxYuX77cvvjiCzvjjDNMY2YlE3pC1IVCIoAAAggggAACCCCAAAIIIIBA8gskSA1jFsDyg1Y33nijdezY0YKDVh06dLDRo0fbr7/+arNnz7bBgwdbq1atEoSQYiKAAAIIIIAAAggggAACCKSyAHVHAIHoC0Q9gLVgwQILDlpdc801tnjxYtMYV/o8Z84cW7hwoY0YMcJ1IYx+ldkCAggggAACCCCAAAIIxJkAxUEAAQQQQKBKgagGsJYsWeKeJKhAlYJWubm5dumll9r3339vS5cutX//+9/WpUsX8zyvykKyEAEEEEAAAQQQQKA6AZYjgAACCCCAAALJKxDVAFYoW3Z2tr3wwgv2pz/9yTp37mzbbrtttdPBBx9sy5YtC82K7wgggAACCERegBwRQAABBBBAAAEEEEAgLgViGsBSiyx1KazNNH/+fCsuLo5LPAqFAAIVBZiDAAIIIIAAAggggAACCCCAQKQFohrAUpdBPVHw2WeftbpOWl/5RLricZwfRUMAAQQQQAABBBBAAAEEEEAAgeQXoIa1EIhqAEtdBvv27Wsnn3xynSetr3xqUSeSIoAAAggggAACCCCAAAIIpIQAlUQAgVQRiGoAK1UQqScCCCCAAAIIIIAAAgkrQMERQAABBBBIAAECWAmwkygiAggggAACCMS3AKVDAAEEEEAAAQQQiK4AAazo+pI7AggggEDNBEiFAAIIIIAAAggggAACCFQqQACrUhoWIJBoApQXAQQQQAABBBBAAAEEEEAAgeQUIIAVvF/5jAACCCCAAAIIIIAAAggggAACyS9ADRNOgABWwu0yCowAAggggAACCCCAAAIINLwAJUAAAQRiKUAAK5babAsBBBBAAAEEEEAAgd8F+IQAAggggAACNRQggFVDKJIhgAACCCCAQDwKUCYEEEAAAQQQQACBVBAggJUKe5k6IoAAAlUJsAwBBBBAAAEEEEAAAQQQiHMBAlhxvoMoXmIIUEoEEEAAAQQQQAABBBBAAAEEEIieQLwEsKJXQ3JGAAEEEEAAAQQQQAABBBBAAIF4EaAcCNRJgABWndhYCQEEEEAAAQQQQAABBBBoKAG2iwACCKSeQFIGsNasWWM33XSTdenSxTzPc1PTpk1t0KBBtnDhwkr38rfffmvHHHOMZWZm1nidSjNjAQIIIIAAAggggED8ClAyBBBAAAEEEEgogaQLYM2bN88OPPBAGzlypOlzmzZtbJtttrGCggIbP3687bTTTjZp0qQKO+ndd9+1gw46qGxZ8DrKb+bMmRXWYQYCCCCAAAKpLEDdEUAAAQQQQAABBBCIlUBSBbA2btxoV155pX3zzTd28MEH24IFC2zZsmWu1dWqVatswIABtn79ehs2bJhb5iOrVdaQIUMsLy/PrrvuOsvPzy+3jvIZMWKErVu3zl+FdwQQQCASAuSBAAIIIIAAAggggAACCCBQA4GkCmD99NNPNnXqVMvNzbW7777bOnbsWEbQrFkzu+OOO2yfffYxpXvvvffKlr300ks2e/ZsO/LII13LrYyMDLcseJ233nrLPvjgAzefl3gSoCwIIIAAAggggAACCCCAAAIIIJDsAmmWRDVctGiRpaenW48ePaxLly4VataqVSvbZZdd3Hy1utKHwsJCmzx5sj7aWWedZdnZ2e6z/6J1+vfvb6Wlpfbaa6/5s3lHAAEEEEAAAQQQQAABBBBAILEEKC0CCSyQVC2w/vSnP7kug2+//bZp0PbQ/bJp0ybXPTB4/urVq13rKwWudtxxx+BFZZ93220393nWrFl0I3QSvCCAAAIIIIAAAgggkJoC1BoBBBBAoGEEkiqAVR2hugmqi6GeMti7d2+XfOXKlZaXl+daXoULeilRhw4drEmTJjZnzhxbu3atZjEhgAACCCCAAAII1E2AtRBAAAEEEEAAgVoLpEwASy2tNHi7glXHH3+87b333g5Lg7qrG6GCV7m5uW4eLwgggAACCMS3AKVDAAEEEEAAAQQQQCC1BFIigKXg1cCBA90A7zvssIPdfPPN5g/Unlq7m9oigECZAB8QQAABBBBAAAEEEEAAAQQSRiDpA1i//vqrnXTSSfbcc8/Z9ttvby+//LJ17tw5YXZQPBeUsiGAAAIIIIAAAggggAACCCCAQPILxEMNkzqA9d1339khhxziWl7tuuuu9vrrr5c9hdDHb9GihTVr1syKioqsoKDAnx32vVGjRpaWltRkYevNTAQQQAABBBBAAAEEEEAAgXoJsDICCNRTIGmjMZMmTXLjXGng9iOOOMLee+8969q1awWunJwcN0C7uhmuWLGiwnLNWLx4sWmsrE6dOpnSax4TAggggAACCCCAAAIIxFKAbSGAAAIIpLJA0gWwSktL7emnn7bjjjvOBZ0uu+wye+mll6xly5Zh93Pz5s1t5513dq2vfvjhh7Bppk+f7ubvvvvupsHe3RdeEEAAAQQQQACBRBOgvAgggAACCCCAQIIKJF0A64UXXrABAwZYSUmJjR492g3Ynp2dXenuycrKsr59+7rljz32mAtkuS9bXtQq68033zTP8+zoo4/eMpc3BBBAAIFUFaDeCCCAAAIIIIAAAgggEHuBpApgLVy40K699tqy4NWVV15p6enp1ar279/ftcLSGFmjRo0qC2KtWbPGhg4dajNmzLDevXtbr169qs2LBAggUK0ACRBAAAEEEEAAAQQQQAABBBColUBSBbCeeOIJ05hXEhg5cqQbcN3zPNd6yvPKv6t1ltJp6tixo40ZM8aNhXXDDTeYuhVqngZ4nzBhgmnsq7Fjx8ZR90GVmgkBBBBAAAEEEEAAAQQQQAABBJJbgNr5AkkTwCosLHQDtfsVq+17v379XEsrvWvdRYsWmboeDhw40KZNm2Y9evTQbCYEEEAAAQQQQAABBBBAAIFEEqCsCCCQFAJJE8DSWFZ68qAGca/JpBZaoXuwW7duNnHiRCsqKjLlsW7dOhs3bpypNVZoWr4jgAACCCCAAAIIIJAqAtQTAQQQQACBhhZImgBWQ0OyfQQQQAABBBBAoAoBFiGAAAIIIIAAAgjUQ4AAVj3wWBUBBBBAIJYCbAsBBBBAAAEEEEAAAQRSVYAAVgz2/GeffWapOkWKN1X9Il7vFD4WsUzd81Cy7HvOpxzDyXIsUw+OZY4BjgGOAY4BjoHEOwYidS1an3wIYNVSj+QIIIAAAggggAACCCCAAAIIIJD8AtQwvgQIYMVgf+y1116WqlOkeFPVj3qn7r8d9j37PvQY4HzKMRF6TPCdY4JjgGMgAY6BlL0PYt/w7zPZjoFIXYvWJx8CWPXRY10EEEAAAQQQQAABBKIqQOYIIIAAAgggIAECWFLYMn377bd2zDHHWGZmpnmeZ02bNrVBgwbZwoULt6TgDQEEEEAAAQQSToACI4AAAggggAACCCS8AAGsLbvw3XfftYMOOsgmTZrk5myzzTZWUFBg48ePtwMPPNBmzpzp5vOCAAIIpKIAdUYAAQQQQAABBBBAAAEEGlKAAFZAXy2shgwZYnl5eXbddddZfn6+a3W1atUqGzBggC1YsMBGjBhh69atC6TmPwTqJMBKCCCAAAIIIIAAAggggAACCCBQR4EECmDVsYY1WO2ll16y2bNn25FHHmkjR460jIwMt1azZs3sjjvusH322cfeeust++CDD9x8XhBAAAEEEEAAAQQQQAABBBBAIFoC5ItARYGUD2AVFhba5MmTncxZZ51l2dnZ7rP/0qpVK+vfv7+Vlpbaa6+95s/mHQEEEEAAAQQQQAABBBCIXwFKhgACCCSZQMoHsFavXu1aXylwteOOO4bdvbvttpubP2vWLLoROgleEEAAAQQQQACB5BeghggggAACCCAQPwIpH8BauXKl5eXluZZXeupguF3ToUMHa9Kkic2ZM8fWrl0bLgnzEEAAAQQQQKCiAHMQQAABBBBAAAEEEIiIQMoHsNavX2/qRqjgVW5ubkRQyQQBBBCInAA5IYAAAggggAACCCCAAAIIpHwAi0MgBQSoIgIIIIAAAggggAACCCCAAAIIJLRAjQJYCV1DCo8AAggggAACCCCAAAIIIIAAAjUSIBEC8SqQ8gGsFi1aWLNmzayoqMgKCgqq3E+NGjWytLSUJ6vSiIUIIIAAAggggAACCKS4ANVHAAEEEIiCQMpHY3JyctwA7Xoa4YoVK8ISL1682DRWVqdOnUzpwyZiJgIIIIAAAggggECEBMgGAQQQQAABBBAoL5DyAazmzZvbzjvv7Fpf/fDDD+V1tnybPn26+7T77rubBnt3X3hBAAEEEEAgngUoGwIIIIAAAggggAACSSSQ8gGsrKws69u3r9uljz32mAtkuS9bXtQq68033zTP8+zoo4/eMpc3BBBIBQHqiAACCCCAAAIIIIAAAgggEB8CKR/A0m7o37+/a4X1+uuv26hRo8qCWGvWrLGhQ4fajBkzrHfv3tarVy8lZ6q5ACkRQAABBBBAIAkESgN1+Glpid3xepGdcsd6e+XzTYE51f9XUGQ2+ctNNuyxArvggQJbU/VwoxUyfOe7TXbU6Hw77Mb8Gm+zQibMQAABBBBAAIFYCER9GwSwAsQdO3a0MWPGuLGwbrjhBlO3Qs3TAO8TJkwwjX01duxYug8GrPgPAQQQVzm5tQAAEABJREFUQAABBFJDwA9ajXplg514W74NDgSgXv5so61cpyWVGyho9VIgnQJWx9+ab2MmbbCvFpRYcUnl64RbsmxNqT3wTpFtLA63lHkIIIBAMgpQJwQQqEqAANYWnX79+rmWVnrXrEWLFll2drYNHDjQpk2bZj169NBsJgQQQAABBBBAICUEZvxcbEMfKbA3v95kawvMOrb0LKdx9VX/+3OF9t/Xi+znpSWWlWHWubVX/UohKRQiezAQvFq8Sp9CFvIVgaoEWIYAAgggkLQCBLCCdm23bt1s4sSJVlRUZKWlpbZu3TobN26cqTVWUDI+IoAAAggggAACSSvgVyw9cJW4bes0G3JYpr1wWY799+wm1qZZYKZV/b+mgSBXr53SA+mz7eXLc6z/3plVrxBm6bvfbTJ1H2zZ1LPWgSlMEmYhgAACCCCAQIoJVH8VkmIgVBcBBBBAAIF6CrA6AkkhsNd26Xbvedl2yn4Z1iy75lX650lZdn1g6rZNmtW+7ZWZ33VQWzz74Exrml2XXIz/IYAAAggggECSCaQlWX2oDgIIJIUAlUAAAQQQSEUBdRj0uw722aWRHbRjeioyUGcEEEAAAQQQCCNAACsMSlLMohIIIIAAAggggECCCfhdBzu08Oy8PpmWnkbrqwTbhRQXAQQQQKAhBFJkmwSwUmRHU00EEEAAAQQQQCCeBYK7Dp4fCF61bUbwKp73F2VDINkEqA8CCMS/AAGs+N9HlBABBBBAAAEEEEhqgdCug3/cpVFS1zdJK0e1EEAAAQQQiKoAAayo8pI5AggggAACCCBQU4HUTRfadZC2V6l7LFBzBBBAAAEEKhMggFWZDPMRQAABBBJPgBIjgEDCCdB1MOF2GQVGAAEEEECgQQQIYDUIOxtFIH4FKBkCCCCAAAKxFHj24422eFWpbSw2+9eLG+ywG/PLphNuy7e5v5W44tw+ZfOy88cV2JoCN4sXBBBAAAEEEEghAQJYkd/Z5IgAAggggAACCCBQQ4HGGWbNm4SfmmWbpW+5Wm2SuTlNsywzzzP+hwACCCCAQDwIUIYYCmy5JIjhFtkUAggggAACCCCAAAJbBAb2ybQXhuWEnR4ZkmOdWm2+XB10aGOX5razsm2rQBBry+q8IYBAwgtQAQQQQKBmApuvCGqWllQIIIAAAggggAACCCAQbwKUBwEEEEAAgRQQIICVAjuZKiKAAAIIIIBA1QIsRQABBBBAAAEEEIhvAQJY8b1/KB0CCCCQKAKUEwEEEEAAAQQQQAABBBCImgABrKjRkjECtRUgPQIIIIAAAvEroAHVHxiUbVOvzrHj9mxU44IqrdbRusqjxisGEiq91tP6yicwi/8QQAABBBBAIEUFkiuAlaI7kWojgAACCCCAAAIIIIAAAgggkFICVDblBAhgpdwup8IIIIAAAggggAACCCCAgBkGCCCAQCIJEMBKpL1FWRFAAAEEEEAAAQTiSYCyIIAAAggggECMBAhgxQiazSCAAAIIIIBAOAHmIYAAAggggAACCCBQvQABrOqNSIEAAgjEtwClQwABBBBAAAEEEEAAAQSSXIAAVpLvYKpXMwFSIYAAAggggAACCCCAAAIIIIBA/ApEKoAVvzWkZAgggAACCCCAAAIIIIAAAgggECkB8kGgQQQIYDUIOxtFAAEEEEAAAQQQQACB1BWg5ggggAACtRUggFVbMdIjgAACCCCAAAIINLwAJUAAAQQQQACBlBIggJVSu5vKIoAAAggg8LsAnxBAAAEEEEAAAQQQSBQBAliJsqcoJwIIxKMAZUIAAQQQQAABBBBAAAEEEIiBAAGsGCCziaoEWIYAAggggAACCCCAAAIIIIAAAskvUL8aEsCqnx9rI4AAAggggAACCCCAAAIIIBAbAbaCQAoLEMBK4Z1P1RFAAAEEEEAAAQQQSDUB6osAAgggkJgCBLASc79RagQQQAABBBBAoKEE2C4CCCCAAAIIIBBzAQJYMSdngwgggAACCCCAAAIIIIAAAggggAACtREggFUbLdIigED8CFASBBBAAAEEEEAAAQQQQACBlBEggJUyu7piRZmDAAIIIIAAAggggAACCCCAAALJL5AMNSSAlQx7kToggAACCCCAAAIIIIAAAghEU4C8EUCggQUIYDXwDmDzCCCAAAIIIIAAAgikhgC1RAABBBBAoO4CBLDqbseaCCCAAAIIIIBAbAXYGgIIIIAAAgggkKICBLBSdMdTbQQQQCBVBag3AggggAACCCCAAAIIJJ4AAazE22eUGIGGFmD7CCCAAAIIIIAAAggggAACCMRUgABWTLn9jfGOAAIIIIAAAggggAACCCCAAALJL0ANIyVAACtSkuSDAAIIIIAAAggggAACCCAQeQFyRAABBAICBLACCPyHAAIIIIAAAggggEAyC1A3BBBAAAEEEl2AAFai70HKjwACCCCAAAKxEGAbCCCAAAIIIIAAAg0oQACrAfHZNAIIIJBaAtQWAQQQQAABBBBAAAEEEKibAAGsurmxFgINI8BWEUAAAQQQiFOBletK7ZpnCu2E2/LtsBtrNinttYF1VgTWjdNqUSwEEEAAAQQQiBOBlAtgxYk7xUAAAQQQQAABBJJGQAGoCx8qsOk/FduagppXS2k/CqxzUWBdfa75mqREAAEEEECgegFSJJcAAazk2p/UBgEEEEAAAQQQiLnAfVOLbPna0jpvV+ve89aGOq/PigggEDUBMkYAAQTiRoAAVtzsCgqCAAIIIIAAAggkpsDnc4vrXfAZv9Q/j3oXIioZkGk8CSjMOuqVDa6b64lj823hSs0pX8KCIrMLHyxwaSrrDlvZuuVz4hsCCCCAQCQFCGBFUpO8EEAAAQQQQCDyAuQY9wKr8isGAWpb6EjkUdttkj71BN79bpO9E5iqqvnGQCy1KDBVlYZlCCCAAAKxFyCAFXtztogAAgjEXIANIoAAAgggkOoCy9aU2gPvFJkCVFVZrCkotVX5JbZVltm952Xb1KtzKkwvDMuxji29qrJhGQIIIIBAhAUIYEUYlOySVoCKIYAAAggggAACCCSogNoIPhgIXi1eVWpd2qRZZqPKK1JQVGolJWZpgTul7Eyv8oQsQQABBBCIqUDgtByr7bEdBBBAAAEEEEAAAQQQQCD2An7XwQ4tPDt1vwyrKiy1Kr/UijaZtchJs2bZVaWMfT3YIgKJI0BJEYi8AAGsyJuSIwIIIIAAAggggAACCMSJgN91UMU5v09mIDBVdVAqb32p62aY09gsO1NrNdDEZhFAAAEEygkQwCrHwRcEEEAAAQQQQACBZBGgHggEdx3ss0sj+2Ngqk6lcKNZSWDFletK7dJHC+yo0fnuiYR6/9vThTb3t5LqsmA5AggggEAUBAhgRQGVLBFAAAEEEEgSAaqBAAIIJLRAcNfB8/pkVtl10K/onGWbH0G4JK/Uvl9S4lpjaZkGf//k52IbGghqffzT5jSaz4QAAgggEBsBAlixcWYrCCCQsgJUHAEEEEAAAQQaQiC062DbZlV3HfTL2D43zZpmme3cPq3sKYRvXZ1jo0/Pct0P8zeY3f3WBtNYWcb/EEAAAQRiJkAAK2bUbKjOAqyIAAIIIIAAAggggEAtBEoDaf2nDta062BgFfffqftn2MvDc+yuc7Nth3abb5cU+tp7+3QbcUxja9zITE8znPELrbAcGC8IIIBAJAWqyGvzGbmKBCxCAAEEEEAAAQQQQAABBBJJoC5dB2tSv55d0q1rIKilMbJ+/JWxsGpiRprYC7BFBJJVgABWsu5Z6oUAAggggAACCCCAQAoKrC00e+LDjW7sKrWUOuPO9W4Q9sNu3DwYuwZi37DJbPV6s7Pv3bzs9ikbgqUq/ZyRbpbZSO2xzDYVq51XpUlZgAACCCAQYQECWBEGJTsEEEAAAQQQQAABBBBoWIGmjc2aNwk/5TTeXDaFobbKMpcuJ0vfzGbOK7YBgYDXXx8qCDvGlQZyL9q0OXDVKH3zOptz4xUBBBBAINoCBLCiLUz+CCCAAAII1EWAdRBAAAEE6iSgoNRtZ2XbC8Nywk7X9s9y41g1CwS47jyniUszsE+m25YGcFf3wJ+Xldg3iyp2EZz7W4ktWFFiaYHY1Q7tuJVyaLwggAACMRLgrBsjaDaDAAKxF2CLCCCAAAIIIIBAbQTaNvesR+d01/3w3rc22E9Lfw9i6amD904tsjUFZtu2TrP9uzaqTdakRQABBBCopwABrHoCJvnqVA8BBBBAAAEEEEAAgZQR8AI1HXxYpnv64JK8UhvyQIH1vzXfTrgt307773rXxVBdEC84JNOaZQcS8x8CCCCQPAJxXxMCWHG/iyggAggggAACCCCAAAIIxEqgRY5nt/w5287tnWmtmnqmQeHV6io70+yPO6fb3ec2sf26pseqOGwnoQQoLAIIRFOAAFY0dckbAQQQQAABBBBAAAEEai4Qg5T7/iHdXhuxeXysji29sFtUK6sze2XY00Ob2NSrc9z08vAc+8eJWVbZOmEzYiYCCCCAQMQECGBFjJKMEEAAAQQQQACBhhegBAgggAACCCCAQDIKEMBKxr1KnRBAAAEE6iPAuggggAACCCCAAAIIIBBnAgSw4myHUJzyAhpn4NYzGSGzvEoifKOMCCAQbwKcT+Ntj1AeBBBAAAEEEEAAgdoIEMCqjVYs07ItO3nfDBt6VGPbY9vyh+nGjRtt+vTpNmTIENtjjz1syZIllWoVFhZav379zPO8SqfOnTtXmUelmbMAAQQQSBCBSJxPg6u6YsUKu+WWW2z33Xe39PR04zwarMNnBBBAAAEEEECglgIkr5FA+chAjVYhEQLRF2i9lWc9uqRb8yae25iCVh9++KGdfvrplpOTYwcccIDdd999lpeX55ZX9rJp0ybLz8+vbDHzEUAAgaQXiNT5VFClpaX26KOPWvv27e2KK66wr776ygWwtt12W/euNEwIIIAAAgg0hADbRACB5BcggJX8+zgha5iRbtYk0zNvS+lvvfVW69Wrlz399NPWqFEj69Onj3mev3RLojBva9eutTlz5li7du3s559/Nt18hU7z5s1zN2NhVmcWAgggkPACkTqf6typc/HZZ59t+lFBrWDnz59vRUVF9v7771vbtm0T3ooKIJDiAlQfAQQQQACBuBYggBXXuyd1C5ceODKDw1NNmjSxc845x3UdVFBqzJgxlp1d/dhYBQUF7uYqMzOzRulTV5yaI4BAsgpE6nz67bff2qhRoywtLc0eeughu/vuu61Tp07JylbHerEaAggggAACCCCAQLQE0qKVMfkiUB+B4hKz4pLSsiwuueQSd8O033771aqbyqpVq2zNmjW23Xbb2VZbbVWWHx8QQCBOBShWxAUicT5V66t77rnHli9fbueee66deeaZNWoFG/HKkCECCCCAAAIIIIBAygoQwErZXR/fFc9bX2pzfiuxok31K6cCWGqF1bp1a8vKyqpfZrDM13AAABAASURBVAmyNsVEIFIC+RvX2+0zH7UjXjrP9nn6ZDcd+sLZds1HY23lhtWR2gz5RFkgEudTDdr+9ttvm1qznn/++a4rd5SLTfYIIIAAAggggAACCJQTIIBVjsN94SUOBAqKzCZ/uck+m1tsaj1Q1yIpeKWWAxrnqn///u7my/M89z5o0CBbuHBhXbNmPQSSWmBx/jI7f+o19vj3r9iqDWusaUYTa5bZ1NYFglpvzP/A/jzlCvsxb15SGyRL5SJxPtVYgpr01EE9SOOMM85w51HP86xFixY2cuRI19o1WcyoBwIIIIAAAgikjAAVTSCBtAQqK0VNMYFflpXYf14qtFsnb6hzzTVmi1b+9NNPbdKkSW7gYX3XAMTjx4+3nj17mpZpHhMCCPwuMO6bZ+zn1QusdVYLe/jwUfb2iY/a1BMetiePutW2a9bRlheusjGfP2BFJRt/X4lPcStQ3/Ppr7/+avpBQE8d3Guvveypp56y3Nxca9OmjeXl5dlNN91ke++9t+nHgrhFoGAIIIAAAlESqDrb4uJi0zX5888/bw8++KDdf//97nvVa7EUAQQQqChAAKuiCXPiSEAtB6Z8uanOJerSpYt7MtZxxx1nv/zyi3sKYUlJiX3xxRe2/fbbu/FcLr74Ylu9enWdt8GKCCSbgFpcfb3iR1et83Y9yXZt2dV91ssfmneyC7qfao3SGtkvaxbakvzfNJspAQTqcz798cfNx8OGDRusR48e9sMPP9iyZcvcpGU77LCD6f1f//qXbdpU93N2AjBSRASiI0CuCCSpgH4A0Y8eH3zwgak7uv5GNG7c2Bo1apSkNaZaCCAQTQECWNHUJe8GFzjttNNs6dKl9vLLL7uB3FUgz/PcDdgzzzxjerrhJ598YjNmzNAiJgQQCAho7Ku1RfnWOD3TtslpG5hT/r/2OW0sK7BsY8kmW8VYWOVxkvSbWq2qagr8P/vss6aAlb5r6tq1qz3wwAOm8bHU0nX+/PmaHfOJDSKAAALxIqAHCKlr9dZbb+0eeOF5nnUJ/Kiq1qpaFi/l9MuxMvC3XONbapxLf8xLjX9502fj6zXmpf4eTJkyxfLz861Zs2Z2+OGH28CBA+3ss8+2HXfc0d887wgggECNBQhg1ZiKhMkmsMcee1jfvn1dq6xZs2YlVfV0s/n999/bK6+8YmquXVhYmFT1i1Vl1GJFY7ENe6zALnigwNYURGbL2h+6oFOA9cgjj7R169ZFJuP65VK2dsusXGub3co2FBfZp8u+KZvvf/g5b4EVbCq0po2ybesmrf3ZvKeAQK9evdxNWGhVu3fvbhofSz8YqLVr6PJE/s75NL72nm7+QwMDChJonpbFV2mjXxqOz+gb13YLM2fONJ0TFazSk1u32WYba9++vetireP0wAMPdJ9rm69LXzjPir883ja909I2Tc3YPAU+a54Flrk0tXyZ/uuXdtrky0zjW64P/G1vnrmVG/Myb8Nae/anKfaXN0bWaczLoqIi++yzz0zvHTp0sBNOOMH9mJyWllbLEpI82gLxfl0a7fqTf2IJcAZJrP1FaSMooKbLGoxYWeoCUO/1mxp2bdXhm2++cQGrRx55xN59911Ts211mWzYkiXW1hW0eumzjS5gdfyt+TZm0gb7akFJvR4mIAFdHKgloAJWOu4UPFUrQHXJ0vJ4mpo0yrK/7HK8a4H1zI+T7cFvn3fBrOLSYps49x3776zHA8X17M87H2ftm7QJfOa/ZBfwW1wtWrTI/ZIeWt+MjAzTca2HZmisLEvw/3E+jc8dGBwYUBdWBQU06bOCBakyDhvHZ3wenyqVhqQYMmSILViwwAYMGGCrVq1yDwxavHixm3fwwQebrtVuu+029wOq1qnpVLr0Gdv08d5Wuvw1s+LAD1/pzcw0BT5r3qZPDrDSvPdrmp1Lt6Iwz27+fLzlbVhje7Xd1V47/n5764SHyo15uXT9ctO4mKVW6tap6Yse/KEAnno7KGinboM1XZd00RdIpOvS6GuwhUQSiK8AViLJUda4F9Bgw2oRcOyxx4Yd40p98NWkWRXRzZfeE3l6/fXX7cMPP3TjCyg4l5ubm8jVabCy//25Qvvv60X289ISy8ow69zai0hZBg8ebP3797c33njDWrVqZbqIjUjGUcrkT50OtH/se5Hp6YP3fPWk9XpugO3/zGl2/cd3umDWX3cfYKfveHSUtk628SbQtm1bN17JkiVL3GDuoeXTDbXOp57nWXZ2dujihPvO+TT+dpnGzrngggtcEECBAQUKFBTQpPHXFGTV+1VXXZX047BxfMbf8emXSENSaGiKnXfe2W699VbXbc5f1rFjR7v66qtdl0Jdr+kBGP6yat/Xf2/FP/3NbFOeec32tUYH/WiN+qxwU3rPyWYZgR+TNv5mJT+OMCtZX212foLpv860ReuWWtvslnbtPhday8bN/UWmMS/P3Ok4S/fS7Ie8uba8YFXZspp80EM99KOG6t2yZcuarEKaGArEzXVpDOvMppJDIC05qkEtEKgooF9l9dQTBQz05JPQFPp1bPr06e5CQoGu0OWJ9l2/bGl8BQVJzjnnHNd8PdHqEA/lbdrYrNdO6fbfs7Pt5ctzrP/emREpli7eLr30Uvv+++/duGxXXnllRPKNVibqPvjJ0q9sZeFq8wL/b5bZ1DTpc+GmDTZr+fe2pig/Wpsn3zgT2G233UxPH9S5VN1fQ4v39ddfm7piq5vIH/7wh9DFCfed82n87TLd8Cs4EC4woHHY7rjjDvM8z9555x3TuDvxV4PIlYjjM3KWkc5JP44qYKNhKpo2bVohez25VUF+tRpUC5gKCSqZUbL0ObPC+WaZbS19l7vNsjqXpfRaHmZpnS8PfE+z0vwfrHT1J4HPNftvU0mxbRX4+75N063d3/jQtVpn57qHtuRvLDB1LwxdXtl31U0BurS0NNd9Uv9+H374Yff0wfHjx9sLL7zgeglUtj7zoy+QaNel0RdhC4kiQAArUfYU5ay1gFq5nHjiia7v/dChQ23u3LlleWicjGuvvdbUHaZ37962//77ly1L1A8aGPOII44wtZRI1DrEQ7n/eVKWXR+Yum2TZl4EC6TuAmPHjnWDlnpeJHOOYCG3ZKVuArfPfNRe/mWqdWm2jT151K2uO8HUEx62icfdZ7u12tHeWfSJ/WP67a411pbVeEtigebNm9vFF1/sanjJJZfYtGnT3Ge9/PTTT3b++ee7c+3JJ59sCqRrfiJPnE/jb+999913rlD77ruvacwr9yXoRQGDTp06mf6+q9tW0KLqPibcco7P+N1lRx11lAugPvXUU65bdWhJ1Ttg/fr17kfGFi1ahC6u9Hvp+u/dMi97e7Ome7jPwS9pLQ8xa9TcrLTIbMOS4EVVfj5++8Pszf4P2v2H/itsAOublT+7v/Ptm7SxNtktq8wreKGGR1AQSy2wFLxSt0kNaZGVleWSqWvhxIkTTR5uBi8xF0ik69KY47DBuBZIi+vSUTgE6iHgeZ5dccUVpouJTz/91A0cqdYB+mVMFw0TJkyw1q1b25gxYyzcr2T12DSrIpDQAj+smmtvzP/QNBbWyL0GuW4EfoXUzeDqfQZbq6xc+3Tp1/bRrzP9RbwnuYAeOqCxXfSr+kEHHWQtW7Z0AfMddtjB1HXrsMMOs+uvv948L74DtEm+m5K2en/9619N3QVvv/32sHXUcakHYqiFS7t27cKmYSYCDSWgLq/jxo0zHce5ubl23XXXmR/MqUmZ0rv+nzXa92NL3/WRsMlLFbRS8Cq9iVmTrmHT1GamxsbS8AGPfPeiuxYY2P0U917TPPRvUa3RFMDSOhoD65xzzrG//OUvbtK1uAJaX375pa1cuVJJmBBAAIEaCRDAqhETiRJVQK0G1ExZg5rvtNNOpvFb1OpKgavhw4e7Li8a9DVR60e5k0QgzqrxbeAX19VFa61tk1a2ffNOFUqneWqZVVSy0T4L85TCCiswIykENFbgnXfeaU8//bTtuuuubnDi3377zTp37mx33HGHvfrqq6ZzblJUlkrEnYB+aNLQALr5D1e4qVOnuhvhAw44IGwLrXDrMA+BaAroCXw5OTkuqK/jVmO47bjjjm68UrUkrNW2G29jttWeZtnbh12t5LdXzYrzTS20vKa7hk1T3cxpSz53413u8/TJdtTLA90DXPRj1dje11jvDntXt3q55QpOaYbnea77uZ7KqO6EmpeZmWnq/dCsWTNTa7R58+ZpNhMCCCBQI4G0GqUiEQJxJqCxWDRgsP7o6YK2quJprAH94jN79mzTL0Gali5darfccovrl1/VuixDIBUF9LRB1VsDt6YFLj71OXjyzLM0b/Ofj00lm4z/JbZAbc6n6enpduqpp5rGvNK5VNPcuXNN3Qp1rk1sCUqfqALqnqTWf3ramVpe60EmiVoXyp08AgrUaExAdW1Vy3/VTE/SfOihhyyST2st/e0VK136tFlalqV1Ghp4b6JN1XrKTM+0Fo2bWW5gymmU7dZfkv+bPfvjZMvfWPOB4d2KW1788dq2fC17U0Da7wqsH0LKFvABAQQQqEZg8x2IWTXJWIwAAgggkCoCHXLaWOPAhezS9Sts4bpfK1Rb8+atWeTmqzWW+8ALAggg0AAC6pqlB2RoTB11y9pzzz0boBRsEoGKAnr4hR5uMX/+fNc6UIHWHj16uKEr/va3v7kfVSuuVcs5hXM3P52weJ15bU80r91ptczg9+R7t+1urx57rxsT652THnPjYrUPXA+8uWCaXf/JXabxMX9PXfWnrbbayj25Vt0I1Z0wXGq16tX8oqIivTHFXoAtIpCQAgSwEnK3UWgEEEAgegJ7tN7Zujbf1tYFfnH91yf32LKClWUbW7lhtf17xuZ5WzdpbQe261m2jA8IIIBALAUUvDrppJNM3QcHDRpkl112mXmeF8sisK2UFqhd5bt162Z33323qWWWumLPmTOndhmEpg4ErzZ90c9s/Q/m5R5s6TvfFUgRuVu7nm12sct6nmOZaRluuIDvV9W8vKqjpuLiYlOPiUDBKvy3ceNGN0/p3AdeEEAAgRoIRO4sV4ONkQQBBBBAIP4FcjKa2DX7XGits1rYz6vn2zGvDLbDXjzH/vTiuXb0yxe4C1ml+dveF5gevW38DwEEEKiLQD3W0c3vlVde6YJXeoDAzTffbH6Ljnpky6oIRFWgS5cu1q5dO1OLQT2UoM4bK15nxd+c54JX1mRHS9/1QbP0pnXOrrIVt2vW0ZpkZNv6TYVhW2RXtp6686qe6mauITwUyApOq1ZZGs5D8/yuhPrMhAACCFQnQACrOiGWI4AAAikosENuZ3viqDF2StejLLfxVramaJ2tLlprejLhYZ0OsEcOH2UHtaerTkMfGmwfgVQUUPBKT3PTU90OOeQQe+aZZ3iAQCoeCHFY53vvvde23XZb04OCqiqegq0aH6qqNJUuU/Bq5nFWmve+WZMdrNF5UgegAAAQAElEQVQeL5pldak0eVUL7pr1hB3+0nk28sMxVSWzdC/NDS1QZaKQhbvuuqupjr/++qtNmzbN/IHd1WXwvffeszVr1pjGwtpuu+1C1uQrAgggULkAAazKbViCAALJL0ANqxBo2bi5jdhroL3R/0GbcdpzbvrfiY/YqAMvt85bdahiTRYhgAAC0RFQS44xY8aYgle6QdaA2C1btozOxsgVgVoKaOynBQsWuICNuriGrq6HXiigoye2tmrVKnRx9d9Li6z4uyGbg1eZ7Sx9l/sCQawdq1+vkhRqXZW3YY39tHqerSjMq5BqzpqFtn5jgQtetcmu3b+zNm3auCcQ6umD3333nT344IP26KOPumnhwoWuxeRBBx1kehphhQ0zAwEEEKhEgABWJTDMrqkA6RBAAAEEEEAAgegLqDuSniB89dVX2w477GCTJk2yzp07R3/DbAGBGgr07t3bunbtah9//LHpyZjBTxtU0GbkyJGmFkj9+/d3LbVqmO2WZCVW/O0gc08czGhj6btNMC/34C3L6vbWu8Pe1ior1+avXWI3fTa+3NMGf169wO6eNcGKSjba7q13sro8tKV79+52zDHHmIJZKmFhYaEpoKUnM8qAf79SYUIg0QQatrwEsBrWn60jgAACCCCAAAIIVCOg4NUzzzxjenqbglevvfYawatqzFgcXmDlulK75plCO+G2fDvsxppNSnttYJ0VgXXD57p5rgIzY8eONY0Bddttt7kuch07drQOHTqYlr3//vumMdtGjRrlntK3ea2avJZYyc/X/R686v5YvYNXFvjfH5pvaxd0P9W1sPrfwul22IvnuvEuD3vxHDtjynBTC6yuzTvbtftc6AZzD6xS6/80FtYJJ5xgAwcOtAsuuMDOO+8869u3r7Vo0aLWeSXNClQEAQTqLEAAq850rIgAAggggAACCCAQC4FZs2aZnjSocXQ0+PWhhx5qGmso3HTwwQfbsmXLYlEsttFAAnXdrAJQFz5UYNN/KrY1BTXPRWk/CqxzUWBdfa5qzX79+tn3339vF110kbVu3doWLVpkS5YsMXV5veuuu+zVV181dSGsKo/QZaXLXrCS+beblRabFa+14q9Ot03vtgk/TdvJbN2s0Cwq/X7iH46wRw4fbWqNpXEuNd7l2qJ8a9uklf1l5/42/rB/uVZalWbAAgQQQCCGAgSwYojNphBAAAEEEEAAgTgQSLgibNq0yTT+lQqen59vGmeosmn+/PllaZWeCQFf4L6pRbZ8ban/tdbvWveetzZUu55aXSlYpSftqfWgpq+//toFtbKzs6tdv0KCko2BWVvKXVJotimv8mnjqkCga1Mgfc3/+0PzTnbLwVeZxrnUmJefnPasTTz2XrtkjzMtJ6NJzTMiJQIIIBBlAQJYUQYmewQaSqBbt26uqfYpp5xiWVlZDVWMhN/ucXs2sqlX59gDg7KtWR2uOSsDOPbYY00XtO+8847rYlBZOubHqwDlSiUBzqcNv7f32msvU+BK583qpnnz5ln79u0bvtAxKgHHZ82hP59bXPPElaSc8Uv986gk60pne+3OsEaHrLVGh22sfvrjMrOt9qw0LxYgEE6A69JwKsyLRwECWPG4VygTAqkgQB0RQAABBBBAAIEYCqzK39KKqR7bjEQe9dg8qyKAAAIpLUAAK4F3P0VHAAEEEEAAAQQQQAABBBBAAIHkF6CGZgSwOAoQQAABBBBAAAEEEEAAAQSSXYD6IYBAggsQwErwHUjxEUAAAQQQQAABBBCIjQBbQQABBBBAoOEECGA1nD1bRgABBBBAAIFUE6C+CCCAAAIIIIAAAnUSIIBVJzZWQgABBBBoKAG2iwACCCCAAAIIIIAAAqknQAAr9fY5NUYAAQQQQAABBBBAAAEEEEAAAQQSSoAAVp12FyshgAACCCCAAAIIIIAAAggggEDyC1DDeBEggBUve4JyIIAAAggggAACCCCAAALJKECdEEAAgQgIEMCKACJZIIAAAggggAACCCAQTQHyRgABBBBAINUFCGCl+hFA/RFAAAEEEEgNAWqJAAIIIIAAAgggkMACBLASeOdRdAQQQCC2AmwNAQQQQAABBBBAAAEEEGgYAQJYDePOVlNVgHojgAACCCCAAAIIIIAAAggggECtBRIugFXrGrICAggggAACCCCAAAIIIIAAAggknAAFRiBYgABWsAafEUAAAQQQQAABBBBAAIHkEaAmCCCAQNIIEMBKml1JRRBAAAEEEEAAAQQiL0COCCCAAAIIIBAPAgSw4mEvUAYEEEAAAQSSWYC6IYAAAggggAACCCBQTwECWPUEZHUEEEAgFgJsAwEEEEAAAQQQQAABBBBIZQECWKm89xO87r/++qsde+yx1qZNG/M8r7rJLVfa4447zpYsWZLgtaf4CCCAQOQEOJ9GzpKcEEAAAQQQQAABBKIjUIsAVnQKEE+5fvvtt3bMMcdYZmamC3Y0bdrUBg0aZAsXLoynYlKWgIACUPvss49NnDjRli9fHphTs/+U9tVXX7V9993XVq5cWbOVSIUAAggksQDn0yTeuVQNAQQQQACBOguwIgLxJ0AAa8s+effdd+2ggw6ySZMmuTnbbLONFRQU2Pjx4+3AAw+0mTNnuvm8xIfAlVdeWa/AooKSw4cPj4/KUAoEEECgAQU4nzYgPptGAIHkFqB2CCCAAAIRFSCAFeBUMGPIkCGWl5dn1113neXn57vgyKpVq2zAgAG2YMECGzFihK1bty6Qmv/iQeCtt96qdzGmTJlS7zzIAAEEEEh0Ac6nib4Hk7v81A4BBBBAAAEEEPAFCGAFJF566SWbPXu2HXnkkTZy5EjLyMgIzDVr1qyZ3XHHHaauarrA/+CDD9x8XhpeYOnSpfUuRCTyqHchyAABBBCIrkC1uUfiXBiJPKotKAkQQAABBBBAAAEEUlog5QNYhYWFNnnyZHcQnHXWWZadne0++y+tWrWy/v37W2lpqb322mv+bN4RQCBlBKgoAggggAACCCCAAAIIIIBAQwukfABr9erVrvWVAlc77rhj2P2x2267ufmzZs2iG6GTqOULyRFAICEESq3U7v/6aTvq5YG2z9Mn12rSOuO/eTaQQ2lC1JVCIoAAAggggEDkBT777DN77LHH7P7776/VpHU+//zzyBeIHBFAIPYCUdxiygew9CS6vLw81/JKTx0MZ92hQwdr0qSJzZkzx9auXRsuCfMQQACBhBe4Z9aTNi4QhFpRmFfrumid+wLBL+VR65VZAQEEEEAAAQQSXmDGjBmmAJYehFXbymidTz/91JRHbddNxvTUCQEEwgukfABr/fr1pm6ECl7l5uaGV2IuAgggkAICL/8ytd61jEQe9S4EGSCAAAIIpLpATOv/4osv2q677mqe59Vp0rqvvPJKzMr89sKP7dTJw2rV0jq4ZbbWfW/RjArl1ZjCFWbWckYk8qjlJkmOAAIJJJDyAawE2lcUFQEEEIiqwMoNq+udfyTyqHchyAABBCIgQBYIIFBTgeHDh9u3335b0+QV0mndyy67rML8aM24bebDNmfNwjpnr3Vv/eKhCuurFVWFmbWcEYk8arlJkiOAQAIJEMCKwc7ae++9LVWnSPGG+kUr39DtxPv3UaNG1Wp8gXDjESiPeK9ntMvXZ+RXdtiN+fWalEdoOdX12PPq9mus521eT3mE5hut7/y7ivC5OsLn/mjtn2jlG63jNFr56lwY7hxZm3nKI1rli/d8o3Uc6RzoeZvPh55Xt3flEe9+1ZVPx1ZtjsVwaZVHddtJ9uXROk7nzp1b76x/+eWXCvcLsx/fyjZNzajXpDxC9+uS/N/qXd5F+csqlLfemW7JILS8fI/M9YnOhZ5Xt/Oo521eT3mwPyKzPxLRccs/0QZ9S/kAVosWLaxZs2ZWVFRk1UX8GzVqZGlpKU/WoAcsGy8v0LJly/Iz6vAtEnnUYbM1WiVWidKbb1/vTYXLo7pzSk02Gok8arId0iCQ6gKROBdGIo9U3w+h9Y/EOTASeYSWK9bfI3FsRSKPWNc71bfXtX1hvQkikUe9C0EGcSEQiXNhJPKICwwKkbACKR+NycnJcQO062mEK1asCLsjFy9ebBorq1OnTqb0YRNVMVMDEjbQZA293alX51gkptB6lJaWWiSm0HwT7fsFF1xgkZgSrd6RLm8kjlHlEVquSByjyiM032h9n3HacxaJKVrlS/V8dYxFYgp11DEWiSk030T7HolzqfJItHpHqryRODaVR2h5InFsKo/QfBPtu46tSEyJVu9Il1fHWCSm0HLpGIvEFJpvo8M2WiSm0Hwj8bdeeYTmG4ljVHmE5sv3TyNyTxeJY1R5sD8isz+i5BiRY6WyslUR8ojZopQPYDVv3tx23nln1/rqhx9+CAs/ffp0N3/33Xc3DfbuvvCCAAIIIIAAAggggAACCCCQRAJUBQEE4lkg5QNYWVlZ1rdvX7ePHnvsMRfIcl+2vKhV1ptvvumeKHL00UdvmcsbAggggAACCCCAAAIIVBBgBgIIIIAAAlESSPkAllz79+/vWmG9/vrrpgEu/b69a9assaFDh9qMGTOsd+/e1qtXLyVnQgABBBBAAAEEoiZAxggggAACCCCAAAIVBQhgBUw6duxoY8aMcWNh3XDDDaZuhZqnAd4nTJhgGvtq7NixdB8MWPEfAgggkAACFBEBBBBAAAEEEEAAAQSSTIAA1pYd2q9fP9fSSu+atWjRIsvOzraBAwfatGnTrEePHprNhECKCFBNBBBAAAEEEEAAAQQQQAABBOJHgABW0L7o1q2bTZw40YqKitwT7tatW2fjxo0ztcYKSlazj6RCAAEEEEAAAQQQQAABBBBAAIHkF6CGMREggBUTZjaCAAIIIIAAAggggAACCCBQmQDzEUAAgeoECGBVJ8RyBBBAAAEEEEAAAQTiX4ASIoAAAgggkNQCBLCSevdSOQQQQAABBBCouQApEUAAAQQQQAABBOJVgABWvO4ZyoUAAggkogBlRgABBBBAAAEEEEAAAQSiIEAAKwqoZIlAfQRYFwEEEEAAAQQQQAABBBBAAAEEygskYwCrfA35hgACCCCAAAIIIIAAAggggAACyShAnVJIgABWCu3sZKvqunXrrE+fPuZ5XqXTNttsY5dffrktWbLEQv/32WefWU5OjnXu3Dns8tD0kfz+6quvujKfffbZkcyWvBJIQPve8yo/dlu2bGnnnnuuff/99xVqpeNZx62OXx3HFRIwA4EwAqWlpTZs2DB37mnRooV98sknYVKVn/XFF1+Y0nqeZzfddJMpj/Ipqv42evRotz0d735KHbM6dnUM61j25/OOQLCA/3fS88KfJzMzM+3ggw+2SZMmWXFxcfCqfEYg5gLXXHONO9edfPLJtmnTprDb/+6776xVq1Yu3T777GOrVq0Km27hwoXWsWNHS0tLs7feestdo+p8qfOmzp9hVwoz0/83FHz+VbKCggJ3OCAT+AAAEABJREFUPlfe+r554hWBzQI1ub/yPM/S09Nt9913t9tuu83y8/MtFv8Ld00Ri+2yjfgSIIAVX/uD0kRYYPHixXbrrbe6E+ynn34a4dzJDoHoCejC9uGHH7bddtvNXnjhhehtiJxTRsDzPLv66qtt1113tby8PLv22mtNF6qVAWjZyJEjXdrDDz/cLrroInfjVVl65iMQS4GNGzfaBx98YMccc4xdfPHFpu+x3H6FbTEjpQUOOeQQd35U0H/FihVhLT7//HNbuXKlW/btt9/aL7/84j6HvsyePdt0/brtttvaLrvsErq43t8vueQS07ldgax6Z0YGSS2goGmnTp0sdFIDAVX8q6++suHDh9vxxx9vq1ev1iwmBKIuQAAr6sRsIBYCr7zyimsZoNYB/lRUVGT6papHjx62fPlyu/76640/1rHYG2yjNgKjRo2qcOzq11u1vDruuOPcTdk//vEPW7ZsWW2yJS0CYQXatm3rfi3VL/tvvvmmPf7442HTaaaWKU1ubq7pV8+mTZtqdtQmMkYgnMAf//hHW7t2bYXzpP6u33jjja6Vyv3332/vvPNOuNWZh0BMBLbffnvbeuutbf78+fbjjz9W2Kb+rr/44ovWqFEj69mzp61fv94q+2FVrWN1Lbv33nu7PCtkVsMZxx57rPt388gjj5Rbg2BvOQ6+VCHw97//3R3TOq6DJ7US1H3WE088YU2aNLGpU6e6a4sqsmIRAhETIIAVMUoyijeBjIwM23PPPe3uu+82dTV499137Ycffoi3YlIeBCoIqFn2jjvuaGPHjjX9yvXNN9+4YGyFhOVn8A2BGgn86U9/Mv0Cr8S6ONXxpc/Bk+Zpmeb93//9n7vh0mcmBOJFQF2xrrzySjv11FOtpKTEnn766XgpGuVIQYEOHTq4a04FqnT+DCVYunSpC1jpb7uOW8/zTD++FhYWlkuq7x9++KGbp5avCni5L7wgEGcCulYdMGCAG5pARVMQSz826DMTAtEUIIAVTV3yjguBLl26WLt27dwYGbqwqLxQvy9RS60JEybYfvvt5/p4e97mMTiUl8aBWbNmze+Jgz6p1YzGLVJLBc/z3Lq9evWy9957z/0KZtX8T81vTznlFNcMXeMj6BeOalZhcRILtGnTxrp27epqWJNjV+NceJ7nWsu4lUJeqlquY23QoEFW12M3ZFN8jWMBz/u9K6FasVx//fWupZ9fZJ3/rrrqKtdyVeej888/31/k3tX1Rd229MOA53nuBwJ913yXoB4vanXw8ccfu25hVeWvm7x+/fq51jfhxnFRizHP89x4Mxp3JrhIupFUtxwFQEKXBafjc/wL6OZeraxV0tBWJf757vnnn7e//e1v7u+xbrhOPPHEshatNT3elP99993n/jYPHTpUX8tNau2trjae55nSBS/UNtTF0fM2L9O4bxrPSJPOu88884ztvPPOLm/P8+yAAw6o8TVD8Hb43LACWVlZ1rt3b1eIcNd8OteoBcu+++7rxm5T90B1KVRXQbfSlhd1P1QATK1a1AJry+yyN433FnrMqEXX//73vwrXmaFjYPnH6aOPPuryUytvz6t4zaDjkusBR8RLDQT22msvl0rHt4YecF+2vPjHa/fu3cvOcWqpqC6sld1L6Zypf0M6F3re5vsv/duiEcIWVN4sLaIGZIZAHArMnTvXfv31VzcQsQbGrq6ICiKp2fWf//xnN8ixbnLU91sXp/PmzXPjBugCWOmC89I4RRqv6OGHH3ZdFdVyJjs72/RLmrpA3HzzzRUuLoLX102jBpx/7rnnTBctamquQTyD0/A5tQR+++03++mnn1yAoHXr1lGrvAZB3mmnnWz8+PFlx27z5s3Ljl39Whx6cxi1wpBxTATUldDvfvXss8+Wa72iG/6JEyda+/btTWnUmlWF0kXlnXfe6cZl0zGjeTo3KtCk7zr/abnSaVltJx1jOtb2339/NzC38lX+ykf5a+yuW265xZ1H/ZtFbevtt99WkrJJwS1d/GqGxpvR3wB99ieN2aEfG/QjgX6U8OfznngCCuzPnDnTFXy77bZz76EvakGogKb+luu8puNsq622ckHbmh5vylN/lxVU+OijjyoMvq2uYOoSpnQzZszQW9mkgISOUXXFPeigg8rm62/+4MGD7bTTTnNjIelY17+16dOnm64ZdD4uS8yHhBDQ/lVQVTfaGmcwuNA6BnS+UgvYdoEfVXU86dr066+/Dk5mfqCrW7dupm6JwQvVZUuBpdBjRv8GDjvsMPc3PDh96GedU//whz+YjjMt0wM6dNzp34W+a9K5lusBSTDVREDn06eeesolVZBKx5T7EnjRfdLpp5/uznEKymqZ7o30w5kaAyi9jt1A0rL/9G9E90s6B+pcqHsvraN7KTUqeP/998vS8iF1BQhgpe6+T/qa66SqE54GHtYfff1qWpObFT1NQ81gdaJcsGCB+6VWvyqoWexLL73kgglaPm3atDJDnZh1Iaptarwi/QKhX7C0zlOBE7vGm1F3HJ2My1YK+qD1Lr30UnvggQfcAMsKYhG8CgJKsY/6xUo32frVftGiRaaWBLrYjQaDjt1zzjnHjccRfOzqpkvHuS5uFTSge0409Bs2z6OPPtouuOACV4j//Oc/pnOWgj3XXXed+6VU50K/BaASqaWTzlP6rJtr3YDr3KiLVI2DoaCSgvAaWFtpajvpGNOxppsrnQuVr/LXdtSdVufRESNGmFoVKG/9IqsbMp3ndc7VPE26OP7yyy/10U2h5fFvJDXosn5kcIl4STgBtaTTcavWKDvssIN7amu4SqiVi45Ppdd5TQFa7ffaHm/6t6AgrVoaBg++rRsuP2Cq7evY00M49FmTBuRWQGOPPfaw4GsQ/UAxZcoUF3TQMa5jXce83+JRx7yOZeXBlBgCakmnLoIKkGt/+qXW+UnnKf2IqqEtFORS90At13lV7/6kVlI6ptT6RDf8/ny9K2CrgJceTqSnvmkbtTlmdPzOmjXLzjjjDGVnGhtLeQwZMsR953rAMfBSAwFdp/7888/217/+1fQjmP4+6z5I1wFaXcewriV0P6NArM6L+kFJ1xk6P1544YWmeyxdg+i8rHU06d+DWswqP11n6PjWOjpfHnrooe7HLaVjSm0BAlipvf+TpvZ+M2jP29zU1PM8F2hS9z39sVerKN1YeZ5XZZ3VnFUnWUX8//nPf1pwEMnzPFOXFbXOUia6CNC7JnU31IWmutvoyV66ONZ8z/Pc+BwKoukXLrWm0fzgScErBdfGjRtnugjXr1/qWhCchs/JK6CuWp7nuYCB521+18WtHk08efJku+GGG+z2228v+8U00hLq7qJjV0Gs0GNXFwu6ifI8z9SyRhcSkd4++TWcgI6za665xnTTpZvse+65xw3CqpvzgQMHmlqa+qVTqyYdCxpr6N///redd955rkuWlqtblsbBUABUPxZo3EHdaGlZTScdWzrGlP5f//pXhfx1jtQTFLV95a8bfpVb/04U7NWFsNbVpLqoW44CXKqjfuFV+bXMv5FU4EvLNY8pvgU0fqVaTHne5vOj521+b9eunenv9KGHHmrqPlXZ303tZ/3d9rzN62nf1+V4099wtXJRSyu1uPLVdPOlY0x/vxWg0r8ftazxlytwoX8Pffr0cV20/fl6101c8L8lXTvoOFfddEzrBwylY0oMAbXyUxdB/Xipa0+/1NqXOk8pgKQfhTRfP0qFtujTecoPhqqlltKFTjpmhg0bVnZNEMljhuuBUG2+h7tG9TzPPYxAQX3duzRr1sx0H6TzrC+mv8OPPfaYG+Bdy/S32l+m9GqBpVZWarGqh8Vomc6TDz74oBvTUOfB4HOjgr/626+/+0rLlNoCaaldfWqfCgI6IermR78C6BeBquqsk6q67ukm56ijjqqQVDdDCm4FL9CFin/BceaZZ5ZdVPhpPM+z//73v64l11lnneXPdu8q25gxY+zee+91wSudxCu7CHcr8JJSAjpedTOvG3sFOiNdef0Kpu4wnueZusyq5UvoNtQlQl1z1OpArXNCl/M9sQUUpB89erQbS0pdre644w53LlJgK/h4UEBILVl0Edm/f38XcA2tuc6ZCjToCVq6qQ9dXtV3tVDRjwK6cdcPAaFpPc8zBcm0fV3w6lhU6wS1UtCvuiqbv462r8/nnHOOe4KXWhX45fFvJHUxzYWwlBJ/0i/2+hsfHDQKrpVusjS2X/C8uhxvWl+t9jzPM/2t1t9vzZszZ45pOvLII+3AAw80HY/+U+j8gISuHcIFJPSjmOd5yqZs0jWGAhtq4eBvo2whH+JawPM8UxdoFVJj+eldk64RdVzo76l/LKpViroJ6m+rgp5Kp/OUzlc6D6p7leaFTuGOGZ0LdS6vzzHD9UCoNN8loPORgq7+pO+ar0nHos6Fat2qbq2e9/u5TH+Tdcz3CQTu1fpU6YMn/TtQ4wPN0zlc7zr+9fdbQVkt87zf89NyjZ0V/MOa5jGlpgABrNTc70lXaz3JRTf7wZMu/NTiSeMFqGWVbn78ric1BVDQQCfmd955x/RrgboVPv744+VWV7BLTbB1wal+2uUWVvPlySefNP3KoGS6eFBe+syUYAL1KO6oUaMs+LjVZ7Uy0S/v//znP93DB9RtSoGFemwm7Ko65tQ0W9vUvw8NKhs6aXBOBQsUqNVxHjYjZia0gN+VUMeBmu0rkBUaSFcASy31dEGqViihx4m+9+3b13ScKJCg46o2KFpHrao09orG5wq3rh5qoBs7Hbf696E0KrvneaYLYJVfAQO1eNETwRRMUJBKaRVgUHr/RlKBL930aR5TfAvoV3odV9q/wZPmqTugbqz0w9Nf/vIXC/c3VC2jQmtY1+NNLWh0jKoFlq4NlK9u1HTsKril86Xm+cELHXcaOkDdynQsapk/6Zoh3LGuG0TVyU/He2IJ+C2rvvjiC3c+1LWobvI9zzMdI35tdP7ReUgt+tTKUPN1vOh8pW6GOodpXvBU2TGjHxt03ASnre1nnVd13ta/Ma4HaquXvOk1/Imu/fxJrVfVtU/XCuoloJZWjRs3rgCgwKxm6tjX+U/XCKGTWnMrje7VdO7WeVldBfW3XgFZLQud/HNs6Hy+p5YAAazU2t9xW9toFEzdWjRY5V133WX6JV5BAY0boJNkVdvTL1gaU0MXm+pqoBsmXXToiRn6ZaCqdWu7TBcK+hVOgwnr5jD0aWC1zY/0ySHgeZ7p4lVdsvw/8GrFpwvbSNZQF6wK7ipPXTSodUropG3q347SMCWngFqHKBCk2umiUYEffQ6edKzoRkzz9BS10ONE3zVfy6M1aWwNXdjqvKmAgbajgIIuinVu1q+3CrQpoKBffBWEUwsHlVvL9a6Lac/zTL/uan2mxBXQL/j6NV7jr+jGXvtWXQkjVaNwx5sCTmpho5s5DbbtH1NqGagnW6pln+d5pgCWxijSsegHfaP5II5I1Zl86gRY1ioAABAASURBVC+gazqdd3QDr4CQAp0KeOo8pWMkeAt+qzyNqapjScF3vavbq46/4LTR/qxzPNcD0VZO/Px1b6WuffqhS9eGGhdTD7EKrZmOfc1TQwBdH4SbdMwpjT/p2Nc9mP893LuCteHmMy8xBepaagJYdZVjvYQR0MlOF7kqsH7d0q+2+hxu0o2RBhFWU1gNwqmnXmn8KrW60vgFumlSN8Fw69Zlnn4Zfv311+2hhx4yXdzqQlwDy9YlL9ZJPgHP8+yII45wYwgowKRfpyJZS9306SJZ3b40houO/6qm4PENIlkO8op/ATXp9zzPPRVLx2FVx4lu3KPxK6laV+nfgQJuar0gNXUpUCsGdQnTL8HqiqMbRv8GUN0XlE4DI6vcld1IKg1TYgro77R+BFLpFVTSeySmcMeb53mmroI6/vUwgLy8PPfUOAVS1WpKP3zpxwcdiwpcqWWgyuIHKvSZKbkFdG7SOUn7X62XdUwq4KmWWTpfBdde3QT1I6laa+n8pO7ROr+pq2Fwulh85nogFsoR30aDZOh5nuneSA8iUBDrkksuMbWiCi6MxgzUdz2UQufLqib1ctEPEjr2FSBTEEuT1mdCIJwAAaxwKsxLWQFddI4ePdqNB6MxszQIp1pwaXwgXWiomax+IQgGUgBAv8qqGbhaqwQv8z/rCUg6OetpHcEnZV3kaHwOXYBroESl11M7dNGjz0wIREpAN2Nq5Recn1qz6OJZQd158+YFL+IzAuUE1D1aN2a6yfJ/WS2XoJ5fdNOvGyj9cLBs2bKwuWnbamGlsQo1WLIS6YL3mGOOMZ2X1XpBQQXN9wNoavGg1jEK0Orx27qRVItabU/pmFJTQPu/LsebtDRIt86bOt4UcFDwVC2v9DdeP0Sp9Z+OUz39Ui3/1BLQPx61PlM8CUSnLH7A0j8GdPOum32dr4K3qONQ3QXVelWt9RTIUncrBUKD08XiM9cDsVBOnm3ofKcxWnUe1fH7n//8x9Tayq+h7mv0WYGt6nq+KJ0mXWfohwD9CFXZfZAaEygtU2oLEMBK7f2fErXXjc3LL7/s6qrBqNXaxH0J86ITrX41q6wbjR4Z698g+avrpk6BKH1XS63gE7jm6bu2r1YJupnSrwuaHzrpqV8HH3ywqQXBjTfeWO4PQWhavqeOgH7BV3DUv7isquYam0XLFYjVBbM++5OCDro49r/rXUEA3czrc7hjV/PVckW/pOmCWkEAzWNKPYEuXbqYWrnoWHzppZfcuG2hCupGoIC+uiBWFswPXcf/rkC+WrEoSKWWqP58/13Hs1qn5uXlmdLpItdfphtABan0BFd1IQvuqqNAg7r06GJYD8tQPrq59Lzyg8P6efFeS4E4SK6gpwJJKor+xuq9uqk+x5sfdNCNlI5JXWPomNI2dfz36NHD/fvQ07QU3ArX8kZpmZJXQD946tyjroHq2qqbfB0HoTXW8aLWomrd/8Ybb5gC7AqQ6m9zaNpof9c2uR6ItnJy5a9jdfjw4a5Sjz76qKkllfsSeFErwtzcXNODgkKvPQOL3Y9Ouu9RIGzYsGFuvFf/GNQ59amnnnLnUaX1Jw0ToOsP/zvvqStAACt1931K1FxR/Msuu8weeOABV9/TTz+9wmOs3YItL7ow1YWG+mq/9tprZSdP3fToCVl6OpZ+adiSvOxt8ODBZV0ANWaRLka0UK2t9NhXDTSrC+bjjz9es8NOChLoFwyNu6XyanDEsAmZmRICGihTA7xrAE1VWE9+0/Gpz5VNumjWMv2Bnzp1qj66ScErjVkQeux6nmdq3q2LDAUNNJaBPwaGVtSTtIYMGWKap+6ufoBMy5giI5AouagLoboMaOBWBdjVUtU/z+n8qIGqdRG6YcMG00VtdcdqaL11/rv44ovdbB3zuvnX+VMz9K6HGGi72r4umHXRq2WaumwJrqmFlcqhX351Iaxl+oFBLWIUeNMA7rqp9H9w0HKmxBXQj0Pqgq8u/9q/2u8an6omNarP8aaggx5YoB+7HnnkEVPwVOdHf7u9evVyH/Xjg27ETjjhBAtteeMS8JK0AmqVr7+XunlXKyyNiaVAergK60Zfx8fDDz/sbuoVDPW82ATYFYT1y+R5HtcDPgbvNRLwPM90/6MfONWVUE8vVpBJK2ue7rmKiopMvVj045KuFbRM526N66rhU3QdoacZ6sd9z/v9GLznnntMf/f191/r6DpUT5v1f6zQPKbUFSCAlbr7PqlqrgF5Pc9zj3b3vN/fdbNy5513urrqRlw36+5LJS/qBqATrU6y+mVArbX0a77edROkQIA/npZu7v1sdOF83333mcbbuuGGG0wXx1pP77qp0wXv2LFjLbjVgL9u8LsufC+88ELTHwI9nbCyrjTB66T454SvvrqOet7vx6znbf6soNLf/vY31xLvqKOOMg3w73lelfU99NBDTd0U1EpF77qI1qTjbu7cuaYbqdAMevbs6QK8OnZ1waAbfrVA1HrqyqAxg3R869+Rghih6/M9dQQ0BtpNN93kzk86NnV+03lOwSIFhRT4r+mxGk5NgYjLL7/cHfM6V/v567jTeVTnRW1f5QheX8v9lgOarxYNOufqs6bgZWqtVdvgmvJgajiBd9991/Q32PO8cn/j9WOPjje1jFbXPQUAdN6qaUnrerwpfx3v+rFLn0NbBCpwoWsPLVNwS8ecPjOljoAC7ApMKaCvIKaOF/1tDSegG339rVUr/VgdLwqoqSwKOOh8qB8k9J3rASkw1UZA14s6jrSOgks6D+uzgrL6EVbnaF0b6OnFulbQNYOemKkfovy/6Qraah1NOgb1lEN91t99/X3XNvTvZ8KECeafW7WcKXUFCGCl7r7fUvPkftMJTwOuqjWKbsB1k15VjbX89ttvd1F//VHXBYVOvLo41h94XSirRZdOzBr/Qi28/PwU2NKvWXrioeZpPf3ycPLJJ5vGNtAvDJpf1eR5nl1xxRWmC5pvvvnG1OJAwbSq1mFZcgroD/x+++1nahn1yiuvuKBodTXVRfOLL75oagWoGzkNeK1gloKx6sqg/MLloWNX3XCUThcL6v6ldTV2i34B00WJPodbl3mpI+B5numi88svvzT/fKbznJ4kpCCnulNNnDixRsdqODWdf2+++WZTwELnbZ0/lb/SKtigc6ICXJ7naVa5STeLOi97nmeh4w3pfOoHG9RyJisrq9y6fElMAbXGU8tmPa1V3abDddGqqmb1Od7UmsYPAuiHL517/W3p3Ksglr6r222XLl30kSnFBBQ497zN56rgG/RQBt3Uq9Wq5ocGQzUvGpN+0NUDifRvSC2z9TdegTZti+sBKTDVRuCkk04yjUWpdfQgLA3Hos/6EUrXr08++aTpGkHXCv7fdF1DVPY3XfnpfkpPR1YLLF2TtmvXzhTA0g+typupvgKJvT4BrMTefyldel0wvvPOO66bn4I84SY18Z8yZYqpZYqapwaD6SZHAap58+ZZ+/btyxbpBl5P1NAJ089TrVdGjBhhGjxYraTU/FVPlgl9oowuWtUkVjdeWlfvCkBoftkGAh/UgkDL1f0g8LXcf/qlQXlr+dixY90vzuUS8CUpBLTvtY8rmzTopbpDKQCqG63gSut41XGr41fHcfAyBb70a5iCq8pbx+C4ceNMx9XIkSPdvxe9B6+jz9ttt50pnbar9TTNnTvX9G9B/yaUhil5Bfxzko4rHV+V1dTzPNMNuwJVOrZ0nGjSAy9OPfVUCz3P6ljTch3vfp46ZnXshtuW53mmFlQ6b/v5613jYfgBAz+f4Hf/vKxfdENvFv3tqRx+N8XgdfkcnwL+Man9Fm7SjY1aQl9//fWmIEBoLXTMaT0dg6HL/O+eV7fjTT+O6aZf+SvI7+en9+BrEx3HoedP/fvSsa9/Azo2tU7w5K9f2fLgtHyOXwGdh3Q+0jGiXgKVldTzPNN1o9Lpmlb7PzRtXY8Z/9+Q/i0E56nAwmOPPebGHdJ29dAi/QDgp+F6wJeo4j2JF+kY1LGoY6Oq86dPoHPcq6++6q4v9QAL/bDgL9P1q7oS6hpB+WnS33RdQ1T1N13LNK6lzvNaR/dkZ5xxhmk4DX0PPab97fGeGgIEsFJjP1NLBBBAAAEEEEAAAQTiQoBCIIAAAgggUBcBAlh1UWMdBBBAAAEEEECg4QTYMgIIIIAAAgggkHICBLBSbpdTYQQQQAABMwwQQAABBBBAAAEEEEAgkQQIYCXS3qKsCMSTAGVBAAEEEEAAAQQQQAABBBBAIEYCBLBiBB1uM8xDAAEEEEAAAQQQQAABBBBAAIHkF6CG9RcggFV/Q3JAAAEEEEAAAQQQQAABBBCIrgC5I4BAigsQwErxA4DqI4AAAggggAACCKSKAPVEAAEEEEAgcQUIYCXuvqPkCCCAAAIIIBBrAbaHAAIIIIAAAggg0CACBLAahJ2NIoAAAqkrQM0RQAABBBBAAAEEEEAAgdoKEMCqrRjpEWh4AUqAAAIIxETgs88+s5ycHPM8z01PPfVUtdudM2eOdezY0aXXusqj2pVinGDJkiXWuXNnV7dYlK+goMBuuukme+utt2Jc04bZ3CuvvGJpaWkW7njJz8+3xx9/3Pbbbz9LT093x4nneda1a1e79tprTfsmUqUePXq0y//ss8+OVJbkgwACCCCAAAINKJCiAawGFGfTCCCAAAIIJKjAyy+/bJs2baqy9NOmTbNFixZVmSbVFl5yySU2cuRIUyArFequQN3WW29t++67b1l1S0tL7emnn7YOHTrYWWedZZ988ok1b97cOnXqZG3atLGff/7Z/vOf/5gCi3fffbcpfdnKfEAAAQQQQKBeAqycLAIEsJJlT1IPBBBAAAEEoijgeZ69//77tmDBgkq3ouDWiy++WOnyVF2wcePGlKn6qlWr7KOPPrI999zTBatUcQWjbr31Vjv99NNtzZo1dvHFF9vy5ctt5cqVNn/+fFu2bJn7fuGFF5qsFPB74YUXtCoTAgjEiwDlQAABBOJAgABWHOwEioAAAggggEA8C7Rr1851+VLLKrWwqqysP/74o7399tu29957m9apLB3zk1fgm2++sZkzZ1rv3r0tKyvLVfSDDz6wq6++uqxb4R133GGtWrVyy/wXff/vf//rglslJSV26aWXmrqjWhL9j6oggAACCCCAQP0ECGDVz4+1EUAAAQQQSHqBzMxMO+mkk1w91cJKLa3cl5CXqVOnulY1J598smmdkMVlX7///ns799xzrWnTpm6MIo2F1KtXL3vvvfcqdB3TGFUaS6tPnz6uBdguu+zi1tlmm21swoQJFrz8119/tauuuspatGjh0uhdXffU6qds4yEfiouL7ZlnnrGdd97ZreN5nvXs2dP+97//VSiLv2pNy++X7dFHH3WrHnfccW4bGpvpvvvuc5/79Olj69atc8tDX5TO8zwX1FErJv+73n/44Qfr169f2ThSKr/qofqE5qPv6r6oAFE6FeNTAAAQAElEQVSXLl3cdj3PM33WPC1TmtDp22+/tWOOOcbtS8/z3La0nyZNmmSVbefDDz906f/0pz+Z/qdjRV0Ci4qK3DF04oknuu1rWeik42D48OG20047uf2xevXqcklk8PHHH5crk44zlVFlLZe4mi86JjQumQw8z3Nl0ufKPDSOlud5JvtwWYdbrrSe59moUaPsnnvusSZNmrjtHHjggab9Fy4f5iGAAAIIIIBA5QIEsCq3YQkCCCCQZAJUB4G6C+imW0EjBSjU7Ss0JwVBJk6caEpz8MEHhy523xWAuPPOO61bt2728MMPm4IaGgMpOzvblO8f//hHu+iii1w3MrdC0Itu+BUY01hJ2oa6qmnsJD9JXl6eKTiioIG6obVv3940T0EKtQibN2+en7TsXdsfNGiQnXbaafbLL7+48ZgyMjJcC6LDDjvMxo8fX5ZWH2pbfgVX/vCHP5jy1PoKqKm+Gvvp8MMPt3bt2tmMGTNMATEtD54U1Jo8ebILePTv39+9+8s1ftRBBx1kr732mmvJpHyVh+rhd8Pz0+p94cKFrkXU0KFDTQ5yk48+a55aSymN0vrT888/b7vttpspWKV6+OXWflLA6IYbbqgQ4CssLHRBSO3f7bff3mWlVnlvvPGG+3zmmWeWWbgZYV622247mz17thvwvkePHmUptE+vvPJK23///cuVSQlUxl133dVuueWWCmXS8tBJLcS6d+/uxiWTgSxkos/y2GeffZxT6Hp1/a5Aq7pNZmVlufG+NJB9bm5uXbNjPQQQQAABBFJWIC1la07FEaiLAOsggAACKSqgwbUVdFErJ41xFMqgwJJaxyh4pWBH6HJ9V1eyyy+/3NRF7Prrrze1sFEwbO3ataYB4tVC5d577zV1MVP64ElPp9txxx1N21ewReseeuihZUm+/PJL0/YVdNKyxYsXu/G6VB4FURRAUJCtbIXAB7UO+vrrr03jMymooLJo3fPPPz+w1Gzs2LFubCb3JfBS2/IrADRr1iw744wzAmubPfLII27MpyFDhti2225rffr0sfXr17tgjUsQ9PLVV1+5saQ0ELoCKkGLTONDNWvWzFRnjR+1YsUKmzJliikoMm7cOHvggQfKkqvOCmp9+umnJguNYaZ1fB+1CtMytXxSkEgryuDmm2/WR/ckQe0f2Wg7erKgnjCofaTugi7Rlhd1+Zs+fbodcMABrhWcZs+dO9e1ylOwTkEjzavLpAHgFaBSMFD1UxlVJtVP+0llGjFihL366qtVZq86XHDBBe7YUJBSHrKQicqvYKfqpcCmgohVZlbDhdqXOt5/++03N96XjtO2bdvWcG2SIYAAAggggIAvEPMAlr9h3hFAAAEEEEAgcQQUIDjhhBNcgcN1I1QrGLV4UrCmUaNGLl3wi4JFflcyBYg0JpJaXimN53mmQIq61em7glBLly7Vx3KTWuC0bNnSzVMgQ13O3JctL8rzvPPOc13dNKtjx4724IMPmlrYKMCjLn2aHzwpuDNs2LCylkEqk/JRwEXBDY37pfSRKL/y8ScZyUrf5amAjD770+uvv+5aqB111FHuaX3+fL2rRdTDDz9su+++u7661llHHnmkqfubZijAoxZq+qwWU9o3ahGlrowy0XxN+qwWcV27dnUBRAWyNF9BNQUM5aaWXp7nabbbjrqSapK/Wq25BVtePv/8cxes8rsParaCTHrXflPQTZ9rO8lG5dR6//rXvyx4H+sYUKsp7TMFRnWMKailtOGmN99807V6U50feughk4GfrkuXLvbkk0+640VPUlTA0l9Wn3cFf88999yy41ItseqTH+sigAACiSRAWRGIpAABrEhqkhcCCCCAAAJJLLDXXnuZbsYVFPEDE6quWqqou5vGYdpvv/00q8KkllN6iqECN+ecc47pPTSRgjXqfqbucGq1Erx8q622ctsOnhf8WQGSAQMGuCBL8Hx14VNwRwEojbEVvEyfNY6U520O0Oi7JnXJU2BD4zxpPc2rb/mVR+gkK5l98cUXFjyGkwI2CripRdqxxx4bupopQBTaKkuJDjnkEGekFkQ//fSTZrlB9dX1UfVUgMbNDHpRazl13VR3Sr9lnYJTGp9MwTt1FVQrKuWh1bTfNNaWWiwp6Kh5mrRcQR8dHzpONE+Tgpp6Vxe9ugZu1H1ULdkUVDzllFOUXbnJ8zzTvtcxoC6ZKm+5BFu+qIx+C61TTz3VdRndsqjsTYEtdVVVWnXRLFtQjw/KU63j6pEFq6a2ALVHAAEEENgikLblnTcEEEAAAQQQQKBKgQ4dOrgBtBXM8YMdWkHBJn1Xl6zKukapRZVaBSkPBZW0XuikoImCLAoeqEti8HIFlSrLW+nUwkgBDn0OnjzPMwWJNE+BMb37kwJE4fJUAEcDx/vp9F7f8iuP0EnblpmCR2px5S+Xp1qLqcufAnr+fP9dY0OFCwZpbC35qQWS9pGCb36d1RJN3RbDTeoWqLzVJVHvrVu3NnWh02d1SdS4VAognn766a6rosa60rLgSQEtdR9UF7ytt966bJECgfqi7nPh1tOy6ibVRXXS4O4yC5deAbJ27dqZjjEF3sqn2fxN3UT9ZRpLa/Pciq8aT0tzdQzWtcxa3580Zlvo8eQv4x0BBBBAAAEEai5AAKvmVqREAAEEEEAgNQW21NrzPBfA8jzPPQHQv7lX8EXjJ2lwb88r35ppy6o1elNQRsETJfZb7uhzTSYFCBR4qknaaKWpbfk9zzN/gHa1uFLLK5VNLZwUfFKXTXVp1LzgqaZd8bR/li9f7lZV8EZdIsNNWuYSBb1ceuml9u6777pB0zVbaTQOVd++fU3WerqjgkpapklBNwXLNE6aWmlpniYFszzPc10L9eQ/zYvGJHsFsRT8DC5XXbalIKvWU521H/SZCQEEEEAAAQQaXoAAVsPvA0qAAAIpIEAVEUgWgZ49e5pawqi1jQa9VosXjbG0yy67mFrf1KeewQEXv+VOTfNTdz8FL2qaPhrp6lJ+dQXUQO1+N0IFnKZOnWpqTaRgULhyqq7h5ofOUyBJwSbN1wDo8qlq0iDzSqvJ8zz35EK1rFNASGNHDR482A0Ur7Gm9HRHPfFRaTW9/fbbpmBb6DGg40KtvtSKSgPmK21Vk8qn7ah7pd/dr6r0/jLZq5WX6qzWev78urxrUHetp2BqVlaWPjIhgAACCCCAQBwIEMCKg51AEWokQCIEEEAAgTgQUIsaBVZWrlxpGlNK4y3NnDnTtSTSDX9lRVRARi1kFBxQ16xw6dQCSQODe55n2k64NJXN05hPCmCELldAZPbs2W72Hnvs4d7r8hKt8qvbn8b+UjfCiRMnmiy/++4769Onj3tSYbiyarD0cC2D5Kfxn9TdT0EjBV/87ppqISWLcPlVN0/5aNwtPSFSATYNpK513nnnHdP4Z5o0LpqCcQpuapk/aT/qqYT6/vjjj5ta6ulzZZOODQWuPvnkE9OxonRqEaXunmrhpa6Kmhc6KUCm9Gqd1qpVq9DF7ruCedttt537rACs+xDyIiNZaba2q4CYPlc1KXgml6rSsAwBBBBAAAEEaiUQNjEBrLAszEQAAQQQQACBygQ0eLfnefbKK6/Y888/75Kpa5n7UMmLH8hQ4EVP0NN7aFK18lGwScEXtdwJXV7VdwUwpk2bViGJAiLq4qgn9/mBlAqJajAjmuXXQO0K0CgI9NJLL5mCKHpCYWXBE9VTgarQYqsV1Lx580zjZmksLC0/+uij3cD2MpCF5gVPCj4pWKYB0O+44w63SIOxK3ijgd/V+srN3PKip/6FBgJVFo2fpScWahyzLUndm+pwxRVXmOqnY+WFF15w9XMLQ14U3FLLLj0BUeNQqQulkmgQ9N122820j5999lnNKjfJS90b1e1U6TQwfbkEW754nmca0F9f1U1T3Sn1OXiSkcqoeQra6V2TH5jT8antaZ4/LVy40NSCzv/OOwIIIBAfApQCgeQTIICVfPuUGiGAAAIIIBBVgR49epgCTHry4F133WV66pwCB1VtVIGMiy66yBRIeuCBB+zGG280PziigICCYeo6pjwuueQS08DX+lybSespUKP8tJ4CC+edd54pIHLWWWeZWghpfl2mSJTfb9kTun0FnDRgu57S+NBDD5kGnVcXutB0/nfVR/VS/TRP9VW9VX/P82zEiBGmll1a1qtXL/fUQq2jJ/gFP+1QYzxde+21bqwrBaY0oLzWUauttLQ001P4brvttnKtptTyTvOUTseBWjUp8KbWX3oKouaHTnvuuaddd911pq6Hp59+ug0dOtRWrFhhwf9Td1Q9/U+Dxmvb119/vfkDtqsuF198sUv+97//3TQgvd+NUu8KvOl40nrDhw+30CCaW3HLi1oP6jhQi71zzz3XfEMtViBOgUNZKd2hhx6q2W7q3r27e1eAUV083ZfAi9bXvtA6ga/8l2wC1AcBBBBAIK4ECGDF1e6gMAgggAACCMS/gLoKavBxBU7UakZd4BRkqK7kCqZoLCYFGhTQ0DpqbaUub8cff7ytX7/ehgwZ4gIc1eUVulwtfNR1TGXRu1oQqSWOgkIKDv373/82BaFC16vN97qWXwEqbeeaa64xlSt47CjN19hRam2kAI8MFEjygzdaHjp17tzZFAxT/ZSf6qt6qwXSP/7xD1OLLn8dBXMUFFKLJnVP1Lvy1hhj6m53++23mwa/v++++0zLtJ662ams2k96VxdCpfe3pZZeGutKLasUQFLLObVQChfEVH6e59nll19uY8eONeV55513mo4htfrS/lcZt99+e9eiT2VSV8qTTjpJq5ZNp512mstDx9v555/vAnRaV3bDhg1zwTG13gque9nKQR9kdf/995vsFIjSu+olE9X7008/dQ4yU7n8VRXMUlBLxnpXek1af+7cuab956flHQEEEEAAAQSiI0AAKzqu5IoAAggggEAkBOI2D3UZVEBIgaPqggZ+JTzPM7WkUfBFAQm1xlI3LrXEOuKII1xLoLvvvtsFVPx1avqugIgGk9fT89QtTi1iFJhQ6xy1TmrXrl1Ns6o0nefVrfwKyp155pkueKNyzZgxw0K7UCooojJ63u9PJqysIH/84x9NrZ4UmFN+Gkh///33d34KDCogFbyuAl4ff/yxKYCkzxorbNGiRW7Q9YEDB5rGHTvxxBODV3GBRHVVVDdCBYmUXtvS+jLV+GcKai1dutQU9NH2FdApl0nQF7Xw0r5RsEdBMbXyUrm1/9USTMGzMWPGmL7r2Apa1X1UnW6++WZXR3UD1JhhSquFOpY0FpuCZJ5X/VMw1XJMA8or2Kf6qF4yURBOLQq1fzRfefuTglkvvviiKRCqeiq9glnyk1NVLeb8PHhHAAEEEEAAgfoJEMCqnx9rI4BA3AtQQAQQqKuAugYquDBv3jxr3759uWzUGkmtYbRc6YIXKq3WCbdM6dQi6amnnnIDgKsVl1rxKMjUu3dvN16T0viTF9TaVQAAAttJREFU8lY+yk/5+vPDvav1joI0Cm4oXwVd1K1OAZjg9MpH+Slf5R+8TJ8VrNAA5ZUtr035lZ9amj322GOmeqpczz33XKWtwfREQnVx03pVTSqDgkjKT5OeFhjOz89DXf38AJLSa1KgTy2NFIjy0/nvnueZgjJqDaV0Sq9JAahgU3X11Dx1ffS86oNHarGkIJC68Ck/f1JASQEo7UO/DKHvnue5JyNOmTLF/H2sdx1L8ghNP3LkSFP+wU9X9NNoO+qmqLIrjSaNb6VurqHHi7+ODBV8U9BO6bVt38/flt799PqsdOG276fhHQEEEEAAAQRqLkAAq+ZWqZuSmiOAAAIIIIBAVAU03pQGKVdXNAW8oroxMkcAAQQQQAABBCoTiOP5BLDieOdQNAQQQAABBBBIXoHCwkJXuVmzZpkGRlfLsNCxn1wCXhBAAAEEEkqAwiKAQHQECGBFx5VcEUAAAQQQQACBKgX01EXP82yPPfZw41ANGzbMNDZUlSuxEIHUEKCWCCCAAAIIVBAggFWBhBkIIIAAAggggED0BXr27Ok2ojGXNB7TZZddVmEMMJegTi+shAACCCCAAAIIJJcAAazk2p/UBgEEEEAgUgLkkxACGoRdg61rUHZ1wUuIQm8ppFpcaZDv9evXm56IpyftbVkU9o1BwcOyMBMBBBBAAAEEUkSAAFaK7GiqiUBDCLBNBBBAAAEEEEAAAQQQQAABBCIhQAArEorRy4OcEUAAAQQQQAABBBBAAAEEEEAg+QWoYTUCBLCqAWIxAggggAACCCCAAAIIIIBAIghQRgQQSGYBAljJvHepGwIIIIAAAggggAACtREgLQIIIIAAAnEqQAArTncMxUIAAQQQQACBxBSg1AgggAACCCCAAAKRFyCAFXlTckQAAQQQqJ8AayOAAAIIIIAAAggggAAC5QQIYJXj4AsCySJAPRBAAAEEEEAAAQQQQAABBBBIHoH/BwAA//+EjoxMAAAABklEQVQDACjCb4k3zuJ9AAAAAElFTkSuQmCC"/>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6" descr="data:image/png;base64,iVBORw0KGgoAAAANSUhEUgAABLAAAALmCAYAAABSJm0fAAAQAElEQVR4AeydCbylc/34P89sZgxjNMhuEIlosiUkkX0bRQspZaekFFpF8ZeUpdVWiVBRypZQlORHliRZY4x9mzFmDLP+7/u5vtczZ86999x7zzn3LO/7ut/zPM93/76/3+e7fL7LM2S+fxKQgAQkIAEJSEACEpCABCQgAQm0OgHTJ4GmJjAk/JOABCQgAQlIQAISkIAEJCCBCghoRQISkIAEBouAAqzBIm+4EpCABCQgAQlIoB0JmGYJSEACEpCABCTQDwIKsPoBTScSkIAEJCCBwSRg2BKQgAQkIAEJSEACEmg3Agqw2i3HTa8EJAABlQQkIAEJSEACEpCABCQgAQk0EQEFWE2UWY0VVWMjAQlIQAISkIAEJCABCUhAAhKQQOsTaIwUKsBqjHwwFhKQgAQkIAEJSEACEpCABCTQqgRMlwQkMGACCrAGjFAPJCABCUhAAhKQgAQkIIFaE9B/CUhAAhJobwIKsNo7/029BCQgAQlIQALtQ8CUSkACEpCABCQggaYloACrabPOiEtAAhKQQP0JGKIEJCABCUhAAhKQgAQkMBgEFGANBnXDlEA7EzDtEpCABCQgAQlIQAISkIAEJCCBPhJQgNVHYI1g3ThIQAISkIAEJCABCUhAAhKQgAQk0PoETOEbBBRgvcHCOwlIQAISkIAEJCABCUhAAhJoLQKmRgISaBECCrBaJCNNhgQkIAEJSEACEpCABGpDQF8lIAEJSEACg09AAdbg54ExkIAEJCABCUig1QmYPglIQAISkIAEJCCBARFQgDUgfDqWgAQkIIF6ETAcCUhAAhKQgAQkIAEJSKB9CSjAat+8N+XtR8AUS0ACEpCABCQgAQlIQAISkIAEmpKAAqw+ZZuWJSABCUhAAhKQgAQkIAEJSEACEmh9Aqaw0QgowGq0HDE+EpCABCQgAQlIQAISkIAEWoGAaZCABCRQRQIKsKoIU68kIAEJSEACEpCABCRQTQL6JQEJSEACEpBAJwEFWJ0c/JWABCQgAQlIoDUJmCoJSEACEpCABCQggRYgMOgCrBkzZsTll18e++67b6yyyiqRZVmXGjFiREyYMCG+8pWvxAMPPBDz588fVOS33357jB49uit+xHtQI9QkgU+fPj223HLLLm5Z9kYeZ1n5+6FDh8aKK64Y73//++Pcc8+NZ555pk+pJW+yrNNv8oy865MHDWj5qaeeWuAd+fa3v71QLCuxs5CjJtIgzVnWma/UF6S3iaLfFFGdO3duXHrppfGud70reA+zDN5ZvOlNb4rtt98+XnzxxT6lg3ePdzDLOv3Jss7rJz/5yQHV6ffcc08sueSSC9QrhEN4fYpgC1luxXqvhbKnqZNCXUudm2Wd7y91cVMnqCPypX2TT3ziEx26zf9fmldZ1plnWTbwa2JkXdP85aQRU3DvvffGRz7ykVhsscW62nbGgmussUbcfPPNfYpyd+8B4xHe/T55VrDMeORtb3tbV/yyrPO94p0oWPN2AARK864V2psB4NBpGQKDJsCicB522GExZsyY2HXXXeO8886Lxx57bIEozp49O/71r3/FiSeeGG9961tj/fXXj7///e8L2PGhNQnMmzcvnnjiibj++utj//33j2WXXTY+9KEPxeOPP97wCUbQ+n//939x5JFHRlcj2fCxHvwIIjj5/e9/H8cdd9zgR6ZNY0Cde8ghh8Qee+wRt956a/AeJhRTpkyJOXPmxCKLLJK0BnT9y1/+Ek8++WS//bjhhhti6tSp/Xavw8YiMG3atDj++OPjuuuua6yIGZumJUA/8+ijj877kU2bCCMugTYhwMTZuuuuG7/61a+CxQ0p2fRLEBoxQZX0BnK97bbb4v777++3F3feeeeA3Pc7YB1KQAJdBOouwGKQ+tOf/jRfSfKjH/1ogQFSV6zK3KB11113xeabbx7f+ta3ggoNPVX7EPjNb36TCzKvvPLKhk00ArYPfvCDsckmm0Q7rwTpawYx6/bud787Jk6cGP/73//66lz7VSLAasezzz67W9/Gjx+fr0Lt1kIfDCZNmtTvd2TmzJlxxRVX9CE0rTYqAfoEF110Uay00kpx7LHHBnnbqHE1Xs1BgDJ08skn5/3MH/zgB7ngvTlibiwl0J4E/vOf/8TBBx/c7Zhw6aWXzieyq0HnlVde6fdECRPU9D24ViMu+tE7AW1IoByBugqwEDoxG7bffvstIIAaMmRIvrqGTixbBZmVnzx5clx11VVx0EEHxahRoxaI+9e+9rU4/PDDF/BjAQs+NDQBVtOdf/75gUCqO/X1r389dtttt4UGyzQ8u+++e/z2t79tyDSy3fV3v/tdQ8atUSPFKrVDDz00mBVr1Di2Q7yY8bzkkksWSCqrH//973/nK6Wom6m/F7AwwAfelf50BB9++OFgleMAg9d5AxC4q2NiinLGCqwGiI5RaAECrOKjrqLP2QLJ6XMSxo4dGz/5yU967GPR93rPe97T5fewYcPipJNO6tUNbXWXI2+agUBTxPGaa66J559/viuuG220UVx99dV534Px4K9//esYN25cl/lAb/Cbvmdf/Xn22WfznSF9dad9CUigugTqJsBikHLqqafGd7/73QVS8OlPfzrYmsKSUfY9s895ueWWy88/2mGHHfJG+IUXXogvfOELC7ijcWa1wAKaPjQFAbYDstKGbUrdKbaRXXbZZfHSSy/Fn/70p3x2PiWOTimCTWZskl7pdZdddgnKHIqB+QYbbFBqpemeeS9YtUKaUHTQmy4RA4wwaSbtKFjAZIBe6vx1AggQHnzwwdefIlhJ+OMf/zje/va3B5ypm1FdFvp5U9wG0N9thKzCTNsHsyzrZ0x0JgEJVEqAOoA6l7oXRV1cqdvmttd8sWfSl/5zd/2rpL/qqqt2JY5zhjhzNJl1d+VsRBy1Yh+LdKkGhwDHxaSQGSNcfPHFwZmb1Duch0sfHiFrstOf6/Dhw/Nzq3DLhGl/thEycXbffffhRZdf+YM/VSVAvtveVBVpy3lWNwEWM2Jf+tKXugCy6ooK6owzzsjPweoyKHNDY8xy8NJD3Dgv46GHHirjQq1WIcAh0ttss0387W9/i+LgmZkahFwIs1olraZDAo1EgBnQgXYYy6Vnp512ClYIYEYHpa9bbZk1ZfYU9wy6tt12W25VjUrAeElAAhKQgAQqJMAujWWWWaZC25Vb4wga/MYFuzkYl3JfqUJwz6rxZJ+J+HTvVQISqC+BugiwWEHF1qrigcDnnXdefPjDH65Ygp1lWXzuc5+LPffcs4sQB3RecMEFXc/etC4Bvn5EXqeBLynlwO9bbrmFW5UEWpZAqyWMr/ekWXzSxgpLOobcV6KYNWX2FLvvfOc7Y8KECdyqJCABCUhAAhKQQFkCrOTaeuutu8xYAc55eV0avdxwvA1usLbCCitEcQsueioJSKB+BOoiwLr22msXON9m5513zren9DWZLP9k2fqiiy7a5ZR9/KzG6dLwpmUJbLzxxnHMMcd0pW/WrFn510p6Gfx22fdGAhIYfAKsqKUNSDG5/vrrg3Ml0nNvV2ZNmT3FHufhLbnkktyqJCABCUhAAhKQQFkCWZYFfY8s6zx2gO2AnKdZ1nIZTVaLs2ocI3aGrL766tyqJCCBQSBQgQBrYLF69dVXgwO7ky9ZlsVhhx220MHsyby36zve8Y78cG+EGWwp5GC/JZZYokdnnIHE6p1NNtkkFltssXzVV5ZlwfYT9E4//fRglViPnvTTkC8s3XzzzcH5XiyJzbKsK/y3vOUt8dnPfjb4AltvQhhWm7EKKcs63ZP2SqL0iU98oiu8LbfcMth+U+oOv7Ks01/sY06c2OrDFr4sy4LZhiOPPDKIRwzi34c+9KE8LikKfA2EWZH0nK6XX355V7o5c4eGJ5mVXmGPOV9AIZ1Z1skiy7Igz9iHj6CUclTqludiWL/4xS/QytWNN94Yiy++eFc8sJcbdPxwn2Wd4aR84QuGBxxwQF4usyyLN73pTfHJT34yWHHS4SRn358ygFvON2Ib7vjx47viw7tA2ohLb1sxyff+hE15yrIF00l8UKncwQhW6KFgmGWdbkrzLrnJsiyID/HCTU+Kd5uz91ipwzufZZ1+k37O/KBu6C5vi/7CKcs63aY8w5w4fPWrXw3e5yzrNOe9WW+99fIz/2CPvVqogdYvlHsYZ1kWyy+/fDz22GNd0URYnGWd6cmyLGDfZTjAG/iNHTs294Xyfeedd+b3vf1Qf6Xtg0xkkH+9uSlnTn6T79T/lIMs60wn5QO9StsE8p5ymGVZ/sEJeDKj+/3vfz+vp7Kss51hppZzu8gv4gPLLOsMk3cEPeohOtR0sIlHlnWa885SvjjIFnv9UbwDvP/VKqOkYyDtGvlIGciyLDbccMNIAknStuuuu3bVUdh5+eWX83owyzp5ILC85557sFqR+sY3vtHlH6v/nnnmmdxdMQ5ZlgXvNwbkH3UQZ79lWWeYvM+sGqTMUHaw1xeFG9xStorljXv0MMNOpX5SVihr/W2zKg2naK9Y1rOsfH0AwyzrZEbewRg/cEsZrlb5w89SRRjpXaQMJXPKFmUsyzrjld63ZF7umso37yJ5lGWdbmmT6cvxnpIH5dx2p0f+ks/kd9FP7tHDDDvduW80/WJe04ZQHruLI6wwr1Z5rZZ/xXqYskMZ6i4NSZ90kN4s6ywTcEhm3V2JL31q0k84WdbpNss6+zHoY4697vwo1adfwTnAlJ1ie8H9WmutFUz28+GVvvhZGkZPz/hLnIl7aZroR++7775BG8G7VM4f6oYtO8YkWdbJgjo32aM/SL8wyzrNsIf9ZD6QK6u20zZCztG84YYbKvKO9Ba3DzJ5lmVZRW6LlnjHGU9wxhzjiyzLutqnYt719Xgc4kd+k+/FejbLKitj8IVzlnXGh3I9d+7cYIxNecqyLGgH6deSV7STUeaP9FGXUS6p27Ks0z/Shl5/+lZZVp/2hr4BfYQs64wzeTRnzpwyqVxYi4U066yzTldefvSjH41K3S7smzqVEBhSiaWB2EG4cMcdd3R5QeGgM9Gl0ccbzmS58MIL8y9QHXXUUUGBYWVWOW8YlH/nO98JOrz77LNP7oaXK9nFnI7IEUcckR9STAe/u5cyuenLlUqYinKzzTbLVwo999xzCzhH8s8ZYKSBA5MRYCxgYZAeGGhx/g1fgUzbPsnH733ve3HppZcOUqw6g2Uw9973vrfzoeP3iSeeiEceeaTjrn//MCd/KJNnnnlm/sWTok/kGV9HQXC29NJLx89//vPorkEuuuvrPQP4TTfdNM4555yur2vycQPCYzBM49RXP5P9f/zjH8FMEQ3bpEmTknbwLpA2Ovu8l2lbVpeFJr8hfXytdKmllso/AsEhobzzKVmYs/qHugHhDV9B7UveYpf3l87bCSecELzPyW/eG77ex8cnVlpppUDQOpA8TP4Wr81av5AGyiMCAe7hUikfmFKejBC/EwAAEABJREFUcUcdRf3KfaWK/K9lm0CH+OMf/3j+lVzqTOJFmDfddFNeBunkoFeqaHcOOeSQoINH/YubZId3lvK18sorxxe/+MXAbjLr7UoZ/elPf5q3b7z/1Sij9S53WZYtcNwAjG+44Ybekp6bU4fCM3/o+GHW/M1vfnPHXfl/Bg2UK4QcxY+E8D7feuutkeqKSssr/KkjuuuDUAfRB0n+VlIHNUqbVZ7ggrop/YNVRy4Ym8qe4LvddtsF/QLKDnmUXFKe+OAQ7ylHYLz44ovJqNtrYlDNMtBtYA1oAE9YVquPVW3/aoqsw/NHH300L0v08+ljFieJOozzSSP0Ma9kHEB7+aMf/Sjo1+y///75uKbYXnDPpBDjGdpHJilhFlX8Q1BC+02ciXtpmmj7OCaGfH/3u9+dT9JXMfgBeYXQqLiNkLq8kjaVfGQ3EYFTn3GoPPeVKvIl9T0YTzCWYnxRdI+dlHec+Yu9SuoY8peyQ36T78V2Hv/JH/KJ/Kq03mKHC30G7BMn/KEdpA/GwovSMIh7Sh/tGe1ase7EHL1ajbeJX6pryR/6TMU4prj31Cenb0AfAb9Qf//73/P3k/ve1D//+c/473//m1vLsizoQyCvyDX8qQmBmguwKPhPP/10V+RZBVHNT6F2eVxyw9fr9tprr0DIxYtTYrzQI3Z4WT/wgQ/kX75byEIfNGhgfvCDH8RWW221wKC2Jy+Q7DMzwEvQk71am1E5sQqIWcvSsJhVYVVWqX49n7Msi2LDgYS7ONDoS1wYGJJHaUDcm1saOVZEsZqHPO7NfqXmvB+f+tSnotwKC2Yt9t5771yqX6l/RXscfr/jjjsu8Hnionm6p6Kns/Hb3/42aTX1lQad2SSEf5UkhNlM6gu+ikpd0JsbGkMaaxry3uzj92677RZsfevN30rMKXvNWr+k9PV3GyECVzpW+MPsGDN83Feiat0mkC/f+ta34pJLLikbHTqCdJBKDV977bV8JS4dzFKz0udTTjklKm2jiM+JJ54Y++23X5dQvNS/9FxJGcW/wSp3DH4Rsqf4wpgZ4/Tc3ZXVEijMqUuZFeW+nPrf//4X1JW9tSew4gtsTOjApJxf6NFesNq8kjoC+/hLHUQ/pLs6pVHaLOLbm6pGHdlbGNU2p79Kn4CJjd78ZhUFgxTyuTu7mFW7DHQXViPqV7u8Vtu/WjOjb4lAnGslYTEOYCLzrrvuKmud+oZ+B2Wquzqi1CFnTFKmYVdq1p9nhLqMVSqd8MQe475G6VtmWdavbYQIX5gwhxkrM5n05L4SRV6RZ5WOR5OfldQxjBnJD8pOctfTFT/pQ5QKz0rdMHnOWKdUn2eEoqzK4h5V674VYfSmqtXe0Eegr0B4jM2S0JLn7hTvJYJQrtihr0KfhXtV7QjUXICVJJIpCQgfsixLjzW5UlkwU00nNwXAKq2vf/3r+WodCjqKyoglxGPGjEnW4o9//GM+y40fXZp9vKGiptNKGMkpq1xoxBh8UcjZFnHZZZcFFXuyw+w8HdhqNTTJ375cWQnEMmpWjdDwISAizqwg4CB+VkD1xb9a2GVmouhvbwOOot10Tx6ceuqp8eCDDyatOPjgg4OZJdKLOWlnRh79LksdN8yoMxvTcZv/M5jBPorVF7lmxw8rxchn9FHY69Be6J9OM+GwJYrttoRP2HfffXcwAC2WkYUc96JBZ4MVC1gjHaxWo1wSBnlK5wozFGUeAQ5x4bnWioEaXGAEqxQeDNFHMYNDnZHMKrnSmO67775Bw57s844z+KZBwl/4kk4+DEHdkOz95Cc/CcoFdpJeuSvsmOHBjNVEzKaRDtwxaGGbG/qYo2BOZwAzngeiqlm/wBbGxJtZU1b5pLiddNJJgX5S5Fcyq8Z1yy23jLFjx+Ze8Q5Q9+QP3fyQr9TPGOMO99xXoijbtW4TyNu0MojVVNTnsKPMnXbaaUHdXi6uLNE/++yzcyPKDGUJv3CLH//v//2/KJZRGBx77LGBefTwN3PmzOBDF1ghX3/2s58FdQHu0vtfrFsoo1/72te6ncCpZrlD8Agr4sJ7St1HPFF/+MMf8rRhhh3sstqg+AEXBkWUGex3p3BPG8sVO6wEWHfddbktq6gLUntAe039Sz2BIiy2jBQdMhjpTiiNm89//vNRFEqmOoh+B6yJF/nLqlvMkt/UE+XqIOyjn+KIfer0/rRZuK21qncdudxyywV9JzhRhlL6KFuUMfRRrAxJZqVXBqmJL6sIUhnAHe/xN77xjRgy5I1uM4OW9I6V+lWLMlAaRiM/w6ya5bXa/tWaHe0ZAnHe8RQW9QqrOlL9Tj2MsAr9ZIeJTFbeUJaTXrqyZQ8BVnpO7QUrA+GDoh9CG4JZskeZpv5Pz/29sgr1Yx/72AJbvulD0t9JaeL617/+NYorWWh/mUjBfQqbep36nTij6PclM/qDpAN9FPawn8wHekXgw2ol/KFNxH/uu1O8y+k9z7JsAQFYd26K+owZUhuPPnnDalvKBulDwa20LGCXPjyrnrkvVZQR+hX4k8xo02n3Ej/8JX8IM9nBP8bDpCvplV6p29CjbDK5QxxhRTlinJBWF5G3te5bEY/eVLXaG/oI9BVSeAgGYZiey13pOydemNNXoc/Cvap2BN5oiWsUxqOPPrqAz6XChwUMq/TA3l06hcm71VZbLdg+dNxxxwUCmCzL8hUtSNDphDJDy9LKZJ+KhmXi6bkvVxofzo6hg4o7Oju88FQoLDtPAxEqY1ZlsEf8oIMOwmquaGioDKgUco1B+OHFgyENEHueiTOrcxiUZVk2CDFaMEjyjU5p0mVgm+4rvVLhkCfJPoIilmVTPkkv+qSdSv/HP/5xXHzxxXmZQZ8BCMI97qulKCd0OugcED5hU5Fy7hirVQYSDoN9ZhFIRyr/hEGe0pliMJz8R3iJ4KKnhi3ZbdQrQqjiDDrnDzEAZQYsrYCBL3nLKgoac8p8Sg+DeBrDiKSz8JXGHF3yi7qFGS3eafRGjhwZzFAhsC7OwrAajg4odvqrWqF+SWmHP9sQeIYnHQCuPJdTsGNQgBnucM99JYr6rF5tAp07Vv6llcaUOSY01lxzzbJRTWl+3/veF3TwKUuUISzjB+0JZYx2DD0UbVRxaz563SlWqjEQR6ibzotM7z8dd96P5JYVuAh203O6NkK5YwIg1fusECZPU/zKXanjKVPJDA7pHU16xWvKB9oChHXUv9QTKPKO+pm2nLoad7TxCLHLrQTjS1VnnXUW1nJFnjJ5QB1E+5Vlne0o+cvADjPyP7fc8UNfpTR/SU8jtVkd0ezxP/Gsdx3ZY6QqMKSMUW445yWVAZzxHtNWcoRFlnXmH/qsCk1p5TmpWpSB5HczXKtdXqvtXy0ZMuBFQMCAn3AoUwhAeH9ZYZXqd+phzvVFnz5mqlsYB3zzm99c6AwdymUSVtAeIECnbqGPRzgo6jj0GNcU63ZW3iS32Ourop5jvJTShHveB/qQ9HdSmrgSLkITFghgD4U72kbOY+R5MFVftxHS/tF/I84IvhCAcV+J4lylYt+DMQb9U87So/5PfsAtlYUiN+oWjnNJ9tIVfYSZlJWkx1iSMSVjS8oB+vhL/lAeilsnOVqAiSDsdKcQwP7yl7+MVVddNbdC/4F+BGOHXKPjh3a4mD7KJf0V2rA03siyzjNWKT/Eo1rj7Y7gu/7hwcNA2xu40VfALxSTGuxQ4b47RdlAmIg5q7fYgs69qrYEai7AKgoXsizr9+HtlWKg4aDjmAozDQcdDpb0decHB94hsCoOYlmtUYx7d25L9WmkigMAtpSwzDzL3ujwFN0gnGCWiiWpSR8/mDFMz/W+stWFg/oGHG6dPGAFSV8FLsympiW0VDis5siy8nlEMrbddtvgwwHM8tIIpNkHzKqhEBYy61QNv0r9YDDd3WHXdKBYWVMsf8w4FBvFUv8a+ZnOAkufUxxpTBmILLvssklroSuzLdQRqfPIrCjCzN7KFEuo2dLFga4LedqhwZlpRxxxRMdd5z+D7tTIder0/Ze6odnrl5Rq6r5iuaNT19PXCBkokje4xx3uue9N1bNNGDt2bNCJROjRW7yK5nRqEY5wSHRRP93TfiGYTWWUsoT91M4le6VX2jaEtHQ8S814Rv/QQw/lNlf4W66MNkK5W3vttYOBUR7Rjh9WovXURhc7lXCl3u5w1uM/2+c5I6Nc/mVZ57kWn/nMZ7r8YKVBqbCb8sYqKgRcWKSzzuQBceC5nMKMAQX1FebkQ2n+NlqbRTx7U4NRR/YWp97METz0dFQCg0H6Askf6mMG9+mZa63KAH43i6p2ea22f7XkyKQYK2dSGNQHrGTJsvJ9zCzLglVXjBeSGwTm9913X3rMr0zi5DcdP6x8YqdEx23Zf+p22iL6JwhdqDtLy2lZh91oUs9R3yVjBBnsyqAPmfSKV+pQJuOZvEn6CEyYTE3Pg3XNsgVXUfUmpMCciWviSzuCAIz7ShSC7GI+Hn/88fkHiLpzm2Wd7Qx1Z7JTrp1jcQiCz2SHMQT90e76RZQHBGOMiXFDXwqBKPflVJZlQVuHQKecOXrUc4M53iYORQUzGFDmi/rpvtI+OXlMm4w7BK/Fdxm9omKcQP8o6TERxSq49Ny21zokvOYCrGIaeLE4yLKoV+17Kng6rslfziwqdjaSfumVTiazo0mfmXAq2/RcyZXGobhtkZeJs42yrHyjlfyEy5e//OX863PoUbGwvJT7wVB03rKs5zgPRry6C5NZJb522Z15b/rwZiVCT4NByu0tt9ySH/LOrBez5r352xdzBGSUg764qcQuK1VYudCTXcKl7GdZZ55zaGSxo9KT20Yzo6NR7CywLYhZoN7iSaNDBzLZY4Vdb0I8ZjmZlU9uyl2pA1KHAfPe/MROd6pV6pdi+oodBVbJsQKoaJ7u6cAhsOAZIRECZ+4rUfVsE9iSmWYrK4lbskP9z8Gj6bncdfPNN19gWwYd495msynTPQ1yCIdZ39RZ47m0jDZKuaOeKm7jYya3u/JS2qmkfkVISPq6U3RuGXB1NyDDXZZlwcHJlEGeaTNKZ8cZWBT7Dmzzq2TAQz1F24u/qJ7ytxHaLOLYm6p3HdlbfHozZ6KD7R892WMgWOxTckAy70jRTT3KQDG8Rr+vdnmttn/V5kedQN2Av/QBivUWeuVUlmUxceLE/OvTmDNwZnUT9+UUdQwrg8qZJT3OT6Vs0idiAoQ6Jpn15UpamOTnijvqP3YH9FRXYi/Lsvx8R87P5RnFMRkD6a/jRzUUq+OZGMKvnlgX25IsW1DwhdveFII8VkTBYMKECUFfszc3CGCKfctyYxxWWiWhWpZlwZb1noRNhMk4l8lsJuJTnDj4HLNSRT+mt5Vm9exblcav3HO12hv6CvQZUhhM6tMHTc/FK/U/48ek15fJ1eTGa/8I1FWAxawiy4D7F9XKXFFREw62s6yzQciyzoE5ej0pOo90krFDRU0HmUozC0EAABAASURBVPtKFasHGIQl+0jEi5VQ0i93ffvb356v8ElmbPmg4UnP9bouvvjiwRaHaKI/GgYq/L5EmcHi+PHju5wwgGQvOUtfB2P7ZmpIuyJUpRs6TnS4e/OOhooGK9lDgMU7kJ6b5YoAK8WVQTkCkvTc05UVdcWBC0I8ZtZ7crPJJpv0ZJyb8S4VV3bmmv38aYX6pTTplLnEkfJWPLumaBdBRaqP2YLByqKieU/39WwTqFP6WhcxaN5iiy16SkJuRtvE+5w/dPyw7QzVcdvtf2LbrYUOAwYjPXV8G6nc0amkvu+Idr69hvPDuC9VpZ1KDmblHS+1V3wmDyiPRb1y95Q9ymAyY1sr542kZ7b+UX/wTJ4xicB9JaoomCVvUcldo7VZKV49XSspf9WsI3uKSyVmrFSpRNiYymB3ftaqDHQXXiPqV7u89tG/QUPCeVQcH5AisP7660clZQr7K664YrDSlHtUaT+sWO9wLhGrx1lx3ttEBn4NRCHgueeee7q8IB7Ug10aPdzQJhZ3F+APjHpwUhcj+mXF/iF9j3KCtWJbQj8dwVdfIki/kpVSfFiItqLSMWExjHK7TJjgSHY445Ltzum5uyvbCVktxDicOLH6GgFbOfu0hT31C3BTz74V4fWmqtXe0Fegz5DCI98Q1qXn4pUVhawORY92ATkC96raE6i5AIsOQe2T8UYIxUJGRZGW5L9ho/s7Gg9mYZONol9Jr6crlQKS8mSnLx1XBEfFuNJxLXaKk5+1vrLSqNLGttZx6c5/lq0yA5fMqWyyrDIhZXJD48XquPTMlTMImCGhkifvOICXmVQG1pjXSrFCp1bMi52hnuJPQ0WDlewws0OjmZ6b4cpMWVGAzPuEcKDSuNNBJi+S/Z7ef+wx8Ep263FthfqllBPvGlsrkj7bCIt1aNLnPA3yl2fs4477SlQxH2vdJjBzV0mcinZoIyt9/5lBpb7DPfVg6jjxXKqqVUYbqdwxGGJiKKWVziPbhtNzurICIrFhBQT1eTLr7sqWnMS2OzvoU/ZoJ7hHMcApTjYVyxt5xGqdLMvyMxSzrOcrn0LHTxRuUxp4rm+bRYgDU9UqfwOLRd9c0wbQFvbN1cK2a1UGFg6pcXWqXV6r7V+tyCGcQViR/E/HE2RZz+9+lmXBxxzYqpfclvbDGBxTnyVz6gd2mcCGto3VnuwQKCeISW76cy1NE/Uf9WAlfmVZFsUjSWjfaVMqcVtrO/QlsizLg2GHBeOu/KHwgzASzmgh8II199VW5BnCvZNPPjlfpcU21O7CoL0pTrAiTGQiqjv7/dFHGNPbZFyxnqP80eeuNKyBjrdLw6l2e0OfIb1rjDc5wqI0TNpoVmclfbbp9rbiPdn1OnACNRdg0SEoRrNY4Iv61bovNhycbcQMaKV+I0QqDuIZwKdBUyV+UMkX7dMYVeIu2SkKG3hheDmSmdc3CLAioMiZivAN08rvDj/88PzLg6UuOLuELaR0BigPiyyySHDgIkt2u1tuW+pHIzz3pUKnoaLBSvHmfDAa1PTcDFfiS+coxZU09bbEPdnlikCq2DmZNm0a2g2jWrV+YeULq+UAzVdr+RIP90mRbrZ08ow97HNfqRqUNqHSyHXYo42sdNBMe0a71uEs/691e0og8C/Wt4PZrmVZFpzRmGWdgw4E1syOEs+kaDeLZ3sg8KJzncy7uxbb3+7sJP0iA+qc4oCsWN6S/f5eS+ugVm+z+sup0dzVsgw0Wlp7ik+1y2u1/esp7v01o74sfW/76xdjkOKOAPq6bMEr9lOS3/SLmXSlvqOdYPDN2VvVWJ1VmqZi/ZfC7+larFsbaWyDII5VVcSdVbOseOM+Kdq9JKDIsiwQeCWz/l4RPrHlDEEV5yOTT7T/5BmrqDiTtrczkJlUL45F6LvT3+1vnPrrrljP0S8hDZX6NdDxdqXh9NcefQa2JCb3nIPFe5CeuXK4e9r1kWWdZ5dVMgmGW9XACdRFgFXMULbG8fINPOq194GOKYPi2oe0cAg0gKUvy8K22lOHZavFlBcbx6J+b/cINzisn6W0NCLd2acDwf5/vrzB3nEGR81ShrtLU2/6NLKkuzd7tTJvBH+LjXMjxKeacWik+gUhcVr6zXvFUv5iWv/zn/9EEmpxfkR/VjkV/RvI/WC2CQOJd6O4rUa5YwtHGnRQXqibuaY0ItRL52DSqS5uBUh2muVKPVyMq21WkUZ73JeWgWZKdbXLa7X9a3SWHIdSFFQQX+o/xlFs/0of9UC/VCHc54MUCLuoAxHQlNoZjGeEQo0ytoENq6oSB/oexTEfq2vTOWScb4lKdvt6pV1iyyeCG/oxCKr4wBD5hKCyL/5RJxC3vrhpdLuN2LfiPCv6ELDjCAsU90kh1GJ7Lc+spOcoFu5V9SFQcwEWgw3256bkMBAZ6IzAn//85+Cz1nzdoprLZekEFxuLvsyMp/QN5FoMm4qVFSH99K9lndG4pAaFRCLxpyxw3x/F/m8OM2TlBw0CX7Cgg9CdX6xMwv5vf/vb7qy0hD7vLLNCLZGYChPB+4dK1vsrGE3uG+1aTFsj1S9sRSjObJZuIyxuH+QMqOKESK0ZD3ab0Fv6qr1toLfw+mNe7XJH2eVckRQXzgIproC6/PLLg4Ef5gwYmNXmvlaK8stq13L+U48SN8pRfxRfESv11zarlEhjP9eiDDR2iheMXbXLa7X9WzC21X866aSToj/vPm6YvKG+K40VE6k//OEPg/4wW5tYydNTW8DxGHzQo7uDqEv9r/ZzcTKUurKRxjb0PbKsc0Vv6TbC4vZBzl/kiJW+siEfWQnH9n/87849K6gQpvGlQFb18NGW7uzS5lR67EB3fgy2PlyKfYN6j7crST99B/oQ2CW+LHbgyjPvUlqdxzOrtVi1xf0gq7YJvuYCLF6y4pYPBAW9LY/siT6FB+EBX0o644wz8q8ynX766V1OkIKmh74uVR2oVJvzdhCopPCZbU73lVyRxFdiDzukn2u7KfZ9s5UvpZtGgf3f6XkgV/Yu82UVvu5C2WE/+gknnBDFMoX/bDFEeFpuvzzmjaIYxLGsvJL4MAPEeQvJLtsme5rda8TyRweApdQpDaSp2HFK+t1dOUunUWYGy8WxnvVLufBrqUcbwfZAwqCNYKKDe2bl6DRwT/pTZ4LnSlXx/eW9ZotZpW4H2iZUEg5pZCBSiV3KZzH+9RgIwL1e7VolDLDDl1UZCHE/adKkSCuu6FSmr1Vitscee0SlgngETbipRBXrSvwvDh6LH82g/KQZ2kr87audVmuz+pr+RrVfzzLQqAzKxava5bWa/lG3VtpfKpe2pEe9hIAhPRfriqRXrSsr0hCscJA78actYRUR26wxK4bDxNCpp55a1Kr4noF5UXjT17FNI/YXU+IX3kb419yINpnzy3hg0myHHXbgts+K8epRRx21gDvCRFDF5Avna9Evoa1gQQZ2mTxFULuAo8IDeUt/N2lRxujvpud6XRu9bzVQDrTt9CGSP7xDqY5gRV06voBVWqzWSva81odAzQVYWbbgmRUIoJg5KHbC+5JU9pxSISQ3dBw52DA9I8VN9wxI+VJHeu7tit/FTiyVSG9uiubjxo2LYscFKXrRvKd7Gh9eiGSHbTUsNU3PpddKBuZUiHTuS9026zNlh+0ixQEBeV9sWKuVNhoIhGN8nZAti5MnTw4O6Ev+02Cgn54b9cqqskriBlOEg8kuhyUXG8ikn66NWP6yLAvineLIu0/nID33diU/Efole319/5O7Wl3rWb/UKg3d+Ut9V24bIYIsBFq4Ywsvqxm474sazDahknjyoQjq6krs0kZRD2KX9qE/PHDbF9WI5Y53s1gf82UltqYUv1aJ4G3HHXesOKmsdqjEMgMb8iHZZZV58UwY2o1kxradeg3eWqXNSuya+TpYZaAhmFUYiWqX14H6x2oQ6pDeos8YodhPKLXPh6Coe5I+2/0qrd+Tm/5eqasR7rPiijHWOeecE8WJSA6I74+gg74gq75SvGiXqQfTc09XmDIpnOywoqweEy8pvN6uxIeVT8keAkDSxgR1WjGFwKn4Tie7vV2ZUPnOd74TTHpjF0EHE3J33HFHIKjacsstA+EgZRfzpGjjKY/pufRKfhQna4lrpWXsl7/8ZT6pw7EpnCnHOLnU/0qfG71vVWk6erJHHyK9zywySUKriy66KBA84pYtoZQR7lX1I1BzARZJYSkkM+zcozhD6NJLL+W2T4pBMwffPfXUU13utt9+++BFTBrcMwPCM5UAlQVXnntTSL+pbLGXZVn0db8zq82KEunuvpCE/6WKwTMNXdLnqx1If9MzgxUGeemZePaWLiTFvHDJTbNfaQQ5syqlY+zYsVGUjif9Sq408MxSUQFvt9120VujzuGZJ554YjATk/wv5lfSa7QrZZCy0lu8WMFQFHa+//3vX8BJs5Q/vhySIs7gkRmT9NzTFUbUS8kOq4GqtbIv+TnQay3rl4HGbaDumbFmKX/yh6X7CPWZoUz1HO968f1Ldnu7Dmab0FvcMEdAV8mqZAYkxSXrCHGKAlv8qoVqxHLHijC2k6b0Un8xyVDcbsrgoC8CPurKSjrzCPqLq4Dp3zCgSHGh7Wagkp4vuOCCoO+Snnu7dmfeLm1Wd+lvJv1alYFmYlDt8lpt/2BJHcoVRTuTBA08d6eSUKM7c/ql5H8ypy1Lg96k158r4x52CDDRg8Ccuq4nf1jBw9bCYj2JML2vq6cIgzS9/e1v5zZX1H/Ug/lDLz/Uy0Vm+FOLSedeotGjMX2PLOvcRohwCSElV/qQOOzvRDmTU8WFCXvttVd+EHyWdYaF3+UU568W3ZXaybIsimNqBFiVlDHKOONcxjuMDSmbxbaqNJzenhu9b9Vb/Csxpw9BXwK78GOcwNi6OLZg9RV9Euyo6kegLgIsBDFf+cpXFpgJ+NSnPhW/+c1v8r3hlSSXgsPy17PPPrvLOoIqDiksDmpokIozsz/72c+CL8p1OermhtlXVoYlYwRR7H9Nz5VcSSeDrGQXodRPf/rTXtPIwAThSJLmZlkWSH2TP1yzLFtAeELlykuEWXfqqquuir6sQOnOn0bQR7jysY99LFgplOJD49yfWRHcM1P/61//OlihxKwUeYV+XxRCrb7YHwy7nAdDI9VT2MwS/ehHP+qywsxOURCEQZY1R/kj3jSqxBlFnUEngvueFIISykOys9FGG0U9hAMpvEqutaxfKgm/1nbokCE4JBxmeBFKpK8PliuT2CujFtIazDZhociU0aBto+2hHShj3KWFgAWVNJi8Ka74TfrVvjZquWPrDOWC9LIilkFV8XxEDi4u9g2w15OiDSgKCMvZRdBNXqV2iM4/EyBFu5S34mGuTNYxq1+0U+6ecnDEEUcEftJppg/AICPZbZc2K6W3ma+1KgPNxKTa5bXa/sGyWD9Q//a2awIBd3EHCH6UKvzknNSkT7/+uOOOC/pZSa9y1GqXAAAQAElEQVS7K+MQVuQwaUA/5nvf+15Q52Cf+LGljTi+/PLLQb2SzDCvROEvk0WV2C3aybIFd9JQ/3GuU2+Ceeo0jnihfk7+sRWvP3FI7mtxZfVM+jAIYya+RpjaAurj0jq+0jiQP8WVVKw8y7KehVcwI5+T8Ky7sFiRjmARc9zQLlFGeO5OIRRDAJPMOZJhIMJE6rnBGm+nNNT6yvtMXyKFw1gB4RUTj+gtu+yyC43X0VfVnkBdBFgkgyV2Bx54ILe5ouLjUEGWMPY2I8Ch7/vuu2/w1Ybc8es/xx57bKy//vqvP3VekIISTpZ1VhIs9UXqnQpbp60Ff5lJYDUO+8eTCWcc0ZCk50qvNFzFlRtf/epX47zzzgsqmHJ+UOF87nOfi2KlgrT/ve997wLWmeGlskiadLZ78hcp+9e+9rVkvWmvlBOWvDKjxexRSgjbNuCWZZ35nPQrvSIxp2HCPmXki1/8YvTUYJBPLMemQcINDcc73vEObrtVNFzd5Xu3jqpsQOdpv/32C8p4Oa+Zifn0pz/ddYZMRMRnPvOZKK72w109yx+M+8uNd5a6gjij2Eb48Y9/vEdBLgI+6og0+8qSe2Y6qUvwo5FUreqXRkgjZY7ZZeJCGUCojyCLZzpJnHfCfV8V+TiYbUIl8aX+50wM6rty9imjvMepjCK4QYBfzm4t9OpZ7rpjUJouBMzbbLNNl/ZPfvKTYJCLBoM/hNnc90V96UtfCtrOcm6ozxlQEk4y5+BWhN3pmStCRQRR3KPIs/333z8QsPFcTlHfMQD5/ve/n6/WYtUC7RL5nOzXo81KYbXSFbbkQT3TVKsyUM80DDSsapfXavtH+qhD0qQJz5yry2Qp96WKvhIT5vS9S81KnxHSFOsfBrz0KehHltpNz6y6oe/CxDQfC3rggQfySTQG0NhBqL3llltymysm5xFiUb5zjTI/CLuKK7WIE33XMlZ71WKlKZNMyeLPf/7z4IzY7upr6ku2zyHASm6YcGbcl54b5Vq6jZB6njwjfkxGFMde6FWqWGRRFNaxIwgBWXfuYQnTb33rW91Z6dKnjfvgBz/Y9dxbHwIBKuPaNM4lbgPtQzRD36oL0ABueG/gjRe8l5Tr9N7xTvJuYqaqL4Eh9QqOSpivcRRXKBE2W8KQACNAYkUWjQdLZbnyjD6zBnxuFPtJHXDAAdGdAIM94HQYk10GsQgbEHixGoOCh2KZKFsS2SrIzEeyz37oosQ16VdyXWmllYJ0MgjGPh2nT37ykzFx4sRgGS0VFPrsV+bcjk033TTOPPNMtHJF44LgiYoh1yj8EKckdEEbgd6hhx4aKU00GHTgGbDTsWeWJMv6J+DB/1opKnAq8ksuuSTKKZaKsz+cbWwITlh5VRRywohtGWz/628c+dIgg7LkHqn6xhtvHISNwDTpk0+sBEGgiMAw6X/kIx+JVKElPa50XLmiWNl1/PHHB2WZMs2+evTrqbIsCwR/lPFzzz03UtqIC6s5qJhhmeJE2T/44IPT4wLXWpU/6gbyOQVGHjCQo0PHjGd6Z5J5b1fiTzqSPfKPFZUMEPEPfd4VzrH5/Oc/H+RtatQxQ1BAo8R9oymEOLWqXwY7rXT0WMqf4kHnG0EWz7yrlBPu+6MGs02oNL7M0jOryiqiVOYpr9QhpWWUMoDAr1K/B2qvluWOjjR5n+LIZMINN9wQ1JnUV7TVyax4zbIs6B9kWWcbR32bJiEQLCHMLtqv5J42k7bzkEMOWahdxU/a3OQPZ8J885vfXGBldDJjYEEfJT3jL3mLv9Q71D+YpfaFGX4mDugvoE//gVXrrH7jGVWrNgu/W03Rf8qyznKB0ICB27/+9a+8TJEX9UhvLcpAPeJdrTCqXV6r7R/pZCKUlZzco+gr0XdglRV9JPQY+COsQYiR+kpZ1lm2MC+n6AciDKOvmszpf7GrA79579GnHqCfwzgE4U5xKzkT2QjCsIei/aO/n8YA1BX0Q5mcYfyS2ozkJ+3G+973vq4vshIX+jZZ1nPcCaucoi4inviTzFObxYczEi+u9LmIe7G+pE7DPuO55L6RrvQ9sqyTDeOoVE8MZKUzAtLiBAcroBjX0PeGE+mnfWMsyjiQVWCM/9AvKvIUe0U9ygN2KcNJH760M/BP/lPWKHOMAZJQDvv0fUsXgKDfV9UMfau+pqnUPn0J2n/06ZMWt2syLiIvMItefujTMG7NsiyyLAvu0evFWSBozLJON1mWBTtrenODnSx7ww1+9Oam2czrJsACDJU6gigETzwnRUXM9h0k87zwLLPkyjP6mCe7XBFuMBgtPfgOMxT6SEiLwjIqdyp0Ov1UpChmN6lgi8IRGi8aKeKKX/1RFHRmHQgjuWcLAcs1aXyyLAvOFEKolVYYYI9ZAGZUEKTwXKpowEsLIbPBKU28RKxUOv/883OnNIhsocofGuiHbRH77LNP7LnnnmUVFQL5R2VLvhWjDiO2RnbHqGi3p/tURoqVPwMLwiaMLOt88cknZp04fyv5Rz4wuIB30ktXBELpnuspp5ySz6JRposCMMxqrRgYMutHOaSMI9RNaaODT8eNjk+KB+WFTlZ3ZZ9016L8MXidMGFCikZ+4CUDDgbNDBJvvPHGLrNKbog/HU7im+yTflaaLbvssnnDQd6xUpL3o1jG9t1330CP8pHcNtq1VvVLI6STd604I06cqKdL3yv0+6LIT+qUwWoTeoor7+nqq6+eW6GeYaY7tROUVyZeimWUlWnUU7mDOv7UqtyRxtVWW60rJUw4MfCizqQ8IMTqMiy54R2n01/Uhh2rNYp6ldzTmRw7dmxutVy7ShueG3b8YI/JF+qQjseF/lN5Y/BTNMRf3FD/ZFlnP4A0MqBJ9qivqYcZ6CQ9rsnPardZ+N1qivLEoCOlixWMtDGUqb333jvS4C6Z1+Ka8quaZaAW8ayVnyn91Sqv1faPdPMeMh7hfeYZRT8Q4SN9pCzLAjMmoTluAnPqY+po7ntS9FF5j4l3spf8pl+ZZZ3HMtDPKR2HsOKY41KIQ3LLlXARmnOfFDsDOFeKei/L3vCTeKZ2gzoFd7wDyV1/rqSJ8RFtVnJPm4WwirhmWRZcS+s0GLBijDYkuSt3HUw92JRrS5hc6G+8YMFYgbxJftDnpu+NWZZl+dE69HGYeKV8RMcf/QHGvx23+T9lD0FU/lD4oc1iuyH9+qRNfsA/+U9Zozwnv7HHooBjjjkm7wvzPBBF3jZq32og6Sp1S5+imI+Ys4hhoH1T/FH1j0BdBVhEkZeKvdMIJ8h89CpVVDAMZpl95qXpyR2DWF5sZgx6s4s/2GELB1JLOtTo9VdlWRYMlv/85z8HFVEl/nDQIlLdrbbaqlvrxJHBNbMw3Vp63QBBHFsh6Mi9rtXUFxpgZqiphBEEViMxVP7sdacxqdQ/OjKU3e7Ov6KSg305/2i4yunXUo8VCuzlL3Y4yoWHMBEWMClnjl4tyx+ziMWOLuGhmHUiz7nviyJ/WMVBmanEHYeiUl/QGSyuBqvEbb3tZFlt6pd6p6NceAjj0zbCZM6KmPHjx6fHfl8Hs03oKdJ0PlmN21vnnjLK6kQ6nhzQ25OftTDLstqUO1Zgkybq+NJ4s1qX7TSl+ukZdtRd6Zkrwi/6Ctz3RbHKjTPXGFD25I4ZdVYHsnq6J3uUN2a+6VdQd/ZkN5nRX6DfgCA9y7Kk3XWlfqaermab1eV5C91QjyCYKJckVqyXGwyWsztQvVqUgR7i1HBG1S6v1fYPYAhl2BHQ23vPO8wkJCtXytVV+FWqqNOZpKbOKDXr7pk+C9v+yo1DsiwLVqiyEICxVHd+FPUR2rJC6rDDDquKwIKVYYxVKk0T9mDAzpAsW7hOK8Z1MO9pS0r77ow1WDU3kHghjKR80X735g9ljG2qnHHMCt4s6+TFCq3u+sFM4iC0Iq69+Y/5cccdF2eddVZUs59LPUf/eTDG26SpHoo+BX2LYli838WJkqKZ97UnUHcBFknKsiwQ1LCckq8nsEoFKSYdWcyT4mVm69+Xv/zlYNUOLzWS5SzrfKmTve6uuKeyZ4keA1PCKL603KPHiiW+eMXKrkobhe7CLOrTIebsrWuuuSbf6sDndZM5DSAzsUjnka7T0WXQncy7uxJnVp+xD/+ggw4KGqdkFzMaF7agEGa5BjDZbfQreYfwjRU/zHyzgoYl2ZU0An1JG4xo3BEucR4beULeJD+IB2Xw61//en7gO4fy9xQHKnLykrJUulSaRojlp8nvelyzLMu/esIZWHS8inHifWOgRNp/9atfRenKl3Lxo4zVovzRMWXgxioxwiiGzftRfK70Hn8oM7hnEEk+kp/JPelndo3yxRZCVrUMhmAgxaev11rUL32NQ7XtsxqPpfxFfxHuZ1lldX7RXbl78n8w24RycUKPd4/VxpxjwRaAVAcR39RGUX8gkM6y6rAg3P6oWpQ7OoJs4y6mnbhR7/e0Ags7bGEoCuiZROhfOx7BYOuee+4J6gvqJPxHUVfAnraV1Txrrrkm2r0q4kFb0F0fBA84P4N2Dr/p58AX/e5Utdus7sJpZv0sy4LVx7RrrCwupoVtppSrol4t72tRBmoZ32r7Xe3yWm3/SC/vHO8e561S31Lvoo9CqEx9wDuMECbVzZhVoth6SJ3BESL02Xnfi+7opxDmaaedFvRD6LOgV7RTvM+yLNjBgGCfsQtCF+qnoh3GGqy6oW/z6KOPBpNAWVa9doP6r6c0kUbSSt8SYT8MivFr1Hv6Hln2BidWlrF1cqDxxR/ONWSsi0CsWIbIa/KfMSr5z2omxhisBoMjYTNuYPKKCV2eSxUTfLQf8IZ7cpfsUYYZa9KHYCxDnZTMqnXlnWnEvlW10gcz+hbJP1ZjFZ+Tvtf6ERgUAVZKXpZlwYtHR4PKnY4FL2hSHECN5J5D7agws+yNiiX5Ucl13Lhxwd5vwmDmLfnPPXosp6QS6c0v9hBzkGNyT8e5Nze81MyWUvlwOGNyy55m9ttzWF9vMz/lwuBMH7Yj8HWP5CfpYQDEzHAaiBPHZH7DDTdEucqY5cvJDuc1sW2rXJj91SNMwk5hVHIl75lxYCsYaagkf4rxw00Khzwj74rmxfssy4IGlm2f5Al5k9wSD8ogsxaV5hONDx0ezq9J/nBlywlL1gm7L/HDPop8IX/wC0W+oV9URTvFdKPPysdinHjfWNZN2rOsb+9WNctfij8CXJbNU45JX1K8/8kOaU76sCBdyay7K/nGIJJ8JD+Te9KP8JK84D3tzn3Sx15yW2SbzMtdiR/xTO6Ifzl7/dUj3tWqXwYc124SwbsHr0oZ0AFLdrnSqezG61wbpthDEQ7h5QY9/FSrTagmM+psJiA4yynVQZTXvrRR9Sqj1Sx3ZFOWZcHkVDHt5CdbYNg2g53uFIzo4GPOVgwYct9fRf1NfcHAjzigqCtow4tta1/876684Tf1A+1cX/zOsuq2WZWkpZKyXq/yceBcKQAAEABJREFUV0l8eZ/YhoNAEs5JIYhgcgw/SvsmrLBBvzdVrHPIP9j05qbaZaC38CoxJ72JS6V1Z/K3L3mdZdUtr1lWXf9IEwNUPuZCfUudkrgw+Ud9QP5hr7TMwAH9nhRlESEFfXbKS/KbK/0dwuTYhBRGT34lM/rEjF3YaUH9hF9JMdagv0ncqKuTm2pee0oTaSStfelbFssi4wU4DzS+vJfEJXEhjJ78ZNs2R9Yk+7znPdmHb7LLlefu7NOuMNa9++67I7XvuEn5zxgVO8k9bVmxDeK86Czrvp+eZZ3vBNyLaSYMyjBjTXgk/0uv8IY79lG9sSp1n54pw6SFMk3a8AvFPXqUWcpust/dlbgW01EuL+CN36hK669K/O0uTuysIizUa6+9FpWuekv+lYZN+tBL5t1dyQvCTIp0d2c36WMn2eeKH8msVa6DKsBqFYimQwLVIKAfEpCABCTQNwKsNmbAiSu2ayCw5l4lAQlIQAISkIAEJNB6BFpJgNV6uWOKJCABCUhAAhIoS4BtGWz7wTDLsvxrPWmVK3oqCUhAAhKQgARamoCJa0MCCrDaMNNNsgQkIAEJSKCZCbC9kC9rsT2CdHAYc1+X9ONOJQEJSKC9CZh6CUhAAs1FQAFWc+WXsZWABCQgAQm0HQHOsOMrR5zt8qMf/Sje+c53BmfmJRBHHHFE8BGN9OxVAnUjYEASkIAEJCABCdSNgAKsuqE2IAlIQAISkIAESglU8swXmo455pjYc88947DDDgu+uJTc8TWg3XbbLT16lYAEJCABCUhAAhJoUQIKsFo0Y02WBCTQNgRMqARansCSSy4ZfCmsNKHrrLNO8IWmcmaldn2WgAQkIAEJSEACEmhuAgqwmjv/jH1VCOiJBCQgAQk0MoHVV189ttxyyxgypLPbsswyy8RRRx0VN998c6yyyiqNHHXjJgEJSEACEpCABCRQJQKdPcGBeqZ7CUhAAhKQgAQqInD00UfH/PnzczVp0qRYbrnlKnLXzpbGjh0bV155ZcydOzfn9swzz8S3v/3tGDNmTL+wLLbYYnHDDTfkfpEX5513Xr/80ZEEJCABCUigLQmYaAkMEgEFWIME3mAlIAEJSEACEpCABCQggfYkYKolIAEJSKDvBBRg9Z2ZLiQgAQlIQAISkIAEBpeAoUtAAhKQgAQk0GYEFGC1WYabXAlIQAISkEAnAX8lIAEJSEACEpCABCTQPAQUYDVPXhlTCUig0QgYHwlIQAISkIAEJCABCUhAAhKoCwEFWHXBbCDdEVBfAhKQgAQkIAEJSEACEpCABCQggdYnMNAUKsAaKEHdS0ACEpCABCQgAQlIQAISkIAEak/AECTQ1gQUYLV19pt4CUhAAhKQgAQkIAEJtBMB0yoBCUhAAs1KQAFWs+ac8ZaABCQgAQlIQAKDQcAwJSABCUhAAhKQwCAQUIA1CNANUgISkIAE2puAqZeABCQgAQlIQAISkIAE+kZAAVbfeGlbAhJoDALGQgISkIAEJCABCUhAAhKQgATaiIACrDbK7AWT6pMEJCABCUhAAhKQgAQkIAEJSEACrU+gNVKoAKs18tFUSEACEpCABCQgAQlIQAISkECtCOivBCQw6AQUYA16FhgBCUhAAhKQgAQkIAEJtD4BUygBCUhAAhIYCAEFWAOhp1sJSEACEpCABCRQPwKGJAEJSEACEpCABNqWgAKsts16Ey4BCUigHQmYZglIQAISkIAEJCABCUigGQkowGrGXDPOEhhMAoYtAQlIQAISkIAEJCABCUhAAhKoMwEFWHUGTnAqCUhAAhKQgAQkIAEJSEACEpCABFqfgCmsHoGWFGDNnTs3fv3rX8daa60VWZblaoUVVojvfOc7MWPGjG7p3XvvvbHzzjvHiBEjcjeLLbZYHHDAAfH4449360YDCUhAAhKQgAQkIAEJSEACEqgZAT2WgAQkkBNoOQHW7Nmz45BDDokPf/jDcf/998eSSy4Zyy23XDz55JNx1FFHxZZbbllWIHXjjTfGZpttFldeeWUOBoHXzJkz45xzzolNN9007rrrrlzfHwlIQAISkEA1CPzhjjmx9YkzKlbYLxfurDkRmB107szY6Tud/vFczu4zL82Pj3z/lR7D3O/smTFtZjnX6klAAs1LwJhLQAISkIAEmp9AywmwLr300jj77LNj7Nix8cc//jFeeOGFXHj1yCOPxIYbbhj//Oc/45RTTon58+d35R4rrA4++OCYOnVqHHvssfkqLfSmTJkSe+21V0yePDkXfk2fPr3LjTcSkIAEJCCBgRAYOTxiiUV7VouPjMgiYtSIiJXHcdfxUPj/9+R5sc+PX4nT//haPPTMvHhtdgRu8Ltgret29tyIWXPfaP+6DLzpnYA2JCABCUhAAhKQgAQGlUBLCbDmzJkTl1xySQ70m9/8Zmy33XaRZZ0d/vHjx8fJJ58cw4YNi8svvzyeffbZ3B4/l112Wdx33325/aOPPjqGD+8YVXQYjBkzJs4444zYaKON4rrrroubbrqpQ9d/CUhAAhLoDwHdLEhg23WHxW+PGN2j+si7RwTipjWWHRLrrDh0AQ/+76G58ZVfz4znX54fyy+ZxbEfGBnXHDM6Lvv86MDvBSy//vDklHnx6qyI5cZm8avDF43rvzx6IXXuAaNizKjXHXiRgAQkIAEJSEACEpBAgxBoKQHWq6++Gs8//3yOdpVVVsmvxZ8VV1wx31L44osvdgmwcHP11Vfn1vbZZ58YNWrBXvu4ceNi4sSJwYqtq666KrfnjwQGiYDBSkACbURgxmsRf7l3TgzvkFvttsHw/JqSj9kv/jYruE5YZWj8cN9FY4u1hsbQIclG+evMWfNj7ryIRYZnMWJo5wRPeZvqSkACEpCABCQgAQlIoLEIDGms6AwsNqNHj45VV10194TVUgid8ofXfx5++OFcwLX88svn52Kh/dJLL+WrrxBcrbnmmmgtpNZdd91c7+677w63EeYo/JGABCQggRoT+Ot9c+J/z86LVZYaEhutNmyB0DB74Ol58abFsvj0tiMqXjH10syIOR0CrCVHZxW7WSBgHyQgAQlIQAISkEDTEDCirUagpQRYWZblB7iPHTs2P+fqrLPOClZY8VXCa6+9Ng488MB8JdWnPvWpWGqppfK8ZDXW1KlT85VXfHUw1yz5QeC16KKLBudovfzyyyWmPkqg9QmwyuOuSXOjmurpl9gY1frsTOHgEnjooYfihhtuqJrigx9MfNQ6VbPmRPzxX7NjXsdr8r61h8XoRRYM8ZYH5+RmG602NFZduvKm/LlpHdKrDq/GdQi+Oi4t/D8v5k+7NeZPubF6qsO/mD+3hZk1b9LmzZ8X/3nxwbj92f9UTeEf/jYvFWM+bdq0/BxcPuRULTVr1qz2A2uKJSABCTQQgcp7vQ0U6Z6isvHGG8ff//73WG+99YKD2VlZxblX2267bTDouPjii+Pzn/98lxevvPJKLuRCeIXgq8vAGwlIICdw7b/nxAdOnRFH/vLVqqq9f/hKnPj71/Iw/JFALQh87GMfizXWWCPe9773VU1tueWWscwyy8QFF1xQiyh3+Xnr/+bG/U/Ny8+22mqdBVdfTX1lfjz2wrwY1tGCv2PlofH9a2bFbt/r/PrgtifNiEN+OjPuntwpqOry8PWb6a92SMQ67ic9Py/2PfOVwP7WJ86InU+ZESdc9lpMmdFp3mGlef9nPx9z/r5GzL1ts5h7x/urpzr8m3PTKhGvTmpeNi0Y82deeT52+sNBse+1X4qD/3Js1RT+7XL5wTHltWkDpqYH9Sfw5z//OejzX3HFFVFN9Ytf/CIefPDB+ifIECUgAQlIICfQ0f3Nry3zw4oqDnC/66678jQtvfTSXdsFmYn57ne/a8OTk/FHApUR+PX/zc63HFVmu2+2rv/PnHhxegsMmPuWbG3XgcCjjz4av/zlL2sSEjPwP/jBD2riN57ypcAr7pgdXDd/67BYZkyGdpea/mrESzPn5yuwzrjmtbjs9o53dG50bQl84Ol58YVfzoxLb5vd5SbdTH6x8317sMPO5Bfm5+dhYTZzVsSf750Th/5sZr5tEb0GUn2KyrynOvL91cf65KZiy7OeiXlPX1yxdS3WnsD1j98Sz786pSYBPTvzxbh60l9r4ree1o4AuyVYfVuLEObNmxf/+c9/auG1fkpAAhKQQAUEWkqAxflUH/nIR/IZl/e85z0xefLk/LD2J598Ml99dcghh8Rtt90WO++8c0ya5AxqBeVDKxIIDn2uJYbX5lTH989+9rOxwgorVKQ++MEPxowZM6oTcFP4UvtIsl37Rz/6Ufztb3+rfWAVhMDq2gqs9dsKA6R+Oy445GzF1VdffYFyO37lFeL8I1eP+364Zhy/z6oLmP3pT3+KZ16aF690lN9Hfvux+Nf314tdV7s//nDk6Pjd50bHGk98OXf37D/Piov/MTseeW7BlVgrvimLkcMj3v2WoXHRpxcNvkL4p2NGx+d3WCRGjYh4dtr8+P6fXsuFZ4VoNtft3Om1je/cV6ri/w9/+MMF8ran+mujjTaKZ555Jg+XK88o7tHkyjNliTKFXruo6bNqW5dXy//+5ne75GM108nRIdX0r9Sv1157rVSrX8/U5z2995itvfba8fGPfzzuuOOO/BiUfgVUcET9QD1BfUG9gRFXntHHHL2BqEbrDwwkLbqVgAQaj0BLCbA4uP26666L1VZbLVjiu+KKK3YRHzNmTJx++umx55575iuwfvazn+VmSy65ZGDGjPrMmTNzve5+2Io4ZEhLIesuqeqXEvBZAhLokcBXvvKVOOGEE6K3erRHTzSsiABfEZw/P4J1WcOGRnBG1tDXmya2FUbH35hRWb668R8Pzu14euP/iO0XiSu/ODq+9aGRXSu7cLvTO4fFp947IoZ0ePrwM/PivifnveHIOwlIQAISGBQCHH9y/fXXxy677BI//vGPqyLEqnVC7A/UmrD+S6C9Cbze5a09hHqE8K9//Suv2DfZZJNYZZVVFgpy+PDhsdtuu+X6rMRihmD06NHBAe00EC+88EJuVvrz5JNPBrP5K620UmC/1NxnCUigcQjsscce8cQTT/SoLr30Ut/lKmfZnDlVWkpX5Xg1i3cjR46Mq6++Om64fXJs/IUH4p2feyCuvPmxhcox5zmSpqEjRse6e18QN93+UH7mI3pFlbYd3v/kggKsop3S+y3eNizevEQWfLThsecVYJXyqdUzfZYHHnhgobwu1mP0Wd785jfnUeDKM4r7XNOfpiHQ1/xumoQZ0X4T4GNRrLAqvvPcP/7448HkfKr3Tz755Lj11lv7HU69HNofqBfpxg/HGEqgFgRaSoDVF0As/2WJ8RJLLBFrrbVWvmqADmQ5P2655ZZcm4PhOew9f/BHAhKQgAQkUGUCv/vn7Jg2M+LtKw6NdTpUOe/fvMSQWGR4xGuzI99OWM7OiKGdujNmdV4r+R0xNGULMPUAABAASURBVOvwN8utzp2fX/yRgAQkIIFBIpBlWay66qrxve99L97xjnfE7Nmz4/LLLx+k2BisBCQggcYgMKQxolGdWGywwQaRZVn85S9/iYcffnghT6n4f//73+f67CkfPXp0MOu9ww475Hrnn39+LsjKH17/YVXWtddem/u74447vq7rRQISaBUC6eysK6+8Mk488cRg6zFqv/32i+effz5PJqs1f/e738VOO+2Um3MuBYqvnnLuU3fnIbF68wtf+EKwIhT7b3vb2/Jtds8++2xwDlfxvIl0BgXnUODusssui/XXXz8/I4f48FVV9IkQ9ds+++zTFZctttgi+OLSfPaVYaGgENT/4Q9/yL/CRxxQCOPZ7lcu3okHZ3Mg1C+GQ3x++tOf5l9uTUFwXgbpuOSSS3KtT37yk3mcOe8l1/CnYgLPTZsftz8yN4Z3CJ92Xn94fi3nePTIiEWyV+KBX38sPrj1mkEelNqbNTfi1efujet/+ME8P8j3LbbeOd5/5F/iS7+aucAZV7gnDz/20Q/GMw/fGg//cvs4ZJdV8vJHuU9+8x6Q/5R7/ENxjx5myZ7X2hIo1hXc9xRa6fu8++67d5WH973vffnqDuoNVplTJ1BHka9cGTQ3f772RKe5zKivaW9458gjFPc9vX+Uj29/+9uBPeyjaE8mTpwYHLlB+1CkYHkp0mice447oZ0nRnwBkfeV+6RoqzknK/U1uPKMfrIzkCv+4B/+Uoa48ox+0d/UltgfKFLxXgISqDaBlhJgsSz7/e9/fzz11FPxqU99Kh555JEuXhzYfPzxx8dvfvObWGqppeKggw7qMqMhZxXWNddcEyeddFKXEIuvFh5++OH5we80HJtvvnmXG28kIIHWIvD9738/ELrQUeRcPJbAs+KSeuATn/hEfPrTnw6+boo5y/1HjRqVb/lh0Lf//vsH9opE2NLMsv+LLrooGCQsu+yy+ewpAxA6fnwxtWg/3TNgROh12GGH5X4us8wy+dZoZl333nvvQKDOhygQ1LN9iLP5EGjhJ2bJH67EiY9XoOhosuKUeBA28dhqq63innvuwepCCgHaNttskwvG+JorbhkMfe1rX8tZEE8cDR8+PMaPHx/Eg2fswWfxxRfnUdUHAn+9f048//L8WGWpIfHOVYZ263KpxbJghdb8Dhtz50bMLrN78+6bfx+PXrJHPPvoXUEZorw+fN+d8d+LPxZ/uezMeOTZDocd7ov/D//vf3H3JZ+O2dMei3FLL5t//GTcuHG5FYSnCD/If7a2vOlNb8r95R49zLCTW/an4QggiOR9Z9shdQDvK3UCH7654oor4pOf/GRQJ6DPO0zd8d3vfje+8Y1vBHVhwyWozSJEPU3+0d7wzvFO8w5yz/vHRCzbzYpY7rzzzthyyy3jjDPOCN5N8h2FHcoB7dqZZ56Zty/oFZXlpUijse5HjBgRQ14/jxfhM2f6UjY4J4uY0v7SLvOMPubYw6yvCne4xx/8w31P/hOu/QEoqSQggVoSaCkBFoPNs88+O9ZZZ538S1gc5k4jz2wTA9JvfetbQeVKg42dBBbzU045JT8LCyEXnTf0GKheeOGFwdlXp512WuB/cuNVAhJoLQL//ve/cwEWM4h8Ipu6hBWaXDmD4p3vfGcuzMYenX9mQZn5pk7B/J///GcXkClTpsSXvvSl4IqA/L///W/cfvvtcf/99wd1DYMRBo9dDgo3CJf++te/5vawzyDkxhtvzIUFuNl3332DzmTRTz5OQUcTAX0abPJMWKwsW3nllXPB17333pvHA7cIvBjUHHXUUXk8C1HIb1mtiqDsvvvuC+IAEwa4WZblZzXBAIus1KBjSzp5pq7EDP95VlVO4K5Jc/ND1CduODxGLxI9/u34zuExtKMFn9chxfrN/80KDnbHwZx5/EbMePb+GLvyxnHFdbfm+UdZOunbp3QYZvHYX0+Jr/3wz7mwrEMj/+/wJqa+8GwMX2LV2PMbt+TlhLzfbLPN8hV3lGfeDVZykL+8B5QL7hHUYnbcccflQtrcQ38aigCrMDkDlHc/1UWsKqeeYHXnY489ltcR5CvvOsJ8EvDHP/4xF9RzrxocArQj1NPU10yk8s7x7pFXHHHBilraBiY+mKwllgggEWxxZSL2oYceyt9p8p57Jnmxx86DtNKY56QsL4lEY1wpA/QLiA3jF/om3PPVX/KZe9r7/3VMQlA+qO9/8IMfxCKLLBLUy/09N6uv/tsfICdUEpBArQl0dH9rHUR9/WdZ68033xwsmeb+ueeeyztfCKVYJUHl/oEPfGChSLE1iEqfK4bMajFjjRv8mzBhAtqq+hMwRAn0iQBL11ni3p367Gc/W9Y/VnCy4ijLsnzLMLOcbNlgMEddcOSRRwYzj8lxlmWx9dZbB27QY2DIFUVHkxVYnFmB4DytRho6dGiw4oEBBfa6U8yMYw/72HnLW96SC624Z6sXqyKSn3Rk2Y6IGUI1BizcM0jhsHrMGYyybRp9FG6/+tWvBmkmnsQX/aIqDSfLsnwLJTP92EMYxlVVHQKsaPvnubvHvT9YM/bfcZWubV6pHJMfCIlSaG9ddkgsu0RHWe3Q+Ov9c2On78yI3U+dEX+5d06HTsSIsavESSd/L975thXyZ8rSx/b+SHx8/89EFvPjXzf9Jj5yxrTczZEXzMzP08Li6psfEIfv8uZ8++Lw4R1Cso4yS9vIdiMEoazmKL4H3LMqZPz48cEqZsoT/qgqJ4AQYs0111woz1Pe837PmDGjcg/L2KT8lNYbH/3oR7tssn061RFZlgWrztdYY42gD4Vwq8uiNwMm0Nf8pn7mveIdO/XUUxdoh5hgZWKByVqEDUlQ8eijj+YTE5QrhFW0Ayni3NO3XXrppYPt7OxaSGbpanlJJAb3ytEnCCpZfU0ZYDKeiSViRZvBBBtC6KOPPjrvW1DPY8aVVbGf//zn80mF8847r88rKWvtP/FUSUACEuiGQI/aLSfAIrVU8MxW0YBTsaNY1UBFz8oq7JRTdN5YSj9r1qx8SfX06dOjNzfl/FFPAhJoPgIMDjgXrxhzBD2sskIY9L73va9olN+z3YavmOYPhR8GHDwiEGclJ/dJZVkWu+66a1BPJb3S63vf+97IsmwBbVaUosFKMAYe3CeFgJ5BCYNcOrzo0+mdOnVqbLrppkHdhl5RkVZWzqCX4st9UpzFVRoO6U3xTiu9kn2v9Sew1OJZDB8WMX6pzrLC4e9DOm/jIx/cJXbZbKUFIpVlWXx49+3ysx+HTP13LDJ/auCGg947jGL4yNFx3D6rxmrLLNg1+Pvf/577g8CWAXP+UPhBiIUwlLLHCo+CkbcNQqBcvbHUUkvlZYH8K60jWLkx7vXtozNnzmyQVLRfNOi/ch4hKd9ll10WEF6hh1p11VXzyQXuWQ3LlVVZvLdsNS+txzGnvUBAzX05ZXkpR6V2eqyu44zJJLRO1/EdEwPbb799ILzKsiy++c1vxtvf/vY8Imzpp50fO3ZsYCfLXq/8c9POny233DL/4jIr9ljF1alb2W+t/a8sFtrqPwFdSqB1CSzYS23ddJoyCUigTQjsscce+apLVlGWU6effnpZEklAVNbwdU0G6KxIYFUms94IqFjl9LpxfkGIhPCcB1YwcC1VDAzpdJbq88zAIp1TwnN/FVtKcItw6j3veU8gkCpViQXxJd7YT6o7Ht3pJ3de+0eAfL/66qu7Lbucc8agtNR3BFbH7Doy/nj06Lj+y6Nj63WG5Vbes8k78mvpz3LLLRecnfPay8/G/9v1pdzNTz41KhbpcLb0m5aI1VZaegEnCCoJG82LL764bDmiXLHlFDuuzINC39Qmm2wSvK/l6iv0qGMQOPfN1wVtsxJnQR2fBotAX/Kbw7qffvrpPKoIOPKbMj9vfetbc91JkyblW37zh8IP9TtnZFHHsOUMYRhCk4KVBW4tLxGxAJHBe+Csy4997GNx4403Bv2bFBMETEzOM1H1oQ99qGzdjDvyvruVdsmvctda+18uTPUkIAEJVEJAAVYllLQjAQm0LQEOYOc8ELbUMBvKdmLOnGLbFIe69wcMq7ZY9dAft5W6SdtCEEAwUCmnXnrppUq9016TEWC1XDWi/NprrwWDJPxiJU65coQeZthRSSAR8Fo/Agg5CA2BF20W92yBp53iXCIEUu9617uCrYOsKuadxY6qMQjQH7jjjjvKTmCgz7EobOssxhbBVcprBFTkaalCv+imL/e19r8vcdGuBCQggSIBBVhFGjW6Z0uF6vauA0Rl0VwsGMDW6NXIvWUJfDXKxAsvvJD7x7Uv/mEfh6x0KHXHwezMVvMVP1ahcAYQBx9zrgRnAXFoOkv0i+5Zqs/2Y/TYeljqJ8+cU0J48+bNC87OQo/zjdi+XNRDPyns4yfxTXrpih+4wz3+oJ8ECnyZFQFcT+rLX/5ycGA37vCfcAiP51KFfjnz5K67NJf6U+tnzi4jnrVSnA8y0DRQplI+FeOJ348++miPdSZ5zorAorviPX4wg87WkxRP3jVWELItiTNSUEU33CPU5Cy15Ab3KRzO0umpHGHG4f3J7WBdGcSRllophMPVSFt6l6gvqDcq9ZN3nHcdxT3uuPJMPUDZQA+V3kvC4rmosId93OG+aEZ8iBcMG+WdLsaveE9+EM9aKfwvhtffe/KAOMIVvpX4gz3s466nfKBNwU6WZcFHQlh5++EPfzj/siQrcN7xjnfkZyR95StfiXPPPTfOOeecYAsp+U85SHFplfICA3jUSlG/JmYDuZKnxLHcO9ibv5MnT8ZpILw877zzgvq3O/XrX/86PwsLP8lv8r0YJu8/z+hjjr3++o/bVI5IH8+q5ur3m1/mV09lIK94BvlHAdYgZ4DBS0ACtSIwcH/ZcvHb3/42P4+KQ1L5qg9f7EJoxWosDnpPM6ApNLaC0aHkGfdcSxVCAmY3S/Wr+YywDf/YflJOSIKZanAJUAbYvsmgAZUGDgjf0gCguxgygEK4jDsEYRy0TV6jjxu2uVL+WIHHM4oBCgNiBFucZYYgi3sU95izBSl9CAA3nIWUtrRihj30VRKQQO0JFNsTtpmWC5F3kvcfM7YHs/oSARbCZ1b2nHnmmfnZSXvttVewCiudiYU73KiakwBHEXBOJ2db9dZe9CeFtfa/P3HSjQQkIAEIKMCCQo3VBhtsEE2pjLf51lEGGMDW8hVZd911q8KZzhbx5NqX9w37uOPQ1FJ3bPVjGwbnBjGbXWqOW1YuFd1vuOGGwVfD0GOLIWdGlbpjJh5/hwwZEmzvwJzzjRCIFfXQT4r44SdhJr10xQ/c4R5/0OesDIQU999/f3BYL3pFxYz8hRdeGKSL84vYGok5/hMO4fFcqtAvZ57c8cXEUjeD8bzOOusQzZopBpbVSFfKO/KP+0r95JDlxRZbLHDH1hIElgiaiBeJZka9tOxxhg6rqxB6cS4ajBC2orIsi2L5KcYjfa2Z7APkAAAQAElEQVSOFVzkc9GM+7XWWiv4it0+++wTlHn0BlMxaIdBrRT1QTXSl94l8pH8rNRP3nHyCsU97rjyTHkoliPyCw6Ehb2iwh72cYf7ohnxIV64bZR3uhi/4j35QTxrpfC/GF5/78kD4ghX+FbiT7E94Wug5eJCHmOG39T7+MtKS575iAdfjkWvqFiVhdCD/KccJDP8wh1xTXrpij3sN0N5SQedk5ZaKOrZxGUgV94t4leOaW/+br/99kGdniYeuC91w+QEZeK4447LPwCAebl85P0nDuQv5tjrr/+4TeWI9PGschxoGWiiMtAx9uspv6izBlsNGewIGL4EJCCBRiWQBAJsSfrzn/8cacaaK4dVH3TQQVHujAnOy0JAxAz4V7/61UBYRRpZrcVB2CeffDKPNVV0HHfbbbd828CnP/3puOmmm7riz5YwzkH51a9+lR/4yzbDctvJ+hPBJNDrj1vdVI9AubLH1iHyHcHmfvvtl68srCTEjTfeOBB4UdYp88WVIJy5w/kst9xySy5M23zzzSvxUjsSkECFBFJ7wmrNz33uc0F7lJyyzevQQw/N2yHe0c022yw34swrbliJySQG9yjqfj4KwJe6eVY1LwGEaPvuu29ej3OkwQ9/+MO8PSdF9FHYAnTssccGAq4JEyYE/RnMKlUjR46Mgfrfrv2BShlrTwIS6B+BIf1z1pquGJDuvPPO+Sx0lmXBLNkBBxwQbMNozRSbKglIoCcCzER+4AMfyK184QtfCL4qyBfXuG6zzTb5QILZbSz873//45KrJZdcMv7f//t/wfWyyy7rWmXFl6KOPPLIGD9+fNA5ZLsHq19yR1X+YRsJZ1ttueWWeTxZacWKG+KPcIsZWTq5CNgY+Aw0+DRgQpjB6gI60wP1U/f9J7DrrrsGK+sow8ykUfYYzODjSSedFJQF7itRfAHvlFNOCfKY7Y3ve9/7Iq2cRA/BGOUNwSzhVOKndiQggcoI0I7wbrGykIkI6nDqWN5BvmjIakveQ95R3lV8ZfJi1VVXzev+rbbaqut9Re/www/P3/+11147F3g8//zzOGkkZVwqJEA/hDactpw+B/Uv5YP6nTYAYSd9APovWZZV6Osb1vrrP+URX+wPQEElAQlUm4ACrNeJ3njjjcHM1ZVXXpnrsHyac2M46JIl2GyLyA38kYAE2oYAW++++c1v5ueHIGiiTqBDiOCJw3D/8Y9/xIEHHhisXmILR9q2ASBWYP3pT38Ktl9hzvlE+Ie7s846Kzi7Anu1VKy0+fnPf54f5EuHkrO3iD9hbr311vGXv/wlONMry/rescWPomL7GMK+LMvy1QDUmcXzl4p2va89gd133z1Y7YewlbLH2VgMZFlJyOA2y/qW5yuuuGLQPh533HFB+8iXCfEXQSxlnHeBDxzUPmWG0DsBbbQaAbbE8e6yAov3j9WQvINsH+ZLg1dffXXwjqZ0c8/B3bybCJexy3YytiRy4Pfvfve7oA3A/vXXXx8IQLhXNReBLMuCVbHXXnttV37SxtPW0+b/+Mc/jl/84hdBX6A/Kcuy/vlvf6A/tHUjAQlUSkABVgcpVlgxiONAXWaoORsAPQ5G5NBLlmiz3Dp9CabDif8SkECDETj99NPzT1Bz7UvUsM+ZVIcddlhZZwzQ+foan7LGHoovPrFtAyEU26s4QJdDc9PhuMkjZsyZFZ80aVIeNw7pxh2Hb7OtkIEFZ05gHwEZQjAO5OY8CvSKivgRNvEt6nOPfdzhHn/QSwqhGQILhFW4RxEfOrV0cJO9dMV/7BBe0ite0S9nTgf5+9//fr5iFfOzzz47SF/RbdPc1zGiKe/IP+4rDZqVFmwFKnWX8m/bbbcNtvOlfKdNO//88/NVVKVhEC7+lCs/RbucCbf//vsH5Z88RvGVKco4Zb1o1/veCaR3iXwkP3t30WmDd5y8QnGPLleeyUfyEz1UKg+ExXNRYQ/7uMN90Yz4EC/ymLJUNPO+fwTIA3jCFb599YX2hpU0xfePdodtXrRTpf7xTvJuUt8TLnUAK4LTlvFjjjkmb5cQgGVZlju3vOQY6vbDu0XelHsHK41ElmXBajra9JTX+EndzyosJtCKfpV773n/iQP1AeZF+1nWN/9xa38ACioJSKBWBBRgdZClQWef9nbbbRd8aYwBX4d2PmPBvnKW41533XX5GTLoqyQggZ4JtLspwhu2d3zjG98oi4KDtFkRw1Y+BiVlLakpAQlIQAISkIAEJCABCUhAAl0E2l6AxSCSpdcQYcnrqFGjuO1SfElj4sSJ+fLqq666qku/xjd6L4G2ITCkc+K3pdLLV9nYssEh6cyWp+0ZXJnlZKUnCebrQOVmzjFTDYxAltW2YJXOag8strquKoEa531kbd91qmp2DdSzrMb5UWv/B5p+3S9MIMtqW/8vHKI6EpCABAZMQA8qJND2vTD2ibP6CsFVue00cGQlBVcOynQbISRU7UTgrcsNrVlyl1g0YukxrdfR5GBdth9PmzYtOIuIA1VZycl5RAjE2Z6MwNwzg2pWtILDipdYYomaBbD++uvXzG89HhiBbPENBuZBL66zxSf0YkPjehJYa8lVaxrcOm96S0391/PqE+AjTIssskj1PX7dx9LjAl7X9jLoBIyABCTQDgTaXoDFKgnOvkKARYNXLtM5R2DRRReNRx55JDi3ppwd9STQqgQOef+I+PAmw2O9lYdUVW3z9mFxwodGRSuuwBo+fHjwpTcOa58wYUIgyOJgVVZ8IsjiDBS+GIS9Vi03g50uVraxunbvvfeO9773vVVTfNGJMxH5utJgp9HwyxPIxm0XQ992ZnDNxm4RVVMd/g556+mRLb1b+YDVHRQC71l+wzhqg/1j0+XeGesvvXbVFP59ecODc38HJWGDEWiLhMkK2R122CHYpr/ccstFNRUfaHn3u9/dIqRMhgQkIIHmI9D2AqxXXnklGFQivBo7dmzz5aAxlkCNCSy1eBYHbjUiTv3YqKqqY3ZdJN62fOtWQXSgd9ppp/zLbRyey6GqXDlzjxVaWdZ6K89qXBT77D2DjAsuuCBuuOGGqikOxkV49eY3v7nP8dFB/Qhky38qhk64IoZucH31VId/Q1Y8tMdEaDg4BPZ8y/Zx+hZfiTO3Or5qCv92X/394V9zElhmmWViq622il122aWq6l3veleMKjlupDkJGWsJSEACzUmgdUePzZkfxloCEpBAOxMw7RKQgAQkIAEJSEACEpCABMoSUIBVFouaEmhWAsZbAhKQgAQkIAEJSEACEpCABCTQegTaXoC15JJLxpgxY2LWrFkxc+bMiB7yeNiwYTFkSNsj64GQRhKQgAQkIAEJSEACEpCABCQggSYhYDSbikDbS2NGjx4dHNDO1whfeOGFspnH4cuclbXSSisF9staUlMCEpCABCQgAQlIQAISkECbETC5EpCABOpFoO0FWEsssUSstdZa+eqrBx54oCz3W265Jddfb731gsPe8wd/JCABCUhAAhKQgAQkMHAC+iABCUhAAhKQQAUE2l6ANXLkyOBTu7A6//zzc0EW90mxKuvaa6+NLMtixx13TNpeJSABCUhAAhJoGAJGRAISkIAEJCABCUig1Qm0vQCLDJ44cWK+Cuuaa66Jk046qUuINW3atDj88MPjtttuiy222CI233xzrKskIAEJtB4BUyQBCUhAAhKQgAQkIAEJSKCBCSjA6sicFVdcMU455ZT8LKzjjz8+2FaIHge8X3jhhcHZV6eddprbBztY+d89AU0kIAEJSEACEpCABCQgAQlIQAISqA2BRhJg1SaFFfq600475SutuOLkiSeeiFGjRsX+++8fN998c0yYMAFtlQQkIAEJSEACEpCABCQgAQlIQAIDI6BrCfSZgAKsArK11147rrjiipg1a1bMnz8/pk+fHmeffXawGqtgzVsJSEACEpCABCQgAQlIQAKDTMDgJSABCbQXAQVY7ZXfplYCEpCABCQgAQlIIBHwKgEJSEACEpBA0xBQgNU0WWVEJSABCUhAAo1HwBhJQAISkIAEJCABCUigHgQUYNWDsmFIQAIS6J6AJhKQgAQkIAEJSEACEpCABCTQCwEFWL0A0rgZCBhHCUhAAhKQgAQkIAEJSEACEpCABFqZQKcAq5VTaNokIAEJSEACLULgxenz4yu/fjV2P3VGbH1iZQq7X+1w80KH2xbBYDIkIAEJSEACEhgIAd1KoEkJKMBq0owz2hKQgAQk0F4EEEAd8rOZcctDc2PazMrTjt1/dLg5tMMt95W71KYEJCABCXRHQH0JSEACEqg/AQVY9WduiBKQgAQkIIE+Ezjz+lnx/Mvz++wuOcDtj697LT16lcBgEzB8CUhAAhKQgAQk0CcCCrD6hEvLEpCABCQggcEhcMejc0sC7vvjbf8buB99D1UXEpCABCQgAQlIQAISGDgBBVgDZ6gPEpBAsxIw3hJoIgJTZvR/9VVKZjX8SH55lYAEJCABCUhAAhKQQD0JKMCqJ+0WDMskSUACEpCABCQgAQlIQAISkIAEJND6BAY7hQqwBjsHDF8CEpCABCQgAQlIQAISkIAE2oGAaZSABAZAQAHWAODpVAISkIAEJCABCUhAAhKoJwHDkoAEJCCBdiWgAKtdc950S0ACEpCABCTQngRMtQQkIAEJSEACEmhCAgqwmjDTjLIEJCABCQwuAUOXgAQkIAEJSEACEpCABOpLQAFWfXkbmgQk0EnAXwlIQAISkIAEJCABCUhAAhKQQMUEFGBVjKrRLBofCUhAAhKQgAQkIAEJSEACEpCABFqfgCmEgAIsKKgkIAEJSEACEpCABCQgAQlIoHUJmDIJSKDpCSjAavosNAESkIAEJCABCUhAAhKoPQFDkIAEJCABCQwmAQVYg0nfsCUgAQlIQAISaCcCplUCEpCABCQgAQlIoJ8EFGD1E5zOJCABCUhgMAgYpgQkIAEJSEACEpCABCTQjgQUYLVjrpvm9iZg6iUgAQlIQAISkIAEJCABCUhAAk1GQAFWPzJMJxKQgAQkIAEJSEACEpCABCQgAQm0PgFT2DgEFGA1Tl4YEwlIQAISkIAEJCABCUhAAq1GwPRIQAISqAoBBVhVwagnEpCABCQgAQlIQAISqBUB/ZWABCQgAQlIQAGWZUACEpCABCQggdYnYAolIAEJSEACEpCABJqagAKsps4+Iy8BCUigfgQMSQISkIAEJCABCUhAAhKQwGARUIA1WOQNtx0JmGYJSEACEpCABCQgAQlIQAISkIAE+kGgyQRY/UihTiQgAQlIQAISkIAEJCABCUhAAhJoMgJGVwILElCAtSAPnyQgAQlIQAISkIAEJCABCbQGAVMhAQlIoIUIKMBqocw0KRKQgAQkIAEJSEAC1SWgbxKQgAQkIAEJNAYBBViNkQ/GQgISkIAEJNCqBEyXBCQgAQlIQAISkIAEBkxAAdaAEeqBBCQggVoT0H8JSEACEpCAeD+NlgAAEABJREFUBCQgAQlIQALtTUABVnvnf/uk3pRKQAISkIAEJCABCUhAAhKQgAQk0LQEKhZgNW0KjbgEJCABCUhAAhKQgAQkIAEJSEACFRPQogQakYACrEbMFeMkAQlIQAISkIAEJCABCTQzAeMuAQlIQAJVJqAAq8pA9U4CEpCABCQgAQlIoBoE9EMCEpCABCQgAQm8QUAB1hssvJOABCQgAQm0FgFTIwEJSEACEpCABCQggRYhoACrRTLSZEhAArUhoK8SkIAEJCABCUhAAhKQgAQkMPgEFGANfh60egxMnwQkIAEJSEACEpCABCQgAQlIQAKtT6CmKVSAVVO8ei4BCUhAAhKQgAQkIAEJSEACEqiUgPYkIIHuCCjA6o6M+hKQgAQkIAEJSEACEpBA8xEwxhKQgAQk0JIEFGC1ZLaaKAlIQAISkIAEJNB/ArqUgAQkIAEJSEACjUZAAVaj5YjxkYAEJCCBViBgGiQgAQlIQAISkIAEJCCBKhJQgFVFmHolAQlUk4B+SUACEpCABCQgAQlIQAISkIAEOgkowOrk0Jq/pkoCEpCABCQgAQlIQAISkIAEJCCB1ifQBilUgNUGmWwSJSABCUhAAhKQgAQkIAEJSKBnAppKQAKNTUABVmPnj7GTgAQkIAEJSEACEpBAsxAwnhKQgAQkIIGaEVCAVTO0eiwBCUhAAhKQgAT6SkD7EpCABCQgAQlIQALlCCjAKkdFPQlIQAISaF4CxlwCEpCABCQgAQlIQAISaDkCCrBaLktNkAQGTkAfJCABCUhAAhKQgAQkIAEJSEACjURAAVZtckNfJSABCUhAAhKQgAQkIAEJSEACEmh9AqawTgQUYNUJtMFIQAISkIAEJCABCUhAAhKQQDkC6klAAhLonYACrN4ZaUMCEpCABCQgAQlIQAKNTcDYSUACEpCABFqcgAKsFs9gkycBCUhAAhKQQGUEtCUBCUhAAhKQgAQk0LgEFGA1bt4YMwlIQALNRsD4SkACEpCABCQgAQlIQAISqAkBBVg1waqnEugvAd1JQAISkIAEJCABCUhAAhKQgAQkUEqg9QRYpSn0WQISkIAEJCABCUhAAhKQgAQkIIHWI2CK2oqAAqy2ym4TKwEJSEACEpCABCQgAQlI4A0C3klAAhJoFgIKsJolp4ynBCQgAQlIQAISkEAjEjBOEpCABCQgAQnUgYACrDpANggJSEACEpCABHoioJkEJCABCUhAAhKQgAR6JqAAq2c+mkpAAhJoDgLGUgISkIAEJCABCUhAAhKQQAsTUIDVwplr0vpGQNsSkIAEJCABCUhAAhKQgAQkIAEJNCaBagqwGjOFxkoCEpCABCQgAQlIQAISkIAEJCCBahLQLwnUnYACrLojN0AJSEACEpCABCQgAQlIQAISkIAEJCCBvhBQgNUXWtqVgAQkIAEJSEACEmgcAsZEAhKQgAQkIIG2IaAAq22y2oRKQAISkIAEFiagjgQkIAEJSEACEpCABJqBgAKsZsgl4ygBCTQyAeMmAQlIQAISkIAEJCABCUhAAjUmoACrxoD1vhIC2pGABCQgAQlIQAISkIAEJCABCUig9Qn0P4UKsPrPTpcSkIAEJCABCUhAAhKQgAQkIIH6EjA0CbQpAQVYbZrxJlsCEpCABCQgAQlIQALtSsB0S0ACEpBA8xFQgNV8eWaMJSABCUhAAhKQwGATMHwJSEACEpCABCRQVwIKsOqK28AkIAEJSEACiYBXCUhAAhKQgAQkIAEJSKBSAgqwKiWlPQlIoPEIGCMJSEACEpCABCQgAQlIQAISaAsCCrDaIpu7T6QmEpCABCQgAQlIQAISkIAEJCABCbQ+gWZPoQKsZs9B4y8BCUhAAhKQgAQkIAEJSEAC9SBgGBKQwCASUIA1iPANWgISkIAEJCABCUhAAu1FwNRKQAISkIAE+kdAAVb/uOlKAhKQgAQkIAEJDA4BQ5WABCQgAQlIQAJtSEABVhtmukmWgAQk0O4ETL8EJCABCUhAAhKQgAQk0FwEFGA1V34ZWwk0CgHjIQEJSEACEpCABCQgAQlIQAISqBsBBVh1Q10akM8SkIAEJCABCUhAAhKQgAQkIAEJtD4BU1gNAgqwqkFRPyQgAQlIQAISkIAEJCABCUigdgT0WQISaHsCCrDavggIQAISkIAEJCABCUigHQiYRglIQAISkEAzE1CA1cy5Z9wlIAEJSEACEqgnAcOSgAQkIAEJSEACEhgkAgqwBgm8wUpAAhJoTwKmWgISkIAEJCABCUhAAhKQQN8JKMDqOzNdSGBwCRi6BCQgAQlIQAISkIAEJCABCUigzQi0pQCrzfLY5EpAAhKQgAQkIAEJSEACEpCABNqSgIluHQIKsFonL02JBCQgAQlIQAISkIAEJCCBahPQPwlIQAINQUABVkNkg5GQgAQkIAEJSEACEmhdAqZMAhKQgAQkIIGBElCANVCCupeABCQgAQlIoPYEDEECEpCABCQgAQlIoK0JKMBq6+w38RKQQDsRMK0SkIAEJCABCUhAAhKQgASalYACrGbNOeM9GAQMUwISkIAEJCABCUhAAhKQgAQkIIFBIFBnAdYgpNAgJSABCUhAAhKQgAQkIAEJSEACEqgzAYOTQHUJKMCqLk99k4AEJCABCUhAAhKQgAQkUB0C+iIBCUhAAl0EFGB1ofBGAhKQgAQkIAEJSKDVCJgeCUhAAhKQgARag4ACrNbIR1MhAQlIQAISqBUB/ZWABCQgAQlIQAISkMCgE1CANehZYAQkIIHWJ2AKJSABCUhAAhKQgAQkIAEJSGAgBBRgDYSebutHwJAkIAEJSEACEpCABCQgAQlIQAISaH0C3aRQAVY3YNSWgAQkIAEJSEACEpCABCQgAQk0IwHjLIFWJKAAqxVz1TRJQAISkIAEJCABCUhAAgMhoFsJSEACEmgwAgqwGixDjI4EJCABCUhAAhJoDQKmQgISkIAEJCABCVSPgAKs6rHUJwlIQAISkEB1CeibBCQgAQlIQAISkIAEJJATaFkB1r333hs777xzjBgxIrIsi6FDh8ZOO+0U//znP6O7v1I3iy22WBxwwAHx+OOPd+dEfQlIoMEJGD0JSEACEpCABCQgAQlIQAISaH4CLSnAuvTSS2PdddeNK6+8Ms+hlVZaKRdgXXXVVfGud70rMM8NCj833nhjbLbZZl1uVlhhhZg5c2acc845semmm8Zdd91VsN1WtyZWAhKQgAQkIAEJSEACEpCABCQggdYn0NApbDkB1q233hr7779/Dv20007LhVCPPfZYvPTSS/H1r3895s2bF5/97GfjkUceifTHCquDDz44pk6dGscee2zMmDEjX3U1ZcqU2GuvvWLy5Mlx1FFHxfTp05MTrxKQgAQkIAEJSEACEpCABCQggRICPkpAArUi0FICrDlz5sSpp56aC6K+/OUvx+GHH56vvALeqFGj4phjjontttsunnrqqXjwwQfRztVll10W9913X2529NFHx/Dhw3P9MWPGxBlnnBEbbbRRXHfddXHTTTfl+v5IQAISkIAEJCABCUhAAjUioLcSkIAEJCCBMgRaSoDFSqsbbrghll122fjkJz+Zn31VTDNCrD/+8Y8xd+7c2HbbbXOjV199Na6++ur8fp999gns5A+v/4wbNy4mTpwY8+fPD7Ygvq7tRQISkIAEJCABCTQsASMmAQlIQAISkIAEWo1ASwmw7r///nj66adj/fXXj+WXX76ivGJrIauvEFytueaaZd1wnhYGd999t9sIAaGSgAQk0PoETKEEJCABCUhAAhKQgAQk0EAEWkqA9d///jdHu/rqq+crpr7//e8Hh7FnWZZ/jXDPPfeMhx9+OLeTfl588cWYOnVqvvKKrw4m/eIVYdiiiy6an5v18ssvF428l4AEuiWggQQkIAEJSEACEpCABCQgAQlIoDoEhlTHm8bwZfbs2XlEOAtriy22yM/A4kuCCLHYNnjJJZfEeuut1/WlQSy/8sorwTZChFdjx45Fq3GUMZGABCQgAQlIQAISkIAEJCABCUig9QmYwl4JtJQAKx3M/uMf/zieeeaZuP766+OFF17o+qLgxz/+8UBgdcABB8RDDz3UKxwtSEACEpCABCQgAQlIQAISkEBzEDCWEpBAaxNoKQEW2/zIriFDhsS5554bW221VddB7nxR8Ic//GG8973vzb9CyGHu2FVJQAISkIAEJCABCUhAAjkBfyQgAQlIQAINS6ClBFhsFYQ0h7hvuOGG3C6g2CaYvj5422235WZLLrlkINyaNWtWsN0w1+zmZ9iwYYFwrBtjtSUgAQlIQAISaHsCApCABCQgAQlIQAISqAWBlhJgrbjiijmj0aNHx/Dhw/P70p+11lprAS3ssnKLrxGy3XABw9cfnnzyyXzr4UorrRTYf13biwQkIAEJ1IKAfkpAAhKQgAQkIAEJSEACEigh0FICrFVWWSVYJfXoo48GAqmStOaP9913X35NAq4lllgiEGqx+uqBBx7IzUp/brnlllyLA+BZxZU/+COBBiZg1CQgAQlIQAISkIAEJCABCUhAAq1EoKUEWOuuu25ssMEGMWnSpPjLX/6yUD6xwuqyyy7L9d///vfn15EjR8YOO+yQ359//vlpG2H+zA9urr322vwsrR133BEtlQQkIAEJSEACEpCABCQgAQlIQAKtQcBUNAmBlhJgsZrq05/+dI7+oIMOit/97ncxd+7c/HnatGlx+OGHB2dfbbTRRrHNNtvk+vxMnDgxX4V1zTXXxEknndQlxCq62WKLLWLzzTfHukoCEpCABCQgAQlIQAISkIAEugh4IwEJSKD2BFpKgAWuD3/4w3HsscfmZ1Z94AMfCIRanI3FYe0XXnhhLLXUUvGjH/0oxo0bh/VcYX7KKacEZ2Edf/zxC7nh7KvTTjst3D6Y4/JHAhKQgAQkIAEJSKDaBPRPAhKQgAQkIIEeCbScAIuzrRBg3XjjjcEXBznb6oknnsi/NPj5z38+7r777ij3hcKddtopX53FFWK4GTVqVOy///5x8803x4QJE9BWSUACEpCABCTQoASMlgQkIAEJSEACEpBA6xJoOQEWWZVlWbDljy2BbCGcP39+TJkyJb773e/Gcssth5Wyau21144rrrgiZs2aFbiZPn16nH322cEKrbIO1JSABCTQWgRMjQQkIAEJSEACEpCABCQggYYk0JICrIYkbaTahIDJlIAEJCABCUhAAhKQgAQkIAEJSKDaBBpPgFXtFOqfBCQgAQlIQAISkIAEJCABCUhAAo1HwBhJoA8EFGD1AZZWJSABCUhAAhKQgAQkIAEJNBIB4yIBCUigXQgowKpDTt9+++2hkoFlwDJgGbAMDKQMVKu5GkgcdGsZbtEyYD/NvqplwDJgGbAMWAZ6KQPV6osOxB8FWAOhp1sJSEACEpCABCJCCBKQgAQkIAEJSEACEqgtAQVYteWb+77BBhuESgaWAY3nFIgAABAASURBVMtAj2XAesJ6spcykDcoVfixHFoXWQYsA5YBy4BlwDJgGbAM9LUMVKEbOmAvFGAVEN57772x8847x4gRIyLLslhsscXigAMOiMcff7xgy9tGJWC8JCABCUhAAhKQgAQkIAEJSEACEmhNAkUBVmumsMJU3XjjjbHZZpvFlVdembtYYYUVYubMmXHOOefEpptuGnfddVeu748EJCABCUhAAhKQgAQkIAEJSKDJCRh9CTQdAQVYHVnGCquDDz44pk6dGscee2zMmDEjX3U1ZcqU2GuvvWLy5Mlx1FFHxfTp0zts+y8BCUhAAhKQgAQkIAEJSEACEpCABCRQTwIKsDpoX3bZZXHffffFdtttF0cffXQMHz68QzdizJgxccYZZ8RGG20U1113Xdx00025vj8SkIAEJCABCUhAAlUgoBcSkIAEJCABCUigQgJtL8B69dVX4+qrr85x7bPPPjFq1Kj8Pv2MGzcuJk6cGPPnz4+rrroqaXuVgAQkIAEJNAQBIyEBCUhAAhKQgAQkIIF2IND2AqyXXnopX32F4GrNNdcsm+frrrturn/33Xe7jTAn4Y8EWoqAiZGABCQgAQlIQAISkIAEJCCBBifQ9gKsF198MaZOnZqvvOKrg+Xya/nll49FF100HnnkkXj55ZfLWWlzPZMvAQlIQAISkIAEJCABCUhAAhKQQOsTGLwUtr0A65VXXgm2ESK8Gjt27ODlhCFLQAISkIAEJCABCUhAAhKQQOsTMIUSkEC/CLS9AKtf1HQkAQlIQAISkIAEJCABCQwaAQOWgAQkIIH2I6AAq/3y3BRLQAISkIAEJCABCUhAAhKQgAQkIIGmItD2Aqwll1wyxowZE7NmzYqZM2f2mHnDhg2LIUPaHlmPjDSUgAQk0D4ETKkEJCABCUhAAhKQgAQkUC8CbS+NGT16dH5AO18jfOGFF8pyf/LJJ4OzslZaaaXAfllLakpAAn0noAsJSEACEpCABCQgAQlIQAISkEAFBNpegLXEEkvEWmutla++euCBB8oiu+WWW3L99dZbLzjsPX9okB+jIQEJSEACEpCABCQgAQlIQAISkEDrE2j3FLa9AGvkyJGxww475OXg/PPPzwVZ+cPrP6zKuvbaayPLsthxxx1f1/UiAQlIQAISkIAEJCABCUhAAk1GwOhKQAJNTKDtBVjk3cSJE/NVWNdcc02cdNJJXUKsadOmxeGHHx633XZbbLHFFrH55ptjXSUBCUhAAhKQgAQkIIE2JWCyJSABCUhAAoNDQAFWB/cVV1wxTjnllPwsrOOPPz7YVogeB7xfeOGFwdlXp512mtsHO1j5LwEJSEACEpDAAAnoXAISkIAEJCABCUigzwQUYL2ObKeddspXWnFF64knnohRo0bF/vvvHzfffHNMmDABbZUEJCABCTQAAaMgAQlIQAISkIAEJCABCbQXAQVYhfxee+2144orrohZs2bF/PnzY/r06XH22WcHq7EK1ryVQCsQMA0SkIAEJCABCUhAAhKQgAQkIIGmIaAAq99ZpUMJSEACEpCABCQgAQlIQAISkIAEWp+AKWwEAgqwGiEXjIMEJCABCUhAAhKQgAQkIIFWJmDaJCABCQyQgAKsAQLUuQQkIAEJSEACEpCABOpBwDAkIAEJSEAC7UxAAVY7575pl4AEJCABCbQXAVMrAQlIQAISkIAEJNCkBBRgNWnGGW0JSEACg0PAUCUgAQlIQAISkIAEJCABCdSfgAKs+jM3xHYnYPolIAEJSEACEpCABCQgAQlIQAIS6BOBphRg9SmFWpaABCQgAQlIQAISkIAEJCABCUigKQkYaQkkAgqwEgmvEpCABCQgAQlIQAISkIAEWo+AKZKABCTQEgQUYLVENpoICUhAAhKQgAQkIIHaEdBnCUhAAhKQgAQGm4ACrMHOAcOXgAQkIAEJtAMB0ygBCUhAAhKQgAQkIIEBEFCANQB4OpWABCRQTwKGJQEJSEACEpCABCQgAQlIoF0JKMBq15xvz3SbaglIQAISkIAEJCABCUhAAhKQgASakEAfBVhNmEKjLAEJSEACEpCABCQgAQlIQAISkEAfCWhdAo1FQAFWY+WHsZGABCQgAQlIQAISkIAEWoWA6ZCABCQggaoRUIBVNZR6JAEJSEACEpCABCRQbQL6JwEJSEACEpCABCCgAAsKKglIQAISkEDrEjBlEpCABCQgAQlIQAISaHoCCrCaPgtNgAQkUHsChiABCUhAAhKQgAQkIAEJSEACg0lAAdZg0m+nsE2rBCQgAQlIQAISkIAEJCABCUhAAq1PoEYpVIBVI7B6KwEJSEACEpCABCQgAQlIQAIS6A8B3UhAAgsTUIC1MBN1JCABCUhAAhKQgAQkIIHmJmDsJSABCUigxQgowGqxDDU5EpCABCQgAQlIoDoE9EUCEpCABCQgAQk0DgEFWI2TF8ZEAhKQgARajYDpkYAEJCABCUhAAhKQgASqQkABVlUw6okEJFArAvorAQlIQAISkIAEJCABCUhAAhJQgNX6ZcAUSkACEpCABCQgAQlIQAISkIAEJND6BFo6hQqwWjp7TZwEJCABCUhAAhKQgAQkIAEJVE5AmxKQQKMSUIDVqDljvCQgAQlIQAISkIAEJNCMBIyzBCQgAQlIoAYEFGDVAKpeSkACEpCABCQggYEQ0K0EJCABCUhAAhKQwIIEFGAtyMMnCUhAAhJoDQKmQgISkIAEJCABCUhAAhJoIQIKsFooM02KBKpLQN8kIAEJSEACEpCABCQgAQlIQAKNQUABVi3zQb8lIAEJSEACEpCABCQgAQlIQAISaH0CprDmBBRg1RyxAUhAAhKQgAQkIAEJSEACEpBAbwQ0l4AEJNATAQVYPdHRTAISkIAEJCABCUhAAs1DwJhKQAISkIAEWpaAAqyWzVoTJgEJSEACEpBA3wnoQgISkIAEJCABCUigEQkowGrEXDFOEpCABJqZgHGXgAQkIAEJSEACEpCABCRQZQIKsKoMVO8kUA0C+iEBCUhAAhKQgAQkIAEJSEACEpDAGwRaVYD1Rgq9k4AEJCABCUhAAhKQgAQkIAEJSKBVCZiuNiGgAKtNMtpkSkACEpCABCQgAQlIQAISKE9AXQlIQAKNT0ABVuPnkTGUgAQkIAEJSEACEmh0AsZPAhKQgAQkIIGaElCAVVO8ei4BCUhAAhKQQKUEtCcBCUhAAhKQgAQkIIHuCCjA6o6M+hKQgASaj4AxloAEJCABCUhAAhKQgAQk0JIEFGC1ZLaaqP4T0KUEJCABCUhAAhKQgAQkIAEJSEACjUag+gKsHlI4c+bMuPrqq+OGG26IOXPm9GAzcvPf//738bWvfS2mTp3ao10NJSABCUhAAhKQgAQkIAEJSEACEqgzAYOTQB0J1FWAhSDq4IMPjm984xvx6quv9phMzE899dT4xS9+EQi+erSsoQQkIAEJSEACEpCABCQggSYkYJQlIAEJSKAyAjUVYM2fPz9eeOGFeOqpp3L17LPP5iurXnvttXj66adzvWRWer3yyivjX//6VwwbNiyGDKlpNCsjpS0JSEACEpCABCQggUYkYJwkIAEJSEACEmgDAjWXDJ122mmx/PLL52rChAnx5JNPxi233BJrrLFGrpfMSq8f+chH8q2DG2+8cYwbN64NssIkSkACEpCABAaLgOFKQAISkIAEJCABCUigsQnUVICVZVkcdNBBscUWW8RKK60Uyy23XE6DFVUrrLBCrod+ObXaaqvFoYceGmwjZBVW7tAfCUhAAo1KwHhJQAISkIAEJCABCUhAAhKQQM0I1FSARaxXXHHFuPHGG+Oxxx6L22+/PVZeeeV4z3veE/fdd1+uh3459fDDD8cPf/jDWHbZZcO/9iBgKiUgAQlIQAISkIAEJCABCUhAAhJofQL9SWHNBVjFSI0dOzZ+8pOf5Ie4jxw5smjkvQQkIAEJSEACEpCABCQgAQlIQAKVEdCWBNqOQF0FWKNGjYoddtghttxyy/xw9rajbYIlIAEJSEACEpCABCQggQYhYDQkIAEJSKCZCNRVgJXA8HXCRx99NC677LL40Y9+FAceeGC36phjjompU6eGfxKQgAQkIAEJSEACDUbA6EhAAhKQgAQkIIE6Eai7AOull16Kj370o7HqqqvG7rvvHocddlicffbZ3aqLLrooZs6cWSccBiMBCUhAAhKoLwFDk4AEJCABCUhAAhKQgAR6J1B3ARZnYP3qV7/KY/bWt741PvWpT8UBBxzQrULYxdbD3IE/EpCABBYmoI4EJCABCUhAAhKQgAQkIAEJtDiBugqwpk+fHldffXVkWRYXXnhh/Pe//41zzz03zjrrrG7VSSedFBz+3uL5MMjJM3gJSEACEpCABCQgAQlIQAISkIAEWp9A86awrgKsl19+OR555JHYYIMNYvvtt88FWc2LzphLQAISkIAEJCABCUhAAhKQQNsRMMESkMCgEKirAGvIkCH51wdHjx4dw4cPD/8kIAEJSEACEpCABCQggfYjYIolIAEJSEACfSVQVwHWuHHjYuONN46HHnoonnvuub7GVfsSkIAEJCABCUhAAp0E/JWABCQgAQlIQAJtRaCuAqxhw4bF5z73uZgxY0accMIJfl2wrYqaiZWABCTQaASMjwQkIAEJSEACEpCABCTQLATqKsCaO3dujB8/Pr7zne/Ez372s1hllVXiE5/4RJx88slxySWXlFUc+j5z5sxm4Wk8JdBeBEytBCQgAQlIQAISkIAEJCABCUigDgTqKsB69tlnY6ONNooDDjgg5s2bl28j/MUvfhFHH3107LnnnmXVwQcfHFOnTq0DisEJwlAlIAEJSEACEpCABCQgAQlIQAISaH0CpnBgBOoqwBo1alR89KMfzQVYCLEqUdjH3cCSqWsJSEACEpCABCQgAQlIQAISaHICRl8CEmhjAnUVYI0dOzZOOumkOOussypW2MddG+eRSZeABCQgAQlIQAISkECVCOiNBCQgAQlIoDkJ1FWA1ZyIjLUEJCABCUhAAhIoEPBWAhKQgAQkIAEJSKDuBBRg1R25AUpAAhKQgAQkIAEJSEACEpCABCQgAQn0hUBdBVhPPfVU/uXBLMsiyypTfKkQd31JlHYl0AYETKIEJCABCUhAAhKQgAQkIAEJSKBtCNRVgNVXqsstt1ysvPLKMXTo0L46rcC+ViQgAQlIQAISkIAEJCABCUhAAhJofQKmsBUI1FWAhUBq0qRJMX/+/LLq5ZdfjkcffTSOO+64WGSRRWK33XaLP//5z7HMMsu0AmvTIAEJSEACEpCABCQgAQlIoDkJGGsJSEACg0ygrgKs3tK62GKL5VsMv/71r8d5552Xf6nw3HPP7c2Z5hKQgAQkIAEJSEACEmh4AkZQAhKQgAQkIIH+E2goAVYxGdtuu22sv/76cfHFF8f06dOLRt5LQAISkIAEJNCeBEy1BCQgAQlIQAISkECbEmhdH6D5AAAQAElEQVRYAdbw4cNj9OjR8cgjjwRbC8M/CUhAAhKoAgG9kIAEJCABCUhAAhKQgAQk0HwEGlaA9dxzz8VDDz0Uw4YNiyFDGjaazZfjxnjgBPRBAhKQgAQkIAEJSEACEpCABCQggboSGBTJUE8pnD17dtx3331xxBFHxBNPPBEbb7xxjBs3ricnmklAAhKQgAQkIAEJSEACEpCABCTQgASMkgSqRWBItTyqxJ+nnnoqP6Q9y7LIsvJqxIgR8ba3vS3+8Ic/xNixY+Nzn/tcvgqrEv+1IwEJSEACEpCABCQgAQlIoMUImBwJSEACEuggUFcBVkd4Ff9vsskmccUVV+QrsCp2pEUJSEACEpCABCQgAQksREANCUhAAhKQgASanUBdBVjLLbdcTJo0KebPn9+r+sc//hGbbbZZs/M1/hKQgAQkIIHWIGAqJCABCUhAAhKQgAQkMIgE6irAGsR0GrQEJCCBQSdgBCQgAQlIQAISkIAEJCABCUigfwQGVYA1efLkOPPMM+PAAw/sUjw/+uij+Qqt/iVJVy1MwKRJQAISkIAEJCABCUhAAhKQgAQk0PoEFkrhoAiwXnrppfjIRz4SK6+8chx88MFx9tlndymeV1111fjwhz8cL7744kIRVkMCEpCABCQgAQlIQAISkIAEJCCB3ghoLoHWIlB3ARbCqw9+8IPxq1/9Kie54YYbxgEHHNCleMbgN7/5TXzoQx8K7POskoAEJCABCUhAAhKQgAQkUFcCBiYBCUhAAg1DoO4CrIsuuiiuv/76WG211eJf//pX3HbbbXHWWWd1KZ7Rxxx7l19+ecPAMiISkIAEJCABCUhAAn0joG0JSEACEpCABCRQDQJ1FWC9+uqrgUBqxIgR8fOf/zzWW2+9smlAH3PsIfDCXVmLakpAAhKQgARan4AplIAEJCABCUhAAhKQQNsTqKsAa8qUKXHPPffExhtvHBMmTOgRPubYu++++9xG2CMpDSUggd4JaEMCEpCABCQgAQlIQAISkIAEmplAXQVYCdTQoUMjy7L0WPaaZVlgb86cOTFv3rzwb5AJGLwEJCABCUhAAhKQgAQkIAEJSEACrU+gQVNYVwHWYostln958KGHHornnnuuRySYY48vFeKuR8saSkACEpCABCQgAQlIQAISkIAEGoSA0ZCABKpPoK4CrMUXXzy23nrreOKJJ+KEE06ImTNnlk0R+phj753vfGfgrqxFNSUgAQlIQAISkIAEJCCBViRgmiQgAQlIQAILEKirAIuQP/axj8Vyyy0X5557bmy66aZxwQUXxKRJk+Kpp57Krzyjjzn2Dj/8cJypJCABCUhAAhKQgAT6REDLEpCABCQgAQlIoHUI1F2A9Za3vCUXWi211FJx1113xT777BPjx4+P5ZdfPr/yjD7mCLOw3zq4TYkEJCABCTQVASMrAQlIQAISkIAEJCABCTQEgboLsEj1VlttFQ8//HB8+9vfjtVXXx2tLsUz+phjr8vAGwlIoCkJGGkJSEACEpCABCQgAQlIQAISkMBACQyKAItIjxkzJo466qjgoPb58+dHUjyjjzn2VCECCUhAAhKQgAQkIAEJSEACEpCABFqfgCnsgcCgCLDmzp0bl156aX6QO4KrFL8ZM2bEbrvtFjvvvHPce++9SdurBCQgAQlIQAISkIAEJCABCUigAgJakYAEWpVA3QVYs2fPjkMOOST22GOP+OMf/xjTp0/vYsvXB1mBdeWVV8Y666wT3/3ud/OVWV0WvJGABCQgAQlIQAISkIAEaktA3yUgAQlIQAINSKDuAiy+Lnj22WcHWwT322+/GDlyZBeWJZdcMq655po47rjjYvjw4fkWw+uuu67L3BsJSEACEpCABCTQDASMowQkIAEJSEACEpBAdQnUVYD16quvxuWXXx4jRoyIK664Ivbdd99cUJWSNHTo0FhxxRXj61//elx00UW59plnnhlz5szJ7/2RgAQkIIG2IWBCJSABCUhAAhKQgAQkIAEJdBGoqwBrypQpcc8998TGG28cEyZM6IpEuRu+QLj++uvHnXfeGS+88EI5K+pJQAI9EtBQAhKQgAQkIAEJSEACEpCABCTQGgTqKsBKyFhplWVZeix7ZQvh6NGj89VX8+bNK2un5poGIAEJSEACEpCABCQgAQlIQAISkEDrEzCFDU+grgKsxRZbLFZeeeX8C4NPPfVUj3Cee+654EB37OOuR8saSkACEpCABCQgAQlIQAISkMCgEjBwCUhAArUkUFcB1uKLLx5bb711IJw6/vjjY8aMGWXTxtcITzjhhHjiiSfy7Ya4K2tRTQlIQAISkIAEJCABCbQOAVMiAQlIQAISkEA3BOoqwCIOn/zkJ2ONNdaICy64IFZdddU4+uij45JLLulSJ554Yqy11lrB1wqxd/jhh+NMJQEJSEACEpCABCogoBUJSEACEpCABCQggVYkUHcB1iqrrBK//vWvY/XVV89XYp188smx5557dqmvfOUr8dhjj+Xm2MN+K4I3TRKQgAQaloARk4AEJCABCUhAAhKQgAQk0GAE6i7AIv18gfC///1v/OEPf4gPfvCDsdJKK3Upnn/zm9/Ev//9716/VIhfKgk0IgHjJAEJSEACEpCABCQgAQlIQAISkED1CAyKAIvo85XBXXbZJd86yIqrpNhOuMcee8SoUaOwppKABCQgAQlIQAISkIAEJCABCUigdQmYMglURGDQBFgVxU5LEpCABCQgAQlIQAISkIAEJNALAY0lIAEJtD4BBVitn8emUAISkIAEJCABCUigNwKaS0ACEpCABCTQ0ATaQoA1e/bs4OuHWZbF5Zdf3m2G3HvvvbHzzjvHiBEjIsuyWGyxxeKAAw6Ixx9/vFs3GkhAAhKQgAQk0EnAXwlIQAISkIAEJCABCdSKQFsIsM4999z4+c9/3iPDG2+8MTbbbLO48sorc3srrLBCzJw5M84555zYdNNN46677sr1/ZGABCRQQwJ6LQEJSEACEpCABCQgAQlIQAJlCLS8AOvWW2+NL33pS2WS/oYWK6wOPvjgmDp1ahx77LExY8aMfNXVlClTYq+99orJkyfHUUcdFdOnT3/DkXcNSsBoSUACEpCABCQgAQlIQAISkIAEJNBqBBYWYLVQCl966aX48pe/nKdolVVWya/lfi677LK47777Yrvttoujjz46hg8fnlsbM2ZMnHHGGbHRRhvFddddFzfddFOu748EJCABCUhAAhKQgAQkIAEJSKDpCZgACTQRgYYTYL366qtVwTd//vw45ZRT4vrrr4+vfvWr8d73vresv4R39dVX52b77LNPjBo1Kr9PP+PGjYuJEycG/l111VVJ26sEJCABCUhAAhKQgAQkIIEQgQQkIAEJ1IfAoAiwpk2bFkcccUR84hOfiDlz5nSllC1622+/fSyzzDJx0UUXxdy5c7vM+nrDiqkTTzwx9txzzzj88MO7dc4qLVZfIbhac801y9pbd911c/27777bbYQ5CX8kIAEJSEACEpBA1QjokQQkIAEJSEACEuiVQN0FWAiMPvCBD8Tpp58efPXv5Zdf7ookZ09x3tRzzz2Xnz11yCGHBF8Q7LJQ4c2kSZPisMMOi/Hjx8fJJ5/ctSWwnPMXX3wxpk6dmq+84quD5ewsv/zyseiii8YjjzwSxfiWs6ueBCQgAQlIoP4EDFECEpCABCQgAQlIQAKtTaDuAqxTTz0139Y3YcKE4OuAY8eO7SL85je/OR544IH405/+FCuttFKcffbZ8atf/arLvJIbBF4nnHBCPPzww7nwanyHEKsnd6+88kqwjRDhVTEuPbnRTAISaEECJkkCEpCABCQgAQlIQAISkIAEGpZAXQVYbBG84YYbAkHR+eefH+utt15kWbYAnKFDh8Y222wTv/nNb/JVT2wlRMC0gKUeHhB4Ifjab7/9Ytddd+3BpkbVJqB/EpCABCQgAQlIQAISkIAEJCABCbQ+gcFIYV0FWGy/YxveO97xjuhtZdTaa68d66+/ftxzzz0xZcqUitjceeed8ZnPfCbWWWed+Na3vtXj1sGKPNSSBCQgAQlIQAISkIAEJCABCUig+gT0UQIS6COBugqwUtw4nJ2v+qXnctcsy4LVWFHhH2drffGLXwy2BP74xz/OD4KvxOmSSy4ZY8aMiVmzZsXMmTN7dDJs2LAYMmRQkPUYLw0lIAEJSEACEpCABCTQfgRMsQQkIAEJtBOBukpjEBStscYacccdd+RnXfUE+tFHH41//etfgX3c9WQXs4ceeij+8Y9/5IKoLbbYIt+amGVZ1/UXv/gF1vJthVmWBV9ARGP06NH5VkUEYC+88AJaC6knn3wyF4xxLhf2F7KghgQkIAEJSEACEmhGAsZZAhKQgAQkIAEJNAmBugqwEP5MnDgxFwYdfPDBgZCqHKfHH388Dj300Jg6dWp+Hhbuytkr6o0YMSJWX331/PB3BE2lavjw4bl1VlxhNm7cuPx5iSWWiLXWWitffcUB8rlmyc8tt9yS63BmF4e95w/+SEACEpCABCJCCBKQgAQkIAEJSEACEpBA7QnUVYBFcvbZZ5/Yeuut45///GesuuqqsdFGG8WBBx7YpbbaaqtYZZVV4m9/+1tuD0EX7npT6667btx9993x2GOPlVUf/ehHcy/OO++83Px73/te/jxy5MjYYYcd8nsOli/dRsiqrGuvvTZfybXjjjvm9vyRgASqSkDPJCABCUhAAhKQgAQkIAEJSEACPRKouwCLFU8XXHBB7L777nnEEGTx1cCk/vKXv8S8efNyc+xhP7dYw5+JEyfmq7CuueaaOOmkk/LVWAQ3bdq0OPzww+O2224LtiVuvvnmaDegMkoSkIAEJCABCUhAAhKQgAQkIAEJtD6B9k1h3QVYoF522WXjt7/9bb4S6ic/+UkccMABXYpnvlR46aWXBvawX2u14oorximnnJKfhXX88ccHQjP02G544YUX5tsSTzvttHD7YK1zQv8lIAEJSEACEpCABCQgAQnUmIDeS0ACTUlgUARYiRRnUR100EFx1llndSmex48fn2/Zmz17djz//PPBVwuTm1pdd9ppp3ylFVfCeOKJJ2LUqFGx//77x8033xwTJkxAWyUBCUhAAhKQgAQkIIG2JyAACUhAAhKQQL0J1FWA9dRTT+XnW2255ZYxffr0HtOK+TbbbBMbbLBBPPvssz3arcSQs6/mz58fu+yyS7fW11577bjiiivyLxlilziwtZHVWN060kACEpCABCQgAQn0nYAuJCABCUhAAhKQgAT6QKCuAqw+xCtee+214AyqvrjRrgQkIAEJtBMB0yoBCUhAAhKQgAQkIAEJtAuBmgqwZs2aFXxFcOWVVw4Uq6n4SiBfGFxrrbVyPfTLqeWWWy7uvPPO/EuFiy++eLvkh+mUQH0JGJoEJCABCUhAAhKQgAQkIAEJSKAJCNRUgDVixIjYe++945lnnonJkycHmD8tUAAAEABJREFUWwhhwlcGOWMKve4U518NHz48/wpgIx+eTnpUEpCABCQgAQlIQAISkIAEJCABCbQ2AVM3uARqKsAiaZtvvnk8+eSTubrrrrti+eWXj0022SQefPDBXC+ZlV6ffvrpmDFjRnzgAx/Am6ZWt99+e6hkYBmwDFgGLAMDKQPVaggHEgfdWoYtA5YBy4BlYIBlwHGRY0PLQJOWgWr1RQfiT80FWFmWxbhx44ItgajVVlstP8id+57Um9/85mAF1kASp1sJSEACEpCABCQgAQm0FgFTIwEJSEACEmhPAjUXYBWxLrPMMsH5VxdffHGMHj26aNTS95z9pdog/6KkHORgGbAMWAb6Vwaq1VDKf4PYYIP+5YHs5GYZsAxYBiwDlgHLQLuWgWr1RQfiT00FWHPnzo1nn302V9yjeOYsrEoV9nE3kERW6vbee++NnXfeOTi7K8uy4OytAw44IB5//PFKvdCeBCQggbYgYCIlIAEJSEACEpCABCQgAQnUk0BNBVgInzbaaKNAcY/innOwKlXYx12todx4442x2WabxZVXXpkHtcIKK8TMmTPjnHPOiU033TQ4vys38EcC1SGgLxKQgAQkIAEJSEACEpCABCQgAQlUSKCmAqwK49BPa9Vzxgqrgw8+OKZOnRrHHntsfng8elOmTIm99torJk+eHEcddVRMnz69eoHqkwQkIAEJSEACEpCABCQgAQlIQAIVENCKBCJqKsDikPZJkyYFinsU9/Pnz49KFfZxV8vMuuyyy+K+++6L7bbbLo4++uiuw+PHjBkTZ5xxRr6C7LrrroubbrqpltHQbwlIQAISkIAEJCABCUhAArUhoK8SkIAEmpxATQVYzcDm1VdfjauvvjqP6j777BOjRo3K79MPX1CcOHFiLnC76qqrkrZXCUhAAhKQgAQkIIE2I2ByJSABCUhAAhIYPAINJcB64YUX4vLLLw9WRLFtrx5YXnrppXz1FYKrNddcs2yQ6667bq5/9913u40wJ+GPBCQgAQlIoF8EdCQBCUhAAhKQgAQkIIF+ERgUAdYDDzwQO+20U+y44475eVPE/JprromVV145dt1119h9993z++9+97v5yifMa6VefPHFmDp1ar7yiq8OlguHA+cXXXTReOSRR+Lll18uZ0U9CUhAAnUiYDASkIAEJCABCUhAAhKQgATaj0DdBVj/+c9/8q/9sR2P86340h+roDg8/ZVXXomxY8fG6quvnucEB6dz9lT+UKMfwmQbIcIrwq5RMHrbSASMiwQkIAEJSEACEpCABCQgAQlIQAJNRaBfAqyBpPDMM8+M559/Pl9pdcUVV8RSSy0V//73v+P2228PDmu/7bbb4qGHHopLLrkkD+anP/1pzJkzJ7/3RwISkIAEJCABCUhAAhKQgAQkIIH6ETAkCTQKgboKsNh+d+edd8YKK6wQp512Wqy66qo5B1ZZIaTadNNNY/z48bneVlttFeuvv35w7hRb/HJNfyQgAQlIQAISkIAEJCABCTQXAWMrAQlIQAJVIFBXAdb06dPjsccei7e85S2x9NJL59Fn+x6rrnjYZpttYtiwYdzG8OHDY/To0fmh6bNnz45a/S255JIxZsyYmDVrVrCdsadwiNuQIXVF1lN0NJOABCQgAQlIQAJtQsBkSkACEpCABCTQ7gQGXRrz5JNPxh133BEckr7hhht25cf8+fNj7ty5uUCrlkIjhGSEzTlcfAWxKwKFG+LIWVkrrbRSLlQrGHkrAQlIQAISaA4CxlICEpCABCQgAQlIQAJNTKCuAixWOq2xxhpx7733xlNPPZVj++tf/xpPP/10rLvuuvnKrFyz4+euu+6KW2+9Nd9myAHrHVo1+V9iiSVirbXWyldf8XXEcoHccsstufZ6660XtYxLHog/EpBAwxIwYhKQgAQkIAEJSEACEpCABCQwOATqKsBitdPEiRPjueeei/e///3x0Y9+NA477LA85dtvv30gTGLV1e9///vYe++982192MddbqkGPyNHjowddtgh9/n888/PBVn5w+s/rMq69tprI8uy2HHHHV/X9dJPAjqTgAQkIAEJSEACEpCABCQgAQlIoPUJVD2FdRVgEft99tkn9thjj/wsrIsvvjjYmrf11lvH5z73OYxj2rRp8a1vfSsmT54c6GM/N6jhD0IyVmFdc801cdJJJ3UJsYjL4YcfHpzRtcUWW8Tmm29ew1jotQQkIAEJSEACEpCABCQgAQlIIBHwKgEJFAnUXYDFKisEV//85z/jlFNOieuvvz6uvvrqfPUVEVt88cWDrxGeccYZcfnll3fpY1YrteKKK+Zx4Sys448/Pg8TPQ54v/DCC4Ozr0477TS3D9YqA/RXAhKQgAQkIAEJSEACtSCgnxKQgAQk0DIE6i7AgtzQoUNjgw02iCOPPDK22mqr/IuD6KP40t/pp58en/nMZ2LUqFFo1UXttNNO+UorrgT4xBNP5OHvv//+cfPNN8eECRPQVklAAhKQgAQkIIG2ImBiJSABCUhAAhKQQCMQGBQBVl8SzhZDzsXqi5v+2l177bXjiiuuyM/e4iuI06dPj7PPPjtYjdVfP3UnAQlIQAJtT0AAEpCABCQgAQlIQAISkMAACQyKAIuzpVhldeCBB0Z3apNNNonll18+/zrhs88+O8Bk6rzaBOZ3ePiXe+fEvme+EtueNCO2PnFGbP/tGXHoz2bGzQ/ODcw7rCz0P+O1iDOvnxUfPO2V3A3udvvejDjhstdiyozuXEXcPXle7jdh4IYwCZs4dO9qoeDVaFoCRlwCEpCABCQgAQlIQAISkIAE2plA3QVYkyZNig033DCOOOKIfHUTK5zKqf/7v/+Lp556KubMmdPO+VO9tFfRp1kdWfLN370W3+oQOk1+YX4sMixiiUUjhnaUpvufmhdf/82r8cM/zVpIiIWA6shfzoxf/9/smPrK/Bi9SMTiIyNmvBrx5w5hGMKv/z07b6GYXvD32fGFDnf4jSFhDR8aQdjf6ojD969ZOCzsqSQgAQlIQAISkIAEJCABCUhAAm1HoEUT3CFyqG/KOJz9wQcfjDFjxsRRRx0VP/vZz2LllVeO1VdfPX7605/mXyPkmVhxoPr9998fyy23HI+qBiHw29tmx43/nROjRkR8cadF4g9fGB2/PWJ0/OHI0bHP5sNjSEep+tO/Z8e/H1tQGHVph7sHn54XS47O4pS9Rub2L/v86DjngFGxylJZPDttfpz3twWFUdi/9NZZMbfDq13eOSyu/OKCYSE0u+qu2fH3B+Y2CB2jIQEJSEACEpCABCQgAQk0OwHjLwEJNB6BDlFD/SL18ssvx6233hojRozIz5r69re/HZ/4xCdi8803jylTpgTbBr/3ve/FvffeGxymjrDr4Ycfrl8EDalXAjNnRS68wuIu6w+P7d8xLDIeOhTCpD3fNSJWXXpIsFXwnsffECpNmxnxjwc7n/fYeHi8c/zQDhed/+M77H/8PSOCVVX3TJ6Xr6zqNIn49+S5gVvsfGrLRfJVXpgR1t6bjYi1lh8Sszu8vf1/c9BWSUACEpCABCQgAQk0BgFjIQEJSEACEqgqgboKsDgU/bHHHov11lsv3v72t+cJybIs/yLhiy++GI8++miuN3r06DjppJPy7YNnnnlmrudPYxBAWDR8WORbBhFUlcYq3xY4qlOk9dy0eV3Gk56fFzwvPjJig1XfEF4lC29bfmiMXTSL6a/Oj0ee7ZBIvW7w1NTOE65YtTWm5KOUCLyWXryzCL84vdPe6868SEACEpCABFqAgEmQgAQkIAEJSEACEkgEOkf/6alOVwRUw4cP7wrtbW97W37/3//+N7/ys8oqq+RCrjvvvDNYuYWeavAJIEQ64+Oj8i2D267bIckqidIz0+bH01PnxZAOGdbbVnhDUPXi9Hnx2uyIxUZmseRiHYYl7hZdJIvFOwRfczpkXi/NfMNwjWWH5H5NfmFePDll/hsGHXes8nr8xQ4HHfcrLzUoRbkjZP8lIIGGJmDkJCABCUhAAhKQgAQkIIGWIFDXUf/IkSNjmWWWiblz58b8+W8II9BbdNFFu1ZgQTbLshg6dGiwYuv/s3cfgFGUeR/H/5OQkBCEUAUEQQ8booK9IId6FsSCXTk9Gwh6iogKnnrn6d35gqKiZwe7Yu8gWDg7olgQG1Y6CFJCCQmBJO/+Hpi42Wz67mbL987ZMvPMM8/zmWEy89/neUYtt4z/xbWAxqiaOa/Y/vlcoanV1N7bp1ufXX4PcCkopeBU4wzPMtMrBrDUMqt5k83zg1tgKY/dOqXb8rWl9p+XCk1jYglC42X938uF9tPSEtu+bZqduM/vAVEtZ0IAAQQQQAABBBBAAAEEEEg8AUqMQGUCaZUtiMb8rbbaytSySuNgzZw5s2wTW2+9tbVo0cJmzZplfrAqPz/fli5dWpaGD/EpcMWEQjvsxnw7YlS+Xf5Eof28rMSO3bORXds/yzJ/j1/VufDK458nZVmvHdNNTyEc8mCB294Zd663j34qtm7bpJmWq4thnTfCiggggAACCCCAAAIIJI8ANUEAAQSSUiAtlrVq1KiRnXzyyVZUVGTHHHOMaXyrgoICa926te2xxx72/vvv2xNPPGELFy60O++802bPnm077LCDe2Kh8b+4FNjccspMXQs1sLpaYumJgLMWFEesvBo/a/aSElObvawMc+Nv6V0b+HV1aSCwFbltKU8mBBBAAAEEEEh1AeqPAAIIIIAAAvEmENMAlip/0kkn2aBBg2zNmjU2fvx4KywsNHUtHDx4sBbbkCFDrFOnTvbvf//bfT/nnHNMY2a5L7zEncB1J2a58bBevCzHNKn11er1pabufbPmbx6fqj6F/mVZif3rxUJblV9qZ/XKsFcuz3Hbm3hljg09MtPyC0vt1tc2mP+Ew/psi3URQAABBCIoQFYIIIAAAggggAACCERQIOYBrIyMDLvnnnts4sSJ1r9/f8vOznbVOfbYY23ChAllra2U7qabbrLTTjvNLecl/gX0BMK/Ht7Ydu2YZhpgfdLMjfUu9HOfbLQV60ptvz+k29m9M02tvJSpRss6fq8MO3L3RlZQZPbMx0WmJyRqGRMCySJAPRBAAAEEEEAAAQQQQAABBDYLxDyApc1qcPZ+/frZNddc41pfaZ7neS5YlZeXZytXrjR1LbzyyitNgSwtZ0oMgYx0sy5bngi4JK+kLKjUPBCnbBQ42tRiqqBInQHL12dtoZlabmnudm0DmQQ+aJ4/aHvPLummoFVgdrn/9u3ayI21tWBFqf22pkK+5dLyBQEEEEAAAQQQQAABBBBAAAEEElMgEFKoquCxX+Z5nhvQXUGu2G+dLVYnsCSv1M69b70NuHO96amDVaXPSPesUfrmFC2bplnjDLPCjaW2pqBioGn9hlJbG5ivIJeCXVqrNJCsJDDpc6NAXnoPnTTbC8wsCST20wa+8h8CCCCAAAIIIIAAApwC0h0AABAASURBVAgggECtBEiMQHwLRDWAVVBQYJMnT7bnnnuuzpPWVz7xzZg6pctoZK5V1dI1pTZ7ccUxrtSNb+7yzfNbb+WVtZrq3DrN2jRLM7Wq+uTnioOuf7Wg2I1zlZvj2Q7tNke9tso2a9XUc7hfzS92g7i7L0EvX8wrtg2bzFrkpFmz7M1pgxbzEQEEEEAAAQQQQACB2AmwJQQQQACBqAlENYCl7oAalP2UU06xuk5aX/lETYCMayXQOhBQ2mf7zQEmjTv10U+/B6P0BMInPiyybxaWWHam2Z+6B6JdW3Jvlm12wA6b13t+RpEFrzf3txKbMK3INgXiXj07p1v7FpsDUXo9bNdGbtyrd2dvsmenbywLYqlh1pQvN9mrn28eZ0t5axtbNscbAggggAACCCSoAMVGAAEEEEAAAQTCCUQ1gJWdnW1nnHGGe+qgnjxYl0nrK59whWdewwj85eBMN1D76vVm1z5TaMeOybcTx+bbcbfk22MfbA4onfvHTPMDXX4pzzgg03oEAlT+ekrf/9Z8GziuwOYtL7WOLT07r09mWastrXfE7o3smJ4ZpuDYff8rsmNuzt+8rcA2b560wQ3gvn/XdPtLr0wlZ0IAAQQQMMMAAQQQQAABBBBAAIGkE4hqACs3N9dGjRpl999/f50nra98kk4+gSvUIsez287MtosOz7RtWniuC5+CUqrS7p3SbMyfs+2kfTL0tdykpxTecHKWnbpfhuU28dyTCtWlMCfL7NBujWzsWdnWtpnaXf2+mr5dcmSm/euULNupfZoLZGlb6jbYqZVnw/o2NuWZ+Xtjr99X5hMCdRZgRQQQQAABBBBAAAEEEEAAgXgSSIunwlCWxBFIDxw5ClI9emETe+OqHJt6dY5NujLHbgsEoRTEskqqoiDW4MMy7flhTdw6Wu/l4Tl2Tf/GpsBYuNUUxDpwh3S7+9xsmzIyx62nbT48uIkd27OR62IYbj3mIYAAAggggAACCCCAAAIIIIBAlAVilH0gDBGjLYVspri42D7++GMbPny49ejRw7bddlv3fs0119gPP/xgpaUa5ShkJb4igAACCCCAAAIIIIAAAgggkGQCVAcBBKoXaJAA1nfffWfdu3e3/fff32677Tb78ssvbcGCBe79xhtvtJ122skOP/xw+/XXX6uvASkQQAABBBBAAAEEEEAg1QWoPwIIIIBAkgvEPIA1b948O/7442327NmmwdkHDx5sTz75pD377LP2+OOP29lnn+3mT5061Y4++mhbtmxZku8CqocAAggggAACCMSDAGVAAAEEEEAAAQTiVyCmASx1C7z55pvtxx9/tBNPPNEWLlxo9957r51++ul28skn25///Gd7+OGH3fxDDjnEvvjiC7v77rvjV4+SIYAAAgggECzAZwQQQAABBBBAAAEEEIiKQEwDWHl5eW7cq/bt29vo0aOtZcuWYSul+ffdd5+1adPG1BJr7dq1YdMxEwEEkk+AGiGAAAIIIIAAAggggAACCCAQKhDTAFZhYaHrErjjjjtau3btQstS7ruCXN26dbP58+fbunXryi3jS5UCLEQAAQQQQAABBBBAAAEEEEAAgeQXSKkaxjSAlZWVZW3btrXffvvNFMyqSnrjxo2Wn5/v0mu9qtKyDAEEEEAAAQQQQAABBBBAAIHaC7AGAggkikBMA1gtWrRwY119++239uCDD5rGxKoM6o033rDPPvvM+vXrZ1qvsnTMRwABBBBAAAEEEEAAgQYUYNMIIIAAAgjEQCCmASzV5+KLL7ZzzjnHrrrqKrvooots7ty55QJZq1evtlGjRtlZZ51lRx55pF122WVajQkBBBBAAAEEEEhaASqGAAIIIIAAAgggULVATANYS5YsMY1r9fDDD7uglZ5AuN1221laWpp5nuem3Nxc+9vf/mbqQjhlyhTTd8/bvMzzNr937tzZlFfVVWMpAggggEAKCVBVBBBAAAEEEEAAAQQQSGKBtCSuG1VDAIFaCZAYAQQQQAABBBBAAAEEEEAAgfgUiGkAS08WnDdvnmt9pfGv6jopD+UVd6QUCAEEEEAAAQQQQAABBBBAAAEEkl+AGsZcIKYBrJjXjg0igAACCCCAAAIIIIAAAgjEpQCFQgABBGoj0KABLI1z9c0339hzzz1XNum75temEqRFAAEEEEAAAQQQQCAFBagyAggggAACKSPQIAEsBahuueUWa968uXXv3t1OOeWUsknfc3Jy7Oabb3YDuafMnqCiCCCAAAIIINAAAmwSAQQQQAABBBBAIBEEYh7AUvBq6NChdsUVV1hBQYFlZGRYp06dyiZ9V5oRI0bYX//6V4JYiXAUUUYEEEhtAWqPAAIIIIAAAggggAACCERZIOYBrFdffdXuu+8+a9KkiT3xxBMuiDV//nzzJwW1NF/Lx48fb1OnTo0yAdkj0PAClAABBBBAAAEEEEAAAQQQQAABBCoXiGkAa9OmTTZhwgRXmgcffNAGDBhg6enp7rv/ou+ar+WapyCW1tPnKiYWIYAAAggggAACCCCAAAIIIIBA8gtQwxQViGkAa8WKFfbFF1/YXnvtZUcccUSV5FqudN99953l5eVVmZaFCCCAAAIIIIAAAggggAACNRUgHQIIIJB4AjENYJWUlJhaU2mQdo11VRWXlivdunXrGAerKiiWIYAAAggggAACCMRegC0igAACCCCAQEwFYhrAysrKsrZt29rSpUstPz+/yopqudIpvdarMjELEUAAAQQQQCDhBCgwAggggAACCCCAAAI1FYhpACs3N9f2228/mz17tj3yyCNWWloatpyar+VK1717d9N6YRMyEwEEEEhtAWqPAAIIIIAAAggggAACCKSEQEwDWJ7n2bnnnuueQDhy5EgbPHiw/fzzz1ZcXOyw9a7vmq/lehLhkCFDzPM8t5wXBCIvQI4IIIAAAggggAACCCCAAAIIIBDvAvUPYNWyhnvuuaeNHj3a0tLSbNy4cda1a1dr1KiRC1LpXd81X8uVbt99963lFkiOAAIIIIAAAggggAACCCCAAAIRFyBDBBpQIOYBLM/z7OKLL7avvvrKjjrqqLBV13wtVzrPo/VVWCRmIoAAAggggAACCCCAQMIJUGAEEEAAgboJxDyAtXz5cvdUwW7dutnkyZPdUwk1WPvixYvd4O56SqHma3ndqsRaCCCAAAIIIIAAAkksQNUQQAABBBBAIAUFYhrAKiwstLPPPtt23nln++mnnxx3enq6ezJh+/bt3bu+uwW8IIAAAggggECUBMgWAQQQQAABBBBAAIHEEohpAGvVqlX29ddfW4cOHWzrrbdOLClKW2eBletK7ZpnCu2E2/LtsBtrNinttYF1VgTWrfOGWRGBaAqQNwIIIIAAAggggAACCCCAQMwEYhrAysjIsKZNm5paYqmrYMxqyYYaTEABqAsfKrDpPxXbmoLyxajqm9J+FFjnosC6+lxVWpYhgAACCCCAAAIIIIAAAggggED8CkSiZDENYLVu3doGDRpkn332mY0dO9YKCmoR0YhEbckj5gL3TS2y5WtL67xdrXvPWxvqvD4rIoAAAggggAACCCCAAAJJIEAVEEh5gZgGsBSw2mGHHewvf/mL3XDDDdakSRPXnbB///52wQUXhJ2uuuoqy8vLM/6XmAKfzy2ud8Fn/FL/POpdCDJAAAEEEEAAAQQQSHABio8AAgggkMgCMQ1gKRB10UUX2SOPPFJmtmTJEnv55Zdt3LhxYacnn3ySllplWon3YVV+3Vtf+bWNRB5+XrwjgAACCCCAQD0EWBUBBBBAAAEEEGgggZgGsHJzc+3ee++1Z599tsaT0mu9BvJhswgggAACCERUgMwQQAABBBBAAAEEEECg9gIxDWBlZ2db37597eSTT67xpPRar/ZVYw0EEEhSAaqFAAIIIIAAAggggAACCCCQYgIxDWAF2/7000/26quvBs9yTye88sor7fbbb7c1a9aUW8aXSAqQFwIIIIAAAggggAACCCCAAAIIJL9A8tQw5gGs0tJSu+WWW0yDuet93bp1ZZoa5P2dd96xYcOGWadOnWzy5Mlly/iAAAIIIIAAAggggAACCCCAQMwF2CACCMSFQMwDWGp1NWLECFf5nXfe2b37L1lZWXb11Vfb4Ycf7lpgDRgwwL744gt/Me8IIIAAAggggAACCCCQgAIUGQEEEEAAgfoKxDSAtWnTJnv00UdNrbCeeuopN6B706ZNy+qgsa5OOOEEe/3112306NGmpxbecccdLn1ZIj4ggAACCCCAAAKpJ0CNEUAAAQQQQACBlBaIaQBrxYoVrkXVXnvtZUcccUSl8J7n2XnnnWfdunWzTz75xLRepYlZgAACCCCAQI0ESIQAAggggAACCCCAAAKJKhDTAFZJSYmpFVZOTo5lZGRUaabuhG3atDGNkbVx48Yq07IQAQRiJMBmEEAAAQQQQAABBBBAAAEEEGgAgZgGsBSUatu2rc2dO9dWr15dZXXz8/Nt6dKlpvRar8rECbSQoiKAAAIIIIAAAggggAACCCCAQPILUMPICsQ0gJWbm2v77befzZs3zx566CErLi4OWxuNkfXII4/Y7NmzrXv37qb1wiZkJgIIIIAAAggggAACCCCAQLIKUC8EEECgTCCmASzP8+z88893Aam///3v1rdvX5syZYotWbKkbJo2bZr179/fRo4c6dINHTrUPM8rKzAfEEAAAQQQQAABBBBAoKYCpEMAAQQQQCA5BGIawBJZz5497YEHHnBjYL355psuiNWhQwfzp4MOOsheeeUVt1zplF7rMSGAAAIIIIAAAg0iwEYRQAABBBBAAAEEGlwg5gEs1fjEE0903QiHDx/uxrjSPH/SmFcXXXSR/fLLL6Z0/nzeEUAAAQQSV4CSI4AAAggggAACCCCAAAL1EWiQAJYK3L59e7vlllvcQO0a88qfNHD7XXfdZR07dlQyJgQQ2CzAKwIIIIAAAggggAACCCCAAAIpK9BgAazYi7NFBBBAAAEEEEAAAQQQQAABBBBIfgFqmIwCUQ1g5eXl2VVXXeUmfdak7xdccIHVdFJ6rZeM+NQJAQQQQAABBBBAAAEEEIhLAQqFAAIIxJlAVANYBQUF9uSTT7pJnzXp+7hx46ymk9JrvThzozgIIIAAAggggAACCFQpwEIEEEAAAQQQiJxAVANY2dnZdsYZZ7hJnzXp+6BBg6ymk9JrvchVmZwQQAABBBBAIEEEKCYCCCCAAAIIIIAAAk4gqgGs3NxcGzVqlJv0WZO+33///VbTSem1nistLwgggAACtRQgOQIIIIAAAggggAACCCCQ+AJRDWAlPg81QMDMQEAAAQQQQAABBBBAAAEEEEAAgQYViEkAq0FryMYRQAABBBBAAAEEEEAAAQQQQCAmAmwEgWgJRDWAtWTJEuvcubN5nlfnSesrn2gBkC8CCCCAAAIIIIAAAgggEEcCFAUBBBBAIIxAVANYYbbqYBX6AAAQAElEQVTHLAQQQAABBBBAAAEEoixA9ggggAACCCCQbAIxC2ClpaXZWWedZR9++KEtWrTIFi9eXKNpxowZ1rZt22Rzpz4IIIAAAgjEtwClQwABBBBAAAEEEEAgjgSiGsBS4GnixIk2ePBga9y4sT322GN20EEHWe/evW3ChAmmoFb79u2tqkl5pKenxxEZRUEAAQRqJkAqBBBAAAEEEEAAAQQQQACByAhENYClwNNuu+1m9957r61du9a1vjr11FNtzpw5dsUVV1i7du2sZ8+e9vjjj9vq1auN/yEQIsBXBBBAAAEEEEAAAQQQQAABBBBIfoFqaxjVAFbw1hXMOvDAA+3pp5+2wsJCe/311+3oo4+2WbNmua6Fubm5dsABB9jLL7/slgevy2cEEEAAAQQQQAABBBBAAAEEEKhKgGUIJLdAzAJYwYwZGRl2xBFH2KRJk2zNmjX2zDPP2P7772/Tp0+3/v37W05OjvXr18+12Nq4cWPwqnxGAAEEEEAAAQQQQAABBKIjQK4IIIAAAnEr0CABrGANBatOOeUU++ijjywvL8+Nk7X77rvba6+9Zr169bJdd93Vli1bFrwKnxFAAAEEEEAAAQTiVIBiIYAAAggggAAC0RBo8ABWcKWaNWtm++67r2ud1aZNG7dow4YNVlxc7D7zggACCCCAQAoIUEUEEEAAAQQQQAABBBAIEWjwAFZpaanNnTvXrr32Wtt6661tp512sptuusl+++0369Gjh40aNcpat24dUmy+IoAAAlUJsAwBBBBAAAEEEEAAAQQQQCCZBBokgBUatNpuu+3sP//5jwtaKYClpxYuX77cvvjiCzvjjDNMY2YlE3pC1IVCIoAAAggggAACCCCAAAIIIIBA8gskSA1jFsDyg1Y33nijdezY0YKDVh06dLDRo0fbr7/+arNnz7bBgwdbq1atEoSQYiKAAAIIIIAAAggggAACCKSyAHVHAIHoC0Q9gLVgwQILDlpdc801tnjxYtMYV/o8Z84cW7hwoY0YMcJ1IYx+ldkCAggggAACCCCAAAIIxJkAxUEAAQQQQKBKgagGsJYsWeKeJKhAlYJWubm5dumll9r3339vS5cutX//+9/WpUsX8zyvykKyEAEEEEAAAQQQQKA6AZYjgAACCCCAAALJKxDVAFYoW3Z2tr3wwgv2pz/9yTp37mzbbrtttdPBBx9sy5YtC82K7wgggAACCERegBwRQAABBBBAAAEEEEAgLgViGsBSiyx1KazNNH/+fCsuLo5LPAqFAAIVBZiDAAIIIIAAAggggAACCCCAQKQFohrAUpdBPVHw2WeftbpOWl/5RLricZwfRUMAAQQQQAABBBBAAAEEEEAAgeQXoIa1EIhqAEtdBvv27Wsnn3xynSetr3xqUSeSIoAAAggggAACCCCAAAIIpIQAlUQAgVQRiGoAK1UQqScCCCCAAAIIIIAAAgkrQMERQAABBBBIAAECWAmwkygiAggggAACCMS3AKVDAAEEEEAAAQQQiK4AAazo+pI7AggggEDNBEiFAAIIIIAAAggggAACCFQqQACrUhoWIJBoApQXAQQQQAABBBBAAAEEEEAAgeQUIIAVvF/5jAACCCCAAAIIIIAAAggggAACyS9ADRNOgABWwu0yCowAAggggAACCCCAAAIINLwAJUAAAQRiKUAAK5babAsBBBBAAAEEEEAAgd8F+IQAAggggAACNRQggFVDKJIhgAACCCCAQDwKUCYEEEAAAQQQQACBVBAggJUKe5k6IoAAAlUJsAwBBBBAAAEEEEAAAQQQiHMBAlhxvoMoXmIIUEoEEEAAAQQQQAABBBBAAAEEEIieQLwEsKJXQ3JGAAEEEEAAAQQQQAABBBBAAIF4EaAcCNRJgABWndhYCQEEEEAAAQQQQAABBBBoKAG2iwACCKSeQFIGsNasWWM33XSTdenSxTzPc1PTpk1t0KBBtnDhwkr38rfffmvHHHOMZWZm1nidSjNjAQIIIIAAAggggED8ClAyBBBAAAEEEEgogaQLYM2bN88OPPBAGzlypOlzmzZtbJtttrGCggIbP3687bTTTjZp0qQKO+ndd9+1gw46qGxZ8DrKb+bMmRXWYQYCCCCAAAKpLEDdEUAAAQQQQAABBBCIlUBSBbA2btxoV155pX3zzTd28MEH24IFC2zZsmWu1dWqVatswIABtn79ehs2bJhb5iOrVdaQIUMsLy/PrrvuOsvPzy+3jvIZMWKErVu3zl+FdwQQQCASAuSBAAIIIIAAAggggAACCCBQA4GkCmD99NNPNnXqVMvNzbW7777bOnbsWEbQrFkzu+OOO2yfffYxpXvvvffKlr300ks2e/ZsO/LII13LrYyMDLcseJ233nrLPvjgAzefl3gSoCwIIIAAAggggAACCCCAAAIIIJDsAmmWRDVctGiRpaenW48ePaxLly4VataqVSvbZZdd3Hy1utKHwsJCmzx5sj7aWWedZdnZ2e6z/6J1+vfvb6Wlpfbaa6/5s3lHAAEEEEAAAQQQQAABBBBAILEEKC0CCSyQVC2w/vSnP7kug2+//bZp0PbQ/bJp0ybXPTB4/urVq13rKwWudtxxx+BFZZ93220393nWrFl0I3QSvCCAAAIIIIAAAgggkJoC1BoBBBBAoGEEkiqAVR2hugmqi6GeMti7d2+XfOXKlZaXl+daXoULeilRhw4drEmTJjZnzhxbu3atZjEhgAACCCCAAAII1E2AtRBAAAEEEEAAgVoLpEwASy2tNHi7glXHH3+87b333g5Lg7qrG6GCV7m5uW4eLwgggAACCMS3AKVDAAEEEEAAAQQQQCC1BFIigKXg1cCBA90A7zvssIPdfPPN5g/Unlq7m9oigECZAB8QQAABBBBAAAEEEEAAAQQSRiDpA1i//vqrnXTSSfbcc8/Z9ttvby+//LJ17tw5YXZQPBeUsiGAAAIIIIAAAggggAACCCCAQPILxEMNkzqA9d1339khhxziWl7tuuuu9vrrr5c9hdDHb9GihTVr1syKioqsoKDAnx32vVGjRpaWltRkYevNTAQQQAABBBBAAAEEEEAAgXoJsDICCNRTIGmjMZMmTXLjXGng9iOOOMLee+8969q1awWunJwcN0C7uhmuWLGiwnLNWLx4sWmsrE6dOpnSax4TAggggAACCCCAAAIIxFKAbSGAAAIIpLJA0gWwSktL7emnn7bjjjvOBZ0uu+wye+mll6xly5Zh93Pz5s1t5513dq2vfvjhh7Bppk+f7ubvvvvupsHe3RdeEEAAAQQQQACBRBOgvAgggAACCCCAQIIKJF0A64UXXrABAwZYSUmJjR492g3Ynp2dXenuycrKsr59+7rljz32mAtkuS9bXtQq68033zTP8+zoo4/eMpc3BBBAAIFUFaDeCCCAAAIIIIAAAgggEHuBpApgLVy40K699tqy4NWVV15p6enp1ar279/ftcLSGFmjRo0qC2KtWbPGhg4dajNmzLDevXtbr169qs2LBAggUK0ACRBAAAEEEEAAAQQQQAABBBColUBSBbCeeOIJ05hXEhg5cqQbcN3zPNd6yvPKv6t1ltJp6tixo40ZM8aNhXXDDTeYuhVqngZ4nzBhgmnsq7Fjx8ZR90GVmgkBBBBAAAEEEEAAAQQQQAABBJJbgNr5AkkTwCosLHQDtfsVq+17v379XEsrvWvdRYsWmboeDhw40KZNm2Y9evTQbCYEEEAAAQQQQAABBBBAAIFEEqCsCCCQFAJJE8DSWFZ68qAGca/JpBZaoXuwW7duNnHiRCsqKjLlsW7dOhs3bpypNVZoWr4jgAACCCCAAAIIIJAqAtQTAQQQQACBhhZImgBWQ0OyfQQQQAABBBBAoAoBFiGAAAIIIIAAAgjUQ4AAVj3wWBUBBBBAIJYCbAsBBBBAAAEEEEAAAQRSVYAAVgz2/GeffWapOkWKN1X9Il7vFD4WsUzd81Cy7HvOpxzDyXIsUw+OZY4BjgGOAY4BjoHEOwYidS1an3wIYNVSj+QIIIAAAggggAACCCCAAAIIIJD8AtQwvgQIYMVgf+y1116WqlOkeFPVj3qn7r8d9j37PvQY4HzKMRF6TPCdY4JjgGMgAY6BlL0PYt/w7zPZjoFIXYvWJx8CWPXRY10EEEAAAQQQQAABBKIqQOYIIIAAAgggIAECWFLYMn377bd2zDHHWGZmpnmeZ02bNrVBgwbZwoULt6TgDQEEEEAAAQQSToACI4AAAggggAACCCS8AAGsLbvw3XfftYMOOsgmTZrk5myzzTZWUFBg48ePtwMPPNBmzpzp5vOCAAIIpKIAdUYAAQQQQAABBBBAAAEEGlKAAFZAXy2shgwZYnl5eXbddddZfn6+a3W1atUqGzBggC1YsMBGjBhh69atC6TmPwTqJMBKCCCAAAIIIIAAAggggAACCCBQR4EECmDVsYY1WO2ll16y2bNn25FHHmkjR460jIwMt1azZs3sjjvusH322cfeeust++CDD9x8XhBAAAEEEEAAAQQQQAABBBBAIFoC5ItARYGUD2AVFhba5MmTncxZZ51l2dnZ7rP/0qpVK+vfv7+Vlpbaa6+95s/mHQEEEEAAAQQQQAABBBCIXwFKhgACCCSZQMoHsFavXu1aXylwteOOO4bdvbvttpubP2vWLLoROgleEEAAAQQQQACB5BeghggggAACCCAQPwIpH8BauXKl5eXluZZXeupguF3ToUMHa9Kkic2ZM8fWrl0bLgnzEEAAAQQQQKCiAHMQQAABBBBAAAEEEIiIQMoHsNavX2/qRqjgVW5ubkRQyQQBBBCInAA5IYAAAggggAACCCCAAAIIpHwAi0MgBQSoIgIIIIAAAggggAACCCCAAAIIJLRAjQJYCV1DCo8AAggggAACCCCAAAIIIIAAAjUSIBEC8SqQ8gGsFi1aWLNmzayoqMgKCgqq3E+NGjWytLSUJ6vSiIUIIIAAAggggAACCKS4ANVHAAEEEIiCQMpHY3JyctwA7Xoa4YoVK8ISL1682DRWVqdOnUzpwyZiJgIIIIAAAggggECEBMgGAQQQQAABBBAoL5DyAazmzZvbzjvv7Fpf/fDDD+V1tnybPn26+7T77rubBnt3X3hBAAEEEEAgngUoGwIIIIAAAggggAACSSSQ8gGsrKws69u3r9uljz32mAtkuS9bXtQq68033zTP8+zoo4/eMpc3BBBIBQHqiAACCCCAAAIIIIAAAgggEB8CKR/A0m7o37+/a4X1+uuv26hRo8qCWGvWrLGhQ4fajBkzrHfv3tarVy8lZ6q5ACkRQAABBBBAIAkESgN1+Glpid3xepGdcsd6e+XzTYE51f9XUGQ2+ctNNuyxArvggQJbU/VwoxUyfOe7TXbU6Hw77Mb8Gm+zQibMQAABBBBAAIFYCER9GwSwAsQdO3a0MWPGuLGwbrjhBlO3Qs3TAO8TJkwwjX01duxYug8GrPgPAQQQVzm5tQAAEABJREFUQAABBFJDwA9ajXplg514W74NDgSgXv5so61cpyWVGyho9VIgnQJWx9+ab2MmbbCvFpRYcUnl64RbsmxNqT3wTpFtLA63lHkIIIBAMgpQJwQQqEqAANYWnX79+rmWVnrXrEWLFll2drYNHDjQpk2bZj169NBsJgQQQAABBBBAICUEZvxcbEMfKbA3v95kawvMOrb0LKdx9VX/+3OF9t/Xi+znpSWWlWHWubVX/UohKRQiezAQvFq8Sp9CFvIVgaoEWIYAAgggkLQCBLCCdm23bt1s4sSJVlRUZKWlpbZu3TobN26cqTVWUDI+IoAAAggggAACSSvgVyw9cJW4bes0G3JYpr1wWY799+wm1qZZYKZV/b+mgSBXr53SA+mz7eXLc6z/3plVrxBm6bvfbTJ1H2zZ1LPWgSlMEmYhgAACCCCAQIoJVH8VkmIgVBcBBBBAAIF6CrA6AkkhsNd26Xbvedl2yn4Z1iy75lX650lZdn1g6rZNmtW+7ZWZ33VQWzz74Exrml2XXIz/IYAAAggggECSCaQlWX2oDgIIJIUAlUAAAQQQSEUBdRj0uw722aWRHbRjeioyUGcEEEAAAQQQCCNAACsMSlLMohIIIIAAAggggECCCfhdBzu08Oy8PpmWnkbrqwTbhRQXAQQQQKAhBFJkmwSwUmRHU00EEEAAAQQQQCCeBYK7Dp4fCF61bUbwKp73F2VDINkEqA8CCMS/AAGs+N9HlBABBBBAAAEEEEhqgdCug3/cpVFS1zdJK0e1EEAAAQQQiKoAAayo8pI5AggggAACCCBQU4HUTRfadZC2V6l7LFBzBBBAAAEEKhMggFWZDPMRQAABBBJPgBIjgEDCCdB1MOF2GQVGAAEEEECgQQQIYDUIOxtFIH4FKBkCCCCAAAKxFHj24422eFWpbSw2+9eLG+ywG/PLphNuy7e5v5W44tw+ZfOy88cV2JoCN4sXBBBAAAEEEEghAQJYkd/Z5IgAAggggAACCCBQQ4HGGWbNm4SfmmWbpW+5Wm2SuTlNsywzzzP+hwACCCCAQDwIUIYYCmy5JIjhFtkUAggggAACCCCAAAJbBAb2ybQXhuWEnR4ZkmOdWm2+XB10aGOX5razsm2rQBBry+q8IYBAwgtQAQQQQKBmApuvCGqWllQIIIAAAggggAACCCAQbwKUBwEEEEAAgRQQIICVAjuZKiKAAAIIIIBA1QIsRQABBBBAAAEEEIhvAQJY8b1/KB0CCCCQKAKUEwEEEEAAAQQQQAABBBCImgABrKjRkjECtRUgPQIIIIAAAvEroAHVHxiUbVOvzrHj9mxU44IqrdbRusqjxisGEiq91tP6yicwi/8QQAABBBBAIEUFkiuAlaI7kWojgAACCCCAAAIIIIAAAgggkFICVDblBAhgpdwup8IIIIAAAggggAACCCCAgBkGCCCAQCIJEMBKpL1FWRFAAAEEEEAAAQTiSYCyIIAAAggggECMBAhgxQiazSCAAAIIIIBAOAHmIYAAAggggAACCCBQvQABrOqNSIEAAgjEtwClQwABBBBAAAEEEEAAAQSSXIAAVpLvYKpXMwFSIYAAAggggAACCCCAAAIIIIBA/ApEKoAVvzWkZAgggAACCCCAAAIIIIAAAgggECkB8kGgQQQIYDUIOxtFAAEEEEAAAQQQQACB1BWg5ggggAACtRUggFVbMdIjgAACCCCAAAIINLwAJUAAAQQQQACBlBIggJVSu5vKIoAAAggg8LsAnxBAAAEEEEAAAQQQSBQBAliJsqcoJwIIxKMAZUIAAQQQQAABBBBAAAEEEIiBAAGsGCCziaoEWIYAAggggAACCCCAAAIIIIAAAskvUL8aEsCqnx9rI4AAAggggAACCCCAAAIIIBAbAbaCQAoLEMBK4Z1P1RFAAAEEEEAAAQQQSDUB6osAAgggkJgCBLASc79RagQQQAABBBBAoKEE2C4CCCCAAAIIIBBzAQJYMSdngwgggAACCCCAAAIIIIAAAggggAACtREggFUbLdIigED8CFASBBBAAAEEEEAAAQQQQACBlBEggJUyu7piRZmDAAIIIIAAAggggAACCCCAAALJL5AMNSSAlQx7kToggAACCCCAAAIIIIAAAghEU4C8EUCggQUIYDXwDmDzCCCAAAIIIIAAAgikhgC1RAABBBBAoO4CBLDqbseaCCCAAAIIIIBAbAXYGgIIIIAAAgggkKICBLBSdMdTbQQQQCBVBag3AggggAACCCCAAAIIJJ4AAazE22eUGIGGFmD7CCCAAAIIIIAAAggggAACCMRUgABWTLn9jfGOAAIIIIAAAggggAACCCCAAALJL0ANIyVAACtSkuSDAAIIIIAAAggggAACCCAQeQFyRAABBAICBLACCPyHAAIIIIAAAggggEAyC1A3BBBAAAEEEl2AAFai70HKjwACCCCAAAKxEGAbCCCAAAIIIIAAAg0oQACrAfHZNAIIIJBaAtQWAQQQQAABBBBAAAEEEKibAAGsurmxFgINI8BWEUAAAQQQiFOBletK7ZpnCu2E2/LtsBtrNinttYF1VgTWjdNqUSwEEEAAAQQQiBOBlAtgxYk7xUAAAQQQQAABBJJGQAGoCx8qsOk/FduagppXS2k/CqxzUWBdfa75mqREAAEEEECgegFSJJcAAazk2p/UBgEEEEAAAQQQiLnAfVOLbPna0jpvV+ve89aGOq/PigggEDUBMkYAAQTiRoAAVtzsCgqCAAIIIIAAAggkpsDnc4vrXfAZv9Q/j3oXIioZkGk8CSjMOuqVDa6b64lj823hSs0pX8KCIrMLHyxwaSrrDlvZuuVz4hsCCCCAQCQFCGBFUpO8EEAAAQQQQCDyAuQY9wKr8isGAWpb6EjkUdttkj71BN79bpO9E5iqqvnGQCy1KDBVlYZlCCCAAAKxFyCAFXtztogAAgjEXIANIoAAAgggkOoCy9aU2gPvFJkCVFVZrCkotVX5JbZVltm952Xb1KtzKkwvDMuxji29qrJhGQIIIIBAhAUIYEUYlOySVoCKIYAAAggggAACCCSogNoIPhgIXi1eVWpd2qRZZqPKK1JQVGolJWZpgTul7Eyv8oQsQQABBBCIqUDgtByr7bEdBBBAAAEEEEAAAQQQQCD2An7XwQ4tPDt1vwyrKiy1Kr/UijaZtchJs2bZVaWMfT3YIgKJI0BJEYi8AAGsyJuSIwIIIIAAAggggAACCMSJgN91UMU5v09mIDBVdVAqb32p62aY09gsO1NrNdDEZhFAAAEEygkQwCrHwRcEEEAAAQQQQACBZBGgHggEdx3ss0sj+2Ngqk6lcKNZSWDFletK7dJHC+yo0fnuiYR6/9vThTb3t5LqsmA5AggggEAUBAhgRQGVLBFAAAEEEEgSAaqBAAIIJLRAcNfB8/pkVtl10K/onGWbH0G4JK/Uvl9S4lpjaZkGf//k52IbGghqffzT5jSaz4QAAgggEBsBAlixcWYrCCCQsgJUHAEEEEAAAQQaQiC062DbZlV3HfTL2D43zZpmme3cPq3sKYRvXZ1jo0/Pct0P8zeY3f3WBtNYWcb/EEAAAQRiJkAAK2bUbKjOAqyIAAIIIIAAAggggEAtBEoDaf2nDta062BgFfffqftn2MvDc+yuc7Nth3abb5cU+tp7+3QbcUxja9zITE8znPELrbAcGC8IIIBAJAWqyGvzGbmKBCxCAAEEEEAAAQQQQAABBBJJoC5dB2tSv55d0q1rIKilMbJ+/JWxsGpiRprYC7BFBJJVgABWsu5Z6oUAAggggAACCCCAQAoKrC00e+LDjW7sKrWUOuPO9W4Q9sNu3DwYuwZi37DJbPV6s7Pv3bzs9ikbgqUq/ZyRbpbZSO2xzDYVq51XpUlZgAACCCAQYQECWBEGJTsEEEAAAQQQQAABBBBoWIGmjc2aNwk/5TTeXDaFobbKMpcuJ0vfzGbOK7YBgYDXXx8qCDvGlQZyL9q0OXDVKH3zOptz4xUBBBBAINoCBLCiLUz+CCCAAAII1EWAdRBAAAEE6iSgoNRtZ2XbC8Nywk7X9s9y41g1CwS47jyniUszsE+m25YGcFf3wJ+Xldg3iyp2EZz7W4ktWFFiaYHY1Q7tuJVyaLwggAACMRLgrBsjaDaDAAKxF2CLCCCAAAIIIIBAbQTaNvesR+d01/3w3rc22E9Lfw9i6amD904tsjUFZtu2TrP9uzaqTdakRQABBBCopwABrHoCJvnqVA8BBBBAAAEEEEAAgZQR8AI1HXxYpnv64JK8UhvyQIH1vzXfTrgt307773rXxVBdEC84JNOaZQcS8x8CCCCQPAJxXxMCWHG/iyggAggggAACCCCAAAIIxEqgRY5nt/w5287tnWmtmnqmQeHV6io70+yPO6fb3ec2sf26pseqOGwnoQQoLAIIRFOAAFY0dckbAQQQQAABBBBAAAEEai4Qg5T7/iHdXhuxeXysji29sFtUK6sze2XY00Ob2NSrc9z08vAc+8eJWVbZOmEzYiYCCCCAQMQECGBFjJKMEEAAAQQQQACBhhegBAgggAACCCCAQDIKEMBKxr1KnRBAAAEE6iPAuggggAACCCCAAAIIIBBnAgSw4myHUJzyAhpn4NYzGSGzvEoifKOMCCAQbwKcT+Ntj1AeBBBAAAEEEEAAgdoIEMCqjVYs07ItO3nfDBt6VGPbY9vyh+nGjRtt+vTpNmTIENtjjz1syZIllWoVFhZav379zPO8SqfOnTtXmUelmbMAAQQQSBCBSJxPg6u6YsUKu+WWW2z33Xe39PR04zwarMNnBBBAAAEEEECglgIkr5FA+chAjVYhEQLRF2i9lWc9uqRb8yae25iCVh9++KGdfvrplpOTYwcccIDdd999lpeX55ZX9rJp0ybLz8+vbDHzEUAAgaQXiNT5VFClpaX26KOPWvv27e2KK66wr776ygWwtt12W/euNEwIIIAAAgg0hADbRACB5BcggJX8+zgha5iRbtYk0zNvS+lvvfVW69Wrlz399NPWqFEj69Onj3mev3RLojBva9eutTlz5li7du3s559/Nt18hU7z5s1zN2NhVmcWAgggkPACkTqf6typc/HZZ59t+lFBrWDnz59vRUVF9v7771vbtm0T3ooKIJDiAlQfAQQQQACBuBYggBXXuyd1C5ceODKDw1NNmjSxc845x3UdVFBqzJgxlp1d/dhYBQUF7uYqMzOzRulTV5yaI4BAsgpE6nz67bff2qhRoywtLc0eeughu/vuu61Tp07JylbHerEaAggggAACCCCAQLQE0qKVMfkiUB+B4hKz4pLSsiwuueQSd8O033771aqbyqpVq2zNmjW23Xbb2VZbbVWWHx8QQCBOBShWxAUicT5V66t77rnHli9fbueee66deeaZNWoFG/HKkCECCCCAAAIIIIBAygoQwErZXR/fFc9bX2pzfiuxok31K6cCWGqF1bp1a8vKyqpfZrDM13AAABAASURBVAmyNsVEIFIC+RvX2+0zH7UjXjrP9nn6ZDcd+sLZds1HY23lhtWR2gz5RFkgEudTDdr+9ttvm1qznn/++a4rd5SLTfYIIIAAAggggAACCJQTIIBVjsN94SUOBAqKzCZ/uck+m1tsaj1Q1yIpeKWWAxrnqn///u7my/M89z5o0CBbuHBhXbNmPQSSWmBx/jI7f+o19vj3r9iqDWusaUYTa5bZ1NYFglpvzP/A/jzlCvsxb15SGyRL5SJxPtVYgpr01EE9SOOMM85w51HP86xFixY2cuRI19o1WcyoBwIIIIAAAgikjAAVTSCBtAQqK0VNMYFflpXYf14qtFsnb6hzzTVmi1b+9NNPbdKkSW7gYX3XAMTjx4+3nj17mpZpHhMCCPwuMO6bZ+zn1QusdVYLe/jwUfb2iY/a1BMetiePutW2a9bRlheusjGfP2BFJRt/X4lPcStQ3/Ppr7/+avpBQE8d3Guvveypp56y3Nxca9OmjeXl5dlNN91ke++9t+nHgrhFoGAIIIAAAlESqDrb4uJi0zX5888/bw8++KDdf//97nvVa7EUAQQQqChAAKuiCXPiSEAtB6Z8uanOJerSpYt7MtZxxx1nv/zyi3sKYUlJiX3xxRe2/fbbu/FcLr74Ylu9enWdt8GKCCSbgFpcfb3iR1et83Y9yXZt2dV91ssfmneyC7qfao3SGtkvaxbakvzfNJspAQTqcz798cfNx8OGDRusR48e9sMPP9iyZcvcpGU77LCD6f1f//qXbdpU93N2AjBSRASiI0CuCCSpgH4A0Y8eH3zwgak7uv5GNG7c2Bo1apSkNaZaCCAQTQECWNHUJe8GFzjttNNs6dKl9vLLL7uB3FUgz/PcDdgzzzxjerrhJ598YjNmzNAiJgQQCAho7Ku1RfnWOD3TtslpG5hT/r/2OW0sK7BsY8kmW8VYWOVxkvSbWq2qagr8P/vss6aAlb5r6tq1qz3wwAOm8bHU0nX+/PmaHfOJDSKAAALxIqAHCKlr9dZbb+0eeOF5nnUJ/Kiq1qpaFi/l9MuxMvC3XONbapxLf8xLjX9502fj6zXmpf4eTJkyxfLz861Zs2Z2+OGH28CBA+3ss8+2HXfc0d887wgggECNBQhg1ZiKhMkmsMcee1jfvn1dq6xZs2YlVfV0s/n999/bK6+8YmquXVhYmFT1i1Vl1GJFY7ENe6zALnigwNYURGbL2h+6oFOA9cgjj7R169ZFJuP65VK2dsusXGub3co2FBfZp8u+KZvvf/g5b4EVbCq0po2ybesmrf3ZvKeAQK9evdxNWGhVu3fvbhofSz8YqLVr6PJE/s75NL72nm7+QwMDChJonpbFV2mjXxqOz+gb13YLM2fONJ0TFazSk1u32WYba9++vetireP0wAMPdJ9rm69LXzjPir883ja909I2Tc3YPAU+a54Flrk0tXyZ/uuXdtrky0zjW64P/G1vnrmVG/Myb8Nae/anKfaXN0bWaczLoqIi++yzz0zvHTp0sBNOOMH9mJyWllbLEpI82gLxfl0a7fqTf2IJcAZJrP1FaSMooKbLGoxYWeoCUO/1mxp2bdXhm2++cQGrRx55xN59911Ts211mWzYkiXW1hW0eumzjS5gdfyt+TZm0gb7akFJvR4mIAFdHKgloAJWOu4UPFUrQHXJ0vJ4mpo0yrK/7HK8a4H1zI+T7cFvn3fBrOLSYps49x3776zHA8X17M87H2ftm7QJfOa/ZBfwW1wtWrTI/ZIeWt+MjAzTca2HZmisLEvw/3E+jc8dGBwYUBdWBQU06bOCBakyDhvHZ3wenyqVhqQYMmSILViwwAYMGGCrVq1yDwxavHixm3fwwQebrtVuu+029wOq1qnpVLr0Gdv08d5Wuvw1s+LAD1/pzcw0BT5r3qZPDrDSvPdrmp1Lt6Iwz27+fLzlbVhje7Xd1V47/n5764SHyo15uXT9ctO4mKVW6tap6Yse/KEAnno7KGinboM1XZd00RdIpOvS6GuwhUQSiK8AViLJUda4F9Bgw2oRcOyxx4Yd40p98NWkWRXRzZfeE3l6/fXX7cMPP3TjCyg4l5ubm8jVabCy//25Qvvv60X289ISy8ow69zai0hZBg8ebP3797c33njDWrVqZbqIjUjGUcrkT50OtH/se5Hp6YP3fPWk9XpugO3/zGl2/cd3umDWX3cfYKfveHSUtk628SbQtm1bN17JkiVL3GDuoeXTDbXOp57nWXZ2dujihPvO+TT+dpnGzrngggtcEECBAQUKFBTQpPHXFGTV+1VXXZX047BxfMbf8emXSENSaGiKnXfe2W699VbXbc5f1rFjR7v66qtdl0Jdr+kBGP6yat/Xf2/FP/3NbFOeec32tUYH/WiN+qxwU3rPyWYZgR+TNv5mJT+OMCtZX212foLpv860ReuWWtvslnbtPhday8bN/UWmMS/P3Ok4S/fS7Ie8uba8YFXZspp80EM99KOG6t2yZcuarEKaGArEzXVpDOvMppJDIC05qkEtEKgooF9l9dQTBQz05JPQFPp1bPr06e5CQoGu0OWJ9l2/bGl8BQVJzjnnHNd8PdHqEA/lbdrYrNdO6fbfs7Pt5ctzrP/emREpli7eLr30Uvv+++/duGxXXnllRPKNVibqPvjJ0q9sZeFq8wL/b5bZ1DTpc+GmDTZr+fe2pig/Wpsn3zgT2G233UxPH9S5VN1fQ4v39ddfm7piq5vIH/7wh9DFCfed82n87TLd8Cs4EC4woHHY7rjjDvM8z9555x3TuDvxV4PIlYjjM3KWkc5JP44qYKNhKpo2bVohez25VUF+tRpUC5gKCSqZUbL0ObPC+WaZbS19l7vNsjqXpfRaHmZpnS8PfE+z0vwfrHT1J4HPNftvU0mxbRX4+75N063d3/jQtVpn57qHtuRvLDB1LwxdXtl31U0BurS0NNd9Uv9+H374Yff0wfHjx9sLL7zgeglUtj7zoy+QaNel0RdhC4kiQAArUfYU5ay1gFq5nHjiia7v/dChQ23u3LlleWicjGuvvdbUHaZ37962//77ly1L1A8aGPOII44wtZRI1DrEQ7n/eVKWXR+Yum2TZl4EC6TuAmPHjnWDlnpeJHOOYCG3ZKVuArfPfNRe/mWqdWm2jT151K2uO8HUEx62icfdZ7u12tHeWfSJ/WP67a411pbVeEtigebNm9vFF1/sanjJJZfYtGnT3Ge9/PTTT3b++ee7c+3JJ59sCqRrfiJPnE/jb+999913rlD77ruvacwr9yXoRQGDTp06mf6+q9tW0KLqPibcco7P+N1lRx11lAugPvXUU65bdWhJ1Ttg/fr17kfGFi1ahC6u9Hvp+u/dMi97e7Ome7jPwS9pLQ8xa9TcrLTIbMOS4EVVfj5++8Pszf4P2v2H/itsAOublT+7v/Ptm7SxNtktq8wreKGGR1AQSy2wFLxSt0kNaZGVleWSqWvhxIkTTR5uBi8xF0ik69KY47DBuBZIi+vSUTgE6iHgeZ5dccUVpouJTz/91A0cqdYB+mVMFw0TJkyw1q1b25gxYyzcr2T12DSrIpDQAj+smmtvzP/QNBbWyL0GuW4EfoXUzeDqfQZbq6xc+3Tp1/bRrzP9RbwnuYAeOqCxXfSr+kEHHWQtW7Z0AfMddtjB1HXrsMMOs+uvv948L74DtEm+m5K2en/9619N3QVvv/32sHXUcakHYqiFS7t27cKmYSYCDSWgLq/jxo0zHce5ubl23XXXmR/MqUmZ0rv+nzXa92NL3/WRsMlLFbRS8Cq9iVmTrmHT1GamxsbS8AGPfPeiuxYY2P0U917TPPRvUa3RFMDSOhoD65xzzrG//OUvbtK1uAJaX375pa1cuVJJmBBAAIEaCRDAqhETiRJVQK0G1ExZg5rvtNNOpvFb1OpKgavhw4e7Li8a9DVR60e5k0QgzqrxbeAX19VFa61tk1a2ffNOFUqneWqZVVSy0T4L85TCCiswIykENFbgnXfeaU8//bTtuuuubnDi3377zTp37mx33HGHvfrqq6ZzblJUlkrEnYB+aNLQALr5D1e4qVOnuhvhAw44IGwLrXDrMA+BaAroCXw5OTkuqK/jVmO47bjjjm68UrUkrNW2G29jttWeZtnbh12t5LdXzYrzTS20vKa7hk1T3cxpSz53413u8/TJdtTLA90DXPRj1dje11jvDntXt3q55QpOaYbnea77uZ7KqO6EmpeZmWnq/dCsWTNTa7R58+ZpNhMCCCBQI4G0GqUiEQJxJqCxWDRgsP7o6YK2quJprAH94jN79mzTL0Gali5darfccovrl1/VuixDIBUF9LRB1VsDt6YFLj71OXjyzLM0b/Ofj00lm4z/JbZAbc6n6enpduqpp5rGvNK5VNPcuXNN3Qp1rk1sCUqfqALqnqTWf3ramVpe60EmiVoXyp08AgrUaExAdW1Vy3/VTE/SfOihhyyST2st/e0VK136tFlalqV1Ghp4b6JN1XrKTM+0Fo2bWW5gymmU7dZfkv+bPfvjZMvfWPOB4d2KW1788dq2fC17U0Da7wqsH0LKFvABAQQQqEZg8x2IWTXJWIwAAgggkCoCHXLaWOPAhezS9Sts4bpfK1Rb8+atWeTmqzWW+8ALAggg0AAC6pqlB2RoTB11y9pzzz0boBRsEoGKAnr4hR5uMX/+fNc6UIHWHj16uKEr/va3v7kfVSuuVcs5hXM3P52weJ15bU80r91ptczg9+R7t+1urx57rxsT652THnPjYrUPXA+8uWCaXf/JXabxMX9PXfWnrbbayj25Vt0I1Z0wXGq16tX8oqIivTHFXoAtIpCQAgSwEnK3UWgEEEAgegJ7tN7Zujbf1tYFfnH91yf32LKClWUbW7lhtf17xuZ5WzdpbQe261m2jA8IIIBALAUUvDrppJNM3QcHDRpkl112mXmeF8sisK2UFqhd5bt162Z33323qWWWumLPmTOndhmEpg4ErzZ90c9s/Q/m5R5s6TvfFUgRuVu7nm12sct6nmOZaRluuIDvV9W8vKqjpuLiYlOPiUDBKvy3ceNGN0/p3AdeEEAAgRoIRO4sV4ONkQQBBBBAIP4FcjKa2DX7XGits1rYz6vn2zGvDLbDXjzH/vTiuXb0yxe4C1ml+dveF5gevW38DwEEEKiLQD3W0c3vlVde6YJXeoDAzTffbH6Ljnpky6oIRFWgS5cu1q5dO1OLQT2UoM4bK15nxd+c54JX1mRHS9/1QbP0pnXOrrIVt2vW0ZpkZNv6TYVhW2RXtp6686qe6mauITwUyApOq1ZZGs5D8/yuhPrMhAACCFQnQACrOiGWI4AAAikosENuZ3viqDF2StejLLfxVramaJ2tLlprejLhYZ0OsEcOH2UHtaerTkMfGmwfgVQUUPBKT3PTU90OOeQQe+aZZ3iAQCoeCHFY53vvvde23XZb04OCqiqegq0aH6qqNJUuU/Bq5nFWmve+WZMdrNF5UgegAAAQAElEQVQeL5pldak0eVUL7pr1hB3+0nk28sMxVSWzdC/NDS1QZaKQhbvuuqupjr/++qtNmzbN/IHd1WXwvffeszVr1pjGwtpuu+1C1uQrAgggULkAAazKbViCAALJL0ANqxBo2bi5jdhroL3R/0GbcdpzbvrfiY/YqAMvt85bdahiTRYhgAAC0RFQS44xY8aYgle6QdaA2C1btozOxsgVgVoKaOynBQsWuICNuriGrq6HXiigoye2tmrVKnRx9d9Li6z4uyGbg1eZ7Sx9l/sCQawdq1+vkhRqXZW3YY39tHqerSjMq5BqzpqFtn5jgQtetcmu3b+zNm3auCcQ6umD3333nT344IP26KOPumnhwoWuxeRBBx1kehphhQ0zAwEEEKhEgABWJTDMrqkA6RBAAAEEEEAAgegLqDuSniB89dVX2w477GCTJk2yzp07R3/DbAGBGgr07t3bunbtah9//LHpyZjBTxtU0GbkyJGmFkj9+/d3LbVqmO2WZCVW/O0gc08czGhj6btNMC/34C3L6vbWu8Pe1ior1+avXWI3fTa+3NMGf169wO6eNcGKSjba7q13sro8tKV79+52zDHHmIJZKmFhYaEpoKUnM8qAf79SYUIg0QQatrwEsBrWn60jgAACCCCAAAIIVCOg4NUzzzxjenqbglevvfYawatqzFgcXmDlulK75plCO+G2fDvsxppNSnttYJ0VgXXD57p5rgIzY8eONY0Bddttt7kuch07drQOHTqYlr3//vumMdtGjRrlntK3ea2avJZYyc/X/R686v5YvYNXFvjfH5pvaxd0P9W1sPrfwul22IvnuvEuD3vxHDtjynBTC6yuzTvbtftc6AZzD6xS6/80FtYJJ5xgAwcOtAsuuMDOO+8869u3r7Vo0aLWeSXNClQEAQTqLEAAq850rIgAAggggAACCCAQC4FZs2aZnjSocXQ0+PWhhx5qGmso3HTwwQfbsmXLYlEsttFAAnXdrAJQFz5UYNN/KrY1BTXPRWk/CqxzUWBdfa5qzX79+tn3339vF110kbVu3doWLVpkS5YsMXV5veuuu+zVV181dSGsKo/QZaXLXrCS+beblRabFa+14q9Ot03vtgk/TdvJbN2s0Cwq/X7iH46wRw4fbWqNpXEuNd7l2qJ8a9uklf1l5/42/rB/uVZalWbAAgQQQCCGAgSwYojNphBAAAEEEEAAgTgQSLgibNq0yTT+lQqen59vGmeosmn+/PllaZWeCQFf4L6pRbZ8ban/tdbvWveetzZUu55aXSlYpSftqfWgpq+//toFtbKzs6tdv0KCko2BWVvKXVJotimv8mnjqkCga1Mgfc3/+0PzTnbLwVeZxrnUmJefnPasTTz2XrtkjzMtJ6NJzTMiJQIIIBBlAQJYUQYmewQaSqBbt26uqfYpp5xiWVlZDVWMhN/ucXs2sqlX59gDg7KtWR2uOSsDOPbYY00XtO+8847rYlBZOubHqwDlSiUBzqcNv7f32msvU+BK583qpnnz5ln79u0bvtAxKgHHZ82hP59bXPPElaSc8Uv986gk60pne+3OsEaHrLVGh22sfvrjMrOt9qw0LxYgEE6A69JwKsyLRwECWPG4VygTAqkgQB0RQAABBBBAAIEYCqzK39KKqR7bjEQe9dg8qyKAAAIpLUAAK4F3P0VHAAEEEEAAAQQQQAABBBBAAIHkF6CGZgSwOAoQQAABBBBAAAEEEEAAAQSSXYD6IYBAggsQwErwHUjxEUAAAQQQQAABBBCIjQBbQQABBBBAoOEECGA1nD1bRgABBBBAAIFUE6C+CCCAAAIIIIAAAnUSIIBVJzZWQgABBBBoKAG2iwACCCCAAAIIIIAAAqknQAAr9fY5NUYAAQQQQAABBBBAAAEEEEAAAQQSSoAAVp12FyshgAACCCCAAAIIIIAAAggggEDyC1DDeBEggBUve4JyIIAAAggggAACCCCAAALJKECdEEAAgQgIEMCKACJZIIAAAggggAACCCAQTQHyRgABBBBAINUFCGCl+hFA/RFAAAEEEEgNAWqJAAIIIIAAAgggkMACBLASeOdRdAQQQCC2AmwNAQQQQAABBBBAAAEEEGgYAQJYDePOVlNVgHojgAACCCCAAAIIIIAAAggggECtBRIugFXrGrICAggggAACCCCAAAIIIIAAAggknAAFRiBYgABWsAafEUAAAQQQQAABBBBAAIHkEaAmCCCAQNIIEMBKml1JRRBAAAEEEEAAAQQiL0COCCCAAAIIIBAPAgSw4mEvUAYEEEAAAQSSWYC6IYAAAggggAACCCBQTwECWPUEZHUEEEAgFgJsAwEEEEAAAQQQQAABBBBIZQECWKm89xO87r/++qsde+yx1qZNG/M8r7rJLVfa4447zpYsWZLgtaf4CCCAQOQEOJ9GzpKcEEAAAQQQQAABBKIjUIsAVnQKEE+5fvvtt3bMMcdYZmamC3Y0bdrUBg0aZAsXLoynYlKWgIACUPvss49NnDjRli9fHphTs/+U9tVXX7V9993XVq5cWbOVSIUAAggksQDn0yTeuVQNAQQQQACBOguwIgLxJ0AAa8s+effdd+2ggw6ySZMmuTnbbLONFRQU2Pjx4+3AAw+0mTNnuvm8xIfAlVdeWa/AooKSw4cPj4/KUAoEEECgAQU4nzYgPptGAIHkFqB2CCCAAAIRFSCAFeBUMGPIkCGWl5dn1113neXn57vgyKpVq2zAgAG2YMECGzFihK1bty6Qmv/iQeCtt96qdzGmTJlS7zzIAAEEEEh0Ac6nib4Hk7v81A4BBBBAAAEEEPAFCGAFJF566SWbPXu2HXnkkTZy5EjLyMgIzDVr1qyZ3XHHHaauarrA/+CDD9x8XhpeYOnSpfUuRCTyqHchyAABBBCIrkC1uUfiXBiJPKotKAkQQAABBBBAAAEEUlog5QNYhYWFNnnyZHcQnHXWWZadne0++y+tWrWy/v37W2lpqb322mv+bN4RQCBlBKgoAggggAACCCCAAAIIIIBAQwukfABr9erVrvWVAlc77rhj2P2x2267ufmzZs2iG6GTqOULyRFAICEESq3U7v/6aTvq5YG2z9Mn12rSOuO/eTaQQ2lC1JVCIoAAAggggEDkBT777DN77LHH7P7776/VpHU+//zzyBeIHBFAIPYCUdxiygew9CS6vLw81/JKTx0MZ92hQwdr0qSJzZkzx9auXRsuCfMQQACBhBe4Z9aTNi4QhFpRmFfrumid+wLBL+VR65VZAQEEEEAAAQQSXmDGjBmmAJYehFXbymidTz/91JRHbddNxvTUCQEEwgukfABr/fr1pm6ECl7l5uaGV2IuAgggkAICL/8ytd61jEQe9S4EGSCAAAIIpLpATOv/4osv2q677mqe59Vp0rqvvPJKzMr89sKP7dTJw2rV0jq4ZbbWfW/RjArl1ZjCFWbWckYk8qjlJkmOAAIJJJDyAawE2lcUFQEEEIiqwMoNq+udfyTyqHchyAABBCIgQBYIIFBTgeHDh9u3335b0+QV0mndyy67rML8aM24bebDNmfNwjpnr3Vv/eKhCuurFVWFmbWcEYk8arlJkiOAQAIJEMCKwc7ae++9LVWnSPGG+kUr39DtxPv3UaNG1Wp8gXDjESiPeK9ntMvXZ+RXdtiN+fWalEdoOdX12PPq9mus521eT3mE5hut7/y7ivC5OsLn/mjtn2jlG63jNFr56lwY7hxZm3nKI1rli/d8o3Uc6RzoeZvPh55Xt3flEe9+1ZVPx1ZtjsVwaZVHddtJ9uXROk7nzp1b76x/+eWXCvcLsx/fyjZNzajXpDxC9+uS/N/qXd5F+csqlLfemW7JILS8fI/M9YnOhZ5Xt/Oo521eT3mwPyKzPxLRccs/0QZ9S/kAVosWLaxZs2ZWVFRk1UX8GzVqZGlpKU/WoAcsGy8v0LJly/Iz6vAtEnnUYbM1WiVWidKbb1/vTYXLo7pzSk02Gok8arId0iCQ6gKROBdGIo9U3w+h9Y/EOTASeYSWK9bfI3FsRSKPWNc71bfXtX1hvQkikUe9C0EGcSEQiXNhJPKICwwKkbACKR+NycnJcQO062mEK1asCLsjFy9ebBorq1OnTqb0YRNVMVMDEjbQZA293alX51gkptB6lJaWWiSm0HwT7fsFF1xgkZgSrd6RLm8kjlHlEVquSByjyiM032h9n3HacxaJKVrlS/V8dYxFYgp11DEWiSk030T7HolzqfJItHpHqryRODaVR2h5InFsKo/QfBPtu46tSEyJVu9Il1fHWCSm0HLpGIvEFJpvo8M2WiSm0Hwj8bdeeYTmG4ljVHmE5sv3TyNyTxeJY1R5sD8isz+i5BiRY6WyslUR8ojZopQPYDVv3tx23nln1/rqhx9+CAs/ffp0N3/33Xc3DfbuvvCCAAIIIIAAAggggAACCCCQRAJUBQEE4lkg5QNYWVlZ1rdvX7ePHnvsMRfIcl+2vKhV1ptvvumeKHL00UdvmcsbAggggAACCCCAAAIIVBBgBgIIIIAAAlESSPkAllz79+/vWmG9/vrrpgEu/b69a9assaFDh9qMGTOsd+/e1qtXLyVnQgABBBBAAAEEoiZAxggggAACCCCAAAIVBQhgBUw6duxoY8aMcWNh3XDDDaZuhZqnAd4nTJhgGvtq7NixdB8MWPEfAgggkAACFBEBBBBAAAEEEEAAAQSSTIAA1pYd2q9fP9fSSu+atWjRIsvOzraBAwfatGnTrEePHprNhECKCFBNBBBAAAEEEEAAAQQQQAABBOJHgABW0L7o1q2bTZw40YqKitwT7tatW2fjxo0ztcYKSlazj6RCAAEEEEAAAQQQQAABBBBAAIHkF6CGMREggBUTZjaCAAIIIIAAAggggAACCCBQmQDzEUAAgeoECGBVJ8RyBBBAAAEEEEAAAQTiX4ASIoAAAgggkNQCBLCSevdSOQQQQAABBBCouQApEUAAAQQQQAABBOJVgABWvO4ZyoUAAggkogBlRgABBBBAAAEEEEAAAQSiIEAAKwqoZIlAfQRYFwEEEEAAAQQQQAABBBBAAAEEygskYwCrfA35hgACCCCAAAIIIIAAAggggAACyShAnVJIgABWCu3sZKvqunXrrE+fPuZ5XqXTNttsY5dffrktWbLEQv/32WefWU5OjnXu3Dns8tD0kfz+6quvujKfffbZkcyWvBJIQPve8yo/dlu2bGnnnnuuff/99xVqpeNZx62OXx3HFRIwA4EwAqWlpTZs2DB37mnRooV98sknYVKVn/XFF1+Y0nqeZzfddJMpj/Ipqv42evRotz0d735KHbM6dnUM61j25/OOQLCA/3fS88KfJzMzM+3ggw+2SZMmWXFxcfCqfEYg5gLXXHONO9edfPLJtmnTprDb/+6776xVq1Yu3T777GOrVq0Km27hwoXWsWNHS0tLs7feestdo+p8qfOmzp9hVwoz0/83FHz+VbKCggJ3OCAT+AAAEABJREFUPlfe+r554hWBzQI1ub/yPM/S09Nt9913t9tuu83y8/MtFv8Ld00Ri+2yjfgSIIAVX/uD0kRYYPHixXbrrbe6E+ynn34a4dzJDoHoCejC9uGHH7bddtvNXnjhhehtiJxTRsDzPLv66qtt1113tby8PLv22mtNF6qVAWjZyJEjXdrDDz/cLrroInfjVVl65iMQS4GNGzfaBx98YMccc4xdfPHFpu+x3H6FbTEjpQUOOeQQd35U0H/FihVhLT7//HNbuXKlW/btt9/aL7/84j6HvsyePdt0/brtttvaLrvsErq43t8vueQS07ldgax6Z0YGSS2goGmnTp0sdFIDAVX8q6++suHDh9vxxx9vq1ev1iwmBKIuQAAr6sRsIBYCr7zyimsZoNYB/lRUVGT6papHjx62fPlyu/76640/1rHYG2yjNgKjRo2qcOzq11u1vDruuOPcTdk//vEPW7ZsWW2yJS0CYQXatm3rfi3VL/tvvvmmPf7442HTaaaWKU1ubq7pV8+mTZtqdtQmMkYgnMAf//hHW7t2bYXzpP6u33jjja6Vyv3332/vvPNOuNWZh0BMBLbffnvbeuutbf78+fbjjz9W2Kb+rr/44ovWqFEj69mzp61fv94q+2FVrWN1Lbv33nu7PCtkVsMZxx57rPt388gjj5Rbg2BvOQ6+VCHw97//3R3TOq6DJ7US1H3WE088YU2aNLGpU6e6a4sqsmIRAhETIIAVMUoyijeBjIwM23PPPe3uu+82dTV499137Ycffoi3YlIeBCoIqFn2jjvuaGPHjjX9yvXNN9+4YGyFhOVn8A2BGgn86U9/Mv0Cr8S6ONXxpc/Bk+Zpmeb93//9n7vh0mcmBOJFQF2xrrzySjv11FOtpKTEnn766XgpGuVIQYEOHTq4a04FqnT+DCVYunSpC1jpb7uOW8/zTD++FhYWlkuq7x9++KGbp5avCni5L7wgEGcCulYdMGCAG5pARVMQSz826DMTAtEUIIAVTV3yjguBLl26WLt27dwYGbqwqLxQvy9RS60JEybYfvvt5/p4e97mMTiUl8aBWbNmze+Jgz6p1YzGLVJLBc/z3Lq9evWy9957z/0KZtX8T81vTznlFNcMXeMj6BeOalZhcRILtGnTxrp27epqWJNjV+NceJ7nWsu4lUJeqlquY23QoEFW12M3ZFN8jWMBz/u9K6FasVx//fWupZ9fZJ3/rrrqKtdyVeej888/31/k3tX1Rd229MOA53nuBwJ913yXoB4vanXw8ccfu25hVeWvm7x+/fq51jfhxnFRizHP89x4Mxp3JrhIupFUtxwFQEKXBafjc/wL6OZeraxV0tBWJf757vnnn7e//e1v7u+xbrhOPPHEshatNT3elP99993n/jYPHTpUX8tNau2trjae55nSBS/UNtTF0fM2L9O4bxrPSJPOu88884ztvPPOLm/P8+yAAw6o8TVD8Hb43LACWVlZ1rt3b1eIcNd8OteoBcu+++7rxm5T90B1KVRXQbfSlhd1P1QATK1a1AJry+yyN433FnrMqEXX//73vwrXmaFjYPnH6aOPPuryUytvz6t4zaDjkusBR8RLDQT22msvl0rHt4YecF+2vPjHa/fu3cvOcWqpqC6sld1L6Zypf0M6F3re5vsv/duiEcIWVN4sLaIGZIZAHArMnTvXfv31VzcQsQbGrq6ICiKp2fWf//xnN8ixbnLU91sXp/PmzXPjBugCWOmC89I4RRqv6OGHH3ZdFdVyJjs72/RLmrpA3HzzzRUuLoLX102jBpx/7rnnTBctamquQTyD0/A5tQR+++03++mnn1yAoHXr1lGrvAZB3mmnnWz8+PFlx27z5s3Ljl39Whx6cxi1wpBxTATUldDvfvXss8+Wa72iG/6JEyda+/btTWnUmlWF0kXlnXfe6cZl0zGjeTo3KtCk7zr/abnSaVltJx1jOtb2339/NzC38lX+ykf5a+yuW265xZ1H/ZtFbevtt99WkrJJwS1d/GqGxpvR3wB99ieN2aEfG/QjgX6U8OfznngCCuzPnDnTFXy77bZz76EvakGogKb+luu8puNsq622ckHbmh5vylN/lxVU+OijjyoMvq2uYOoSpnQzZszQW9mkgISOUXXFPeigg8rm62/+4MGD7bTTTnNjIelY17+16dOnm64ZdD4uS8yHhBDQ/lVQVTfaGmcwuNA6BnS+UgvYdoEfVXU86dr066+/Dk5mfqCrW7dupm6JwQvVZUuBpdBjRv8GDjvsMPc3PDh96GedU//whz+YjjMt0wM6dNzp34W+a9K5lusBSTDVREDn06eeesolVZBKx5T7EnjRfdLpp5/uznEKymqZ7o30w5kaAyi9jt1A0rL/9G9E90s6B+pcqHsvraN7KTUqeP/998vS8iF1BQhgpe6+T/qa66SqE54GHtYfff1qWpObFT1NQ81gdaJcsGCB+6VWvyqoWexLL73kgglaPm3atDJDnZh1Iaptarwi/QKhX7C0zlOBE7vGm1F3HJ2My1YK+qD1Lr30UnvggQfcAMsKYhG8CgJKsY/6xUo32frVftGiRaaWBLrYjQaDjt1zzjnHjccRfOzqpkvHuS5uFTSge0409Bs2z6OPPtouuOACV4j//Oc/pnOWgj3XXXed+6VU50K/BaASqaWTzlP6rJtr3YDr3KiLVI2DoaCSgvAaWFtpajvpGNOxppsrnQuVr/LXdtSdVufRESNGmFoVKG/9IqsbMp3ndc7VPE26OP7yyy/10U2h5fFvJDXosn5kcIl4STgBtaTTcavWKDvssIN7amu4SqiVi45Ppdd5TQFa7ffaHm/6t6AgrVoaBg++rRsuP2Cq7evY00M49FmTBuRWQGOPPfaw4GsQ/UAxZcoUF3TQMa5jXce83+JRx7yOZeXBlBgCakmnLoIKkGt/+qXW+UnnKf2IqqEtFORS90At13lV7/6kVlI6ptT6RDf8/ny9K2CrgJceTqSnvmkbtTlmdPzOmjXLzjjjDGVnGhtLeQwZMsR953rAMfBSAwFdp/7888/217/+1fQjmP4+6z5I1wFaXcewriV0P6NArM6L+kFJ1xk6P1544YWmeyxdg+i8rHU06d+DWswqP11n6PjWOjpfHnrooe7HLaVjSm0BAlipvf+TpvZ+M2jP29zU1PM8F2hS9z39sVerKN1YeZ5XZZ3VnFUnWUX8//nPf1pwEMnzPFOXFbXOUia6CNC7JnU31IWmutvoyV66ONZ8z/Pc+BwKoukXLrWm0fzgScErBdfGjRtnugjXr1/qWhCchs/JK6CuWp7nuYCB521+18WtHk08efJku+GGG+z2228v+8U00hLq7qJjV0Gs0GNXFwu6ifI8z9SyRhcSkd4++TWcgI6za665xnTTpZvse+65xw3CqpvzgQMHmlqa+qVTqyYdCxpr6N///redd955rkuWlqtblsbBUABUPxZo3EHdaGlZTScdWzrGlP5f//pXhfx1jtQTFLV95a8bfpVb/04U7NWFsNbVpLqoW44CXKqjfuFV+bXMv5FU4EvLNY8pvgU0fqVaTHne5vOj521+b9eunenv9KGHHmrqPlXZ303tZ/3d9rzN62nf1+V4099wtXJRSyu1uPLVdPOlY0x/vxWg0r8ftazxlytwoX8Pffr0cV20/fl6101c8L8lXTvoOFfddEzrBwylY0oMAbXyUxdB/Xipa0+/1NqXOk8pgKQfhTRfP0qFtujTecoPhqqlltKFTjpmhg0bVnZNEMljhuuBUG2+h7tG9TzPPYxAQX3duzRr1sx0H6TzrC+mv8OPPfaYG+Bdy/S32l+m9GqBpVZWarGqh8Vomc6TDz74oBvTUOfB4HOjgr/626+/+0rLlNoCaaldfWqfCgI6IermR78C6BeBquqsk6q67ukm56ijjqqQVDdDCm4FL9CFin/BceaZZ5ZdVPhpPM+z//73v64l11lnneXPdu8q25gxY+zee+91wSudxCu7CHcr8JJSAjpedTOvG3sFOiNdef0Kpu4wnueZusyq5UvoNtQlQl1z1OpArXNCl/M9sQUUpB89erQbS0pdre644w53LlJgK/h4UEBILVl0Edm/f38XcA2tuc6ZCjToCVq6qQ9dXtV3tVDRjwK6cdcPAaFpPc8zBcm0fV3w6lhU6wS1UtCvuiqbv462r8/nnHOOe4KXWhX45fFvJHUxzYWwlBJ/0i/2+hsfHDQKrpVusjS2X/C8uhxvWl+t9jzPM/2t1t9vzZszZ45pOvLII+3AAw80HY/+U+j8gISuHcIFJPSjmOd5yqZs0jWGAhtq4eBvo2whH+JawPM8UxdoFVJj+eldk64RdVzo76l/LKpViroJ6m+rgp5Kp/OUzlc6D6p7leaFTuGOGZ0LdS6vzzHD9UCoNN8loPORgq7+pO+ar0nHos6Fat2qbq2e9/u5TH+Tdcz3CQTu1fpU6YMn/TtQ4wPN0zlc7zr+9fdbQVkt87zf89NyjZ0V/MOa5jGlpgABrNTc70lXaz3JRTf7wZMu/NTiSeMFqGWVbn78ric1BVDQQCfmd955x/RrgboVPv744+VWV7BLTbB1wal+2uUWVvPlySefNP3KoGS6eFBe+syUYAL1KO6oUaMs+LjVZ7Uy0S/v//znP93DB9RtSoGFemwm7Ko65tQ0W9vUvw8NKhs6aXBOBQsUqNVxHjYjZia0gN+VUMeBmu0rkBUaSFcASy31dEGqViihx4m+9+3b13ScKJCg46o2KFpHrao09orG5wq3rh5qoBs7Hbf696E0KrvneaYLYJVfAQO1eNETwRRMUJBKaRVgUHr/RlKBL930aR5TfAvoV3odV9q/wZPmqTugbqz0w9Nf/vIXC/c3VC2jQmtY1+NNLWh0jKoFlq4NlK9u1HTsKril86Xm+cELHXcaOkDdynQsapk/6Zoh3LGuG0TVyU/He2IJ+C2rvvjiC3c+1LWobvI9zzMdI35tdP7ReUgt+tTKUPN1vOh8pW6GOodpXvBU2TGjHxt03ASnre1nnVd13ta/Ma4HaquXvOk1/Imu/fxJrVfVtU/XCuoloJZWjRs3rgCgwKxm6tjX+U/XCKGTWnMrje7VdO7WeVldBfW3XgFZLQud/HNs6Hy+p5YAAazU2t9xW9toFEzdWjRY5V133WX6JV5BAY0boJNkVdvTL1gaU0MXm+pqoBsmXXToiRn6ZaCqdWu7TBcK+hVOgwnr5jD0aWC1zY/0ySHgeZ7p4lVdsvw/8GrFpwvbSNZQF6wK7ipPXTSodUropG3q347SMCWngFqHKBCk2umiUYEffQ6edKzoRkzz9BS10ONE3zVfy6M1aWwNXdjqvKmAgbajgIIuinVu1q+3CrQpoKBffBWEUwsHlVvL9a6Lac/zTL/uan2mxBXQL/j6NV7jr+jGXvtWXQkjVaNwx5sCTmpho5s5DbbtH1NqGagnW6pln+d5pgCWxijSsegHfaP5II5I1Zl86gRY1ioAABAASURBVC+gazqdd3QDr4CQAp0KeOo8pWMkeAt+qzyNqapjScF3vavbq46/4LTR/qxzPNcD0VZO/Px1b6WuffqhS9eGGhdTD7EKrZmOfc1TQwBdH4SbdMwpjT/p2Nc9mP893LuCteHmMy8xBepaagJYdZVjvYQR0MlOF7kqsH7d0q+2+hxu0o2RBhFWU1gNwqmnXmn8KrW60vgFumlSN8Fw69Zlnn4Zfv311+2hhx4yXdzqQlwDy9YlL9ZJPgHP8+yII45wYwgowKRfpyJZS9306SJZ3b40houO/6qm4PENIlkO8op/ATXp9zzPPRVLx2FVx4lu3KPxK6laV+nfgQJuar0gNXUpUCsGdQnTL8HqiqMbRv8GUN0XlE4DI6vcld1IKg1TYgro77R+BFLpFVTSeySmcMeb53mmroI6/vUwgLy8PPfUOAVS1WpKP3zpxwcdiwpcqWWgyuIHKvSZKbkFdG7SOUn7X62XdUwq4KmWWTpfBdde3QT1I6laa+n8pO7ROr+pq2Fwulh85nogFsoR30aDZOh5nuneSA8iUBDrkksuMbWiCi6MxgzUdz2UQufLqib1ctEPEjr2FSBTEEuT1mdCIJwAAaxwKsxLWQFddI4ePdqNB6MxszQIp1pwaXwgXWiomax+IQgGUgBAv8qqGbhaqwQv8z/rCUg6OetpHcEnZV3kaHwOXYBroESl11M7dNGjz0wIREpAN2Nq5Recn1qz6OJZQd158+YFL+IzAuUE1D1aN2a6yfJ/WS2XoJ5fdNOvGyj9cLBs2bKwuWnbamGlsQo1WLIS6YL3mGOOMZ2X1XpBQQXN9wNoavGg1jEK0Orx27qRVItabU/pmFJTQPu/LsebtDRIt86bOt4UcFDwVC2v9DdeP0Sp9Z+OUz39Ui3/1BLQPx61PlM8CUSnLH7A0j8GdPOum32dr4K3qONQ3QXVelWt9RTIUncrBUKD08XiM9cDsVBOnm3ofKcxWnUe1fH7n//8x9Tayq+h7mv0WYGt6nq+KJ0mXWfohwD9CFXZfZAaEygtU2oLEMBK7f2fErXXjc3LL7/s6qrBqNXaxH0J86ITrX41q6wbjR4Z698g+avrpk6BKH1XS63gE7jm6bu2r1YJupnSrwuaHzrpqV8HH3ywqQXBjTfeWO4PQWhavqeOgH7BV3DUv7isquYam0XLFYjVBbM++5OCDro49r/rXUEA3czrc7hjV/PVckW/pOmCWkEAzWNKPYEuXbqYWrnoWHzppZfcuG2hCupGoIC+uiBWFswPXcf/rkC+WrEoSKWWqP58/13Hs1qn5uXlmdLpItdfphtABan0BFd1IQvuqqNAg7r06GJYD8tQPrq59Lzyg8P6efFeS4E4SK6gpwJJKor+xuq9uqk+x5sfdNCNlI5JXWPomNI2dfz36NHD/fvQ07QU3ArX8kZpmZJXQD946tyjroHq2qqbfB0HoTXW8aLWomrd/8Ybb5gC7AqQ6m9zaNpof9c2uR6ItnJy5a9jdfjw4a5Sjz76qKkllfsSeFErwtzcXNODgkKvPQOL3Y9Ouu9RIGzYsGFuvFf/GNQ59amnnnLnUaX1Jw0ToOsP/zvvqStAACt1931K1FxR/Msuu8weeOABV9/TTz+9wmOs3YItL7ow1YWG+mq/9tprZSdP3fToCVl6OpZ+adiSvOxt8ODBZV0ANWaRLka0UK2t9NhXDTSrC+bjjz9es8NOChLoFwyNu6XyanDEsAmZmRICGihTA7xrAE1VWE9+0/Gpz5VNumjWMv2Bnzp1qj66ScErjVkQeux6nmdq3q2LDAUNNJaBPwaGVtSTtIYMGWKap+6ufoBMy5giI5AouagLoboMaOBWBdjVUtU/z+n8qIGqdRG6YcMG00VtdcdqaL11/rv44ovdbB3zuvnX+VMz9K6HGGi72r4umHXRq2WaumwJrqmFlcqhX351Iaxl+oFBLWIUeNMA7rqp9H9w0HKmxBXQj0Pqgq8u/9q/2u8an6omNarP8aaggx5YoB+7HnnkEVPwVOdHf7u9evVyH/Xjg27ETjjhBAtteeMS8JK0AmqVr7+XunlXKyyNiaVAergK60Zfx8fDDz/sbuoVDPW82ATYFYT1y+R5HtcDPgbvNRLwPM90/6MfONWVUE8vVpBJK2ue7rmKiopMvVj045KuFbRM526N66rhU3QdoacZ6sd9z/v9GLznnntMf/f191/r6DpUT5v1f6zQPKbUFSCAlbr7PqlqrgF5Pc9zj3b3vN/fdbNy5513urrqRlw36+5LJS/qBqATrU6y+mVArbX0a77edROkQIA/npZu7v1sdOF83333mcbbuuGGG0wXx1pP77qp0wXv2LFjLbjVgL9u8LsufC+88ELTHwI9nbCyrjTB66T454SvvrqOet7vx6znbf6soNLf/vY31xLvqKOOMg3w73lelfU99NBDTd0U1EpF77qI1qTjbu7cuaYbqdAMevbs6QK8OnZ1waAbfrVA1HrqyqAxg3R869+Rghih6/M9dQQ0BtpNN93kzk86NnV+03lOwSIFhRT4r+mxGk5NgYjLL7/cHfM6V/v567jTeVTnRW1f5QheX8v9lgOarxYNOufqs6bgZWqtVdvgmvJgajiBd9991/Q32PO8cn/j9WOPjje1jFbXPQUAdN6qaUnrerwpfx3v+rFLn0NbBCpwoWsPLVNwS8ecPjOljoAC7ApMKaCvIKaOF/1tDSegG339rVUr/VgdLwqoqSwKOOh8qB8k9J3rASkw1UZA14s6jrSOgks6D+uzgrL6EVbnaF0b6OnFulbQNYOemKkfovy/6Qraah1NOgb1lEN91t99/X3XNvTvZ8KECeafW7WcKXUFCGCl7r7fUvPkftMJTwOuqjWKbsB1k15VjbX89ttvd1F//VHXBYVOvLo41h94XSirRZdOzBr/Qi28/PwU2NKvWXrioeZpPf3ycPLJJ5vGNtAvDJpf1eR5nl1xxRWmC5pvvvnG1OJAwbSq1mFZcgroD/x+++1nahn1yiuvuKBodTXVRfOLL75oagWoGzkNeK1gloKx6sqg/MLloWNX3XCUThcL6v6ldTV2i34B00WJPodbl3mpI+B5numi88svvzT/fKbznJ4kpCCnulNNnDixRsdqODWdf2+++WZTwELnbZ0/lb/SKtigc6ICXJ7naVa5STeLOi97nmeh4w3pfOoHG9RyJisrq9y6fElMAbXGU8tmPa1V3abDddGqqmb1Od7UmsYPAuiHL517/W3p3Ksglr6r222XLl30kSnFBBQ497zN56rgG/RQBt3Uq9Wq5ocGQzUvGpN+0NUDifRvSC2z9TdegTZti+sBKTDVRuCkk04yjUWpdfQgLA3Hos/6EUrXr08++aTpGkHXCv7fdF1DVPY3XfnpfkpPR1YLLF2TtmvXzhTA0g+typupvgKJvT4BrMTefyldel0wvvPOO66bn4I84SY18Z8yZYqpZYqapwaD6SZHAap58+ZZ+/btyxbpBl5P1NAJ089TrVdGjBhhGjxYraTU/FVPlgl9oowuWtUkVjdeWlfvCkBoftkGAh/UgkDL1f0g8LXcf/qlQXlr+dixY90vzuUS8CUpBLTvtY8rmzTopbpDKQCqG63gSut41XGr41fHcfAyBb70a5iCq8pbx+C4ceNMx9XIkSPdvxe9B6+jz9ttt50pnbar9TTNnTvX9G9B/yaUhil5Bfxzko4rHV+V1dTzPNMNuwJVOrZ0nGjSAy9OPfVUCz3P6ljTch3vfp46ZnXshtuW53mmFlQ6b/v5613jYfgBAz+f4Hf/vKxfdENvFv3tqRx+N8XgdfkcnwL+Man9Fm7SjY1aQl9//fWmIEBoLXTMaT0dg6HL/O+eV7fjTT+O6aZf+SvI7+en9+BrEx3HoedP/fvSsa9/Azo2tU7w5K9f2fLgtHyOXwGdh3Q+0jGiXgKVldTzPNN1o9Lpmlb7PzRtXY8Z/9+Q/i0E56nAwmOPPebGHdJ29dAi/QDgp+F6wJeo4j2JF+kY1LGoY6Oq86dPoHPcq6++6q4v9QAL/bDgL9P1q7oS6hpB+WnS33RdQ1T1N13LNK6lzvNaR/dkZ5xxhmk4DX0PPab97fGeGgIEsFJjP1NLBBBAAAEEEEAAAQTiQoBCIIAAAgggUBcBAlh1UWMdBBBAAAEEEECg4QTYMgIIIIAAAgggkHICBLBSbpdTYQQQQAABMwwQQAABBBBAAAEEEEAgkQQIYCXS3qKsCMSTAGVBAAEEEEAAAQQQQAABBBBAIEYCBLBiBB1uM8xDAAEEEEAAAQQQQAABBBBAAIHkF6CG9RcggFV/Q3JAAAEEEEAAAQQQQAABBBCIrgC5I4BAigsQwErxA4DqI4AAAggggAACCKSKAPVEAAEEEEAgcQUIYCXuvqPkCCCAAAIIIBBrAbaHAAIIIIAAAggg0CACBLAahJ2NIoAAAqkrQM0RQAABBBBAAAEEEEAAgdoKEMCqrRjpEWh4AUqAAAIIxETgs88+s5ycHPM8z01PPfVUtdudM2eOdezY0aXXusqj2pVinGDJkiXWuXNnV7dYlK+goMBuuukme+utt2Jc04bZ3CuvvGJpaWkW7njJz8+3xx9/3Pbbbz9LT093x4nneda1a1e79tprTfsmUqUePXq0y//ss8+OVJbkgwACCCCAAAINKJCiAawGFGfTCCCAAAIIJKjAyy+/bJs2baqy9NOmTbNFixZVmSbVFl5yySU2cuRIUyArFequQN3WW29t++67b1l1S0tL7emnn7YOHTrYWWedZZ988ok1b97cOnXqZG3atLGff/7Z/vOf/5gCi3fffbcpfdnKfEAAAQQQQKBeAqycLAIEsJJlT1IPBBBAAAEEoijgeZ69//77tmDBgkq3ouDWiy++WOnyVF2wcePGlKn6qlWr7KOPPrI999zTBatUcQWjbr31Vjv99NNtzZo1dvHFF9vy5ctt5cqVNn/+fFu2bJn7fuGFF5qsFPB74YUXtCoTAgjEiwDlQAABBOJAgABWHOwEioAAAggggEA8C7Rr1851+VLLKrWwqqysP/74o7399tu29957m9apLB3zk1fgm2++sZkzZ1rv3r0tKyvLVfSDDz6wq6++uqxb4R133GGtWrVyy/wXff/vf//rglslJSV26aWXmrqjWhL9j6oggAACCCCAQP0ECGDVz4+1EUAAAQQQSHqBzMxMO+mkk1w91cJKLa3cl5CXqVOnulY1J598smmdkMVlX7///ns799xzrWnTpm6MIo2F1KtXL3vvvfcqdB3TGFUaS6tPnz6uBdguu+zi1tlmm21swoQJFrz8119/tauuuspatGjh0uhdXffU6qds4yEfiouL7ZlnnrGdd97ZreN5nvXs2dP+97//VSiLv2pNy++X7dFHH3WrHnfccW4bGpvpvvvuc5/79Olj69atc8tDX5TO8zwX1FErJv+73n/44Qfr169f2ThSKr/qofqE5qPv6r6oAFE6FeNTAAAQAElEQVSXLl3cdj3PM33WPC1TmtDp22+/tWOOOcbtS8/z3La0nyZNmmSVbefDDz906f/0pz+Z/qdjRV0Ci4qK3DF04oknuu1rWeik42D48OG20047uf2xevXqcklk8PHHH5crk44zlVFlLZe4mi86JjQumQw8z3Nl0ufKPDSOlud5JvtwWYdbrrSe59moUaPsnnvusSZNmrjtHHjggab9Fy4f5iGAAAIIIIBA5QIEsCq3YQkCCCCQZAJUB4G6C+imW0EjBSjU7Ss0JwVBJk6caEpz8MEHhy523xWAuPPOO61bt2728MMPm4IaGgMpOzvblO8f//hHu+iii1w3MrdC0Itu+BUY01hJ2oa6qmnsJD9JXl6eKTiioIG6obVv3940T0EKtQibN2+en7TsXdsfNGiQnXbaafbLL7+48ZgyMjJcC6LDDjvMxo8fX5ZWH2pbfgVX/vCHP5jy1PoKqKm+Gvvp8MMPt3bt2tmMGTNMATEtD54U1Jo8ebILePTv39+9+8s1ftRBBx1kr732mmvJpHyVh+rhd8Pz0+p94cKFrkXU0KFDTQ5yk48+a55aSymN0vrT888/b7vttpspWKV6+OXWflLA6IYbbqgQ4CssLHRBSO3f7bff3mWlVnlvvPGG+3zmmWeWWbgZYV622247mz17thvwvkePHmUptE+vvPJK23///cuVSQlUxl133dVuueWWCmXS8tBJLcS6d+/uxiWTgSxkos/y2GeffZxT6Hp1/a5Aq7pNZmVlufG+NJB9bm5uXbNjPQQQQAABBFJWIC1la07FEaiLAOsggAACKSqgwbUVdFErJ41xFMqgwJJaxyh4pWBH6HJ9V1eyyy+/3NRF7Prrrze1sFEwbO3ataYB4tVC5d577zV1MVP64ElPp9txxx1N21ewReseeuihZUm+/PJL0/YVdNKyxYsXu/G6VB4FURRAUJCtbIXAB7UO+vrrr03jMymooLJo3fPPPz+w1Gzs2LFubCb3JfBS2/IrADRr1iw744wzAmubPfLII27MpyFDhti2225rffr0sfXr17tgjUsQ9PLVV1+5saQ0ELoCKkGLTONDNWvWzFRnjR+1YsUKmzJliikoMm7cOHvggQfKkqvOCmp9+umnJguNYaZ1fB+1CtMytXxSkEgryuDmm2/WR/ckQe0f2Wg7erKgnjCofaTugi7Rlhd1+Zs+fbodcMABrhWcZs+dO9e1ylOwTkEjzavLpAHgFaBSMFD1UxlVJtVP+0llGjFihL366qtVZq86XHDBBe7YUJBSHrKQicqvYKfqpcCmgohVZlbDhdqXOt5/++03N96XjtO2bdvWcG2SIYAAAggggIAvEPMAlr9h3hFAAAEEEEAgcQQUIDjhhBNcgcN1I1QrGLV4UrCmUaNGLl3wi4JFflcyBYg0JpJaXimN53mmQIq61em7glBLly7Vx3KTWuC0bNnSzVMgQ13O3JctL8rzvPPOc13dNKtjx4724IMPmlrYKMCjLn2aHzwpuDNs2LCylkEqk/JRwEXBDY37pfSRKL/y8ScZyUrf5amAjD770+uvv+5aqB111FHuaX3+fL2rRdTDDz9su+++u7661llHHnmkqfubZijAoxZq+qwWU9o3ahGlrowy0XxN+qwWcV27dnUBRAWyNF9BNQUM5aaWXp7nabbbjrqSapK/Wq25BVtePv/8cxes8rsParaCTHrXflPQTZ9rO8lG5dR6//rXvyx4H+sYUKsp7TMFRnWMKailtOGmN99807V6U50feughk4GfrkuXLvbkk0+640VPUlTA0l9Wn3cFf88999yy41ItseqTH+sigAACiSRAWRGIpAABrEhqkhcCCCCAAAJJLLDXXnuZbsYVFPEDE6quWqqou5vGYdpvv/00q8KkllN6iqECN+ecc47pPTSRgjXqfqbucGq1Erx8q622ctsOnhf8WQGSAQMGuCBL8Hx14VNwRwEojbEVvEyfNY6U520O0Oi7JnXJU2BD4zxpPc2rb/mVR+gkK5l98cUXFjyGkwI2CripRdqxxx4bupopQBTaKkuJDjnkEGekFkQ//fSTZrlB9dX1UfVUgMbNDHpRazl13VR3Sr9lnYJTGp9MwTt1FVQrKuWh1bTfNNaWWiwp6Kh5mrRcQR8dHzpONE+Tgpp6Vxe9ugZu1H1ULdkUVDzllFOUXbnJ8zzTvtcxoC6ZKm+5BFu+qIx+C61TTz3VdRndsqjsTYEtdVVVWnXRLFtQjw/KU63j6pEFq6a2ALVHAAEEENgikLblnTcEEEAAAQQQQKBKgQ4dOrgBtBXM8YMdWkHBJn1Xl6zKukapRZVaBSkPBZW0XuikoImCLAoeqEti8HIFlSrLW+nUwkgBDn0OnjzPMwWJNE+BMb37kwJE4fJUAEcDx/vp9F7f8iuP0EnblpmCR2px5S+Xp1qLqcufAnr+fP9dY0OFCwZpbC35qQWS9pGCb36d1RJN3RbDTeoWqLzVJVHvrVu3NnWh02d1SdS4VAognn766a6rosa60rLgSQEtdR9UF7ytt966bJECgfqi7nPh1tOy6ibVRXXS4O4yC5deAbJ27dqZjjEF3sqn2fxN3UT9ZRpLa/Pciq8aT0tzdQzWtcxa3580Zlvo8eQv4x0BBBBAAAEEai5AAKvmVqREAAEEEEAgNQW21NrzPBfA8jzPPQHQv7lX8EXjJ2lwb88r35ppy6o1elNQRsETJfZb7uhzTSYFCBR4qknaaKWpbfk9zzN/gHa1uFLLK5VNLZwUfFKXTXVp1LzgqaZd8bR/li9f7lZV8EZdIsNNWuYSBb1ceuml9u6777pB0zVbaTQOVd++fU3WerqjgkpapklBNwXLNE6aWmlpniYFszzPc10L9eQ/zYvGJHsFsRT8DC5XXbalIKvWU521H/SZCQEEEEAAAQQaXoAAVsPvA0qAAAIpIEAVEUgWgZ49e5pawqi1jQa9VosXjbG0yy67mFrf1KeewQEXv+VOTfNTdz8FL2qaPhrp6lJ+dQXUQO1+N0IFnKZOnWpqTaRgULhyqq7h5ofOUyBJwSbN1wDo8qlq0iDzSqvJ8zz35EK1rFNASGNHDR482A0Ur7Gm9HRHPfFRaTW9/fbbpmBb6DGg40KtvtSKSgPmK21Vk8qn7ah7pd/dr6r0/jLZq5WX6qzWev78urxrUHetp2BqVlaWPjIhgAACCCCAQBwIEMCKg51AEWokQCIEEEAAgTgQUIsaBVZWrlxpGlNK4y3NnDnTtSTSDX9lRVRARi1kFBxQ16xw6dQCSQODe55n2k64NJXN05hPCmCELldAZPbs2W72Hnvs4d7r8hKt8qvbn8b+UjfCiRMnmiy/++4769Onj3tSYbiyarD0cC2D5Kfxn9TdT0EjBV/87ppqISWLcPlVN0/5aNwtPSFSATYNpK513nnnHdP4Z5o0LpqCcQpuapk/aT/qqYT6/vjjj5ta6ulzZZOODQWuPvnkE9OxonRqEaXunmrhpa6Kmhc6KUCm9Gqd1qpVq9DF7ruCedttt537rACs+xDyIiNZaba2q4CYPlc1KXgml6rSsAwBBBBAAAEEaiUQNjEBrLAszEQAAQQQQACBygQ0eLfnefbKK6/Y888/75Kpa5n7UMmLH8hQ4EVP0NN7aFK18lGwScEXtdwJXV7VdwUwpk2bViGJAiLq4qgn9/mBlAqJajAjmuXXQO0K0CgI9NJLL5mCKHpCYWXBE9VTgarQYqsV1Lx580zjZmksLC0/+uij3cD2MpCF5gVPCj4pWKYB0O+44w63SIOxK3ijgd/V+srN3PKip/6FBgJVFo2fpScWahyzLUndm+pwxRVXmOqnY+WFF15w9XMLQ14U3FLLLj0BUeNQqQulkmgQ9N122820j5999lnNKjfJS90b1e1U6TQwfbkEW754nmca0F9f1U1T3Sn1OXiSkcqoeQra6V2TH5jT8antaZ4/LVy40NSCzv/OOwIIIBAfApQCgeQTIICVfPuUGiGAAAIIIBBVgR49epgCTHry4F133WV66pwCB1VtVIGMiy66yBRIeuCBB+zGG280PziigICCYeo6pjwuueQS08DX+lybSespUKP8tJ4CC+edd54pIHLWWWeZWghpfl2mSJTfb9kTun0FnDRgu57S+NBDD5kGnVcXutB0/nfVR/VS/TRP9VW9VX/P82zEiBGmll1a1qtXL/fUQq2jJ/gFP+1QYzxde+21bqwrBaY0oLzWUauttLQ001P4brvttnKtptTyTvOUTseBWjUp8KbWX3oKouaHTnvuuaddd911pq6Hp59+ug0dOtRWrFhhwf9Td1Q9/U+Dxmvb119/vfkDtqsuF198sUv+97//3TQgvd+NUu8KvOl40nrDhw+30CCaW3HLi1oP6jhQi71zzz3XfEMtViBOgUNZKd2hhx6q2W7q3r27e1eAUV083ZfAi9bXvtA6ga/8l2wC1AcBBBBAIK4ECGDF1e6gMAgggAACCMS/gLoKavBxBU7UakZd4BRkqK7kCqZoLCYFGhTQ0DpqbaUub8cff7ytX7/ehgwZ4gIc1eUVulwtfNR1TGXRu1oQqSWOgkIKDv373/82BaFC16vN97qWXwEqbeeaa64xlSt47CjN19hRam2kAI8MFEjygzdaHjp17tzZFAxT/ZSf6qt6qwXSP/7xD1OLLn8dBXMUFFKLJnVP1Lvy1hhj6m53++23mwa/v++++0zLtJ662ams2k96VxdCpfe3pZZeGutKLasUQFLLObVQChfEVH6e59nll19uY8eONeV55513mo4htfrS/lcZt99+e9eiT2VSV8qTTjpJq5ZNp512mstDx9v555/vAnRaV3bDhg1zwTG13gque9nKQR9kdf/995vsFIjSu+olE9X7008/dQ4yU7n8VRXMUlBLxnpXek1af+7cuab956flHQEEEEAAAQSiI0AAKzqu5IoAAggggEAkBOI2D3UZVEBIgaPqggZ+JTzPM7WkUfBFAQm1xlI3LrXEOuKII1xLoLvvvtsFVPx1avqugIgGk9fT89QtTi1iFJhQ6xy1TmrXrl1Ns6o0nefVrfwKyp155pkueKNyzZgxw0K7UCooojJ63u9PJqysIH/84x9NrZ4UmFN+Gkh///33d34KDCogFbyuAl4ff/yxKYCkzxorbNGiRW7Q9YEDB5rGHTvxxBODV3GBRHVVVDdCBYmUXtvS+jLV+GcKai1dutQU9NH2FdApl0nQF7Xw0r5RsEdBMbXyUrm1/9USTMGzMWPGmL7r2Apa1X1UnW6++WZXR3UD1JhhSquFOpY0FpuCZJ5X/VMw1XJMA8or2Kf6qF4yURBOLQq1fzRfefuTglkvvviiKRCqeiq9glnyk1NVLeb8PHhHAAEEEEAAgfoJEMCqnx9rI4BA3AtQQAQQqKuAugYquDBv3jxr3759uWzUGkmtYbRc6YIXKq3WCbdM6dQi6amnnnIDgKsVl1rxKMjUu3dvN16T0viTF9TaVQAAAttJREFU8lY+yk/5+vPDvav1joI0Cm4oXwVd1K1OAZjg9MpH+Slf5R+8TJ8VrNAA5ZUtr035lZ9amj322GOmeqpczz33XKWtwfREQnVx03pVTSqDgkjKT5OeFhjOz89DXf38AJLSa1KgTy2NFIjy0/nvnueZgjJqDaV0Sq9JAahgU3X11Dx1ffS86oNHarGkIJC68Ck/f1JASQEo7UO/DKHvnue5JyNOmTLF/H2sdx1L8ghNP3LkSFP+wU9X9NNoO+qmqLIrjSaNb6VurqHHi7+ODBV8U9BO6bVt38/flt799PqsdOG276fhHQEEEEAAAQRqLkAAq+ZWqZuSmiOAAAIIIIBAVAU03pQGKVdXNAW8oroxMkcAAQQQQAABBCoTiOP5BLDieOdQNAQQQAABBBBIXoHCwkJXuVmzZpkGRlfLsNCxn1wCXhBAAAEEEkqAwiKAQHQECGBFx5VcEUAAAQQQQACBKgX01EXP82yPPfZw41ANGzbMNDZUlSuxEIHUEKCWCCCAAAIIVBAggFWBhBkIIIAAAggggED0BXr27Ok2ojGXNB7TZZddVmEMMJegTi+shAACCCCAAAIIJJcAAazk2p/UBgEEEEAgUgLkkxACGoRdg61rUHZ1wUuIQm8ppFpcaZDv9evXm56IpyftbVkU9o1BwcOyMBMBBBBAAAEEUkSAAFaK7GiqiUBDCLBNBBBAAAEEEEAAAQQQQAABBCIhQAArEorRy4OcEUAAAQQQQAABBBBAAAEEEEAg+QWoYTUCBLCqAWIxAggggAACCCCAAAIIIIBAIghQRgQQSGYBAljJvHepGwIIIIAAAggggAACtREgLQIIIIAAAnEqQAArTncMxUIAAQQQQACBxBSg1AgggAACCCCAAAKRFyCAFXlTckQAAQQQqJ8AayOAAAIIIIAAAggggAAC5QQIYJXj4AsCySJAPRBAAAEEEEAAAQQQQAABBBBIHoH/BwAA//+EjoxMAAAABklEQVQDACjCb4k3zuJ9AAAAAElFTkSuQmCC"/>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9" name="Table 8"/>
          <p:cNvGraphicFramePr>
            <a:graphicFrameLocks noGrp="1"/>
          </p:cNvGraphicFramePr>
          <p:nvPr>
            <p:extLst>
              <p:ext uri="{D42A27DB-BD31-4B8C-83A1-F6EECF244321}">
                <p14:modId xmlns:p14="http://schemas.microsoft.com/office/powerpoint/2010/main" val="4232875692"/>
              </p:ext>
            </p:extLst>
          </p:nvPr>
        </p:nvGraphicFramePr>
        <p:xfrm>
          <a:off x="1371596" y="611034"/>
          <a:ext cx="15773406" cy="9622002"/>
        </p:xfrm>
        <a:graphic>
          <a:graphicData uri="http://schemas.openxmlformats.org/drawingml/2006/table">
            <a:tbl>
              <a:tblPr firstRow="1" bandRow="1">
                <a:tableStyleId>{5940675A-B579-460E-94D1-54222C63F5DA}</a:tableStyleId>
              </a:tblPr>
              <a:tblGrid>
                <a:gridCol w="2628901"/>
                <a:gridCol w="2628901"/>
                <a:gridCol w="2628901"/>
                <a:gridCol w="2628901"/>
                <a:gridCol w="2628901"/>
                <a:gridCol w="2628901"/>
              </a:tblGrid>
              <a:tr h="279554">
                <a:tc>
                  <a:txBody>
                    <a:bodyPr/>
                    <a:lstStyle/>
                    <a:p>
                      <a:r>
                        <a:rPr lang="en-US" sz="1300" dirty="0" smtClean="0"/>
                        <a:t>STATE</a:t>
                      </a:r>
                      <a:endParaRPr lang="en-US" sz="1300" b="0" dirty="0">
                        <a:latin typeface="Arimo" charset="0"/>
                        <a:ea typeface="Arimo" charset="0"/>
                        <a:cs typeface="Arimo" charset="0"/>
                      </a:endParaRPr>
                    </a:p>
                  </a:txBody>
                  <a:tcPr/>
                </a:tc>
                <a:tc>
                  <a:txBody>
                    <a:bodyPr/>
                    <a:lstStyle/>
                    <a:p>
                      <a:r>
                        <a:rPr lang="en-US" sz="1300" dirty="0" smtClean="0"/>
                        <a:t>SAMPLING</a:t>
                      </a:r>
                      <a:r>
                        <a:rPr lang="en-US" sz="1300" baseline="0" dirty="0" smtClean="0"/>
                        <a:t> LOCATION</a:t>
                      </a:r>
                      <a:endParaRPr lang="en-US" sz="1300" b="0" dirty="0">
                        <a:latin typeface="Arimo" charset="0"/>
                        <a:ea typeface="Arimo" charset="0"/>
                        <a:cs typeface="Arimo" charset="0"/>
                      </a:endParaRPr>
                    </a:p>
                  </a:txBody>
                  <a:tcPr/>
                </a:tc>
                <a:tc>
                  <a:txBody>
                    <a:bodyPr/>
                    <a:lstStyle/>
                    <a:p>
                      <a:r>
                        <a:rPr lang="en-US" sz="1300" dirty="0" smtClean="0"/>
                        <a:t>ENGLISH</a:t>
                      </a:r>
                      <a:r>
                        <a:rPr lang="en-US" sz="1300" baseline="0" dirty="0" smtClean="0"/>
                        <a:t> NAME</a:t>
                      </a:r>
                      <a:endParaRPr lang="en-US" sz="1300" b="0" dirty="0">
                        <a:latin typeface="Arimo" charset="0"/>
                        <a:ea typeface="Arimo" charset="0"/>
                        <a:cs typeface="Arimo" charset="0"/>
                      </a:endParaRPr>
                    </a:p>
                  </a:txBody>
                  <a:tcPr/>
                </a:tc>
                <a:tc>
                  <a:txBody>
                    <a:bodyPr/>
                    <a:lstStyle/>
                    <a:p>
                      <a:r>
                        <a:rPr lang="en-US" sz="1300" dirty="0" smtClean="0"/>
                        <a:t>SCIENTIFIC</a:t>
                      </a:r>
                      <a:r>
                        <a:rPr lang="en-US" sz="1300" baseline="0" dirty="0" smtClean="0"/>
                        <a:t> NAME</a:t>
                      </a:r>
                      <a:endParaRPr lang="en-US" sz="1300" b="0" dirty="0">
                        <a:latin typeface="Arimo" charset="0"/>
                        <a:ea typeface="Arimo" charset="0"/>
                        <a:cs typeface="Arimo" charset="0"/>
                      </a:endParaRPr>
                    </a:p>
                  </a:txBody>
                  <a:tcPr/>
                </a:tc>
                <a:tc>
                  <a:txBody>
                    <a:bodyPr/>
                    <a:lstStyle/>
                    <a:p>
                      <a:r>
                        <a:rPr lang="en-US" sz="1300" dirty="0" smtClean="0"/>
                        <a:t>WEIGHT (g)</a:t>
                      </a:r>
                      <a:endParaRPr lang="en-US" sz="1300" b="0" dirty="0">
                        <a:latin typeface="Arimo" charset="0"/>
                        <a:ea typeface="Arimo" charset="0"/>
                        <a:cs typeface="Arimo" charset="0"/>
                      </a:endParaRPr>
                    </a:p>
                  </a:txBody>
                  <a:tcPr/>
                </a:tc>
                <a:tc>
                  <a:txBody>
                    <a:bodyPr/>
                    <a:lstStyle/>
                    <a:p>
                      <a:r>
                        <a:rPr lang="en-US" sz="1300" dirty="0" smtClean="0"/>
                        <a:t>TOTAL</a:t>
                      </a:r>
                      <a:r>
                        <a:rPr lang="en-US" sz="1300" baseline="0" dirty="0" smtClean="0"/>
                        <a:t> LENGTH</a:t>
                      </a:r>
                      <a:r>
                        <a:rPr lang="en-US" sz="1300" dirty="0" smtClean="0"/>
                        <a:t> (cm)</a:t>
                      </a:r>
                      <a:endParaRPr lang="en-US" sz="1300" b="0" dirty="0">
                        <a:latin typeface="Arimo" charset="0"/>
                        <a:ea typeface="Arimo" charset="0"/>
                        <a:cs typeface="Arimo" charset="0"/>
                      </a:endParaRPr>
                    </a:p>
                  </a:txBody>
                  <a:tcPr/>
                </a:tc>
              </a:tr>
              <a:tr h="269523">
                <a:tc rowSpan="6">
                  <a:txBody>
                    <a:bodyPr/>
                    <a:lstStyle/>
                    <a:p>
                      <a:pPr algn="ctr" rtl="0" fontAlgn="ctr"/>
                      <a:r>
                        <a:rPr lang="en-US" sz="1300" dirty="0">
                          <a:effectLst/>
                        </a:rPr>
                        <a:t>OGUN</a:t>
                      </a:r>
                      <a:endParaRPr lang="en-US" sz="1300" b="0" dirty="0">
                        <a:effectLst/>
                        <a:latin typeface="Arimo" charset="0"/>
                        <a:ea typeface="Arimo" charset="0"/>
                        <a:cs typeface="Arimo" charset="0"/>
                      </a:endParaRPr>
                    </a:p>
                  </a:txBody>
                  <a:tcPr marL="28575" marR="28575" marT="0" marB="0" anchor="ctr"/>
                </a:tc>
                <a:tc rowSpan="6">
                  <a:txBody>
                    <a:bodyPr/>
                    <a:lstStyle/>
                    <a:p>
                      <a:pPr algn="ctr" rtl="0" fontAlgn="ctr"/>
                      <a:r>
                        <a:rPr lang="en-US" sz="1300" dirty="0">
                          <a:effectLst/>
                        </a:rPr>
                        <a:t>Iwopin</a:t>
                      </a:r>
                      <a:endParaRPr lang="en-US" sz="1300" b="0"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Four finger thread fin</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Eleutheronema tetradactylum</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228</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30.1</a:t>
                      </a:r>
                      <a:endParaRPr lang="en-US" sz="1300" b="0" dirty="0">
                        <a:effectLst/>
                        <a:latin typeface="Arimo" charset="0"/>
                        <a:ea typeface="Arimo" charset="0"/>
                        <a:cs typeface="Arimo" charset="0"/>
                      </a:endParaRPr>
                    </a:p>
                  </a:txBody>
                  <a:tcPr marL="28575" marR="28575" marT="0" marB="0" anchor="ctr"/>
                </a:tc>
              </a:tr>
              <a:tr h="191274">
                <a:tc vMerge="1">
                  <a:txBody>
                    <a:bodyPr/>
                    <a:lstStyle/>
                    <a:p>
                      <a:endParaRPr lang="en-US"/>
                    </a:p>
                  </a:txBody>
                  <a:tcPr/>
                </a:tc>
                <a:tc vMerge="1">
                  <a:txBody>
                    <a:bodyPr/>
                    <a:lstStyle/>
                    <a:p>
                      <a:endParaRPr lang="en-US"/>
                    </a:p>
                  </a:txBody>
                  <a:tcPr/>
                </a:tc>
                <a:tc>
                  <a:txBody>
                    <a:bodyPr/>
                    <a:lstStyle/>
                    <a:p>
                      <a:pPr algn="ctr" rtl="0" fontAlgn="ctr"/>
                      <a:r>
                        <a:rPr lang="en-US" sz="1300" dirty="0">
                          <a:effectLst/>
                        </a:rPr>
                        <a:t>The pompano/Silver fish</a:t>
                      </a:r>
                      <a:endParaRPr lang="en-US" sz="1300" b="0"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Trachinotus ovatus</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135</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25.8</a:t>
                      </a:r>
                      <a:endParaRPr lang="en-US" sz="1300" b="0" dirty="0">
                        <a:effectLst/>
                        <a:latin typeface="Arimo" charset="0"/>
                        <a:ea typeface="Arimo" charset="0"/>
                        <a:cs typeface="Arimo" charset="0"/>
                      </a:endParaRPr>
                    </a:p>
                  </a:txBody>
                  <a:tcPr marL="28575" marR="28575" marT="0" marB="0" anchor="ctr"/>
                </a:tc>
              </a:tr>
              <a:tr h="382548">
                <a:tc vMerge="1">
                  <a:txBody>
                    <a:bodyPr/>
                    <a:lstStyle/>
                    <a:p>
                      <a:endParaRPr lang="en-US"/>
                    </a:p>
                  </a:txBody>
                  <a:tcPr/>
                </a:tc>
                <a:tc vMerge="1">
                  <a:txBody>
                    <a:bodyPr/>
                    <a:lstStyle/>
                    <a:p>
                      <a:endParaRPr lang="en-US"/>
                    </a:p>
                  </a:txBody>
                  <a:tcPr/>
                </a:tc>
                <a:tc>
                  <a:txBody>
                    <a:bodyPr/>
                    <a:lstStyle/>
                    <a:p>
                      <a:pPr algn="ctr" rtl="0" fontAlgn="ctr"/>
                      <a:r>
                        <a:rPr lang="en-US" sz="1300">
                          <a:effectLst/>
                        </a:rPr>
                        <a:t>Blue Spot mullet</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Mugil cephalus</a:t>
                      </a:r>
                      <a:br>
                        <a:rPr lang="en-US" sz="1300">
                          <a:effectLst/>
                        </a:rPr>
                      </a:b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123</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24.6</a:t>
                      </a:r>
                      <a:endParaRPr lang="en-US" sz="1300" b="0" dirty="0">
                        <a:effectLst/>
                        <a:latin typeface="Arimo" charset="0"/>
                        <a:ea typeface="Arimo" charset="0"/>
                        <a:cs typeface="Arimo" charset="0"/>
                      </a:endParaRPr>
                    </a:p>
                  </a:txBody>
                  <a:tcPr marL="28575" marR="28575" marT="0" marB="0" anchor="ctr"/>
                </a:tc>
              </a:tr>
              <a:tr h="191274">
                <a:tc vMerge="1">
                  <a:txBody>
                    <a:bodyPr/>
                    <a:lstStyle/>
                    <a:p>
                      <a:endParaRPr lang="en-US"/>
                    </a:p>
                  </a:txBody>
                  <a:tcPr/>
                </a:tc>
                <a:tc vMerge="1">
                  <a:txBody>
                    <a:bodyPr/>
                    <a:lstStyle/>
                    <a:p>
                      <a:endParaRPr lang="en-US"/>
                    </a:p>
                  </a:txBody>
                  <a:tcPr/>
                </a:tc>
                <a:tc>
                  <a:txBody>
                    <a:bodyPr/>
                    <a:lstStyle/>
                    <a:p>
                      <a:pPr algn="ctr" rtl="0" fontAlgn="ctr"/>
                      <a:r>
                        <a:rPr lang="en-US" sz="1300">
                          <a:effectLst/>
                        </a:rPr>
                        <a:t>Obtuse Baracuda</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Sphyraena obtusata</a:t>
                      </a:r>
                      <a:endParaRPr lang="en-US" sz="1300" b="0" i="1"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106</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28.8</a:t>
                      </a:r>
                      <a:endParaRPr lang="en-US" sz="1300" b="0" dirty="0">
                        <a:effectLst/>
                        <a:latin typeface="Arimo" charset="0"/>
                        <a:ea typeface="Arimo" charset="0"/>
                        <a:cs typeface="Arimo" charset="0"/>
                      </a:endParaRPr>
                    </a:p>
                  </a:txBody>
                  <a:tcPr marL="28575" marR="28575" marT="0" marB="0" anchor="ctr"/>
                </a:tc>
              </a:tr>
              <a:tr h="191274">
                <a:tc vMerge="1">
                  <a:txBody>
                    <a:bodyPr/>
                    <a:lstStyle/>
                    <a:p>
                      <a:endParaRPr lang="en-US"/>
                    </a:p>
                  </a:txBody>
                  <a:tcPr/>
                </a:tc>
                <a:tc vMerge="1">
                  <a:txBody>
                    <a:bodyPr/>
                    <a:lstStyle/>
                    <a:p>
                      <a:endParaRPr lang="en-US"/>
                    </a:p>
                  </a:txBody>
                  <a:tcPr/>
                </a:tc>
                <a:tc>
                  <a:txBody>
                    <a:bodyPr/>
                    <a:lstStyle/>
                    <a:p>
                      <a:pPr algn="ctr" rtl="0" fontAlgn="ctr"/>
                      <a:r>
                        <a:rPr lang="en-US" sz="1300">
                          <a:effectLst/>
                        </a:rPr>
                        <a:t>Silver Pomfret</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Pampus Argenteus</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90</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17.7</a:t>
                      </a:r>
                      <a:endParaRPr lang="en-US" sz="1300" b="0" dirty="0">
                        <a:effectLst/>
                        <a:latin typeface="Arimo" charset="0"/>
                        <a:ea typeface="Arimo" charset="0"/>
                        <a:cs typeface="Arimo" charset="0"/>
                      </a:endParaRPr>
                    </a:p>
                  </a:txBody>
                  <a:tcPr marL="28575" marR="28575" marT="0" marB="0" anchor="ctr"/>
                </a:tc>
              </a:tr>
              <a:tr h="191274">
                <a:tc vMerge="1">
                  <a:txBody>
                    <a:bodyPr/>
                    <a:lstStyle/>
                    <a:p>
                      <a:endParaRPr lang="en-US"/>
                    </a:p>
                  </a:txBody>
                  <a:tcPr/>
                </a:tc>
                <a:tc vMerge="1">
                  <a:txBody>
                    <a:bodyPr/>
                    <a:lstStyle/>
                    <a:p>
                      <a:endParaRPr lang="en-US"/>
                    </a:p>
                  </a:txBody>
                  <a:tcPr/>
                </a:tc>
                <a:tc>
                  <a:txBody>
                    <a:bodyPr/>
                    <a:lstStyle/>
                    <a:p>
                      <a:pPr algn="ctr" rtl="0" fontAlgn="ctr"/>
                      <a:r>
                        <a:rPr lang="en-US" sz="1300">
                          <a:effectLst/>
                        </a:rPr>
                        <a:t>Planet catfish</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Chrysicthys brachynema</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89</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21.6</a:t>
                      </a:r>
                      <a:endParaRPr lang="en-US" sz="1300" b="0" dirty="0">
                        <a:effectLst/>
                        <a:latin typeface="Arimo" charset="0"/>
                        <a:ea typeface="Arimo" charset="0"/>
                        <a:cs typeface="Arimo" charset="0"/>
                      </a:endParaRPr>
                    </a:p>
                  </a:txBody>
                  <a:tcPr marL="28575" marR="28575" marT="0" marB="0" anchor="ctr"/>
                </a:tc>
              </a:tr>
              <a:tr h="191274">
                <a:tc rowSpan="7">
                  <a:txBody>
                    <a:bodyPr/>
                    <a:lstStyle/>
                    <a:p>
                      <a:pPr algn="ctr" rtl="0" fontAlgn="ctr"/>
                      <a:r>
                        <a:rPr lang="en-US" sz="1300" dirty="0">
                          <a:effectLst/>
                        </a:rPr>
                        <a:t>CROSS RIVERS</a:t>
                      </a:r>
                      <a:endParaRPr lang="en-US" sz="1300" b="0" dirty="0">
                        <a:effectLst/>
                        <a:latin typeface="Arimo" charset="0"/>
                        <a:ea typeface="Arimo" charset="0"/>
                        <a:cs typeface="Arimo" charset="0"/>
                      </a:endParaRPr>
                    </a:p>
                  </a:txBody>
                  <a:tcPr marL="28575" marR="28575" marT="0" marB="0" anchor="ctr"/>
                </a:tc>
                <a:tc rowSpan="7">
                  <a:txBody>
                    <a:bodyPr/>
                    <a:lstStyle/>
                    <a:p>
                      <a:pPr algn="ctr" rtl="0" fontAlgn="ctr"/>
                      <a:r>
                        <a:rPr lang="en-US" sz="1300" dirty="0">
                          <a:effectLst/>
                        </a:rPr>
                        <a:t>Nsidung</a:t>
                      </a:r>
                      <a:endParaRPr lang="en-US" sz="1300" b="0"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Sole fish</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Solea solea</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81</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38.5</a:t>
                      </a:r>
                      <a:endParaRPr lang="en-US" sz="1300" b="0" dirty="0">
                        <a:effectLst/>
                        <a:latin typeface="Arimo" charset="0"/>
                        <a:ea typeface="Arimo" charset="0"/>
                        <a:cs typeface="Arimo" charset="0"/>
                      </a:endParaRPr>
                    </a:p>
                  </a:txBody>
                  <a:tcPr marL="28575" marR="28575" marT="0" marB="0" anchor="ctr"/>
                </a:tc>
              </a:tr>
              <a:tr h="191274">
                <a:tc vMerge="1">
                  <a:txBody>
                    <a:bodyPr/>
                    <a:lstStyle/>
                    <a:p>
                      <a:endParaRPr lang="en-US"/>
                    </a:p>
                  </a:txBody>
                  <a:tcPr/>
                </a:tc>
                <a:tc vMerge="1">
                  <a:txBody>
                    <a:bodyPr/>
                    <a:lstStyle/>
                    <a:p>
                      <a:endParaRPr lang="en-US"/>
                    </a:p>
                  </a:txBody>
                  <a:tcPr/>
                </a:tc>
                <a:tc>
                  <a:txBody>
                    <a:bodyPr/>
                    <a:lstStyle/>
                    <a:p>
                      <a:pPr algn="ctr" rtl="0" fontAlgn="ctr"/>
                      <a:r>
                        <a:rPr lang="en-US" sz="1300">
                          <a:effectLst/>
                        </a:rPr>
                        <a:t>Bonga</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Ethmalosa fimbriata</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116</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23.3</a:t>
                      </a:r>
                      <a:endParaRPr lang="en-US" sz="1300" b="0" dirty="0">
                        <a:effectLst/>
                        <a:latin typeface="Arimo" charset="0"/>
                        <a:ea typeface="Arimo" charset="0"/>
                        <a:cs typeface="Arimo" charset="0"/>
                      </a:endParaRPr>
                    </a:p>
                  </a:txBody>
                  <a:tcPr marL="28575" marR="28575" marT="0" marB="0" anchor="ctr"/>
                </a:tc>
              </a:tr>
              <a:tr h="191274">
                <a:tc vMerge="1">
                  <a:txBody>
                    <a:bodyPr/>
                    <a:lstStyle/>
                    <a:p>
                      <a:endParaRPr lang="en-US"/>
                    </a:p>
                  </a:txBody>
                  <a:tcPr/>
                </a:tc>
                <a:tc vMerge="1">
                  <a:txBody>
                    <a:bodyPr/>
                    <a:lstStyle/>
                    <a:p>
                      <a:endParaRPr lang="en-US"/>
                    </a:p>
                  </a:txBody>
                  <a:tcPr/>
                </a:tc>
                <a:tc>
                  <a:txBody>
                    <a:bodyPr/>
                    <a:lstStyle/>
                    <a:p>
                      <a:pPr algn="ctr" rtl="0" fontAlgn="ctr"/>
                      <a:r>
                        <a:rPr lang="en-US" sz="1300">
                          <a:effectLst/>
                        </a:rPr>
                        <a:t>White snapper</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Pristipomoides typhus</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110</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20.2</a:t>
                      </a:r>
                      <a:endParaRPr lang="en-US" sz="1300" b="0" dirty="0">
                        <a:effectLst/>
                        <a:latin typeface="Arimo" charset="0"/>
                        <a:ea typeface="Arimo" charset="0"/>
                        <a:cs typeface="Arimo" charset="0"/>
                      </a:endParaRPr>
                    </a:p>
                  </a:txBody>
                  <a:tcPr marL="28575" marR="28575" marT="0" marB="0" anchor="ctr"/>
                </a:tc>
              </a:tr>
              <a:tr h="191274">
                <a:tc vMerge="1">
                  <a:txBody>
                    <a:bodyPr/>
                    <a:lstStyle/>
                    <a:p>
                      <a:endParaRPr lang="en-US"/>
                    </a:p>
                  </a:txBody>
                  <a:tcPr/>
                </a:tc>
                <a:tc vMerge="1">
                  <a:txBody>
                    <a:bodyPr/>
                    <a:lstStyle/>
                    <a:p>
                      <a:endParaRPr lang="en-US"/>
                    </a:p>
                  </a:txBody>
                  <a:tcPr/>
                </a:tc>
                <a:tc>
                  <a:txBody>
                    <a:bodyPr/>
                    <a:lstStyle/>
                    <a:p>
                      <a:pPr algn="ctr" rtl="0" fontAlgn="ctr"/>
                      <a:r>
                        <a:rPr lang="en-US" sz="1300">
                          <a:effectLst/>
                        </a:rPr>
                        <a:t>Yellow tail</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Seriola dorsalis</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82</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18</a:t>
                      </a:r>
                      <a:endParaRPr lang="en-US" sz="1300" b="0" dirty="0">
                        <a:effectLst/>
                        <a:latin typeface="Arimo" charset="0"/>
                        <a:ea typeface="Arimo" charset="0"/>
                        <a:cs typeface="Arimo" charset="0"/>
                      </a:endParaRPr>
                    </a:p>
                  </a:txBody>
                  <a:tcPr marL="28575" marR="28575" marT="0" marB="0" anchor="ctr"/>
                </a:tc>
              </a:tr>
              <a:tr h="191274">
                <a:tc vMerge="1">
                  <a:txBody>
                    <a:bodyPr/>
                    <a:lstStyle/>
                    <a:p>
                      <a:endParaRPr lang="en-US"/>
                    </a:p>
                  </a:txBody>
                  <a:tcPr/>
                </a:tc>
                <a:tc vMerge="1">
                  <a:txBody>
                    <a:bodyPr/>
                    <a:lstStyle/>
                    <a:p>
                      <a:endParaRPr lang="en-US"/>
                    </a:p>
                  </a:txBody>
                  <a:tcPr/>
                </a:tc>
                <a:tc>
                  <a:txBody>
                    <a:bodyPr/>
                    <a:lstStyle/>
                    <a:p>
                      <a:pPr algn="ctr" rtl="0" fontAlgn="ctr"/>
                      <a:r>
                        <a:rPr lang="en-US" sz="1300">
                          <a:effectLst/>
                        </a:rPr>
                        <a:t>Croaker</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Genyonemus lineatus</a:t>
                      </a:r>
                      <a:endParaRPr lang="en-US" sz="1300" b="0" i="1"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64</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20.1</a:t>
                      </a:r>
                      <a:endParaRPr lang="en-US" sz="1300" b="0" dirty="0">
                        <a:effectLst/>
                        <a:latin typeface="Arimo" charset="0"/>
                        <a:ea typeface="Arimo" charset="0"/>
                        <a:cs typeface="Arimo" charset="0"/>
                      </a:endParaRPr>
                    </a:p>
                  </a:txBody>
                  <a:tcPr marL="28575" marR="28575" marT="0" marB="0" anchor="ctr"/>
                </a:tc>
              </a:tr>
              <a:tr h="382548">
                <a:tc vMerge="1">
                  <a:txBody>
                    <a:bodyPr/>
                    <a:lstStyle/>
                    <a:p>
                      <a:endParaRPr lang="en-US"/>
                    </a:p>
                  </a:txBody>
                  <a:tcPr/>
                </a:tc>
                <a:tc vMerge="1">
                  <a:txBody>
                    <a:bodyPr/>
                    <a:lstStyle/>
                    <a:p>
                      <a:endParaRPr lang="en-US"/>
                    </a:p>
                  </a:txBody>
                  <a:tcPr/>
                </a:tc>
                <a:tc>
                  <a:txBody>
                    <a:bodyPr/>
                    <a:lstStyle/>
                    <a:p>
                      <a:pPr algn="ctr" rtl="0" fontAlgn="ctr"/>
                      <a:r>
                        <a:rPr lang="en-US" sz="1300">
                          <a:effectLst/>
                        </a:rPr>
                        <a:t>Mullet</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Mugil cephalus</a:t>
                      </a:r>
                      <a:br>
                        <a:rPr lang="en-US" sz="1300">
                          <a:effectLst/>
                        </a:rPr>
                      </a:b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55</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17.5</a:t>
                      </a:r>
                      <a:endParaRPr lang="en-US" sz="1300" b="0" dirty="0">
                        <a:effectLst/>
                        <a:latin typeface="Arimo" charset="0"/>
                        <a:ea typeface="Arimo" charset="0"/>
                        <a:cs typeface="Arimo" charset="0"/>
                      </a:endParaRPr>
                    </a:p>
                  </a:txBody>
                  <a:tcPr marL="28575" marR="28575" marT="0" marB="0" anchor="ctr"/>
                </a:tc>
              </a:tr>
              <a:tr h="191274">
                <a:tc vMerge="1">
                  <a:txBody>
                    <a:bodyPr/>
                    <a:lstStyle/>
                    <a:p>
                      <a:endParaRPr lang="en-US"/>
                    </a:p>
                  </a:txBody>
                  <a:tcPr/>
                </a:tc>
                <a:tc vMerge="1">
                  <a:txBody>
                    <a:bodyPr/>
                    <a:lstStyle/>
                    <a:p>
                      <a:endParaRPr lang="en-US"/>
                    </a:p>
                  </a:txBody>
                  <a:tcPr/>
                </a:tc>
                <a:tc>
                  <a:txBody>
                    <a:bodyPr/>
                    <a:lstStyle/>
                    <a:p>
                      <a:pPr algn="ctr" rtl="0" fontAlgn="ctr"/>
                      <a:r>
                        <a:rPr lang="en-US" sz="1300">
                          <a:effectLst/>
                        </a:rPr>
                        <a:t>Blue runner</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Caranx crysos</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39</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18.5</a:t>
                      </a:r>
                      <a:endParaRPr lang="en-US" sz="1300" b="0" dirty="0">
                        <a:effectLst/>
                        <a:latin typeface="Arimo" charset="0"/>
                        <a:ea typeface="Arimo" charset="0"/>
                        <a:cs typeface="Arimo" charset="0"/>
                      </a:endParaRPr>
                    </a:p>
                  </a:txBody>
                  <a:tcPr marL="28575" marR="28575" marT="0" marB="0" anchor="ctr"/>
                </a:tc>
              </a:tr>
              <a:tr h="191274">
                <a:tc rowSpan="6">
                  <a:txBody>
                    <a:bodyPr/>
                    <a:lstStyle/>
                    <a:p>
                      <a:pPr algn="ctr" rtl="0" fontAlgn="ctr"/>
                      <a:r>
                        <a:rPr lang="en-US" sz="1300" dirty="0">
                          <a:effectLst/>
                        </a:rPr>
                        <a:t>AKWA-IBOM</a:t>
                      </a:r>
                      <a:endParaRPr lang="en-US" sz="1300" b="0" dirty="0">
                        <a:effectLst/>
                        <a:latin typeface="Arimo" charset="0"/>
                        <a:ea typeface="Arimo" charset="0"/>
                        <a:cs typeface="Arimo" charset="0"/>
                      </a:endParaRPr>
                    </a:p>
                  </a:txBody>
                  <a:tcPr marL="28575" marR="28575" marT="0" marB="0" anchor="ctr"/>
                </a:tc>
                <a:tc rowSpan="6">
                  <a:txBody>
                    <a:bodyPr/>
                    <a:lstStyle/>
                    <a:p>
                      <a:pPr algn="ctr" rtl="0" fontAlgn="ctr"/>
                      <a:r>
                        <a:rPr lang="en-US" sz="1300" dirty="0">
                          <a:effectLst/>
                        </a:rPr>
                        <a:t>Ibaka</a:t>
                      </a:r>
                      <a:endParaRPr lang="en-US" sz="1300" b="0"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Half beak/Japanese fish</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Hyporhamphus sajori</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49</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25.7</a:t>
                      </a:r>
                      <a:endParaRPr lang="en-US" sz="1300" b="0" dirty="0">
                        <a:effectLst/>
                        <a:latin typeface="Arimo" charset="0"/>
                        <a:ea typeface="Arimo" charset="0"/>
                        <a:cs typeface="Arimo" charset="0"/>
                      </a:endParaRPr>
                    </a:p>
                  </a:txBody>
                  <a:tcPr marL="28575" marR="28575" marT="0" marB="0" anchor="ctr"/>
                </a:tc>
              </a:tr>
              <a:tr h="191274">
                <a:tc vMerge="1">
                  <a:txBody>
                    <a:bodyPr/>
                    <a:lstStyle/>
                    <a:p>
                      <a:endParaRPr lang="en-US"/>
                    </a:p>
                  </a:txBody>
                  <a:tcPr/>
                </a:tc>
                <a:tc vMerge="1">
                  <a:txBody>
                    <a:bodyPr/>
                    <a:lstStyle/>
                    <a:p>
                      <a:endParaRPr lang="en-US"/>
                    </a:p>
                  </a:txBody>
                  <a:tcPr/>
                </a:tc>
                <a:tc>
                  <a:txBody>
                    <a:bodyPr/>
                    <a:lstStyle/>
                    <a:p>
                      <a:pPr algn="ctr" rtl="0" fontAlgn="ctr"/>
                      <a:r>
                        <a:rPr lang="en-US" sz="1300">
                          <a:effectLst/>
                        </a:rPr>
                        <a:t>Gar fish</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Belone belone</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142</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49.8</a:t>
                      </a:r>
                      <a:endParaRPr lang="en-US" sz="1300" b="0" dirty="0">
                        <a:effectLst/>
                        <a:latin typeface="Arimo" charset="0"/>
                        <a:ea typeface="Arimo" charset="0"/>
                        <a:cs typeface="Arimo" charset="0"/>
                      </a:endParaRPr>
                    </a:p>
                  </a:txBody>
                  <a:tcPr marL="28575" marR="28575" marT="0" marB="0" anchor="ctr"/>
                </a:tc>
              </a:tr>
              <a:tr h="191274">
                <a:tc vMerge="1">
                  <a:txBody>
                    <a:bodyPr/>
                    <a:lstStyle/>
                    <a:p>
                      <a:endParaRPr lang="en-US"/>
                    </a:p>
                  </a:txBody>
                  <a:tcPr/>
                </a:tc>
                <a:tc vMerge="1">
                  <a:txBody>
                    <a:bodyPr/>
                    <a:lstStyle/>
                    <a:p>
                      <a:endParaRPr lang="en-US"/>
                    </a:p>
                  </a:txBody>
                  <a:tcPr/>
                </a:tc>
                <a:tc>
                  <a:txBody>
                    <a:bodyPr/>
                    <a:lstStyle/>
                    <a:p>
                      <a:pPr algn="ctr" rtl="0" fontAlgn="ctr"/>
                      <a:r>
                        <a:rPr lang="en-US" sz="1300">
                          <a:effectLst/>
                        </a:rPr>
                        <a:t>Sole fish</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Solea solea</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240</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41.7</a:t>
                      </a:r>
                      <a:endParaRPr lang="en-US" sz="1300" b="0" dirty="0">
                        <a:effectLst/>
                        <a:latin typeface="Arimo" charset="0"/>
                        <a:ea typeface="Arimo" charset="0"/>
                        <a:cs typeface="Arimo" charset="0"/>
                      </a:endParaRPr>
                    </a:p>
                  </a:txBody>
                  <a:tcPr marL="28575" marR="28575" marT="0" marB="0" anchor="ctr"/>
                </a:tc>
              </a:tr>
              <a:tr h="191274">
                <a:tc vMerge="1">
                  <a:txBody>
                    <a:bodyPr/>
                    <a:lstStyle/>
                    <a:p>
                      <a:endParaRPr lang="en-US"/>
                    </a:p>
                  </a:txBody>
                  <a:tcPr/>
                </a:tc>
                <a:tc vMerge="1">
                  <a:txBody>
                    <a:bodyPr/>
                    <a:lstStyle/>
                    <a:p>
                      <a:endParaRPr lang="en-US"/>
                    </a:p>
                  </a:txBody>
                  <a:tcPr/>
                </a:tc>
                <a:tc>
                  <a:txBody>
                    <a:bodyPr/>
                    <a:lstStyle/>
                    <a:p>
                      <a:pPr algn="ctr" rtl="0" fontAlgn="ctr"/>
                      <a:r>
                        <a:rPr lang="en-US" sz="1300">
                          <a:effectLst/>
                        </a:rPr>
                        <a:t>Bonga</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Ethmalosa fimbriata</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106</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21.8</a:t>
                      </a:r>
                      <a:endParaRPr lang="en-US" sz="1300" b="0" dirty="0">
                        <a:effectLst/>
                        <a:latin typeface="Arimo" charset="0"/>
                        <a:ea typeface="Arimo" charset="0"/>
                        <a:cs typeface="Arimo" charset="0"/>
                      </a:endParaRPr>
                    </a:p>
                  </a:txBody>
                  <a:tcPr marL="28575" marR="28575" marT="0" marB="0" anchor="ctr"/>
                </a:tc>
              </a:tr>
              <a:tr h="191274">
                <a:tc vMerge="1">
                  <a:txBody>
                    <a:bodyPr/>
                    <a:lstStyle/>
                    <a:p>
                      <a:endParaRPr lang="en-US"/>
                    </a:p>
                  </a:txBody>
                  <a:tcPr/>
                </a:tc>
                <a:tc vMerge="1">
                  <a:txBody>
                    <a:bodyPr/>
                    <a:lstStyle/>
                    <a:p>
                      <a:endParaRPr lang="en-US"/>
                    </a:p>
                  </a:txBody>
                  <a:tcPr/>
                </a:tc>
                <a:tc>
                  <a:txBody>
                    <a:bodyPr/>
                    <a:lstStyle/>
                    <a:p>
                      <a:pPr algn="ctr" rtl="0" fontAlgn="ctr"/>
                      <a:r>
                        <a:rPr lang="en-US" sz="1300">
                          <a:effectLst/>
                        </a:rPr>
                        <a:t>African moony</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err="1">
                          <a:effectLst/>
                        </a:rPr>
                        <a:t>Mene</a:t>
                      </a:r>
                      <a:r>
                        <a:rPr lang="en-US" sz="1300" dirty="0">
                          <a:effectLst/>
                        </a:rPr>
                        <a:t> maculata</a:t>
                      </a:r>
                      <a:endParaRPr lang="en-US" sz="1300" b="0" i="1"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131</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17.2</a:t>
                      </a:r>
                      <a:endParaRPr lang="en-US" sz="1300" b="0" dirty="0">
                        <a:effectLst/>
                        <a:latin typeface="Arimo" charset="0"/>
                        <a:ea typeface="Arimo" charset="0"/>
                        <a:cs typeface="Arimo" charset="0"/>
                      </a:endParaRPr>
                    </a:p>
                  </a:txBody>
                  <a:tcPr marL="28575" marR="28575" marT="0" marB="0" anchor="ctr"/>
                </a:tc>
              </a:tr>
              <a:tr h="191274">
                <a:tc vMerge="1">
                  <a:txBody>
                    <a:bodyPr/>
                    <a:lstStyle/>
                    <a:p>
                      <a:endParaRPr lang="en-US"/>
                    </a:p>
                  </a:txBody>
                  <a:tcPr/>
                </a:tc>
                <a:tc vMerge="1">
                  <a:txBody>
                    <a:bodyPr/>
                    <a:lstStyle/>
                    <a:p>
                      <a:endParaRPr lang="en-US"/>
                    </a:p>
                  </a:txBody>
                  <a:tcPr/>
                </a:tc>
                <a:tc>
                  <a:txBody>
                    <a:bodyPr/>
                    <a:lstStyle/>
                    <a:p>
                      <a:pPr algn="ctr" rtl="0" fontAlgn="ctr"/>
                      <a:r>
                        <a:rPr lang="en-US" sz="1300">
                          <a:effectLst/>
                        </a:rPr>
                        <a:t>Blue runner</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Caranx crysos</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75</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23.6</a:t>
                      </a:r>
                      <a:endParaRPr lang="en-US" sz="1300" b="0" dirty="0">
                        <a:effectLst/>
                        <a:latin typeface="Arimo" charset="0"/>
                        <a:ea typeface="Arimo" charset="0"/>
                        <a:cs typeface="Arimo" charset="0"/>
                      </a:endParaRPr>
                    </a:p>
                  </a:txBody>
                  <a:tcPr marL="28575" marR="28575" marT="0" marB="0" anchor="ctr"/>
                </a:tc>
              </a:tr>
              <a:tr h="191274">
                <a:tc rowSpan="7">
                  <a:txBody>
                    <a:bodyPr/>
                    <a:lstStyle/>
                    <a:p>
                      <a:pPr algn="ctr" rtl="0" fontAlgn="ctr"/>
                      <a:r>
                        <a:rPr lang="en-US" sz="1300" dirty="0">
                          <a:effectLst/>
                        </a:rPr>
                        <a:t>RIVERS</a:t>
                      </a:r>
                      <a:endParaRPr lang="en-US" sz="1300" b="0" dirty="0">
                        <a:effectLst/>
                        <a:latin typeface="Arimo" charset="0"/>
                        <a:ea typeface="Arimo" charset="0"/>
                        <a:cs typeface="Arimo" charset="0"/>
                      </a:endParaRPr>
                    </a:p>
                  </a:txBody>
                  <a:tcPr marL="28575" marR="28575" marT="0" marB="0" anchor="ctr"/>
                </a:tc>
                <a:tc rowSpan="7">
                  <a:txBody>
                    <a:bodyPr/>
                    <a:lstStyle/>
                    <a:p>
                      <a:pPr algn="ctr" rtl="0" fontAlgn="ctr"/>
                      <a:r>
                        <a:rPr lang="en-US" sz="1300" dirty="0">
                          <a:effectLst/>
                        </a:rPr>
                        <a:t>Oyokoroto</a:t>
                      </a:r>
                      <a:endParaRPr lang="en-US" sz="1300" b="0"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African moony</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err="1">
                          <a:effectLst/>
                        </a:rPr>
                        <a:t>Mene</a:t>
                      </a:r>
                      <a:r>
                        <a:rPr lang="en-US" sz="1300" dirty="0">
                          <a:effectLst/>
                        </a:rPr>
                        <a:t> maculata</a:t>
                      </a:r>
                      <a:endParaRPr lang="en-US" sz="1300" b="0" i="1" dirty="0">
                        <a:solidFill>
                          <a:srgbClr val="202122"/>
                        </a:solidFill>
                        <a:effectLst/>
                        <a:latin typeface="Arimo" charset="0"/>
                        <a:ea typeface="Arimo" charset="0"/>
                        <a:cs typeface="Arimo" charset="0"/>
                      </a:endParaRPr>
                    </a:p>
                  </a:txBody>
                  <a:tcPr marL="28575" marR="28575" marT="0" marB="0" anchor="ctr"/>
                </a:tc>
                <a:tc>
                  <a:txBody>
                    <a:bodyPr/>
                    <a:lstStyle/>
                    <a:p>
                      <a:pPr algn="ctr" rtl="0" fontAlgn="ctr"/>
                      <a:r>
                        <a:rPr lang="en-US" sz="1300">
                          <a:effectLst/>
                        </a:rPr>
                        <a:t>62</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12.7</a:t>
                      </a:r>
                      <a:endParaRPr lang="en-US" sz="1300" b="0" dirty="0">
                        <a:effectLst/>
                        <a:latin typeface="Arimo" charset="0"/>
                        <a:ea typeface="Arimo" charset="0"/>
                        <a:cs typeface="Arimo" charset="0"/>
                      </a:endParaRPr>
                    </a:p>
                  </a:txBody>
                  <a:tcPr marL="28575" marR="28575" marT="0" marB="0" anchor="ctr"/>
                </a:tc>
              </a:tr>
              <a:tr h="191274">
                <a:tc vMerge="1">
                  <a:txBody>
                    <a:bodyPr/>
                    <a:lstStyle/>
                    <a:p>
                      <a:endParaRPr lang="en-US"/>
                    </a:p>
                  </a:txBody>
                  <a:tcPr/>
                </a:tc>
                <a:tc vMerge="1">
                  <a:txBody>
                    <a:bodyPr/>
                    <a:lstStyle/>
                    <a:p>
                      <a:endParaRPr lang="en-US"/>
                    </a:p>
                  </a:txBody>
                  <a:tcPr/>
                </a:tc>
                <a:tc>
                  <a:txBody>
                    <a:bodyPr/>
                    <a:lstStyle/>
                    <a:p>
                      <a:pPr algn="ctr" rtl="0" fontAlgn="ctr"/>
                      <a:r>
                        <a:rPr lang="en-US" sz="1300">
                          <a:effectLst/>
                        </a:rPr>
                        <a:t>Half beak/Japanese</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Hyporhamphus sajori</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52</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26</a:t>
                      </a:r>
                      <a:endParaRPr lang="en-US" sz="1300" b="0" dirty="0">
                        <a:effectLst/>
                        <a:latin typeface="Arimo" charset="0"/>
                        <a:ea typeface="Arimo" charset="0"/>
                        <a:cs typeface="Arimo" charset="0"/>
                      </a:endParaRPr>
                    </a:p>
                  </a:txBody>
                  <a:tcPr marL="28575" marR="28575" marT="0" marB="0" anchor="ctr"/>
                </a:tc>
              </a:tr>
              <a:tr h="191274">
                <a:tc vMerge="1">
                  <a:txBody>
                    <a:bodyPr/>
                    <a:lstStyle/>
                    <a:p>
                      <a:endParaRPr lang="en-US"/>
                    </a:p>
                  </a:txBody>
                  <a:tcPr/>
                </a:tc>
                <a:tc vMerge="1">
                  <a:txBody>
                    <a:bodyPr/>
                    <a:lstStyle/>
                    <a:p>
                      <a:endParaRPr lang="en-US"/>
                    </a:p>
                  </a:txBody>
                  <a:tcPr/>
                </a:tc>
                <a:tc>
                  <a:txBody>
                    <a:bodyPr/>
                    <a:lstStyle/>
                    <a:p>
                      <a:pPr algn="ctr" rtl="0" fontAlgn="ctr"/>
                      <a:r>
                        <a:rPr lang="en-US" sz="1300">
                          <a:effectLst/>
                        </a:rPr>
                        <a:t>Garfish</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Belone belone</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123</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48.1</a:t>
                      </a:r>
                      <a:endParaRPr lang="en-US" sz="1300" b="0" dirty="0">
                        <a:effectLst/>
                        <a:latin typeface="Arimo" charset="0"/>
                        <a:ea typeface="Arimo" charset="0"/>
                        <a:cs typeface="Arimo" charset="0"/>
                      </a:endParaRPr>
                    </a:p>
                  </a:txBody>
                  <a:tcPr marL="28575" marR="28575" marT="0" marB="0" anchor="ctr"/>
                </a:tc>
              </a:tr>
              <a:tr h="191274">
                <a:tc vMerge="1">
                  <a:txBody>
                    <a:bodyPr/>
                    <a:lstStyle/>
                    <a:p>
                      <a:endParaRPr lang="en-US"/>
                    </a:p>
                  </a:txBody>
                  <a:tcPr/>
                </a:tc>
                <a:tc vMerge="1">
                  <a:txBody>
                    <a:bodyPr/>
                    <a:lstStyle/>
                    <a:p>
                      <a:endParaRPr lang="en-US"/>
                    </a:p>
                  </a:txBody>
                  <a:tcPr/>
                </a:tc>
                <a:tc>
                  <a:txBody>
                    <a:bodyPr/>
                    <a:lstStyle/>
                    <a:p>
                      <a:pPr algn="ctr" rtl="0" fontAlgn="ctr"/>
                      <a:r>
                        <a:rPr lang="en-US" sz="1300">
                          <a:effectLst/>
                        </a:rPr>
                        <a:t>Bonga</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Ethmalosa fimbriata</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78</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17.8</a:t>
                      </a:r>
                      <a:endParaRPr lang="en-US" sz="1300" b="0" dirty="0">
                        <a:effectLst/>
                        <a:latin typeface="Arimo" charset="0"/>
                        <a:ea typeface="Arimo" charset="0"/>
                        <a:cs typeface="Arimo" charset="0"/>
                      </a:endParaRPr>
                    </a:p>
                  </a:txBody>
                  <a:tcPr marL="28575" marR="28575" marT="0" marB="0" anchor="ctr"/>
                </a:tc>
              </a:tr>
              <a:tr h="191274">
                <a:tc vMerge="1">
                  <a:txBody>
                    <a:bodyPr/>
                    <a:lstStyle/>
                    <a:p>
                      <a:endParaRPr lang="en-US"/>
                    </a:p>
                  </a:txBody>
                  <a:tcPr/>
                </a:tc>
                <a:tc vMerge="1">
                  <a:txBody>
                    <a:bodyPr/>
                    <a:lstStyle/>
                    <a:p>
                      <a:endParaRPr lang="en-US"/>
                    </a:p>
                  </a:txBody>
                  <a:tcPr/>
                </a:tc>
                <a:tc>
                  <a:txBody>
                    <a:bodyPr/>
                    <a:lstStyle/>
                    <a:p>
                      <a:pPr algn="ctr" rtl="0" fontAlgn="ctr"/>
                      <a:r>
                        <a:rPr lang="en-US" sz="1300" dirty="0">
                          <a:effectLst/>
                        </a:rPr>
                        <a:t>Silver white croaker</a:t>
                      </a:r>
                      <a:endParaRPr lang="en-US" sz="1300" b="0" dirty="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Genyonemus lineatus</a:t>
                      </a:r>
                      <a:endParaRPr lang="en-US" sz="1300" b="0" i="1" dirty="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62</a:t>
                      </a:r>
                      <a:endParaRPr lang="en-US" sz="1300" b="0" dirty="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20.3</a:t>
                      </a:r>
                      <a:endParaRPr lang="en-US" sz="1300" b="0" dirty="0">
                        <a:effectLst/>
                        <a:latin typeface="Arimo" charset="0"/>
                        <a:ea typeface="Arimo" charset="0"/>
                        <a:cs typeface="Arimo" charset="0"/>
                      </a:endParaRPr>
                    </a:p>
                  </a:txBody>
                  <a:tcPr marL="28575" marR="28575" marT="0" marB="0" anchor="ctr"/>
                </a:tc>
              </a:tr>
              <a:tr h="382548">
                <a:tc vMerge="1">
                  <a:txBody>
                    <a:bodyPr/>
                    <a:lstStyle/>
                    <a:p>
                      <a:endParaRPr lang="en-US"/>
                    </a:p>
                  </a:txBody>
                  <a:tcPr/>
                </a:tc>
                <a:tc vMerge="1">
                  <a:txBody>
                    <a:bodyPr/>
                    <a:lstStyle/>
                    <a:p>
                      <a:endParaRPr lang="en-US"/>
                    </a:p>
                  </a:txBody>
                  <a:tcPr/>
                </a:tc>
                <a:tc>
                  <a:txBody>
                    <a:bodyPr/>
                    <a:lstStyle/>
                    <a:p>
                      <a:pPr algn="ctr" rtl="0" fontAlgn="ctr"/>
                      <a:r>
                        <a:rPr lang="en-US" sz="1300">
                          <a:effectLst/>
                        </a:rPr>
                        <a:t>Mullet</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Mugil cephalus</a:t>
                      </a:r>
                      <a:br>
                        <a:rPr lang="en-US" sz="1300">
                          <a:effectLst/>
                        </a:rPr>
                      </a:b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66</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19.1</a:t>
                      </a:r>
                      <a:endParaRPr lang="en-US" sz="1300" b="0" dirty="0">
                        <a:effectLst/>
                        <a:latin typeface="Arimo" charset="0"/>
                        <a:ea typeface="Arimo" charset="0"/>
                        <a:cs typeface="Arimo" charset="0"/>
                      </a:endParaRPr>
                    </a:p>
                  </a:txBody>
                  <a:tcPr marL="28575" marR="28575" marT="0" marB="0" anchor="ctr"/>
                </a:tc>
              </a:tr>
              <a:tr h="269523">
                <a:tc vMerge="1">
                  <a:txBody>
                    <a:bodyPr/>
                    <a:lstStyle/>
                    <a:p>
                      <a:endParaRPr lang="en-US"/>
                    </a:p>
                  </a:txBody>
                  <a:tcPr/>
                </a:tc>
                <a:tc vMerge="1">
                  <a:txBody>
                    <a:bodyPr/>
                    <a:lstStyle/>
                    <a:p>
                      <a:endParaRPr lang="en-US"/>
                    </a:p>
                  </a:txBody>
                  <a:tcPr/>
                </a:tc>
                <a:tc>
                  <a:txBody>
                    <a:bodyPr/>
                    <a:lstStyle/>
                    <a:p>
                      <a:pPr algn="ctr" rtl="0" fontAlgn="ctr"/>
                      <a:r>
                        <a:rPr lang="en-US" sz="1300">
                          <a:effectLst/>
                        </a:rPr>
                        <a:t>Silver cat fish</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Chrysichthys nigrodigitatus</a:t>
                      </a:r>
                      <a:endParaRPr lang="en-US" sz="1300" b="0" i="1"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81</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22.3</a:t>
                      </a:r>
                      <a:endParaRPr lang="en-US" sz="1300" b="0" dirty="0">
                        <a:effectLst/>
                        <a:latin typeface="Arimo" charset="0"/>
                        <a:ea typeface="Arimo" charset="0"/>
                        <a:cs typeface="Arimo" charset="0"/>
                      </a:endParaRPr>
                    </a:p>
                  </a:txBody>
                  <a:tcPr marL="28575" marR="28575" marT="0" marB="0" anchor="ctr"/>
                </a:tc>
              </a:tr>
              <a:tr h="191274">
                <a:tc gridSpan="6">
                  <a:txBody>
                    <a:bodyPr/>
                    <a:lstStyle/>
                    <a:p>
                      <a:pPr algn="ctr" rtl="0" fontAlgn="ctr"/>
                      <a:r>
                        <a:rPr lang="en-US" sz="1300" dirty="0" smtClean="0">
                          <a:effectLst/>
                        </a:rPr>
                        <a:t>MACRO</a:t>
                      </a:r>
                      <a:r>
                        <a:rPr lang="en-US" sz="1300" baseline="0" dirty="0" smtClean="0">
                          <a:effectLst/>
                        </a:rPr>
                        <a:t>INVERTEBRATES</a:t>
                      </a:r>
                      <a:endParaRPr lang="en-US" sz="1300" b="1" dirty="0">
                        <a:effectLst/>
                        <a:latin typeface="Arimo" charset="0"/>
                        <a:ea typeface="Arimo" charset="0"/>
                        <a:cs typeface="Arimo" charset="0"/>
                      </a:endParaRPr>
                    </a:p>
                  </a:txBody>
                  <a:tcPr marL="28575" marR="28575" marT="0" marB="0" anchor="ctr"/>
                </a:tc>
                <a:tc hMerge="1">
                  <a:txBody>
                    <a:bodyPr/>
                    <a:lstStyle/>
                    <a:p>
                      <a:pPr algn="ctr" rtl="0" fontAlgn="ctr"/>
                      <a:endParaRPr lang="en-US" sz="1300" b="0" dirty="0">
                        <a:effectLst/>
                        <a:latin typeface="Arimo" charset="0"/>
                        <a:ea typeface="Arimo" charset="0"/>
                        <a:cs typeface="Arimo" charset="0"/>
                      </a:endParaRPr>
                    </a:p>
                  </a:txBody>
                  <a:tcPr marL="28575" marR="28575" marT="0" marB="0" anchor="ctr"/>
                </a:tc>
                <a:tc hMerge="1">
                  <a:txBody>
                    <a:bodyPr/>
                    <a:lstStyle/>
                    <a:p>
                      <a:pPr algn="ctr" rtl="0" fontAlgn="ctr"/>
                      <a:endParaRPr lang="en-US" sz="1300" b="0" dirty="0">
                        <a:effectLst/>
                        <a:latin typeface="Arimo" charset="0"/>
                        <a:ea typeface="Arimo" charset="0"/>
                        <a:cs typeface="Arimo" charset="0"/>
                      </a:endParaRPr>
                    </a:p>
                  </a:txBody>
                  <a:tcPr marL="28575" marR="28575" marT="0" marB="0" anchor="ctr"/>
                </a:tc>
                <a:tc hMerge="1">
                  <a:txBody>
                    <a:bodyPr/>
                    <a:lstStyle/>
                    <a:p>
                      <a:pPr algn="ctr" rtl="0" fontAlgn="ctr"/>
                      <a:endParaRPr lang="en-US" sz="1300" b="0" i="1" dirty="0">
                        <a:effectLst/>
                        <a:latin typeface="Arimo" charset="0"/>
                        <a:ea typeface="Arimo" charset="0"/>
                        <a:cs typeface="Arimo" charset="0"/>
                      </a:endParaRPr>
                    </a:p>
                  </a:txBody>
                  <a:tcPr marL="28575" marR="28575" marT="0" marB="0" anchor="ctr"/>
                </a:tc>
                <a:tc hMerge="1">
                  <a:txBody>
                    <a:bodyPr/>
                    <a:lstStyle/>
                    <a:p>
                      <a:pPr algn="ctr" rtl="0" fontAlgn="ctr"/>
                      <a:endParaRPr lang="en-US" sz="1300" b="0" dirty="0">
                        <a:effectLst/>
                        <a:latin typeface="Arimo" charset="0"/>
                        <a:ea typeface="Arimo" charset="0"/>
                        <a:cs typeface="Arimo" charset="0"/>
                      </a:endParaRPr>
                    </a:p>
                  </a:txBody>
                  <a:tcPr marL="28575" marR="28575" marT="0" marB="0" anchor="ctr"/>
                </a:tc>
                <a:tc hMerge="1">
                  <a:txBody>
                    <a:bodyPr/>
                    <a:lstStyle/>
                    <a:p>
                      <a:pPr algn="ctr" rtl="0" fontAlgn="ctr"/>
                      <a:endParaRPr lang="en-US" sz="1300" b="0" dirty="0">
                        <a:effectLst/>
                        <a:latin typeface="Arimo" charset="0"/>
                        <a:ea typeface="Arimo" charset="0"/>
                        <a:cs typeface="Arimo" charset="0"/>
                      </a:endParaRPr>
                    </a:p>
                  </a:txBody>
                  <a:tcPr marL="28575" marR="28575" marT="0" marB="0" anchor="ctr"/>
                </a:tc>
              </a:tr>
              <a:tr h="269523">
                <a:tc rowSpan="7">
                  <a:txBody>
                    <a:bodyPr/>
                    <a:lstStyle/>
                    <a:p>
                      <a:pPr algn="ctr" rtl="0" fontAlgn="ctr"/>
                      <a:r>
                        <a:rPr lang="en-US" sz="1300" dirty="0">
                          <a:effectLst/>
                        </a:rPr>
                        <a:t>LAGOS</a:t>
                      </a:r>
                      <a:endParaRPr lang="en-US" sz="1300" b="0" dirty="0">
                        <a:effectLst/>
                        <a:latin typeface="Arimo" charset="0"/>
                        <a:ea typeface="Arimo" charset="0"/>
                        <a:cs typeface="Arimo" charset="0"/>
                      </a:endParaRPr>
                    </a:p>
                  </a:txBody>
                  <a:tcPr marL="28575" marR="28575" marT="0" marB="0" anchor="ctr"/>
                </a:tc>
                <a:tc rowSpan="2">
                  <a:txBody>
                    <a:bodyPr/>
                    <a:lstStyle/>
                    <a:p>
                      <a:pPr algn="ctr" rtl="0" fontAlgn="ctr"/>
                      <a:r>
                        <a:rPr lang="en-US" sz="1300" dirty="0">
                          <a:effectLst/>
                        </a:rPr>
                        <a:t>Epe</a:t>
                      </a:r>
                      <a:endParaRPr lang="en-US" sz="1300" b="0"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Prawn</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Macrobrachium Macrobrachion</a:t>
                      </a:r>
                      <a:endParaRPr lang="en-US" sz="1300" b="0" i="1"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58</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30.47</a:t>
                      </a:r>
                      <a:endParaRPr lang="en-US" sz="1300" b="0" dirty="0">
                        <a:effectLst/>
                        <a:latin typeface="Arimo" charset="0"/>
                        <a:ea typeface="Arimo" charset="0"/>
                        <a:cs typeface="Arimo" charset="0"/>
                      </a:endParaRPr>
                    </a:p>
                  </a:txBody>
                  <a:tcPr marL="28575" marR="28575" marT="0" marB="0" anchor="ctr"/>
                </a:tc>
              </a:tr>
              <a:tr h="191274">
                <a:tc vMerge="1">
                  <a:txBody>
                    <a:bodyPr/>
                    <a:lstStyle/>
                    <a:p>
                      <a:endParaRPr lang="en-US"/>
                    </a:p>
                  </a:txBody>
                  <a:tcPr/>
                </a:tc>
                <a:tc vMerge="1">
                  <a:txBody>
                    <a:bodyPr/>
                    <a:lstStyle/>
                    <a:p>
                      <a:endParaRPr lang="en-US"/>
                    </a:p>
                  </a:txBody>
                  <a:tcPr/>
                </a:tc>
                <a:tc>
                  <a:txBody>
                    <a:bodyPr/>
                    <a:lstStyle/>
                    <a:p>
                      <a:pPr algn="ctr" rtl="0" fontAlgn="ctr"/>
                      <a:r>
                        <a:rPr lang="en-US" sz="1300" dirty="0">
                          <a:effectLst/>
                        </a:rPr>
                        <a:t>Atlantic Blue Crab</a:t>
                      </a:r>
                      <a:endParaRPr lang="en-US" sz="1300" b="0" dirty="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Callinectes Sapidus</a:t>
                      </a:r>
                      <a:endParaRPr lang="en-US" sz="1300" b="0" i="1" dirty="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148</a:t>
                      </a:r>
                      <a:endParaRPr lang="en-US" sz="1300" b="0" dirty="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6.78</a:t>
                      </a:r>
                      <a:endParaRPr lang="en-US" sz="1300" b="0" dirty="0">
                        <a:effectLst/>
                        <a:latin typeface="Arimo" charset="0"/>
                        <a:ea typeface="Arimo" charset="0"/>
                        <a:cs typeface="Arimo" charset="0"/>
                      </a:endParaRPr>
                    </a:p>
                  </a:txBody>
                  <a:tcPr marL="28575" marR="28575" marT="0" marB="0" anchor="ctr"/>
                </a:tc>
              </a:tr>
              <a:tr h="191274">
                <a:tc vMerge="1">
                  <a:txBody>
                    <a:bodyPr/>
                    <a:lstStyle/>
                    <a:p>
                      <a:endParaRPr lang="en-US"/>
                    </a:p>
                  </a:txBody>
                  <a:tcPr/>
                </a:tc>
                <a:tc rowSpan="2">
                  <a:txBody>
                    <a:bodyPr/>
                    <a:lstStyle/>
                    <a:p>
                      <a:pPr algn="ctr" rtl="0" fontAlgn="ctr"/>
                      <a:r>
                        <a:rPr lang="en-US" sz="1300" dirty="0">
                          <a:effectLst/>
                        </a:rPr>
                        <a:t>Apapa</a:t>
                      </a:r>
                      <a:endParaRPr lang="en-US" sz="1300" b="0"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Tiger prawn</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Penaeus monodon</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49</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19.5</a:t>
                      </a:r>
                      <a:endParaRPr lang="en-US" sz="1300" b="0">
                        <a:effectLst/>
                        <a:latin typeface="Arimo" charset="0"/>
                        <a:ea typeface="Arimo" charset="0"/>
                        <a:cs typeface="Arimo" charset="0"/>
                      </a:endParaRPr>
                    </a:p>
                  </a:txBody>
                  <a:tcPr marL="28575" marR="28575" marT="0" marB="0" anchor="ctr"/>
                </a:tc>
              </a:tr>
              <a:tr h="191274">
                <a:tc vMerge="1">
                  <a:txBody>
                    <a:bodyPr/>
                    <a:lstStyle/>
                    <a:p>
                      <a:endParaRPr lang="en-US"/>
                    </a:p>
                  </a:txBody>
                  <a:tcPr/>
                </a:tc>
                <a:tc vMerge="1">
                  <a:txBody>
                    <a:bodyPr/>
                    <a:lstStyle/>
                    <a:p>
                      <a:endParaRPr lang="en-US"/>
                    </a:p>
                  </a:txBody>
                  <a:tcPr/>
                </a:tc>
                <a:tc>
                  <a:txBody>
                    <a:bodyPr/>
                    <a:lstStyle/>
                    <a:p>
                      <a:pPr algn="ctr" rtl="0" fontAlgn="ctr"/>
                      <a:r>
                        <a:rPr lang="en-US" sz="1300">
                          <a:effectLst/>
                        </a:rPr>
                        <a:t>Smooth swim crab</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Penaeus monodon</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252</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8.8</a:t>
                      </a:r>
                      <a:endParaRPr lang="en-US" sz="1300" b="0">
                        <a:effectLst/>
                        <a:latin typeface="Arimo" charset="0"/>
                        <a:ea typeface="Arimo" charset="0"/>
                        <a:cs typeface="Arimo" charset="0"/>
                      </a:endParaRPr>
                    </a:p>
                  </a:txBody>
                  <a:tcPr marL="28575" marR="28575" marT="0" marB="0" anchor="ctr"/>
                </a:tc>
              </a:tr>
              <a:tr h="202833">
                <a:tc vMerge="1">
                  <a:txBody>
                    <a:bodyPr/>
                    <a:lstStyle/>
                    <a:p>
                      <a:endParaRPr lang="en-US"/>
                    </a:p>
                  </a:txBody>
                  <a:tcPr/>
                </a:tc>
                <a:tc rowSpan="2">
                  <a:txBody>
                    <a:bodyPr/>
                    <a:lstStyle/>
                    <a:p>
                      <a:pPr algn="ctr" rtl="0" fontAlgn="ctr"/>
                      <a:r>
                        <a:rPr lang="en-US" sz="1300">
                          <a:effectLst/>
                        </a:rPr>
                        <a:t>VI</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Tiger prawn</a:t>
                      </a:r>
                      <a:endParaRPr lang="en-US" sz="1300" b="0">
                        <a:effectLst/>
                        <a:latin typeface="Arimo" charset="0"/>
                        <a:ea typeface="Arimo" charset="0"/>
                        <a:cs typeface="Arimo" charset="0"/>
                      </a:endParaRPr>
                    </a:p>
                  </a:txBody>
                  <a:tcPr marL="28575" marR="28575" marT="0" marB="0" anchor="ctr"/>
                </a:tc>
                <a:tc>
                  <a:txBody>
                    <a:bodyPr/>
                    <a:lstStyle/>
                    <a:p>
                      <a:pPr rtl="0" fontAlgn="ct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27</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14.5</a:t>
                      </a:r>
                      <a:endParaRPr lang="en-US" sz="1300" b="0">
                        <a:effectLst/>
                        <a:latin typeface="Arimo" charset="0"/>
                        <a:ea typeface="Arimo" charset="0"/>
                        <a:cs typeface="Arimo" charset="0"/>
                      </a:endParaRPr>
                    </a:p>
                  </a:txBody>
                  <a:tcPr marL="28575" marR="28575" marT="0" marB="0" anchor="ctr"/>
                </a:tc>
              </a:tr>
              <a:tr h="191274">
                <a:tc vMerge="1">
                  <a:txBody>
                    <a:bodyPr/>
                    <a:lstStyle/>
                    <a:p>
                      <a:endParaRPr lang="en-US"/>
                    </a:p>
                  </a:txBody>
                  <a:tcPr/>
                </a:tc>
                <a:tc vMerge="1">
                  <a:txBody>
                    <a:bodyPr/>
                    <a:lstStyle/>
                    <a:p>
                      <a:endParaRPr lang="en-US"/>
                    </a:p>
                  </a:txBody>
                  <a:tcPr/>
                </a:tc>
                <a:tc>
                  <a:txBody>
                    <a:bodyPr/>
                    <a:lstStyle/>
                    <a:p>
                      <a:pPr algn="ctr" rtl="0" fontAlgn="ctr"/>
                      <a:r>
                        <a:rPr lang="en-US" sz="1300">
                          <a:effectLst/>
                        </a:rPr>
                        <a:t>Atlantic Blue Crab</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Callinectes Sapidus</a:t>
                      </a:r>
                      <a:endParaRPr lang="en-US" sz="1300" b="0" i="1"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91</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6.1</a:t>
                      </a:r>
                      <a:endParaRPr lang="en-US" sz="1300" b="0">
                        <a:effectLst/>
                        <a:latin typeface="Arimo" charset="0"/>
                        <a:ea typeface="Arimo" charset="0"/>
                        <a:cs typeface="Arimo" charset="0"/>
                      </a:endParaRPr>
                    </a:p>
                  </a:txBody>
                  <a:tcPr marL="28575" marR="28575" marT="0" marB="0" anchor="ctr"/>
                </a:tc>
              </a:tr>
              <a:tr h="191274">
                <a:tc vMerge="1">
                  <a:txBody>
                    <a:bodyPr/>
                    <a:lstStyle/>
                    <a:p>
                      <a:endParaRPr lang="en-US"/>
                    </a:p>
                  </a:txBody>
                  <a:tcPr/>
                </a:tc>
                <a:tc>
                  <a:txBody>
                    <a:bodyPr/>
                    <a:lstStyle/>
                    <a:p>
                      <a:pPr algn="ctr" rtl="0" fontAlgn="ctr"/>
                      <a:r>
                        <a:rPr lang="en-US" sz="1300" dirty="0">
                          <a:effectLst/>
                        </a:rPr>
                        <a:t>Badagry</a:t>
                      </a:r>
                      <a:endParaRPr lang="en-US" sz="1300" b="0"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Atlantic blue crab </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Callinectes Sapidus</a:t>
                      </a:r>
                      <a:endParaRPr lang="en-US" sz="1300" b="0" i="1"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75</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11.4</a:t>
                      </a:r>
                      <a:endParaRPr lang="en-US" sz="1300" b="0">
                        <a:effectLst/>
                        <a:latin typeface="Arimo" charset="0"/>
                        <a:ea typeface="Arimo" charset="0"/>
                        <a:cs typeface="Arimo" charset="0"/>
                      </a:endParaRPr>
                    </a:p>
                  </a:txBody>
                  <a:tcPr marL="28575" marR="28575" marT="0" marB="0" anchor="ctr"/>
                </a:tc>
              </a:tr>
              <a:tr h="191274">
                <a:tc rowSpan="2">
                  <a:txBody>
                    <a:bodyPr/>
                    <a:lstStyle/>
                    <a:p>
                      <a:pPr algn="ctr" rtl="0" fontAlgn="ctr"/>
                      <a:r>
                        <a:rPr lang="en-US" sz="1300" dirty="0">
                          <a:effectLst/>
                        </a:rPr>
                        <a:t>ONDO</a:t>
                      </a:r>
                      <a:endParaRPr lang="en-US" sz="1300" b="0" dirty="0">
                        <a:effectLst/>
                        <a:latin typeface="Arimo" charset="0"/>
                        <a:ea typeface="Arimo" charset="0"/>
                        <a:cs typeface="Arimo" charset="0"/>
                      </a:endParaRPr>
                    </a:p>
                  </a:txBody>
                  <a:tcPr marL="28575" marR="28575" marT="0" marB="0" anchor="ctr"/>
                </a:tc>
                <a:tc rowSpan="2">
                  <a:txBody>
                    <a:bodyPr/>
                    <a:lstStyle/>
                    <a:p>
                      <a:pPr algn="ctr" rtl="0" fontAlgn="ctr"/>
                      <a:r>
                        <a:rPr lang="en-US" sz="1300" dirty="0">
                          <a:effectLst/>
                        </a:rPr>
                        <a:t>Aiyetoro</a:t>
                      </a:r>
                      <a:endParaRPr lang="en-US" sz="1300" b="0"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Mantis shrimp</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Lysiosquillina maculata</a:t>
                      </a:r>
                      <a:endParaRPr lang="en-US" sz="1300" b="0" i="1"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16</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11.6</a:t>
                      </a:r>
                      <a:endParaRPr lang="en-US" sz="1300" b="0">
                        <a:effectLst/>
                        <a:latin typeface="Arimo" charset="0"/>
                        <a:ea typeface="Arimo" charset="0"/>
                        <a:cs typeface="Arimo" charset="0"/>
                      </a:endParaRPr>
                    </a:p>
                  </a:txBody>
                  <a:tcPr marL="28575" marR="28575" marT="0" marB="0" anchor="ctr"/>
                </a:tc>
              </a:tr>
              <a:tr h="191274">
                <a:tc vMerge="1">
                  <a:txBody>
                    <a:bodyPr/>
                    <a:lstStyle/>
                    <a:p>
                      <a:endParaRPr lang="en-US"/>
                    </a:p>
                  </a:txBody>
                  <a:tcPr/>
                </a:tc>
                <a:tc vMerge="1">
                  <a:txBody>
                    <a:bodyPr/>
                    <a:lstStyle/>
                    <a:p>
                      <a:endParaRPr lang="en-US"/>
                    </a:p>
                  </a:txBody>
                  <a:tcPr/>
                </a:tc>
                <a:tc>
                  <a:txBody>
                    <a:bodyPr/>
                    <a:lstStyle/>
                    <a:p>
                      <a:pPr algn="ctr" rtl="0" fontAlgn="ctr"/>
                      <a:r>
                        <a:rPr lang="en-US" sz="1300">
                          <a:effectLst/>
                        </a:rPr>
                        <a:t>Red cray fish</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Procambarus clarkii</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5</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10</a:t>
                      </a:r>
                      <a:endParaRPr lang="en-US" sz="1300" b="0">
                        <a:effectLst/>
                        <a:latin typeface="Arimo" charset="0"/>
                        <a:ea typeface="Arimo" charset="0"/>
                        <a:cs typeface="Arimo" charset="0"/>
                      </a:endParaRPr>
                    </a:p>
                  </a:txBody>
                  <a:tcPr marL="28575" marR="28575" marT="0" marB="0" anchor="ctr"/>
                </a:tc>
              </a:tr>
              <a:tr h="191274">
                <a:tc>
                  <a:txBody>
                    <a:bodyPr/>
                    <a:lstStyle/>
                    <a:p>
                      <a:pPr algn="ctr" rtl="0" fontAlgn="ctr"/>
                      <a:r>
                        <a:rPr lang="en-US" sz="1300" dirty="0">
                          <a:effectLst/>
                        </a:rPr>
                        <a:t>OGUN</a:t>
                      </a:r>
                      <a:endParaRPr lang="en-US" sz="1300" b="0" dirty="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Iwopin</a:t>
                      </a:r>
                      <a:endParaRPr lang="en-US" sz="1300" b="0"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Atlantic Blue Crab</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Callinectes Sapidus</a:t>
                      </a:r>
                      <a:endParaRPr lang="en-US" sz="1300" b="0" i="1"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73</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11.1</a:t>
                      </a:r>
                      <a:endParaRPr lang="en-US" sz="1300" b="0">
                        <a:effectLst/>
                        <a:latin typeface="Arimo" charset="0"/>
                        <a:ea typeface="Arimo" charset="0"/>
                        <a:cs typeface="Arimo" charset="0"/>
                      </a:endParaRPr>
                    </a:p>
                  </a:txBody>
                  <a:tcPr marL="28575" marR="28575" marT="0" marB="0" anchor="ctr"/>
                </a:tc>
              </a:tr>
              <a:tr h="191274">
                <a:tc rowSpan="2">
                  <a:txBody>
                    <a:bodyPr/>
                    <a:lstStyle/>
                    <a:p>
                      <a:pPr algn="ctr" rtl="0" fontAlgn="ctr"/>
                      <a:r>
                        <a:rPr lang="en-US" sz="1300">
                          <a:effectLst/>
                        </a:rPr>
                        <a:t>CROSS RIVERS</a:t>
                      </a:r>
                      <a:endParaRPr lang="en-US" sz="1300" b="0">
                        <a:effectLst/>
                        <a:latin typeface="Arimo" charset="0"/>
                        <a:ea typeface="Arimo" charset="0"/>
                        <a:cs typeface="Arimo" charset="0"/>
                      </a:endParaRPr>
                    </a:p>
                  </a:txBody>
                  <a:tcPr marL="28575" marR="28575" marT="0" marB="0" anchor="ctr"/>
                </a:tc>
                <a:tc rowSpan="2">
                  <a:txBody>
                    <a:bodyPr/>
                    <a:lstStyle/>
                    <a:p>
                      <a:pPr algn="ctr" rtl="0" fontAlgn="ctr"/>
                      <a:r>
                        <a:rPr lang="en-US" sz="1300" dirty="0">
                          <a:effectLst/>
                        </a:rPr>
                        <a:t>Nsidung</a:t>
                      </a:r>
                      <a:endParaRPr lang="en-US" sz="1300" b="0"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Atlantic Blue Crab</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Callinectes Sapidus</a:t>
                      </a:r>
                      <a:endParaRPr lang="en-US" sz="1300" b="0" i="1"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51</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19.5</a:t>
                      </a:r>
                      <a:endParaRPr lang="en-US" sz="1300" b="0">
                        <a:effectLst/>
                        <a:latin typeface="Arimo" charset="0"/>
                        <a:ea typeface="Arimo" charset="0"/>
                        <a:cs typeface="Arimo" charset="0"/>
                      </a:endParaRPr>
                    </a:p>
                  </a:txBody>
                  <a:tcPr marL="28575" marR="28575" marT="0" marB="0" anchor="ctr"/>
                </a:tc>
              </a:tr>
              <a:tr h="191274">
                <a:tc vMerge="1">
                  <a:txBody>
                    <a:bodyPr/>
                    <a:lstStyle/>
                    <a:p>
                      <a:endParaRPr lang="en-US"/>
                    </a:p>
                  </a:txBody>
                  <a:tcPr/>
                </a:tc>
                <a:tc vMerge="1">
                  <a:txBody>
                    <a:bodyPr/>
                    <a:lstStyle/>
                    <a:p>
                      <a:endParaRPr lang="en-US"/>
                    </a:p>
                  </a:txBody>
                  <a:tcPr/>
                </a:tc>
                <a:tc>
                  <a:txBody>
                    <a:bodyPr/>
                    <a:lstStyle/>
                    <a:p>
                      <a:pPr algn="ctr" rtl="0" fontAlgn="ctr"/>
                      <a:r>
                        <a:rPr lang="en-US" sz="1300">
                          <a:effectLst/>
                        </a:rPr>
                        <a:t>Tiger prawn</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Penaeus monodon</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55</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20.5</a:t>
                      </a:r>
                      <a:endParaRPr lang="en-US" sz="1300" b="0">
                        <a:effectLst/>
                        <a:latin typeface="Arimo" charset="0"/>
                        <a:ea typeface="Arimo" charset="0"/>
                        <a:cs typeface="Arimo" charset="0"/>
                      </a:endParaRPr>
                    </a:p>
                  </a:txBody>
                  <a:tcPr marL="28575" marR="28575" marT="0" marB="0" anchor="ctr"/>
                </a:tc>
              </a:tr>
              <a:tr h="191274">
                <a:tc rowSpan="2">
                  <a:txBody>
                    <a:bodyPr/>
                    <a:lstStyle/>
                    <a:p>
                      <a:pPr algn="ctr" rtl="0" fontAlgn="ctr"/>
                      <a:r>
                        <a:rPr lang="en-US" sz="1300" dirty="0">
                          <a:effectLst/>
                        </a:rPr>
                        <a:t>AKWA-IBOM</a:t>
                      </a:r>
                      <a:endParaRPr lang="en-US" sz="1300" b="0" dirty="0">
                        <a:effectLst/>
                        <a:latin typeface="Arimo" charset="0"/>
                        <a:ea typeface="Arimo" charset="0"/>
                        <a:cs typeface="Arimo" charset="0"/>
                      </a:endParaRPr>
                    </a:p>
                  </a:txBody>
                  <a:tcPr marL="28575" marR="28575" marT="0" marB="0" anchor="ctr"/>
                </a:tc>
                <a:tc rowSpan="2">
                  <a:txBody>
                    <a:bodyPr/>
                    <a:lstStyle/>
                    <a:p>
                      <a:pPr algn="ctr" rtl="0" fontAlgn="ctr"/>
                      <a:r>
                        <a:rPr lang="en-US" sz="1300" dirty="0">
                          <a:effectLst/>
                        </a:rPr>
                        <a:t>Ibaka</a:t>
                      </a:r>
                      <a:endParaRPr lang="en-US" sz="1300" b="0"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Atlantic blue crab</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Callinectes Sapidus</a:t>
                      </a:r>
                      <a:endParaRPr lang="en-US" sz="1300" b="0" i="1"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81</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10.5</a:t>
                      </a:r>
                      <a:endParaRPr lang="en-US" sz="1300" b="0">
                        <a:effectLst/>
                        <a:latin typeface="Arimo" charset="0"/>
                        <a:ea typeface="Arimo" charset="0"/>
                        <a:cs typeface="Arimo" charset="0"/>
                      </a:endParaRPr>
                    </a:p>
                  </a:txBody>
                  <a:tcPr marL="28575" marR="28575" marT="0" marB="0" anchor="ctr"/>
                </a:tc>
              </a:tr>
              <a:tr h="191274">
                <a:tc vMerge="1">
                  <a:txBody>
                    <a:bodyPr/>
                    <a:lstStyle/>
                    <a:p>
                      <a:endParaRPr lang="en-US"/>
                    </a:p>
                  </a:txBody>
                  <a:tcPr/>
                </a:tc>
                <a:tc vMerge="1">
                  <a:txBody>
                    <a:bodyPr/>
                    <a:lstStyle/>
                    <a:p>
                      <a:endParaRPr lang="en-US"/>
                    </a:p>
                  </a:txBody>
                  <a:tcPr/>
                </a:tc>
                <a:tc>
                  <a:txBody>
                    <a:bodyPr/>
                    <a:lstStyle/>
                    <a:p>
                      <a:pPr algn="ctr" rtl="0" fontAlgn="ctr"/>
                      <a:r>
                        <a:rPr lang="en-US" sz="1300">
                          <a:effectLst/>
                        </a:rPr>
                        <a:t>Tiger prawn</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Penaeus monodon</a:t>
                      </a:r>
                      <a:endParaRPr lang="en-US" sz="1300" b="0" i="1">
                        <a:effectLst/>
                        <a:latin typeface="Arimo" charset="0"/>
                        <a:ea typeface="Arimo" charset="0"/>
                        <a:cs typeface="Arimo" charset="0"/>
                      </a:endParaRPr>
                    </a:p>
                  </a:txBody>
                  <a:tcPr marL="28575" marR="28575" marT="0" marB="0" anchor="ctr"/>
                </a:tc>
                <a:tc>
                  <a:txBody>
                    <a:bodyPr/>
                    <a:lstStyle/>
                    <a:p>
                      <a:pPr algn="ctr" rtl="0" fontAlgn="ctr"/>
                      <a:r>
                        <a:rPr lang="en-US" sz="1300">
                          <a:effectLst/>
                        </a:rPr>
                        <a:t>55</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18</a:t>
                      </a:r>
                      <a:endParaRPr lang="en-US" sz="1300" b="0">
                        <a:effectLst/>
                        <a:latin typeface="Arimo" charset="0"/>
                        <a:ea typeface="Arimo" charset="0"/>
                        <a:cs typeface="Arimo" charset="0"/>
                      </a:endParaRPr>
                    </a:p>
                  </a:txBody>
                  <a:tcPr marL="28575" marR="28575" marT="0" marB="0" anchor="ctr"/>
                </a:tc>
              </a:tr>
              <a:tr h="191274">
                <a:tc rowSpan="2">
                  <a:txBody>
                    <a:bodyPr/>
                    <a:lstStyle/>
                    <a:p>
                      <a:pPr algn="ctr" rtl="0" fontAlgn="ctr"/>
                      <a:r>
                        <a:rPr lang="en-US" sz="1300" dirty="0">
                          <a:effectLst/>
                        </a:rPr>
                        <a:t>RIVERS</a:t>
                      </a:r>
                      <a:endParaRPr lang="en-US" sz="1300" b="0" dirty="0">
                        <a:effectLst/>
                        <a:latin typeface="Arimo" charset="0"/>
                        <a:ea typeface="Arimo" charset="0"/>
                        <a:cs typeface="Arimo" charset="0"/>
                      </a:endParaRPr>
                    </a:p>
                  </a:txBody>
                  <a:tcPr marL="28575" marR="28575" marT="0" marB="0" anchor="ctr"/>
                </a:tc>
                <a:tc rowSpan="2">
                  <a:txBody>
                    <a:bodyPr/>
                    <a:lstStyle/>
                    <a:p>
                      <a:pPr algn="ctr" rtl="0" fontAlgn="ctr"/>
                      <a:r>
                        <a:rPr lang="en-US" sz="1300" dirty="0">
                          <a:effectLst/>
                        </a:rPr>
                        <a:t>Oyokoroto</a:t>
                      </a:r>
                      <a:endParaRPr lang="en-US" sz="1300" b="0"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Atlantic blue crab</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Callinectes Sapidus</a:t>
                      </a:r>
                      <a:endParaRPr lang="en-US" sz="1300" b="0" i="1" dirty="0">
                        <a:effectLst/>
                        <a:latin typeface="Arimo" charset="0"/>
                        <a:ea typeface="Arimo" charset="0"/>
                        <a:cs typeface="Arimo" charset="0"/>
                      </a:endParaRPr>
                    </a:p>
                  </a:txBody>
                  <a:tcPr marL="28575" marR="28575" marT="0" marB="0" anchor="ctr"/>
                </a:tc>
                <a:tc>
                  <a:txBody>
                    <a:bodyPr/>
                    <a:lstStyle/>
                    <a:p>
                      <a:pPr algn="ctr" rtl="0" fontAlgn="ctr"/>
                      <a:r>
                        <a:rPr lang="en-US" sz="1300">
                          <a:effectLst/>
                        </a:rPr>
                        <a:t>51</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a:effectLst/>
                        </a:rPr>
                        <a:t>9.3</a:t>
                      </a:r>
                      <a:endParaRPr lang="en-US" sz="1300" b="0">
                        <a:effectLst/>
                        <a:latin typeface="Arimo" charset="0"/>
                        <a:ea typeface="Arimo" charset="0"/>
                        <a:cs typeface="Arimo" charset="0"/>
                      </a:endParaRPr>
                    </a:p>
                  </a:txBody>
                  <a:tcPr marL="28575" marR="28575" marT="0" marB="0" anchor="ctr"/>
                </a:tc>
              </a:tr>
              <a:tr h="191274">
                <a:tc vMerge="1">
                  <a:txBody>
                    <a:bodyPr/>
                    <a:lstStyle/>
                    <a:p>
                      <a:endParaRPr lang="en-US"/>
                    </a:p>
                  </a:txBody>
                  <a:tcPr/>
                </a:tc>
                <a:tc vMerge="1">
                  <a:txBody>
                    <a:bodyPr/>
                    <a:lstStyle/>
                    <a:p>
                      <a:endParaRPr lang="en-US"/>
                    </a:p>
                  </a:txBody>
                  <a:tcPr/>
                </a:tc>
                <a:tc>
                  <a:txBody>
                    <a:bodyPr/>
                    <a:lstStyle/>
                    <a:p>
                      <a:pPr algn="ctr" rtl="0" fontAlgn="ctr"/>
                      <a:r>
                        <a:rPr lang="en-US" sz="1300">
                          <a:effectLst/>
                        </a:rPr>
                        <a:t>Tiger prawn</a:t>
                      </a:r>
                      <a:endParaRPr lang="en-US" sz="1300" b="0">
                        <a:effectLst/>
                        <a:latin typeface="Arimo" charset="0"/>
                        <a:ea typeface="Arimo" charset="0"/>
                        <a:cs typeface="Arimo" charset="0"/>
                      </a:endParaRPr>
                    </a:p>
                  </a:txBody>
                  <a:tcPr marL="28575" marR="28575" marT="0" marB="0" anchor="ctr"/>
                </a:tc>
                <a:tc>
                  <a:txBody>
                    <a:bodyPr/>
                    <a:lstStyle/>
                    <a:p>
                      <a:pPr algn="ctr" rtl="0" fontAlgn="ctr"/>
                      <a:r>
                        <a:rPr lang="en-US" sz="1300" dirty="0" err="1">
                          <a:effectLst/>
                        </a:rPr>
                        <a:t>Penaeus</a:t>
                      </a:r>
                      <a:r>
                        <a:rPr lang="en-US" sz="1300" dirty="0">
                          <a:effectLst/>
                        </a:rPr>
                        <a:t> </a:t>
                      </a:r>
                      <a:r>
                        <a:rPr lang="en-US" sz="1300" dirty="0" err="1" smtClean="0">
                          <a:effectLst/>
                        </a:rPr>
                        <a:t>monodon</a:t>
                      </a:r>
                      <a:endParaRPr lang="en-US" sz="1300" b="0" i="1" dirty="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50</a:t>
                      </a:r>
                      <a:endParaRPr lang="en-US" sz="1300" b="0" dirty="0">
                        <a:effectLst/>
                        <a:latin typeface="Arimo" charset="0"/>
                        <a:ea typeface="Arimo" charset="0"/>
                        <a:cs typeface="Arimo" charset="0"/>
                      </a:endParaRPr>
                    </a:p>
                  </a:txBody>
                  <a:tcPr marL="28575" marR="28575" marT="0" marB="0" anchor="ctr"/>
                </a:tc>
                <a:tc>
                  <a:txBody>
                    <a:bodyPr/>
                    <a:lstStyle/>
                    <a:p>
                      <a:pPr algn="ctr" rtl="0" fontAlgn="ctr"/>
                      <a:r>
                        <a:rPr lang="en-US" sz="1300" dirty="0">
                          <a:effectLst/>
                        </a:rPr>
                        <a:t>18.5</a:t>
                      </a:r>
                      <a:endParaRPr lang="en-US" sz="1300" b="0" dirty="0">
                        <a:effectLst/>
                        <a:latin typeface="Arimo" charset="0"/>
                        <a:ea typeface="Arimo" charset="0"/>
                        <a:cs typeface="Arimo" charset="0"/>
                      </a:endParaRPr>
                    </a:p>
                  </a:txBody>
                  <a:tcPr marL="28575" marR="28575" marT="0" marB="0" anchor="ctr"/>
                </a:tc>
              </a:tr>
            </a:tbl>
          </a:graphicData>
        </a:graphic>
      </p:graphicFrame>
      <p:sp>
        <p:nvSpPr>
          <p:cNvPr id="10" name="TextBox 9"/>
          <p:cNvSpPr txBox="1"/>
          <p:nvPr/>
        </p:nvSpPr>
        <p:spPr>
          <a:xfrm>
            <a:off x="219477" y="190500"/>
            <a:ext cx="17916123" cy="646331"/>
          </a:xfrm>
          <a:prstGeom prst="rect">
            <a:avLst/>
          </a:prstGeom>
          <a:noFill/>
        </p:spPr>
        <p:txBody>
          <a:bodyPr wrap="none" rtlCol="0">
            <a:spAutoFit/>
          </a:bodyPr>
          <a:lstStyle/>
          <a:p>
            <a:r>
              <a:rPr lang="en-US" b="1" dirty="0">
                <a:latin typeface="Arimo" charset="0"/>
                <a:ea typeface="Arimo" charset="0"/>
                <a:cs typeface="Arimo" charset="0"/>
              </a:rPr>
              <a:t>MORPHOMETRICS OF FISH AND MACROINVERTEBRATES SPECIES PROCURED FROM NINE MAJOR LANDING SITES ACROSS SIX COASTAL STATES IN NIGERIA</a:t>
            </a:r>
          </a:p>
          <a:p>
            <a:pPr algn="ctr"/>
            <a:endParaRPr lang="en-US" dirty="0"/>
          </a:p>
        </p:txBody>
      </p:sp>
    </p:spTree>
    <p:extLst>
      <p:ext uri="{BB962C8B-B14F-4D97-AF65-F5344CB8AC3E}">
        <p14:creationId xmlns:p14="http://schemas.microsoft.com/office/powerpoint/2010/main" val="36227990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10">
            <a:extLst>
              <a:ext uri="{FF2B5EF4-FFF2-40B4-BE49-F238E27FC236}">
                <a16:creationId xmlns:lc="http://schemas.openxmlformats.org/drawingml/2006/lockedCanvas" xmlns:a16="http://schemas.microsoft.com/office/drawing/2014/main" xmlns="" id="{768D5B58-DE46-CC41-4B01-E114946DAFF0}"/>
              </a:ext>
            </a:extLst>
          </p:cNvPr>
          <p:cNvGraphicFramePr>
            <a:graphicFrameLocks noGrp="1"/>
          </p:cNvGraphicFramePr>
          <p:nvPr>
            <p:extLst>
              <p:ext uri="{D42A27DB-BD31-4B8C-83A1-F6EECF244321}">
                <p14:modId xmlns:p14="http://schemas.microsoft.com/office/powerpoint/2010/main" val="2510545919"/>
              </p:ext>
            </p:extLst>
          </p:nvPr>
        </p:nvGraphicFramePr>
        <p:xfrm>
          <a:off x="381000" y="1866900"/>
          <a:ext cx="8153400" cy="7696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ontent Placeholder 3">
            <a:extLst>
              <a:ext uri="{FF2B5EF4-FFF2-40B4-BE49-F238E27FC236}">
                <a16:creationId xmlns:lc="http://schemas.openxmlformats.org/drawingml/2006/lockedCanvas" xmlns:a16="http://schemas.microsoft.com/office/drawing/2014/main" xmlns="" id="{34900D47-C004-B6F0-00DD-5156DC7F4596}"/>
              </a:ext>
            </a:extLst>
          </p:cNvPr>
          <p:cNvGraphicFramePr>
            <a:graphicFrameLocks noGrp="1"/>
          </p:cNvGraphicFramePr>
          <p:nvPr>
            <p:extLst>
              <p:ext uri="{D42A27DB-BD31-4B8C-83A1-F6EECF244321}">
                <p14:modId xmlns:p14="http://schemas.microsoft.com/office/powerpoint/2010/main" val="3863464388"/>
              </p:ext>
            </p:extLst>
          </p:nvPr>
        </p:nvGraphicFramePr>
        <p:xfrm>
          <a:off x="8915400" y="2019300"/>
          <a:ext cx="8686800" cy="71628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512793" y="495300"/>
            <a:ext cx="16556007" cy="830997"/>
          </a:xfrm>
          <a:prstGeom prst="rect">
            <a:avLst/>
          </a:prstGeom>
          <a:noFill/>
        </p:spPr>
        <p:txBody>
          <a:bodyPr wrap="none" rtlCol="0">
            <a:spAutoFit/>
          </a:bodyPr>
          <a:lstStyle/>
          <a:p>
            <a:pPr algn="ctr"/>
            <a:r>
              <a:rPr lang="en-US" sz="2400" b="1" dirty="0" smtClean="0">
                <a:latin typeface="Arimo" charset="0"/>
                <a:ea typeface="Arimo" charset="0"/>
                <a:cs typeface="Arimo" charset="0"/>
              </a:rPr>
              <a:t>CHARTS SHOWING THE FULTON’S CONDITION FACTOR OF FISHES AND MACROINVERTEBRATES PROCURED </a:t>
            </a:r>
          </a:p>
          <a:p>
            <a:pPr algn="ctr"/>
            <a:r>
              <a:rPr lang="en-US" sz="2400" b="1" dirty="0" smtClean="0">
                <a:latin typeface="Arimo" charset="0"/>
                <a:ea typeface="Arimo" charset="0"/>
                <a:cs typeface="Arimo" charset="0"/>
              </a:rPr>
              <a:t>FROM NINE LOACATIONS ACROSS THE SIX COASTAL STATES IN NIGERIA</a:t>
            </a:r>
            <a:endParaRPr lang="en-US" sz="2400" b="1" dirty="0">
              <a:latin typeface="Arimo" charset="0"/>
              <a:ea typeface="Arimo" charset="0"/>
              <a:cs typeface="Arimo" charset="0"/>
            </a:endParaRPr>
          </a:p>
        </p:txBody>
      </p:sp>
      <p:sp>
        <p:nvSpPr>
          <p:cNvPr id="8" name="TextBox 7"/>
          <p:cNvSpPr txBox="1"/>
          <p:nvPr/>
        </p:nvSpPr>
        <p:spPr>
          <a:xfrm>
            <a:off x="762000" y="1409700"/>
            <a:ext cx="7532831" cy="400110"/>
          </a:xfrm>
          <a:prstGeom prst="rect">
            <a:avLst/>
          </a:prstGeom>
          <a:noFill/>
        </p:spPr>
        <p:txBody>
          <a:bodyPr wrap="none" rtlCol="0">
            <a:spAutoFit/>
          </a:bodyPr>
          <a:lstStyle/>
          <a:p>
            <a:r>
              <a:rPr lang="en-US" sz="2000" dirty="0" smtClean="0">
                <a:latin typeface="Arimo" charset="0"/>
                <a:ea typeface="Arimo" charset="0"/>
                <a:cs typeface="Arimo" charset="0"/>
              </a:rPr>
              <a:t>Fig 1: Condition factors of Fish procured from the nine locations</a:t>
            </a:r>
            <a:endParaRPr lang="en-US" sz="2000" dirty="0">
              <a:latin typeface="Arimo" charset="0"/>
              <a:ea typeface="Arimo" charset="0"/>
              <a:cs typeface="Arimo" charset="0"/>
            </a:endParaRPr>
          </a:p>
        </p:txBody>
      </p:sp>
      <p:sp>
        <p:nvSpPr>
          <p:cNvPr id="9" name="TextBox 8"/>
          <p:cNvSpPr txBox="1"/>
          <p:nvPr/>
        </p:nvSpPr>
        <p:spPr>
          <a:xfrm>
            <a:off x="8991600" y="1409700"/>
            <a:ext cx="9310562" cy="400110"/>
          </a:xfrm>
          <a:prstGeom prst="rect">
            <a:avLst/>
          </a:prstGeom>
          <a:noFill/>
        </p:spPr>
        <p:txBody>
          <a:bodyPr wrap="none" rtlCol="0">
            <a:spAutoFit/>
          </a:bodyPr>
          <a:lstStyle/>
          <a:p>
            <a:r>
              <a:rPr lang="en-US" sz="2000" dirty="0" smtClean="0">
                <a:latin typeface="Arimo" charset="0"/>
                <a:ea typeface="Arimo" charset="0"/>
                <a:cs typeface="Arimo" charset="0"/>
              </a:rPr>
              <a:t>Fig 2: Condition factors of  Macroinvertebrates procured from the nine locations</a:t>
            </a:r>
            <a:endParaRPr lang="en-US" sz="2000" dirty="0">
              <a:latin typeface="Arimo" charset="0"/>
              <a:ea typeface="Arimo" charset="0"/>
              <a:cs typeface="Arimo" charset="0"/>
            </a:endParaRPr>
          </a:p>
        </p:txBody>
      </p:sp>
    </p:spTree>
    <p:extLst>
      <p:ext uri="{BB962C8B-B14F-4D97-AF65-F5344CB8AC3E}">
        <p14:creationId xmlns:p14="http://schemas.microsoft.com/office/powerpoint/2010/main" val="5251665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p:cNvGrpSpPr/>
          <p:nvPr/>
        </p:nvGrpSpPr>
        <p:grpSpPr>
          <a:xfrm>
            <a:off x="1029443" y="419100"/>
            <a:ext cx="16229114" cy="88392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8" name="Freeform 8"/>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0" name="TextBox 10"/>
          <p:cNvSpPr txBox="1"/>
          <p:nvPr/>
        </p:nvSpPr>
        <p:spPr>
          <a:xfrm>
            <a:off x="1992551" y="1943100"/>
            <a:ext cx="14847649" cy="1500411"/>
          </a:xfrm>
          <a:prstGeom prst="rect">
            <a:avLst/>
          </a:prstGeom>
        </p:spPr>
        <p:txBody>
          <a:bodyPr wrap="square" lIns="0" tIns="0" rIns="0" bIns="0" rtlCol="0" anchor="t">
            <a:spAutoFit/>
          </a:bodyPr>
          <a:lstStyle/>
          <a:p>
            <a:pPr marL="457200" indent="-457200" algn="just">
              <a:lnSpc>
                <a:spcPts val="3912"/>
              </a:lnSpc>
              <a:buFont typeface="Arial" pitchFamily="34" charset="0"/>
              <a:buChar char="•"/>
            </a:pPr>
            <a:r>
              <a:rPr lang="en-US" sz="2790" spc="41" dirty="0" smtClean="0">
                <a:solidFill>
                  <a:srgbClr val="0D1C38"/>
                </a:solidFill>
                <a:latin typeface="Arimo" charset="0"/>
                <a:ea typeface="Arimo" charset="0"/>
                <a:cs typeface="Arimo" charset="0"/>
                <a:sym typeface="Assistant"/>
              </a:rPr>
              <a:t>Microplastics was detected in all tissues (muscle) of fishes and macroinvertebrates but was not found in the </a:t>
            </a:r>
            <a:r>
              <a:rPr lang="en-US" sz="2790" spc="41" dirty="0" smtClean="0">
                <a:solidFill>
                  <a:srgbClr val="0D1C38"/>
                </a:solidFill>
                <a:latin typeface="Arimo" charset="0"/>
                <a:ea typeface="Arimo" charset="0"/>
                <a:cs typeface="Arimo" charset="0"/>
                <a:sym typeface="Assistant"/>
              </a:rPr>
              <a:t>GIT and tissue of the same fish sample (Blue Spot mullet) procured from two different locations (GIT-</a:t>
            </a:r>
            <a:r>
              <a:rPr lang="en-US" sz="2790" spc="41" dirty="0" err="1" smtClean="0">
                <a:solidFill>
                  <a:srgbClr val="0D1C38"/>
                </a:solidFill>
                <a:latin typeface="Arimo" charset="0"/>
                <a:ea typeface="Arimo" charset="0"/>
                <a:cs typeface="Arimo" charset="0"/>
                <a:sym typeface="Assistant"/>
              </a:rPr>
              <a:t>Aiyetoro</a:t>
            </a:r>
            <a:r>
              <a:rPr lang="en-US" sz="2790" spc="41" dirty="0" smtClean="0">
                <a:solidFill>
                  <a:srgbClr val="0D1C38"/>
                </a:solidFill>
                <a:latin typeface="Arimo" charset="0"/>
                <a:ea typeface="Arimo" charset="0"/>
                <a:cs typeface="Arimo" charset="0"/>
                <a:sym typeface="Assistant"/>
              </a:rPr>
              <a:t> </a:t>
            </a:r>
            <a:r>
              <a:rPr lang="en-US" sz="2790" spc="41" dirty="0" smtClean="0">
                <a:solidFill>
                  <a:srgbClr val="0D1C38"/>
                </a:solidFill>
                <a:latin typeface="Arimo" charset="0"/>
                <a:ea typeface="Arimo" charset="0"/>
                <a:cs typeface="Arimo" charset="0"/>
                <a:sym typeface="Assistant"/>
              </a:rPr>
              <a:t>and </a:t>
            </a:r>
            <a:r>
              <a:rPr lang="en-US" sz="2790" spc="41" dirty="0" smtClean="0">
                <a:solidFill>
                  <a:srgbClr val="0D1C38"/>
                </a:solidFill>
                <a:latin typeface="Arimo" charset="0"/>
                <a:ea typeface="Arimo" charset="0"/>
                <a:cs typeface="Arimo" charset="0"/>
                <a:sym typeface="Assistant"/>
              </a:rPr>
              <a:t>Muscle-</a:t>
            </a:r>
            <a:r>
              <a:rPr lang="en-US" sz="2790" spc="41" dirty="0" err="1" smtClean="0">
                <a:solidFill>
                  <a:srgbClr val="0D1C38"/>
                </a:solidFill>
                <a:latin typeface="Arimo" charset="0"/>
                <a:ea typeface="Arimo" charset="0"/>
                <a:cs typeface="Arimo" charset="0"/>
                <a:sym typeface="Assistant"/>
              </a:rPr>
              <a:t>Iwopin</a:t>
            </a:r>
            <a:r>
              <a:rPr lang="en-US" sz="2790" spc="41" dirty="0" smtClean="0">
                <a:solidFill>
                  <a:srgbClr val="0D1C38"/>
                </a:solidFill>
                <a:latin typeface="Arimo" charset="0"/>
                <a:ea typeface="Arimo" charset="0"/>
                <a:cs typeface="Arimo" charset="0"/>
                <a:sym typeface="Assistant"/>
              </a:rPr>
              <a:t>.)</a:t>
            </a:r>
            <a:endParaRPr lang="en-US" sz="2790" spc="41" dirty="0">
              <a:solidFill>
                <a:srgbClr val="0D1C38"/>
              </a:solidFill>
              <a:latin typeface="Arimo" charset="0"/>
              <a:ea typeface="Arimo" charset="0"/>
              <a:cs typeface="Arimo" charset="0"/>
              <a:sym typeface="Assistant"/>
            </a:endParaRPr>
          </a:p>
        </p:txBody>
      </p:sp>
      <p:sp>
        <p:nvSpPr>
          <p:cNvPr id="11" name="TextBox 11"/>
          <p:cNvSpPr txBox="1"/>
          <p:nvPr/>
        </p:nvSpPr>
        <p:spPr>
          <a:xfrm>
            <a:off x="4627026" y="342900"/>
            <a:ext cx="9559952" cy="877420"/>
          </a:xfrm>
          <a:prstGeom prst="rect">
            <a:avLst/>
          </a:prstGeom>
        </p:spPr>
        <p:txBody>
          <a:bodyPr lIns="0" tIns="0" rIns="0" bIns="0" rtlCol="0" anchor="t">
            <a:spAutoFit/>
          </a:bodyPr>
          <a:lstStyle/>
          <a:p>
            <a:pPr algn="ctr">
              <a:lnSpc>
                <a:spcPts val="8000"/>
              </a:lnSpc>
            </a:pPr>
            <a:r>
              <a:rPr lang="en-US" sz="3700" dirty="0" smtClean="0">
                <a:solidFill>
                  <a:srgbClr val="0D1C38"/>
                </a:solidFill>
                <a:latin typeface="Arimo"/>
                <a:ea typeface="Arimo"/>
                <a:cs typeface="Arimo"/>
                <a:sym typeface="Arimo"/>
              </a:rPr>
              <a:t>RESULT</a:t>
            </a:r>
            <a:endParaRPr lang="en-US" sz="3700" dirty="0">
              <a:solidFill>
                <a:srgbClr val="0D1C38"/>
              </a:solidFill>
              <a:latin typeface="Arimo"/>
              <a:ea typeface="Arimo"/>
              <a:cs typeface="Arimo"/>
              <a:sym typeface="Arimo"/>
            </a:endParaRPr>
          </a:p>
        </p:txBody>
      </p:sp>
      <p:sp>
        <p:nvSpPr>
          <p:cNvPr id="12" name="TextBox 12"/>
          <p:cNvSpPr txBox="1"/>
          <p:nvPr/>
        </p:nvSpPr>
        <p:spPr>
          <a:xfrm>
            <a:off x="7924800" y="9715500"/>
            <a:ext cx="3765669" cy="293029"/>
          </a:xfrm>
          <a:prstGeom prst="rect">
            <a:avLst/>
          </a:prstGeom>
        </p:spPr>
        <p:txBody>
          <a:bodyPr lIns="0" tIns="0" rIns="0" bIns="0" rtlCol="0" anchor="t">
            <a:spAutoFit/>
          </a:bodyPr>
          <a:lstStyle/>
          <a:p>
            <a:pPr algn="ctr">
              <a:lnSpc>
                <a:spcPts val="2541"/>
              </a:lnSpc>
            </a:pPr>
            <a:r>
              <a:rPr lang="en-US" spc="38" dirty="0" smtClean="0">
                <a:solidFill>
                  <a:srgbClr val="0D1C38"/>
                </a:solidFill>
                <a:latin typeface="Arimo" charset="0"/>
                <a:ea typeface="Arimo" charset="0"/>
                <a:cs typeface="Arimo" charset="0"/>
                <a:sym typeface="Assistant"/>
              </a:rPr>
              <a:t>11</a:t>
            </a:r>
            <a:endParaRPr lang="en-US" spc="38" dirty="0">
              <a:solidFill>
                <a:srgbClr val="0D1C38"/>
              </a:solidFill>
              <a:latin typeface="Arimo" charset="0"/>
              <a:ea typeface="Arimo" charset="0"/>
              <a:cs typeface="Arimo" charset="0"/>
              <a:sym typeface="Assistant"/>
            </a:endParaRPr>
          </a:p>
        </p:txBody>
      </p:sp>
      <p:sp>
        <p:nvSpPr>
          <p:cNvPr id="13" name="TextBox 13"/>
          <p:cNvSpPr txBox="1"/>
          <p:nvPr/>
        </p:nvSpPr>
        <p:spPr>
          <a:xfrm>
            <a:off x="13131943" y="9775899"/>
            <a:ext cx="4927457" cy="320601"/>
          </a:xfrm>
          <a:prstGeom prst="rect">
            <a:avLst/>
          </a:prstGeom>
        </p:spPr>
        <p:txBody>
          <a:bodyPr lIns="0" tIns="0" rIns="0" bIns="0" rtlCol="0" anchor="t">
            <a:spAutoFit/>
          </a:bodyPr>
          <a:lstStyle/>
          <a:p>
            <a:pPr algn="r">
              <a:lnSpc>
                <a:spcPts val="2481"/>
              </a:lnSpc>
            </a:pPr>
            <a:r>
              <a:rPr lang="en-US" spc="37" dirty="0">
                <a:solidFill>
                  <a:srgbClr val="0D1C38"/>
                </a:solidFill>
                <a:latin typeface="Arimo" charset="0"/>
                <a:ea typeface="Arimo" charset="0"/>
                <a:cs typeface="Arimo" charset="0"/>
                <a:sym typeface="Assistant"/>
              </a:rPr>
              <a:t>Presented by: </a:t>
            </a:r>
            <a:r>
              <a:rPr lang="en-US" spc="37" dirty="0" smtClean="0">
                <a:solidFill>
                  <a:srgbClr val="0D1C38"/>
                </a:solidFill>
                <a:latin typeface="Arimo" charset="0"/>
                <a:ea typeface="Arimo" charset="0"/>
                <a:cs typeface="Arimo" charset="0"/>
                <a:sym typeface="Assistant"/>
              </a:rPr>
              <a:t>Damilola Arokoyu</a:t>
            </a:r>
            <a:endParaRPr lang="en-US" spc="37" dirty="0">
              <a:solidFill>
                <a:srgbClr val="0D1C38"/>
              </a:solidFill>
              <a:latin typeface="Arimo" charset="0"/>
              <a:ea typeface="Arimo" charset="0"/>
              <a:cs typeface="Arimo" charset="0"/>
              <a:sym typeface="Assistant"/>
            </a:endParaRPr>
          </a:p>
        </p:txBody>
      </p:sp>
      <p:sp>
        <p:nvSpPr>
          <p:cNvPr id="16" name="Slide Number Placeholder 15"/>
          <p:cNvSpPr>
            <a:spLocks noGrp="1"/>
          </p:cNvSpPr>
          <p:nvPr>
            <p:ph type="sldNum" sz="quarter" idx="12"/>
          </p:nvPr>
        </p:nvSpPr>
        <p:spPr/>
        <p:txBody>
          <a:bodyPr/>
          <a:lstStyle/>
          <a:p>
            <a:fld id="{B6F15528-21DE-4FAA-801E-634DDDAF4B2B}" type="slidenum">
              <a:rPr lang="en-US" smtClean="0"/>
              <a:pPr/>
              <a:t>12</a:t>
            </a:fld>
            <a:endParaRPr lang="en-US"/>
          </a:p>
        </p:txBody>
      </p:sp>
      <p:sp>
        <p:nvSpPr>
          <p:cNvPr id="17" name="TextBox 11"/>
          <p:cNvSpPr txBox="1"/>
          <p:nvPr/>
        </p:nvSpPr>
        <p:spPr>
          <a:xfrm>
            <a:off x="4779426" y="919115"/>
            <a:ext cx="9559952" cy="871585"/>
          </a:xfrm>
          <a:prstGeom prst="rect">
            <a:avLst/>
          </a:prstGeom>
        </p:spPr>
        <p:txBody>
          <a:bodyPr lIns="0" tIns="0" rIns="0" bIns="0" rtlCol="0" anchor="t">
            <a:spAutoFit/>
          </a:bodyPr>
          <a:lstStyle/>
          <a:p>
            <a:pPr algn="ctr">
              <a:lnSpc>
                <a:spcPts val="8000"/>
              </a:lnSpc>
            </a:pPr>
            <a:r>
              <a:rPr lang="en-US" sz="3500" dirty="0" smtClean="0">
                <a:solidFill>
                  <a:srgbClr val="0D1C38"/>
                </a:solidFill>
                <a:latin typeface="Arimo"/>
                <a:ea typeface="Arimo"/>
                <a:cs typeface="Arimo"/>
                <a:sym typeface="Arimo"/>
              </a:rPr>
              <a:t>MICROPLASTICS COUNT</a:t>
            </a:r>
            <a:endParaRPr lang="en-US" sz="3500" dirty="0">
              <a:solidFill>
                <a:srgbClr val="0D1C38"/>
              </a:solidFill>
              <a:latin typeface="Arimo"/>
              <a:ea typeface="Arimo"/>
              <a:cs typeface="Arimo"/>
              <a:sym typeface="Arimo"/>
            </a:endParaRPr>
          </a:p>
        </p:txBody>
      </p:sp>
      <p:sp>
        <p:nvSpPr>
          <p:cNvPr id="18" name="TextBox 10"/>
          <p:cNvSpPr txBox="1"/>
          <p:nvPr/>
        </p:nvSpPr>
        <p:spPr>
          <a:xfrm>
            <a:off x="2144951" y="3467100"/>
            <a:ext cx="14847649" cy="2500685"/>
          </a:xfrm>
          <a:prstGeom prst="rect">
            <a:avLst/>
          </a:prstGeom>
        </p:spPr>
        <p:txBody>
          <a:bodyPr wrap="square" lIns="0" tIns="0" rIns="0" bIns="0" rtlCol="0" anchor="t">
            <a:spAutoFit/>
          </a:bodyPr>
          <a:lstStyle/>
          <a:p>
            <a:pPr marL="457200" indent="-457200" algn="just">
              <a:lnSpc>
                <a:spcPts val="3912"/>
              </a:lnSpc>
              <a:buFont typeface="Arial" pitchFamily="34" charset="0"/>
              <a:buChar char="•"/>
            </a:pPr>
            <a:r>
              <a:rPr lang="en-US" sz="2794" spc="41" dirty="0" smtClean="0">
                <a:solidFill>
                  <a:srgbClr val="0D1C38"/>
                </a:solidFill>
                <a:latin typeface="Arimo" charset="0"/>
                <a:ea typeface="Arimo" charset="0"/>
                <a:cs typeface="Arimo" charset="0"/>
                <a:sym typeface="Assistant"/>
              </a:rPr>
              <a:t>Microplastics sizes ranged from</a:t>
            </a:r>
          </a:p>
          <a:p>
            <a:pPr marL="914400" lvl="1" indent="-457200" algn="just">
              <a:lnSpc>
                <a:spcPts val="3912"/>
              </a:lnSpc>
              <a:buFont typeface="Wingdings" pitchFamily="2" charset="2"/>
              <a:buChar char="§"/>
            </a:pPr>
            <a:r>
              <a:rPr lang="en-US" sz="2794" spc="41" dirty="0" smtClean="0">
                <a:solidFill>
                  <a:srgbClr val="0D1C38"/>
                </a:solidFill>
                <a:latin typeface="Arimo" charset="0"/>
                <a:ea typeface="Arimo" charset="0"/>
                <a:cs typeface="Arimo" charset="0"/>
                <a:sym typeface="Assistant"/>
              </a:rPr>
              <a:t>0.01-1.53mm in the GIT of Fish</a:t>
            </a:r>
          </a:p>
          <a:p>
            <a:pPr marL="914400" lvl="1" indent="-457200" algn="just">
              <a:lnSpc>
                <a:spcPts val="3912"/>
              </a:lnSpc>
              <a:buFont typeface="Wingdings" pitchFamily="2" charset="2"/>
              <a:buChar char="§"/>
            </a:pPr>
            <a:r>
              <a:rPr lang="en-US" sz="2794" spc="41" dirty="0" smtClean="0">
                <a:solidFill>
                  <a:srgbClr val="0D1C38"/>
                </a:solidFill>
                <a:latin typeface="Arimo" charset="0"/>
                <a:ea typeface="Arimo" charset="0"/>
                <a:cs typeface="Arimo" charset="0"/>
                <a:sym typeface="Assistant"/>
              </a:rPr>
              <a:t>0.01-1.38mm in the tissues (muscle) of fishes</a:t>
            </a:r>
          </a:p>
          <a:p>
            <a:pPr marL="914400" lvl="1" indent="-457200" algn="just">
              <a:lnSpc>
                <a:spcPts val="3912"/>
              </a:lnSpc>
              <a:buFont typeface="Wingdings" pitchFamily="2" charset="2"/>
              <a:buChar char="§"/>
            </a:pPr>
            <a:r>
              <a:rPr lang="en-US" sz="2794" spc="41" dirty="0" smtClean="0">
                <a:solidFill>
                  <a:srgbClr val="0D1C38"/>
                </a:solidFill>
                <a:latin typeface="Arimo" charset="0"/>
                <a:ea typeface="Arimo" charset="0"/>
                <a:cs typeface="Arimo" charset="0"/>
                <a:sym typeface="Assistant"/>
              </a:rPr>
              <a:t>0.02-2.23mm in the GIT of Macroinvertebrates</a:t>
            </a:r>
          </a:p>
          <a:p>
            <a:pPr marL="914400" lvl="1" indent="-457200" algn="just">
              <a:lnSpc>
                <a:spcPts val="3912"/>
              </a:lnSpc>
              <a:buFont typeface="Wingdings" pitchFamily="2" charset="2"/>
              <a:buChar char="§"/>
            </a:pPr>
            <a:r>
              <a:rPr lang="en-US" sz="2794" spc="41" dirty="0" smtClean="0">
                <a:solidFill>
                  <a:srgbClr val="0D1C38"/>
                </a:solidFill>
                <a:latin typeface="Arimo" charset="0"/>
                <a:ea typeface="Arimo" charset="0"/>
                <a:cs typeface="Arimo" charset="0"/>
                <a:sym typeface="Assistant"/>
              </a:rPr>
              <a:t>0.01-1.91mm in the tissues (muscle) of Macroinvertebrates</a:t>
            </a:r>
            <a:endParaRPr lang="en-US" sz="2794" spc="41" dirty="0">
              <a:solidFill>
                <a:srgbClr val="0D1C38"/>
              </a:solidFill>
              <a:latin typeface="Arimo" charset="0"/>
              <a:ea typeface="Arimo" charset="0"/>
              <a:cs typeface="Arimo" charset="0"/>
              <a:sym typeface="Assistant"/>
            </a:endParaRPr>
          </a:p>
        </p:txBody>
      </p:sp>
      <p:sp>
        <p:nvSpPr>
          <p:cNvPr id="19" name="TextBox 10"/>
          <p:cNvSpPr txBox="1"/>
          <p:nvPr/>
        </p:nvSpPr>
        <p:spPr>
          <a:xfrm>
            <a:off x="2144951" y="5829300"/>
            <a:ext cx="14847649" cy="1000274"/>
          </a:xfrm>
          <a:prstGeom prst="rect">
            <a:avLst/>
          </a:prstGeom>
        </p:spPr>
        <p:txBody>
          <a:bodyPr wrap="square" lIns="0" tIns="0" rIns="0" bIns="0" rtlCol="0" anchor="t">
            <a:spAutoFit/>
          </a:bodyPr>
          <a:lstStyle/>
          <a:p>
            <a:pPr marL="457200" indent="-457200" algn="just">
              <a:lnSpc>
                <a:spcPts val="3912"/>
              </a:lnSpc>
              <a:buFont typeface="Arial" pitchFamily="34" charset="0"/>
              <a:buChar char="•"/>
            </a:pPr>
            <a:r>
              <a:rPr lang="en-US" sz="2794" spc="41" dirty="0" smtClean="0">
                <a:solidFill>
                  <a:srgbClr val="0D1C38"/>
                </a:solidFill>
                <a:latin typeface="Arimo" charset="0"/>
                <a:ea typeface="Arimo" charset="0"/>
                <a:cs typeface="Arimo" charset="0"/>
                <a:sym typeface="Assistant"/>
              </a:rPr>
              <a:t>Microplastics identified in various colours: Brown, Black, Yellow, Blue, White, Red and Green and also in various forms such as Fiber, Film, Fragment, Pellet and Foam</a:t>
            </a:r>
            <a:endParaRPr lang="en-US" sz="2794" spc="41" dirty="0">
              <a:solidFill>
                <a:srgbClr val="0D1C38"/>
              </a:solidFill>
              <a:latin typeface="Arimo" charset="0"/>
              <a:ea typeface="Arimo" charset="0"/>
              <a:cs typeface="Arimo" charset="0"/>
              <a:sym typeface="Assistant"/>
            </a:endParaRPr>
          </a:p>
        </p:txBody>
      </p:sp>
      <p:pic>
        <p:nvPicPr>
          <p:cNvPr id="20" name="Picture 1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44951" y="7543879"/>
            <a:ext cx="3105150" cy="1391592"/>
          </a:xfrm>
          <a:prstGeom prst="rect">
            <a:avLst/>
          </a:prstGeom>
        </p:spPr>
      </p:pic>
      <p:pic>
        <p:nvPicPr>
          <p:cNvPr id="21" name="Picture 2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410200" y="7594317"/>
            <a:ext cx="2962275" cy="1290716"/>
          </a:xfrm>
          <a:prstGeom prst="rect">
            <a:avLst/>
          </a:prstGeom>
        </p:spPr>
      </p:pic>
      <p:pic>
        <p:nvPicPr>
          <p:cNvPr id="22" name="Picture 21"/>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534400" y="7594317"/>
            <a:ext cx="2663454" cy="1341154"/>
          </a:xfrm>
          <a:prstGeom prst="rect">
            <a:avLst/>
          </a:prstGeom>
        </p:spPr>
      </p:pic>
      <p:pic>
        <p:nvPicPr>
          <p:cNvPr id="23" name="Picture 22"/>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430000" y="7594317"/>
            <a:ext cx="2362200" cy="1341154"/>
          </a:xfrm>
          <a:prstGeom prst="rect">
            <a:avLst/>
          </a:prstGeom>
        </p:spPr>
      </p:pic>
      <p:pic>
        <p:nvPicPr>
          <p:cNvPr id="24" name="Picture 23"/>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4011275" y="7543880"/>
            <a:ext cx="2676525" cy="1391592"/>
          </a:xfrm>
          <a:prstGeom prst="rect">
            <a:avLst/>
          </a:prstGeom>
        </p:spPr>
      </p:pic>
      <p:sp>
        <p:nvSpPr>
          <p:cNvPr id="25" name="TextBox 24"/>
          <p:cNvSpPr txBox="1"/>
          <p:nvPr/>
        </p:nvSpPr>
        <p:spPr>
          <a:xfrm>
            <a:off x="3697526" y="6896100"/>
            <a:ext cx="12075874" cy="584775"/>
          </a:xfrm>
          <a:prstGeom prst="rect">
            <a:avLst/>
          </a:prstGeom>
          <a:noFill/>
        </p:spPr>
        <p:txBody>
          <a:bodyPr wrap="square" rtlCol="0">
            <a:spAutoFit/>
          </a:bodyPr>
          <a:lstStyle/>
          <a:p>
            <a:pPr algn="ctr"/>
            <a:r>
              <a:rPr lang="en-US" sz="3200" dirty="0" smtClean="0">
                <a:latin typeface="Arimo" charset="0"/>
                <a:ea typeface="Arimo" charset="0"/>
                <a:cs typeface="Arimo" charset="0"/>
              </a:rPr>
              <a:t>Different Forms of Microplastics</a:t>
            </a:r>
            <a:endParaRPr lang="en-US" sz="3200" dirty="0">
              <a:latin typeface="Arimo" charset="0"/>
              <a:ea typeface="Arimo" charset="0"/>
              <a:cs typeface="Arimo" charset="0"/>
            </a:endParaRPr>
          </a:p>
        </p:txBody>
      </p:sp>
      <p:sp>
        <p:nvSpPr>
          <p:cNvPr id="31" name="TextBox 51"/>
          <p:cNvSpPr txBox="1"/>
          <p:nvPr/>
        </p:nvSpPr>
        <p:spPr>
          <a:xfrm>
            <a:off x="1236515" y="9410700"/>
            <a:ext cx="5880313" cy="641201"/>
          </a:xfrm>
          <a:prstGeom prst="rect">
            <a:avLst/>
          </a:prstGeom>
        </p:spPr>
        <p:txBody>
          <a:bodyPr wrap="square" lIns="0" tIns="0" rIns="0" bIns="0" rtlCol="0" anchor="t">
            <a:spAutoFit/>
          </a:bodyPr>
          <a:lstStyle/>
          <a:p>
            <a:pPr algn="l">
              <a:lnSpc>
                <a:spcPts val="2481"/>
              </a:lnSpc>
            </a:pPr>
            <a:r>
              <a:rPr lang="en-US" sz="1600" spc="37" dirty="0" smtClean="0">
                <a:solidFill>
                  <a:srgbClr val="0D1C38"/>
                </a:solidFill>
                <a:latin typeface="Arimo" charset="0"/>
                <a:ea typeface="Arimo" charset="0"/>
                <a:cs typeface="Arimo" charset="0"/>
                <a:sym typeface="Assistant"/>
              </a:rPr>
              <a:t>Assessment of Microplastics in Commercial Fisheries procured from six Coastal states in Nigeria</a:t>
            </a:r>
            <a:endParaRPr lang="en-US" sz="1600" spc="37" dirty="0">
              <a:solidFill>
                <a:srgbClr val="0D1C38"/>
              </a:solidFill>
              <a:latin typeface="Arimo" charset="0"/>
              <a:ea typeface="Arimo" charset="0"/>
              <a:cs typeface="Arimo" charset="0"/>
              <a:sym typeface="Assistant"/>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8024" y="1028700"/>
            <a:ext cx="7592976" cy="388620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0" y="1228725"/>
            <a:ext cx="7848600" cy="3533775"/>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2824" y="5181600"/>
            <a:ext cx="7288176" cy="4419600"/>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39200" y="4991100"/>
            <a:ext cx="7910624" cy="4800600"/>
          </a:xfrm>
          <a:prstGeom prst="rect">
            <a:avLst/>
          </a:prstGeom>
        </p:spPr>
      </p:pic>
      <p:sp>
        <p:nvSpPr>
          <p:cNvPr id="10" name="TextBox 9"/>
          <p:cNvSpPr txBox="1"/>
          <p:nvPr/>
        </p:nvSpPr>
        <p:spPr>
          <a:xfrm>
            <a:off x="1066800" y="342900"/>
            <a:ext cx="184731" cy="369332"/>
          </a:xfrm>
          <a:prstGeom prst="rect">
            <a:avLst/>
          </a:prstGeom>
          <a:noFill/>
        </p:spPr>
        <p:txBody>
          <a:bodyPr wrap="none" rtlCol="0">
            <a:spAutoFit/>
          </a:bodyPr>
          <a:lstStyle/>
          <a:p>
            <a:endParaRPr lang="en-US" dirty="0">
              <a:latin typeface="Arimo" charset="0"/>
              <a:ea typeface="Arimo" charset="0"/>
              <a:cs typeface="Arimo" charset="0"/>
            </a:endParaRPr>
          </a:p>
        </p:txBody>
      </p:sp>
      <p:sp>
        <p:nvSpPr>
          <p:cNvPr id="11" name="TextBox 10"/>
          <p:cNvSpPr txBox="1"/>
          <p:nvPr/>
        </p:nvSpPr>
        <p:spPr>
          <a:xfrm>
            <a:off x="247805" y="342900"/>
            <a:ext cx="18724037" cy="369332"/>
          </a:xfrm>
          <a:prstGeom prst="rect">
            <a:avLst/>
          </a:prstGeom>
          <a:noFill/>
        </p:spPr>
        <p:txBody>
          <a:bodyPr wrap="none" rtlCol="0">
            <a:spAutoFit/>
          </a:bodyPr>
          <a:lstStyle/>
          <a:p>
            <a:r>
              <a:rPr lang="en-US" b="1" dirty="0" smtClean="0">
                <a:latin typeface="Arimo" charset="0"/>
                <a:ea typeface="Arimo" charset="0"/>
                <a:cs typeface="Arimo" charset="0"/>
              </a:rPr>
              <a:t>COLOUR DISTRIBUTION OF MORPHOTYPES OF GITS AND tissues (muscle) OF FISH SAMPLES FROM THE NINE LOACATIONS ACROSS SIX COASTAL STATES IN NIGERIA</a:t>
            </a:r>
            <a:endParaRPr lang="en-US" b="1" dirty="0">
              <a:latin typeface="Arimo" charset="0"/>
              <a:ea typeface="Arimo" charset="0"/>
              <a:cs typeface="Arimo" charset="0"/>
            </a:endParaRPr>
          </a:p>
        </p:txBody>
      </p:sp>
      <p:sp>
        <p:nvSpPr>
          <p:cNvPr id="12" name="TextBox 11"/>
          <p:cNvSpPr txBox="1"/>
          <p:nvPr/>
        </p:nvSpPr>
        <p:spPr>
          <a:xfrm>
            <a:off x="152400" y="719435"/>
            <a:ext cx="7484934" cy="400110"/>
          </a:xfrm>
          <a:prstGeom prst="rect">
            <a:avLst/>
          </a:prstGeom>
          <a:noFill/>
        </p:spPr>
        <p:txBody>
          <a:bodyPr wrap="none" rtlCol="0">
            <a:spAutoFit/>
          </a:bodyPr>
          <a:lstStyle/>
          <a:p>
            <a:r>
              <a:rPr lang="en-US" sz="2000" dirty="0" smtClean="0">
                <a:latin typeface="Arimo" charset="0"/>
                <a:ea typeface="Arimo" charset="0"/>
                <a:cs typeface="Arimo" charset="0"/>
              </a:rPr>
              <a:t>Fig 1: Colour Distribution of </a:t>
            </a:r>
            <a:r>
              <a:rPr lang="en-US" sz="2000" dirty="0">
                <a:latin typeface="Arimo" charset="0"/>
                <a:ea typeface="Arimo" charset="0"/>
                <a:cs typeface="Arimo" charset="0"/>
              </a:rPr>
              <a:t>M</a:t>
            </a:r>
            <a:r>
              <a:rPr lang="en-US" sz="2000" dirty="0" smtClean="0">
                <a:latin typeface="Arimo" charset="0"/>
                <a:ea typeface="Arimo" charset="0"/>
                <a:cs typeface="Arimo" charset="0"/>
              </a:rPr>
              <a:t>orphotypes of GIT of Fish samples</a:t>
            </a:r>
            <a:endParaRPr lang="en-US" sz="2000" dirty="0">
              <a:latin typeface="Arimo" charset="0"/>
              <a:ea typeface="Arimo" charset="0"/>
              <a:cs typeface="Arimo" charset="0"/>
            </a:endParaRPr>
          </a:p>
        </p:txBody>
      </p:sp>
      <p:sp>
        <p:nvSpPr>
          <p:cNvPr id="15" name="TextBox 14"/>
          <p:cNvSpPr txBox="1"/>
          <p:nvPr/>
        </p:nvSpPr>
        <p:spPr>
          <a:xfrm>
            <a:off x="8686800" y="723900"/>
            <a:ext cx="9134424" cy="400110"/>
          </a:xfrm>
          <a:prstGeom prst="rect">
            <a:avLst/>
          </a:prstGeom>
          <a:noFill/>
        </p:spPr>
        <p:txBody>
          <a:bodyPr wrap="none" rtlCol="0">
            <a:spAutoFit/>
          </a:bodyPr>
          <a:lstStyle/>
          <a:p>
            <a:r>
              <a:rPr lang="en-US" sz="2000" dirty="0" smtClean="0">
                <a:latin typeface="Arimo" charset="0"/>
                <a:ea typeface="Arimo" charset="0"/>
                <a:cs typeface="Arimo" charset="0"/>
              </a:rPr>
              <a:t>Fig 2: Colour Distribution of </a:t>
            </a:r>
            <a:r>
              <a:rPr lang="en-US" sz="2000" dirty="0">
                <a:latin typeface="Arimo" charset="0"/>
                <a:ea typeface="Arimo" charset="0"/>
                <a:cs typeface="Arimo" charset="0"/>
              </a:rPr>
              <a:t>M</a:t>
            </a:r>
            <a:r>
              <a:rPr lang="en-US" sz="2000" dirty="0" smtClean="0">
                <a:latin typeface="Arimo" charset="0"/>
                <a:ea typeface="Arimo" charset="0"/>
                <a:cs typeface="Arimo" charset="0"/>
              </a:rPr>
              <a:t>orphotypes of GIT  of Macroinvertebrate samples</a:t>
            </a:r>
            <a:endParaRPr lang="en-US" sz="2000" dirty="0">
              <a:latin typeface="Arimo" charset="0"/>
              <a:ea typeface="Arimo" charset="0"/>
              <a:cs typeface="Arimo" charset="0"/>
            </a:endParaRPr>
          </a:p>
        </p:txBody>
      </p:sp>
      <p:sp>
        <p:nvSpPr>
          <p:cNvPr id="16" name="TextBox 15"/>
          <p:cNvSpPr txBox="1"/>
          <p:nvPr/>
        </p:nvSpPr>
        <p:spPr>
          <a:xfrm>
            <a:off x="152400" y="4686300"/>
            <a:ext cx="8914620" cy="400110"/>
          </a:xfrm>
          <a:prstGeom prst="rect">
            <a:avLst/>
          </a:prstGeom>
          <a:noFill/>
        </p:spPr>
        <p:txBody>
          <a:bodyPr wrap="none" rtlCol="0">
            <a:spAutoFit/>
          </a:bodyPr>
          <a:lstStyle/>
          <a:p>
            <a:r>
              <a:rPr lang="en-US" sz="2000" dirty="0" smtClean="0">
                <a:latin typeface="Arimo" charset="0"/>
                <a:ea typeface="Arimo" charset="0"/>
                <a:cs typeface="Arimo" charset="0"/>
              </a:rPr>
              <a:t>Fig 3: Colour Distribution of </a:t>
            </a:r>
            <a:r>
              <a:rPr lang="en-US" sz="2000" dirty="0">
                <a:latin typeface="Arimo" charset="0"/>
                <a:ea typeface="Arimo" charset="0"/>
                <a:cs typeface="Arimo" charset="0"/>
              </a:rPr>
              <a:t>M</a:t>
            </a:r>
            <a:r>
              <a:rPr lang="en-US" sz="2000" dirty="0" smtClean="0">
                <a:latin typeface="Arimo" charset="0"/>
                <a:ea typeface="Arimo" charset="0"/>
                <a:cs typeface="Arimo" charset="0"/>
              </a:rPr>
              <a:t>orphotypes of tissues (muscle) of Fish samples</a:t>
            </a:r>
            <a:endParaRPr lang="en-US" sz="2000" dirty="0">
              <a:latin typeface="Arimo" charset="0"/>
              <a:ea typeface="Arimo" charset="0"/>
              <a:cs typeface="Arimo" charset="0"/>
            </a:endParaRPr>
          </a:p>
        </p:txBody>
      </p:sp>
      <p:sp>
        <p:nvSpPr>
          <p:cNvPr id="17" name="TextBox 16"/>
          <p:cNvSpPr txBox="1"/>
          <p:nvPr/>
        </p:nvSpPr>
        <p:spPr>
          <a:xfrm>
            <a:off x="8458200" y="4605635"/>
            <a:ext cx="10564110" cy="400110"/>
          </a:xfrm>
          <a:prstGeom prst="rect">
            <a:avLst/>
          </a:prstGeom>
          <a:noFill/>
        </p:spPr>
        <p:txBody>
          <a:bodyPr wrap="none" rtlCol="0">
            <a:spAutoFit/>
          </a:bodyPr>
          <a:lstStyle/>
          <a:p>
            <a:r>
              <a:rPr lang="en-US" sz="2000" dirty="0" smtClean="0">
                <a:latin typeface="Arimo" charset="0"/>
                <a:ea typeface="Arimo" charset="0"/>
                <a:cs typeface="Arimo" charset="0"/>
              </a:rPr>
              <a:t>Fig 4: Colour Distribution of </a:t>
            </a:r>
            <a:r>
              <a:rPr lang="en-US" sz="2000" dirty="0">
                <a:latin typeface="Arimo" charset="0"/>
                <a:ea typeface="Arimo" charset="0"/>
                <a:cs typeface="Arimo" charset="0"/>
              </a:rPr>
              <a:t>M</a:t>
            </a:r>
            <a:r>
              <a:rPr lang="en-US" sz="2000" dirty="0" smtClean="0">
                <a:latin typeface="Arimo" charset="0"/>
                <a:ea typeface="Arimo" charset="0"/>
                <a:cs typeface="Arimo" charset="0"/>
              </a:rPr>
              <a:t>orphotypes of </a:t>
            </a:r>
            <a:r>
              <a:rPr lang="en-US" sz="2000" dirty="0">
                <a:latin typeface="Arimo" charset="0"/>
                <a:ea typeface="Arimo" charset="0"/>
                <a:cs typeface="Arimo" charset="0"/>
              </a:rPr>
              <a:t> </a:t>
            </a:r>
            <a:r>
              <a:rPr lang="en-US" sz="2000" dirty="0" smtClean="0">
                <a:latin typeface="Arimo" charset="0"/>
                <a:ea typeface="Arimo" charset="0"/>
                <a:cs typeface="Arimo" charset="0"/>
              </a:rPr>
              <a:t>tissues (muscle) of Macroinvertebrate samples</a:t>
            </a:r>
            <a:endParaRPr lang="en-US" sz="2000" dirty="0">
              <a:latin typeface="Arimo" charset="0"/>
              <a:ea typeface="Arimo" charset="0"/>
              <a:cs typeface="Arimo" charset="0"/>
            </a:endParaRPr>
          </a:p>
        </p:txBody>
      </p:sp>
    </p:spTree>
    <p:extLst>
      <p:ext uri="{BB962C8B-B14F-4D97-AF65-F5344CB8AC3E}">
        <p14:creationId xmlns:p14="http://schemas.microsoft.com/office/powerpoint/2010/main" val="213357831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p:cNvGrpSpPr/>
          <p:nvPr/>
        </p:nvGrpSpPr>
        <p:grpSpPr>
          <a:xfrm>
            <a:off x="1028700" y="794369"/>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8" name="Freeform 8"/>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9" name="TextBox 9"/>
          <p:cNvSpPr txBox="1"/>
          <p:nvPr/>
        </p:nvSpPr>
        <p:spPr>
          <a:xfrm>
            <a:off x="1752600" y="1922264"/>
            <a:ext cx="14173199" cy="2308324"/>
          </a:xfrm>
          <a:prstGeom prst="rect">
            <a:avLst/>
          </a:prstGeom>
        </p:spPr>
        <p:txBody>
          <a:bodyPr wrap="square" lIns="0" tIns="0" rIns="0" bIns="0" rtlCol="0" anchor="t">
            <a:spAutoFit/>
          </a:bodyPr>
          <a:lstStyle/>
          <a:p>
            <a:r>
              <a:rPr lang="en-US" sz="3000" dirty="0">
                <a:latin typeface="Arimo" charset="0"/>
                <a:ea typeface="Arimo" charset="0"/>
                <a:cs typeface="Arimo" charset="0"/>
              </a:rPr>
              <a:t> </a:t>
            </a:r>
            <a:r>
              <a:rPr lang="en-US" sz="3000" dirty="0" smtClean="0">
                <a:latin typeface="Arimo" charset="0"/>
                <a:ea typeface="Arimo" charset="0"/>
                <a:cs typeface="Arimo" charset="0"/>
              </a:rPr>
              <a:t>Conclusion</a:t>
            </a:r>
            <a:endParaRPr lang="en-US" sz="3000" dirty="0">
              <a:latin typeface="Arimo" charset="0"/>
              <a:ea typeface="Arimo" charset="0"/>
              <a:cs typeface="Arimo" charset="0"/>
            </a:endParaRPr>
          </a:p>
          <a:p>
            <a:pPr marL="457200" indent="-457200">
              <a:buFont typeface="Arial" pitchFamily="34" charset="0"/>
              <a:buChar char="•"/>
            </a:pPr>
            <a:r>
              <a:rPr lang="en-US" sz="3000" dirty="0">
                <a:latin typeface="Arimo" charset="0"/>
                <a:ea typeface="Arimo" charset="0"/>
                <a:cs typeface="Arimo" charset="0"/>
              </a:rPr>
              <a:t>Increased plastic production and use has led to higher microplastic </a:t>
            </a:r>
            <a:r>
              <a:rPr lang="en-US" sz="3000" dirty="0" smtClean="0">
                <a:latin typeface="Arimo" charset="0"/>
                <a:ea typeface="Arimo" charset="0"/>
                <a:cs typeface="Arimo" charset="0"/>
              </a:rPr>
              <a:t>occurrence.</a:t>
            </a:r>
          </a:p>
          <a:p>
            <a:pPr marL="457200" indent="-457200">
              <a:buFont typeface="Arial" pitchFamily="34" charset="0"/>
              <a:buChar char="•"/>
            </a:pPr>
            <a:r>
              <a:rPr lang="en-US" sz="3000" dirty="0" smtClean="0">
                <a:latin typeface="Arimo" charset="0"/>
                <a:ea typeface="Arimo" charset="0"/>
                <a:cs typeface="Arimo" charset="0"/>
              </a:rPr>
              <a:t>Microplastics </a:t>
            </a:r>
            <a:r>
              <a:rPr lang="en-US" sz="3000" dirty="0">
                <a:latin typeface="Arimo" charset="0"/>
                <a:ea typeface="Arimo" charset="0"/>
                <a:cs typeface="Arimo" charset="0"/>
              </a:rPr>
              <a:t>contribute to an unhealthy aquatic </a:t>
            </a:r>
            <a:r>
              <a:rPr lang="en-US" sz="3000" dirty="0" smtClean="0">
                <a:latin typeface="Arimo" charset="0"/>
                <a:ea typeface="Arimo" charset="0"/>
                <a:cs typeface="Arimo" charset="0"/>
              </a:rPr>
              <a:t>environment.</a:t>
            </a:r>
          </a:p>
          <a:p>
            <a:pPr marL="457200" indent="-457200">
              <a:buFont typeface="Arial" pitchFamily="34" charset="0"/>
              <a:buChar char="•"/>
            </a:pPr>
            <a:r>
              <a:rPr lang="en-US" sz="3000" dirty="0" smtClean="0">
                <a:latin typeface="Arimo" charset="0"/>
                <a:ea typeface="Arimo" charset="0"/>
                <a:cs typeface="Arimo" charset="0"/>
              </a:rPr>
              <a:t>Their </a:t>
            </a:r>
            <a:r>
              <a:rPr lang="en-US" sz="3000" dirty="0">
                <a:latin typeface="Arimo" charset="0"/>
                <a:ea typeface="Arimo" charset="0"/>
                <a:cs typeface="Arimo" charset="0"/>
              </a:rPr>
              <a:t>presence in most </a:t>
            </a:r>
            <a:r>
              <a:rPr lang="en-US" sz="3000" dirty="0" smtClean="0">
                <a:latin typeface="Arimo" charset="0"/>
                <a:ea typeface="Arimo" charset="0"/>
                <a:cs typeface="Arimo" charset="0"/>
              </a:rPr>
              <a:t>fish </a:t>
            </a:r>
            <a:r>
              <a:rPr lang="en-US" sz="3000" dirty="0">
                <a:latin typeface="Arimo" charset="0"/>
                <a:ea typeface="Arimo" charset="0"/>
                <a:cs typeface="Arimo" charset="0"/>
              </a:rPr>
              <a:t>and macroinvertebrate samples highlights risks to fisheries and human health.</a:t>
            </a:r>
          </a:p>
        </p:txBody>
      </p:sp>
      <p:sp>
        <p:nvSpPr>
          <p:cNvPr id="10" name="TextBox 10"/>
          <p:cNvSpPr txBox="1"/>
          <p:nvPr/>
        </p:nvSpPr>
        <p:spPr>
          <a:xfrm>
            <a:off x="4115363" y="1028700"/>
            <a:ext cx="10667437" cy="987450"/>
          </a:xfrm>
          <a:prstGeom prst="rect">
            <a:avLst/>
          </a:prstGeom>
        </p:spPr>
        <p:txBody>
          <a:bodyPr wrap="square" lIns="0" tIns="0" rIns="0" bIns="0" rtlCol="0" anchor="t">
            <a:spAutoFit/>
          </a:bodyPr>
          <a:lstStyle/>
          <a:p>
            <a:pPr algn="ctr">
              <a:lnSpc>
                <a:spcPts val="7699"/>
              </a:lnSpc>
            </a:pPr>
            <a:r>
              <a:rPr lang="en-US" sz="4000" dirty="0" smtClean="0">
                <a:solidFill>
                  <a:srgbClr val="0E182F"/>
                </a:solidFill>
                <a:latin typeface="Arimo"/>
                <a:ea typeface="Arimo"/>
                <a:cs typeface="Arimo"/>
                <a:sym typeface="Arimo"/>
              </a:rPr>
              <a:t>CONCLUSION AND RECOMMENDATIONS</a:t>
            </a:r>
            <a:endParaRPr lang="en-US" sz="4000" dirty="0">
              <a:solidFill>
                <a:srgbClr val="0E182F"/>
              </a:solidFill>
              <a:latin typeface="Arimo"/>
              <a:ea typeface="Arimo"/>
              <a:cs typeface="Arimo"/>
              <a:sym typeface="Arimo"/>
            </a:endParaRPr>
          </a:p>
        </p:txBody>
      </p:sp>
      <p:sp>
        <p:nvSpPr>
          <p:cNvPr id="11" name="TextBox 11"/>
          <p:cNvSpPr txBox="1"/>
          <p:nvPr/>
        </p:nvSpPr>
        <p:spPr>
          <a:xfrm>
            <a:off x="8001000" y="9651071"/>
            <a:ext cx="3765669" cy="293029"/>
          </a:xfrm>
          <a:prstGeom prst="rect">
            <a:avLst/>
          </a:prstGeom>
        </p:spPr>
        <p:txBody>
          <a:bodyPr lIns="0" tIns="0" rIns="0" bIns="0" rtlCol="0" anchor="t">
            <a:spAutoFit/>
          </a:bodyPr>
          <a:lstStyle/>
          <a:p>
            <a:pPr algn="ctr">
              <a:lnSpc>
                <a:spcPts val="2541"/>
              </a:lnSpc>
            </a:pPr>
            <a:r>
              <a:rPr lang="en-US" spc="38" dirty="0" smtClean="0">
                <a:solidFill>
                  <a:srgbClr val="0D1C38"/>
                </a:solidFill>
                <a:latin typeface="Arimo" charset="0"/>
                <a:ea typeface="Arimo" charset="0"/>
                <a:cs typeface="Arimo" charset="0"/>
                <a:sym typeface="Assistant"/>
              </a:rPr>
              <a:t>13</a:t>
            </a:r>
            <a:endParaRPr lang="en-US" spc="38" dirty="0">
              <a:solidFill>
                <a:srgbClr val="0D1C38"/>
              </a:solidFill>
              <a:latin typeface="Arimo" charset="0"/>
              <a:ea typeface="Arimo" charset="0"/>
              <a:cs typeface="Arimo" charset="0"/>
              <a:sym typeface="Assistant"/>
            </a:endParaRPr>
          </a:p>
        </p:txBody>
      </p:sp>
      <p:sp>
        <p:nvSpPr>
          <p:cNvPr id="12" name="TextBox 12"/>
          <p:cNvSpPr txBox="1"/>
          <p:nvPr/>
        </p:nvSpPr>
        <p:spPr>
          <a:xfrm>
            <a:off x="13208143" y="9651071"/>
            <a:ext cx="4927457" cy="293029"/>
          </a:xfrm>
          <a:prstGeom prst="rect">
            <a:avLst/>
          </a:prstGeom>
        </p:spPr>
        <p:txBody>
          <a:bodyPr lIns="0" tIns="0" rIns="0" bIns="0" rtlCol="0" anchor="t">
            <a:spAutoFit/>
          </a:bodyPr>
          <a:lstStyle/>
          <a:p>
            <a:pPr algn="r">
              <a:lnSpc>
                <a:spcPts val="2481"/>
              </a:lnSpc>
            </a:pPr>
            <a:r>
              <a:rPr lang="en-US" spc="37" dirty="0">
                <a:solidFill>
                  <a:srgbClr val="0D1C38"/>
                </a:solidFill>
                <a:latin typeface="Arimo" charset="0"/>
                <a:ea typeface="Arimo" charset="0"/>
                <a:cs typeface="Arimo" charset="0"/>
                <a:sym typeface="Assistant"/>
              </a:rPr>
              <a:t>Presented by: </a:t>
            </a:r>
            <a:r>
              <a:rPr lang="en-US" spc="37" dirty="0" smtClean="0">
                <a:solidFill>
                  <a:srgbClr val="0D1C38"/>
                </a:solidFill>
                <a:latin typeface="Arimo" charset="0"/>
                <a:ea typeface="Arimo" charset="0"/>
                <a:cs typeface="Arimo" charset="0"/>
                <a:sym typeface="Assistant"/>
              </a:rPr>
              <a:t>Damilola Arokoyu</a:t>
            </a:r>
            <a:endParaRPr lang="en-US" spc="37" dirty="0">
              <a:solidFill>
                <a:srgbClr val="0D1C38"/>
              </a:solidFill>
              <a:latin typeface="Arimo" charset="0"/>
              <a:ea typeface="Arimo" charset="0"/>
              <a:cs typeface="Arimo" charset="0"/>
              <a:sym typeface="Assistant"/>
            </a:endParaRPr>
          </a:p>
        </p:txBody>
      </p:sp>
      <p:sp>
        <p:nvSpPr>
          <p:cNvPr id="18" name="TextBox 51"/>
          <p:cNvSpPr txBox="1"/>
          <p:nvPr/>
        </p:nvSpPr>
        <p:spPr>
          <a:xfrm>
            <a:off x="1236515" y="9410700"/>
            <a:ext cx="5880313" cy="641201"/>
          </a:xfrm>
          <a:prstGeom prst="rect">
            <a:avLst/>
          </a:prstGeom>
        </p:spPr>
        <p:txBody>
          <a:bodyPr wrap="square" lIns="0" tIns="0" rIns="0" bIns="0" rtlCol="0" anchor="t">
            <a:spAutoFit/>
          </a:bodyPr>
          <a:lstStyle/>
          <a:p>
            <a:pPr algn="l">
              <a:lnSpc>
                <a:spcPts val="2481"/>
              </a:lnSpc>
            </a:pPr>
            <a:r>
              <a:rPr lang="en-US" sz="1600" spc="37" dirty="0" smtClean="0">
                <a:solidFill>
                  <a:srgbClr val="0D1C38"/>
                </a:solidFill>
                <a:latin typeface="Arimo" charset="0"/>
                <a:ea typeface="Arimo" charset="0"/>
                <a:cs typeface="Arimo" charset="0"/>
                <a:sym typeface="Assistant"/>
              </a:rPr>
              <a:t>Assessment of Microplastics in Commercial Fisheries procured from six Coastal states in Nigeria</a:t>
            </a:r>
            <a:endParaRPr lang="en-US" sz="1600" spc="37" dirty="0">
              <a:solidFill>
                <a:srgbClr val="0D1C38"/>
              </a:solidFill>
              <a:latin typeface="Arimo" charset="0"/>
              <a:ea typeface="Arimo" charset="0"/>
              <a:cs typeface="Arimo" charset="0"/>
              <a:sym typeface="Assistant"/>
            </a:endParaRPr>
          </a:p>
        </p:txBody>
      </p:sp>
      <p:sp>
        <p:nvSpPr>
          <p:cNvPr id="17" name="TextBox 9"/>
          <p:cNvSpPr txBox="1"/>
          <p:nvPr/>
        </p:nvSpPr>
        <p:spPr>
          <a:xfrm>
            <a:off x="1752600" y="4492228"/>
            <a:ext cx="15087599" cy="5601533"/>
          </a:xfrm>
          <a:prstGeom prst="rect">
            <a:avLst/>
          </a:prstGeom>
        </p:spPr>
        <p:txBody>
          <a:bodyPr wrap="square" lIns="0" tIns="0" rIns="0" bIns="0" rtlCol="0" anchor="t">
            <a:spAutoFit/>
          </a:bodyPr>
          <a:lstStyle/>
          <a:p>
            <a:r>
              <a:rPr lang="en-US" sz="2800" dirty="0" smtClean="0">
                <a:latin typeface="Arimo" charset="0"/>
                <a:ea typeface="Arimo" charset="0"/>
                <a:cs typeface="Arimo" charset="0"/>
              </a:rPr>
              <a:t>Recommendations</a:t>
            </a:r>
          </a:p>
          <a:p>
            <a:pPr marL="457200" indent="-457200">
              <a:buFont typeface="Arial" pitchFamily="34" charset="0"/>
              <a:buChar char="•"/>
            </a:pPr>
            <a:r>
              <a:rPr lang="en-US" sz="2800" dirty="0" smtClean="0">
                <a:latin typeface="Arimo" charset="0"/>
                <a:ea typeface="Arimo" charset="0"/>
                <a:cs typeface="Arimo" charset="0"/>
              </a:rPr>
              <a:t>Enforce </a:t>
            </a:r>
            <a:r>
              <a:rPr lang="en-US" sz="2800" dirty="0">
                <a:latin typeface="Arimo" charset="0"/>
                <a:ea typeface="Arimo" charset="0"/>
                <a:cs typeface="Arimo" charset="0"/>
              </a:rPr>
              <a:t>strict policies to reduce plastic disposal in water bodies</a:t>
            </a:r>
            <a:r>
              <a:rPr lang="en-US" sz="2800" dirty="0" smtClean="0">
                <a:latin typeface="Arimo" charset="0"/>
                <a:ea typeface="Arimo" charset="0"/>
                <a:cs typeface="Arimo" charset="0"/>
              </a:rPr>
              <a:t>.</a:t>
            </a:r>
          </a:p>
          <a:p>
            <a:pPr marL="457200" indent="-457200">
              <a:buFont typeface="Arial" pitchFamily="34" charset="0"/>
              <a:buChar char="•"/>
            </a:pPr>
            <a:r>
              <a:rPr lang="en-US" sz="2800" dirty="0">
                <a:latin typeface="Arimo" charset="0"/>
                <a:ea typeface="Arimo" charset="0"/>
                <a:cs typeface="Arimo" charset="0"/>
              </a:rPr>
              <a:t>Provide incentives for plastic collection and proper </a:t>
            </a:r>
            <a:r>
              <a:rPr lang="en-US" sz="2800" dirty="0" smtClean="0">
                <a:latin typeface="Arimo" charset="0"/>
                <a:ea typeface="Arimo" charset="0"/>
                <a:cs typeface="Arimo" charset="0"/>
              </a:rPr>
              <a:t>disposal.</a:t>
            </a:r>
          </a:p>
          <a:p>
            <a:pPr marL="457200" indent="-457200">
              <a:buFont typeface="Arial" pitchFamily="34" charset="0"/>
              <a:buChar char="•"/>
            </a:pPr>
            <a:r>
              <a:rPr lang="en-US" sz="2800" dirty="0" smtClean="0">
                <a:latin typeface="Arimo" charset="0"/>
                <a:ea typeface="Arimo" charset="0"/>
                <a:cs typeface="Arimo" charset="0"/>
              </a:rPr>
              <a:t>Develop </a:t>
            </a:r>
            <a:r>
              <a:rPr lang="en-US" sz="2800" dirty="0">
                <a:latin typeface="Arimo" charset="0"/>
                <a:ea typeface="Arimo" charset="0"/>
                <a:cs typeface="Arimo" charset="0"/>
              </a:rPr>
              <a:t>effective methods for </a:t>
            </a:r>
            <a:r>
              <a:rPr lang="en-US" sz="2800" dirty="0" smtClean="0">
                <a:latin typeface="Arimo" charset="0"/>
                <a:ea typeface="Arimo" charset="0"/>
                <a:cs typeface="Arimo" charset="0"/>
              </a:rPr>
              <a:t>plastic cleanup in marine bodies.</a:t>
            </a:r>
          </a:p>
          <a:p>
            <a:pPr marL="457200" indent="-457200">
              <a:buFont typeface="Arial" pitchFamily="34" charset="0"/>
              <a:buChar char="•"/>
            </a:pPr>
            <a:r>
              <a:rPr lang="en-US" sz="2800" dirty="0" smtClean="0">
                <a:latin typeface="Arimo" charset="0"/>
                <a:ea typeface="Arimo" charset="0"/>
                <a:cs typeface="Arimo" charset="0"/>
              </a:rPr>
              <a:t>Raise </a:t>
            </a:r>
            <a:r>
              <a:rPr lang="en-US" sz="2800" dirty="0">
                <a:latin typeface="Arimo" charset="0"/>
                <a:ea typeface="Arimo" charset="0"/>
                <a:cs typeface="Arimo" charset="0"/>
              </a:rPr>
              <a:t>public awareness on </a:t>
            </a:r>
            <a:r>
              <a:rPr lang="en-US" sz="2800" dirty="0" smtClean="0">
                <a:latin typeface="Arimo" charset="0"/>
                <a:ea typeface="Arimo" charset="0"/>
                <a:cs typeface="Arimo" charset="0"/>
              </a:rPr>
              <a:t>impact of microplastics on health and the environmental.</a:t>
            </a:r>
          </a:p>
          <a:p>
            <a:pPr marL="457200" indent="-457200">
              <a:buFont typeface="Arial" pitchFamily="34" charset="0"/>
              <a:buChar char="•"/>
            </a:pPr>
            <a:r>
              <a:rPr lang="en-US" sz="2800" dirty="0" smtClean="0">
                <a:latin typeface="Arimo" charset="0"/>
                <a:ea typeface="Arimo" charset="0"/>
                <a:cs typeface="Arimo" charset="0"/>
              </a:rPr>
              <a:t>Involve stakeholders in the process of </a:t>
            </a:r>
            <a:r>
              <a:rPr lang="en-US" sz="2800" dirty="0" err="1" smtClean="0">
                <a:latin typeface="Arimo" charset="0"/>
                <a:ea typeface="Arimo" charset="0"/>
                <a:cs typeface="Arimo" charset="0"/>
              </a:rPr>
              <a:t>mitigatingg</a:t>
            </a:r>
            <a:r>
              <a:rPr lang="en-US" sz="2800" dirty="0" smtClean="0">
                <a:latin typeface="Arimo" charset="0"/>
                <a:ea typeface="Arimo" charset="0"/>
                <a:cs typeface="Arimo" charset="0"/>
              </a:rPr>
              <a:t> plastic pollution</a:t>
            </a:r>
          </a:p>
          <a:p>
            <a:pPr marL="457200" indent="-457200">
              <a:buFont typeface="Arial" pitchFamily="34" charset="0"/>
              <a:buChar char="•"/>
            </a:pPr>
            <a:r>
              <a:rPr lang="en-US" sz="2800" dirty="0" smtClean="0">
                <a:latin typeface="Arimo" charset="0"/>
                <a:ea typeface="Arimo" charset="0"/>
                <a:cs typeface="Arimo" charset="0"/>
              </a:rPr>
              <a:t>Promote </a:t>
            </a:r>
            <a:r>
              <a:rPr lang="en-US" sz="2800" dirty="0">
                <a:latin typeface="Arimo" charset="0"/>
                <a:ea typeface="Arimo" charset="0"/>
                <a:cs typeface="Arimo" charset="0"/>
              </a:rPr>
              <a:t>alternatives to plastics </a:t>
            </a:r>
            <a:r>
              <a:rPr lang="en-US" sz="2800" dirty="0" smtClean="0">
                <a:latin typeface="Arimo" charset="0"/>
                <a:ea typeface="Arimo" charset="0"/>
                <a:cs typeface="Arimo" charset="0"/>
              </a:rPr>
              <a:t>(encourage the use of </a:t>
            </a:r>
            <a:r>
              <a:rPr lang="en-US" sz="2800" dirty="0">
                <a:latin typeface="Arimo" charset="0"/>
                <a:ea typeface="Arimo" charset="0"/>
                <a:cs typeface="Arimo" charset="0"/>
              </a:rPr>
              <a:t>biodegradable </a:t>
            </a:r>
            <a:r>
              <a:rPr lang="en-US" sz="2800" dirty="0" smtClean="0">
                <a:latin typeface="Arimo" charset="0"/>
                <a:ea typeface="Arimo" charset="0"/>
                <a:cs typeface="Arimo" charset="0"/>
              </a:rPr>
              <a:t>materials for example).</a:t>
            </a:r>
          </a:p>
          <a:p>
            <a:pPr marL="457200" indent="-457200">
              <a:buFont typeface="Arial" pitchFamily="34" charset="0"/>
              <a:buChar char="•"/>
            </a:pPr>
            <a:r>
              <a:rPr lang="en-US" sz="2800" dirty="0" smtClean="0">
                <a:latin typeface="Arimo" charset="0"/>
                <a:ea typeface="Arimo" charset="0"/>
                <a:cs typeface="Arimo" charset="0"/>
              </a:rPr>
              <a:t>Encourage </a:t>
            </a:r>
            <a:r>
              <a:rPr lang="en-US" sz="2800" dirty="0">
                <a:latin typeface="Arimo" charset="0"/>
                <a:ea typeface="Arimo" charset="0"/>
                <a:cs typeface="Arimo" charset="0"/>
              </a:rPr>
              <a:t>research on recycling and reuse </a:t>
            </a:r>
            <a:r>
              <a:rPr lang="en-US" sz="2800" dirty="0" smtClean="0">
                <a:latin typeface="Arimo" charset="0"/>
                <a:ea typeface="Arimo" charset="0"/>
                <a:cs typeface="Arimo" charset="0"/>
              </a:rPr>
              <a:t>strategies of plastics.</a:t>
            </a:r>
          </a:p>
          <a:p>
            <a:pPr marL="457200" indent="-457200">
              <a:buFont typeface="Arial" pitchFamily="34" charset="0"/>
              <a:buChar char="•"/>
            </a:pPr>
            <a:r>
              <a:rPr lang="en-US" sz="2800" dirty="0">
                <a:latin typeface="Arimo" charset="0"/>
                <a:ea typeface="Arimo" charset="0"/>
                <a:cs typeface="Arimo" charset="0"/>
              </a:rPr>
              <a:t>Encourage more researches that focuses more on the presence of </a:t>
            </a:r>
            <a:r>
              <a:rPr lang="en-US" sz="2800" dirty="0" err="1">
                <a:latin typeface="Arimo" charset="0"/>
                <a:ea typeface="Arimo" charset="0"/>
                <a:cs typeface="Arimo" charset="0"/>
              </a:rPr>
              <a:t>microplastics</a:t>
            </a:r>
            <a:r>
              <a:rPr lang="en-US" sz="2800" dirty="0">
                <a:latin typeface="Arimo" charset="0"/>
                <a:ea typeface="Arimo" charset="0"/>
                <a:cs typeface="Arimo" charset="0"/>
              </a:rPr>
              <a:t> in the </a:t>
            </a:r>
            <a:r>
              <a:rPr lang="en-US" sz="2800" dirty="0" smtClean="0">
                <a:latin typeface="Arimo" charset="0"/>
                <a:ea typeface="Arimo" charset="0"/>
                <a:cs typeface="Arimo" charset="0"/>
              </a:rPr>
              <a:t>tissues (muscle), </a:t>
            </a:r>
            <a:r>
              <a:rPr lang="en-US" sz="2800" dirty="0">
                <a:latin typeface="Arimo" charset="0"/>
                <a:ea typeface="Arimo" charset="0"/>
                <a:cs typeface="Arimo" charset="0"/>
              </a:rPr>
              <a:t>especially in edible </a:t>
            </a:r>
            <a:r>
              <a:rPr lang="en-US" sz="2800" dirty="0" smtClean="0">
                <a:latin typeface="Arimo" charset="0"/>
                <a:ea typeface="Arimo" charset="0"/>
                <a:cs typeface="Arimo" charset="0"/>
              </a:rPr>
              <a:t>tissues (muscle) </a:t>
            </a:r>
            <a:r>
              <a:rPr lang="en-US" sz="2800" dirty="0">
                <a:latin typeface="Arimo" charset="0"/>
                <a:ea typeface="Arimo" charset="0"/>
                <a:cs typeface="Arimo" charset="0"/>
              </a:rPr>
              <a:t>of fishes and </a:t>
            </a:r>
            <a:r>
              <a:rPr lang="en-US" sz="2800" dirty="0" err="1">
                <a:latin typeface="Arimo" charset="0"/>
                <a:ea typeface="Arimo" charset="0"/>
                <a:cs typeface="Arimo" charset="0"/>
              </a:rPr>
              <a:t>macroinvertebrates</a:t>
            </a:r>
            <a:r>
              <a:rPr lang="en-US" sz="2800" dirty="0" smtClean="0">
                <a:latin typeface="Arimo" charset="0"/>
                <a:ea typeface="Arimo" charset="0"/>
                <a:cs typeface="Arimo" charset="0"/>
              </a:rPr>
              <a:t>.</a:t>
            </a:r>
          </a:p>
          <a:p>
            <a:pPr marL="457200" indent="-457200">
              <a:buFont typeface="Arial" pitchFamily="34" charset="0"/>
              <a:buChar char="•"/>
            </a:pPr>
            <a:r>
              <a:rPr lang="en-US" sz="2800" dirty="0" smtClean="0">
                <a:latin typeface="Arimo" charset="0"/>
                <a:ea typeface="Arimo" charset="0"/>
                <a:cs typeface="Arimo" charset="0"/>
              </a:rPr>
              <a:t>Conduct </a:t>
            </a:r>
            <a:r>
              <a:rPr lang="en-US" sz="2800" dirty="0">
                <a:latin typeface="Arimo" charset="0"/>
                <a:ea typeface="Arimo" charset="0"/>
                <a:cs typeface="Arimo" charset="0"/>
              </a:rPr>
              <a:t>further studies on microplastics’ impact on commercial fisheries across regions and </a:t>
            </a:r>
            <a:r>
              <a:rPr lang="en-US" sz="2800" dirty="0" smtClean="0">
                <a:latin typeface="Arimo" charset="0"/>
                <a:ea typeface="Arimo" charset="0"/>
                <a:cs typeface="Arimo" charset="0"/>
              </a:rPr>
              <a:t>seasons in Nigeria.</a:t>
            </a:r>
          </a:p>
          <a:p>
            <a:pPr marL="457200" indent="-457200">
              <a:buFont typeface="Arial" pitchFamily="34" charset="0"/>
              <a:buChar char="•"/>
            </a:pPr>
            <a:endParaRPr lang="en-US" sz="2800" dirty="0">
              <a:latin typeface="Arimo" charset="0"/>
              <a:ea typeface="Arimo" charset="0"/>
              <a:cs typeface="Arimo"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52400" y="342900"/>
            <a:ext cx="18288000" cy="8763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p:cNvGrpSpPr/>
          <p:nvPr/>
        </p:nvGrpSpPr>
        <p:grpSpPr>
          <a:xfrm>
            <a:off x="1029443" y="1028700"/>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8" name="Freeform 8"/>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1" name="TextBox 11"/>
          <p:cNvSpPr txBox="1"/>
          <p:nvPr/>
        </p:nvSpPr>
        <p:spPr>
          <a:xfrm>
            <a:off x="1250424" y="2217182"/>
            <a:ext cx="15810752" cy="9479518"/>
          </a:xfrm>
          <a:prstGeom prst="rect">
            <a:avLst/>
          </a:prstGeom>
        </p:spPr>
        <p:txBody>
          <a:bodyPr wrap="square" lIns="0" tIns="0" rIns="0" bIns="0" rtlCol="0" anchor="t">
            <a:spAutoFit/>
          </a:bodyPr>
          <a:lstStyle/>
          <a:p>
            <a:pPr marL="457200" indent="-457200">
              <a:buFont typeface="Arial" pitchFamily="34" charset="0"/>
              <a:buChar char="•"/>
            </a:pPr>
            <a:r>
              <a:rPr lang="en-US" sz="2800" dirty="0">
                <a:solidFill>
                  <a:schemeClr val="tx2">
                    <a:lumMod val="50000"/>
                  </a:schemeClr>
                </a:solidFill>
                <a:latin typeface="Arimo" charset="0"/>
                <a:ea typeface="Arimo" charset="0"/>
                <a:cs typeface="Arimo" charset="0"/>
              </a:rPr>
              <a:t>Gideon </a:t>
            </a:r>
            <a:r>
              <a:rPr lang="en-US" sz="2800" dirty="0" err="1">
                <a:solidFill>
                  <a:schemeClr val="tx2">
                    <a:lumMod val="50000"/>
                  </a:schemeClr>
                </a:solidFill>
                <a:latin typeface="Arimo" charset="0"/>
                <a:ea typeface="Arimo" charset="0"/>
                <a:cs typeface="Arimo" charset="0"/>
              </a:rPr>
              <a:t>Aina</a:t>
            </a:r>
            <a:r>
              <a:rPr lang="en-US" sz="2800" dirty="0">
                <a:solidFill>
                  <a:schemeClr val="tx2">
                    <a:lumMod val="50000"/>
                  </a:schemeClr>
                </a:solidFill>
                <a:latin typeface="Arimo" charset="0"/>
                <a:ea typeface="Arimo" charset="0"/>
                <a:cs typeface="Arimo" charset="0"/>
              </a:rPr>
              <a:t> Idowu, </a:t>
            </a:r>
            <a:r>
              <a:rPr lang="en-US" sz="2800" dirty="0" err="1">
                <a:solidFill>
                  <a:schemeClr val="tx2">
                    <a:lumMod val="50000"/>
                  </a:schemeClr>
                </a:solidFill>
                <a:latin typeface="Arimo" charset="0"/>
                <a:ea typeface="Arimo" charset="0"/>
                <a:cs typeface="Arimo" charset="0"/>
              </a:rPr>
              <a:t>Adewunmi</a:t>
            </a:r>
            <a:r>
              <a:rPr lang="en-US" sz="2800" dirty="0">
                <a:solidFill>
                  <a:schemeClr val="tx2">
                    <a:lumMod val="50000"/>
                  </a:schemeClr>
                </a:solidFill>
                <a:latin typeface="Arimo" charset="0"/>
                <a:ea typeface="Arimo" charset="0"/>
                <a:cs typeface="Arimo" charset="0"/>
              </a:rPr>
              <a:t> </a:t>
            </a:r>
            <a:r>
              <a:rPr lang="en-US" sz="2800" dirty="0" err="1">
                <a:solidFill>
                  <a:schemeClr val="tx2">
                    <a:lumMod val="50000"/>
                  </a:schemeClr>
                </a:solidFill>
                <a:latin typeface="Arimo" charset="0"/>
                <a:ea typeface="Arimo" charset="0"/>
                <a:cs typeface="Arimo" charset="0"/>
              </a:rPr>
              <a:t>Yetunde</a:t>
            </a:r>
            <a:r>
              <a:rPr lang="en-US" sz="2800" dirty="0">
                <a:solidFill>
                  <a:schemeClr val="tx2">
                    <a:lumMod val="50000"/>
                  </a:schemeClr>
                </a:solidFill>
                <a:latin typeface="Arimo" charset="0"/>
                <a:ea typeface="Arimo" charset="0"/>
                <a:cs typeface="Arimo" charset="0"/>
              </a:rPr>
              <a:t> Orji, </a:t>
            </a:r>
            <a:r>
              <a:rPr lang="en-US" sz="2800" dirty="0" err="1">
                <a:solidFill>
                  <a:schemeClr val="tx2">
                    <a:lumMod val="50000"/>
                  </a:schemeClr>
                </a:solidFill>
                <a:latin typeface="Arimo" charset="0"/>
                <a:ea typeface="Arimo" charset="0"/>
                <a:cs typeface="Arimo" charset="0"/>
              </a:rPr>
              <a:t>Kehinde</a:t>
            </a:r>
            <a:r>
              <a:rPr lang="en-US" sz="2800" dirty="0">
                <a:solidFill>
                  <a:schemeClr val="tx2">
                    <a:lumMod val="50000"/>
                  </a:schemeClr>
                </a:solidFill>
                <a:latin typeface="Arimo" charset="0"/>
                <a:ea typeface="Arimo" charset="0"/>
                <a:cs typeface="Arimo" charset="0"/>
              </a:rPr>
              <a:t> </a:t>
            </a:r>
            <a:r>
              <a:rPr lang="en-US" sz="2800" dirty="0" err="1">
                <a:solidFill>
                  <a:schemeClr val="tx2">
                    <a:lumMod val="50000"/>
                  </a:schemeClr>
                </a:solidFill>
                <a:latin typeface="Arimo" charset="0"/>
                <a:ea typeface="Arimo" charset="0"/>
                <a:cs typeface="Arimo" charset="0"/>
              </a:rPr>
              <a:t>Oluwasiji</a:t>
            </a:r>
            <a:r>
              <a:rPr lang="en-US" sz="2800" dirty="0">
                <a:solidFill>
                  <a:schemeClr val="tx2">
                    <a:lumMod val="50000"/>
                  </a:schemeClr>
                </a:solidFill>
                <a:latin typeface="Arimo" charset="0"/>
                <a:ea typeface="Arimo" charset="0"/>
                <a:cs typeface="Arimo" charset="0"/>
              </a:rPr>
              <a:t> </a:t>
            </a:r>
            <a:r>
              <a:rPr lang="en-US" sz="2800" dirty="0" err="1">
                <a:solidFill>
                  <a:schemeClr val="tx2">
                    <a:lumMod val="50000"/>
                  </a:schemeClr>
                </a:solidFill>
                <a:latin typeface="Arimo" charset="0"/>
                <a:ea typeface="Arimo" charset="0"/>
                <a:cs typeface="Arimo" charset="0"/>
              </a:rPr>
              <a:t>Olorunfemi</a:t>
            </a:r>
            <a:r>
              <a:rPr lang="en-US" sz="2800" dirty="0">
                <a:solidFill>
                  <a:schemeClr val="tx2">
                    <a:lumMod val="50000"/>
                  </a:schemeClr>
                </a:solidFill>
                <a:latin typeface="Arimo" charset="0"/>
                <a:ea typeface="Arimo" charset="0"/>
                <a:cs typeface="Arimo" charset="0"/>
              </a:rPr>
              <a:t>, </a:t>
            </a:r>
            <a:r>
              <a:rPr lang="en-US" sz="2800" dirty="0" err="1">
                <a:solidFill>
                  <a:schemeClr val="tx2">
                    <a:lumMod val="50000"/>
                  </a:schemeClr>
                </a:solidFill>
                <a:latin typeface="Arimo" charset="0"/>
                <a:ea typeface="Arimo" charset="0"/>
                <a:cs typeface="Arimo" charset="0"/>
              </a:rPr>
              <a:t>Micheal</a:t>
            </a:r>
            <a:r>
              <a:rPr lang="en-US" sz="2800" dirty="0">
                <a:solidFill>
                  <a:schemeClr val="tx2">
                    <a:lumMod val="50000"/>
                  </a:schemeClr>
                </a:solidFill>
                <a:latin typeface="Arimo" charset="0"/>
                <a:ea typeface="Arimo" charset="0"/>
                <a:cs typeface="Arimo" charset="0"/>
              </a:rPr>
              <a:t> </a:t>
            </a:r>
            <a:r>
              <a:rPr lang="en-US" sz="2800" dirty="0" err="1" smtClean="0">
                <a:solidFill>
                  <a:schemeClr val="tx2">
                    <a:lumMod val="50000"/>
                  </a:schemeClr>
                </a:solidFill>
                <a:latin typeface="Arimo" charset="0"/>
                <a:ea typeface="Arimo" charset="0"/>
                <a:cs typeface="Arimo" charset="0"/>
              </a:rPr>
              <a:t>Ouwatoyin</a:t>
            </a:r>
            <a:r>
              <a:rPr lang="en-US" sz="2800" dirty="0" smtClean="0">
                <a:solidFill>
                  <a:schemeClr val="tx2">
                    <a:lumMod val="50000"/>
                  </a:schemeClr>
                </a:solidFill>
                <a:latin typeface="Arimo" charset="0"/>
                <a:ea typeface="Arimo" charset="0"/>
                <a:cs typeface="Arimo" charset="0"/>
              </a:rPr>
              <a:t> </a:t>
            </a:r>
            <a:r>
              <a:rPr lang="en-US" sz="2800" dirty="0">
                <a:solidFill>
                  <a:schemeClr val="tx2">
                    <a:lumMod val="50000"/>
                  </a:schemeClr>
                </a:solidFill>
                <a:latin typeface="Arimo" charset="0"/>
                <a:ea typeface="Arimo" charset="0"/>
                <a:cs typeface="Arimo" charset="0"/>
              </a:rPr>
              <a:t>Sunday, </a:t>
            </a:r>
            <a:r>
              <a:rPr lang="en-US" sz="2800" dirty="0" err="1">
                <a:solidFill>
                  <a:schemeClr val="tx2">
                    <a:lumMod val="50000"/>
                  </a:schemeClr>
                </a:solidFill>
                <a:latin typeface="Arimo" charset="0"/>
                <a:ea typeface="Arimo" charset="0"/>
                <a:cs typeface="Arimo" charset="0"/>
              </a:rPr>
              <a:t>Temitoipe</a:t>
            </a:r>
            <a:r>
              <a:rPr lang="en-US" sz="2800" dirty="0">
                <a:solidFill>
                  <a:schemeClr val="tx2">
                    <a:lumMod val="50000"/>
                  </a:schemeClr>
                </a:solidFill>
                <a:latin typeface="Arimo" charset="0"/>
                <a:ea typeface="Arimo" charset="0"/>
                <a:cs typeface="Arimo" charset="0"/>
              </a:rPr>
              <a:t> </a:t>
            </a:r>
            <a:r>
              <a:rPr lang="en-US" sz="2800" dirty="0" err="1">
                <a:solidFill>
                  <a:schemeClr val="tx2">
                    <a:lumMod val="50000"/>
                  </a:schemeClr>
                </a:solidFill>
                <a:latin typeface="Arimo" charset="0"/>
                <a:ea typeface="Arimo" charset="0"/>
                <a:cs typeface="Arimo" charset="0"/>
              </a:rPr>
              <a:t>Olawunmi</a:t>
            </a:r>
            <a:r>
              <a:rPr lang="en-US" sz="2800" dirty="0">
                <a:solidFill>
                  <a:schemeClr val="tx2">
                    <a:lumMod val="50000"/>
                  </a:schemeClr>
                </a:solidFill>
                <a:latin typeface="Arimo" charset="0"/>
                <a:ea typeface="Arimo" charset="0"/>
                <a:cs typeface="Arimo" charset="0"/>
              </a:rPr>
              <a:t> </a:t>
            </a:r>
            <a:r>
              <a:rPr lang="en-US" sz="2800" dirty="0" err="1">
                <a:solidFill>
                  <a:schemeClr val="tx2">
                    <a:lumMod val="50000"/>
                  </a:schemeClr>
                </a:solidFill>
                <a:latin typeface="Arimo" charset="0"/>
                <a:ea typeface="Arimo" charset="0"/>
                <a:cs typeface="Arimo" charset="0"/>
              </a:rPr>
              <a:t>Sogbanmu</a:t>
            </a:r>
            <a:r>
              <a:rPr lang="en-US" sz="2800" dirty="0">
                <a:solidFill>
                  <a:schemeClr val="tx2">
                    <a:lumMod val="50000"/>
                  </a:schemeClr>
                </a:solidFill>
                <a:latin typeface="Arimo" charset="0"/>
                <a:ea typeface="Arimo" charset="0"/>
                <a:cs typeface="Arimo" charset="0"/>
              </a:rPr>
              <a:t>, </a:t>
            </a:r>
            <a:r>
              <a:rPr lang="en-US" sz="2800" dirty="0" err="1">
                <a:solidFill>
                  <a:schemeClr val="tx2">
                    <a:lumMod val="50000"/>
                  </a:schemeClr>
                </a:solidFill>
                <a:latin typeface="Arimo" charset="0"/>
                <a:ea typeface="Arimo" charset="0"/>
                <a:cs typeface="Arimo" charset="0"/>
              </a:rPr>
              <a:t>Oluwatoyin</a:t>
            </a:r>
            <a:r>
              <a:rPr lang="en-US" sz="2800" dirty="0">
                <a:solidFill>
                  <a:schemeClr val="tx2">
                    <a:lumMod val="50000"/>
                  </a:schemeClr>
                </a:solidFill>
                <a:latin typeface="Arimo" charset="0"/>
                <a:ea typeface="Arimo" charset="0"/>
                <a:cs typeface="Arimo" charset="0"/>
              </a:rPr>
              <a:t> </a:t>
            </a:r>
            <a:r>
              <a:rPr lang="en-US" sz="2800" dirty="0" err="1">
                <a:solidFill>
                  <a:schemeClr val="tx2">
                    <a:lumMod val="50000"/>
                  </a:schemeClr>
                </a:solidFill>
                <a:latin typeface="Arimo" charset="0"/>
                <a:ea typeface="Arimo" charset="0"/>
                <a:cs typeface="Arimo" charset="0"/>
              </a:rPr>
              <a:t>Kikilomo</a:t>
            </a:r>
            <a:r>
              <a:rPr lang="en-US" sz="2800" dirty="0">
                <a:solidFill>
                  <a:schemeClr val="tx2">
                    <a:lumMod val="50000"/>
                  </a:schemeClr>
                </a:solidFill>
                <a:latin typeface="Arimo" charset="0"/>
                <a:ea typeface="Arimo" charset="0"/>
                <a:cs typeface="Arimo" charset="0"/>
              </a:rPr>
              <a:t> </a:t>
            </a:r>
            <a:r>
              <a:rPr lang="en-US" sz="2800" dirty="0" err="1">
                <a:solidFill>
                  <a:schemeClr val="tx2">
                    <a:lumMod val="50000"/>
                  </a:schemeClr>
                </a:solidFill>
                <a:latin typeface="Arimo" charset="0"/>
                <a:ea typeface="Arimo" charset="0"/>
                <a:cs typeface="Arimo" charset="0"/>
              </a:rPr>
              <a:t>Bodunwa</a:t>
            </a:r>
            <a:r>
              <a:rPr lang="en-US" sz="2800" dirty="0">
                <a:solidFill>
                  <a:schemeClr val="tx2">
                    <a:lumMod val="50000"/>
                  </a:schemeClr>
                </a:solidFill>
                <a:latin typeface="Arimo" charset="0"/>
                <a:ea typeface="Arimo" charset="0"/>
                <a:cs typeface="Arimo" charset="0"/>
              </a:rPr>
              <a:t>, Oluwatosin Sarah </a:t>
            </a:r>
            <a:r>
              <a:rPr lang="en-US" sz="2800" dirty="0" err="1">
                <a:solidFill>
                  <a:schemeClr val="tx2">
                    <a:lumMod val="50000"/>
                  </a:schemeClr>
                </a:solidFill>
                <a:latin typeface="Arimo" charset="0"/>
                <a:ea typeface="Arimo" charset="0"/>
                <a:cs typeface="Arimo" charset="0"/>
              </a:rPr>
              <a:t>Shokunbi</a:t>
            </a:r>
            <a:r>
              <a:rPr lang="en-US" sz="2800" dirty="0">
                <a:solidFill>
                  <a:schemeClr val="tx2">
                    <a:lumMod val="50000"/>
                  </a:schemeClr>
                </a:solidFill>
                <a:latin typeface="Arimo" charset="0"/>
                <a:ea typeface="Arimo" charset="0"/>
                <a:cs typeface="Arimo" charset="0"/>
              </a:rPr>
              <a:t>, </a:t>
            </a:r>
            <a:r>
              <a:rPr lang="en-US" sz="2800" dirty="0" err="1">
                <a:solidFill>
                  <a:schemeClr val="tx2">
                    <a:lumMod val="50000"/>
                  </a:schemeClr>
                </a:solidFill>
                <a:latin typeface="Arimo" charset="0"/>
                <a:ea typeface="Arimo" charset="0"/>
                <a:cs typeface="Arimo" charset="0"/>
              </a:rPr>
              <a:t>Ademola</a:t>
            </a:r>
            <a:r>
              <a:rPr lang="en-US" sz="2800" dirty="0">
                <a:solidFill>
                  <a:schemeClr val="tx2">
                    <a:lumMod val="50000"/>
                  </a:schemeClr>
                </a:solidFill>
                <a:latin typeface="Arimo" charset="0"/>
                <a:ea typeface="Arimo" charset="0"/>
                <a:cs typeface="Arimo" charset="0"/>
              </a:rPr>
              <a:t> Festus </a:t>
            </a:r>
            <a:r>
              <a:rPr lang="en-US" sz="2800" dirty="0" err="1">
                <a:solidFill>
                  <a:schemeClr val="tx2">
                    <a:lumMod val="50000"/>
                  </a:schemeClr>
                </a:solidFill>
                <a:latin typeface="Arimo" charset="0"/>
                <a:ea typeface="Arimo" charset="0"/>
                <a:cs typeface="Arimo" charset="0"/>
              </a:rPr>
              <a:t>Aiyesanmi</a:t>
            </a:r>
            <a:r>
              <a:rPr lang="en-US" sz="2800" dirty="0">
                <a:solidFill>
                  <a:schemeClr val="tx2">
                    <a:lumMod val="50000"/>
                  </a:schemeClr>
                </a:solidFill>
                <a:latin typeface="Arimo" charset="0"/>
                <a:ea typeface="Arimo" charset="0"/>
                <a:cs typeface="Arimo" charset="0"/>
              </a:rPr>
              <a:t>. (2024). Why Nigeria should ban single-use </a:t>
            </a:r>
            <a:r>
              <a:rPr lang="en-US" sz="2800" dirty="0" err="1">
                <a:solidFill>
                  <a:schemeClr val="tx2">
                    <a:lumMod val="50000"/>
                  </a:schemeClr>
                </a:solidFill>
                <a:latin typeface="Arimo" charset="0"/>
                <a:ea typeface="Arimo" charset="0"/>
                <a:cs typeface="Arimo" charset="0"/>
              </a:rPr>
              <a:t>plastices</a:t>
            </a:r>
            <a:r>
              <a:rPr lang="en-US" sz="2800" dirty="0" smtClean="0">
                <a:solidFill>
                  <a:schemeClr val="tx2">
                    <a:lumMod val="50000"/>
                  </a:schemeClr>
                </a:solidFill>
                <a:latin typeface="Arimo" charset="0"/>
                <a:ea typeface="Arimo" charset="0"/>
                <a:cs typeface="Arimo" charset="0"/>
              </a:rPr>
              <a:t>: Excessive </a:t>
            </a:r>
            <a:r>
              <a:rPr lang="en-US" sz="2800" dirty="0">
                <a:solidFill>
                  <a:schemeClr val="tx2">
                    <a:lumMod val="50000"/>
                  </a:schemeClr>
                </a:solidFill>
                <a:latin typeface="Arimo" charset="0"/>
                <a:ea typeface="Arimo" charset="0"/>
                <a:cs typeface="Arimo" charset="0"/>
              </a:rPr>
              <a:t>microplastic pollution of the water, sediments and fish species in </a:t>
            </a:r>
            <a:r>
              <a:rPr lang="en-US" sz="2800" dirty="0" err="1">
                <a:solidFill>
                  <a:schemeClr val="tx2">
                    <a:lumMod val="50000"/>
                  </a:schemeClr>
                </a:solidFill>
                <a:latin typeface="Arimo" charset="0"/>
                <a:ea typeface="Arimo" charset="0"/>
                <a:cs typeface="Arimo" charset="0"/>
              </a:rPr>
              <a:t>Osun</a:t>
            </a:r>
            <a:r>
              <a:rPr lang="en-US" sz="2800" dirty="0">
                <a:solidFill>
                  <a:schemeClr val="tx2">
                    <a:lumMod val="50000"/>
                  </a:schemeClr>
                </a:solidFill>
                <a:latin typeface="Arimo" charset="0"/>
                <a:ea typeface="Arimo" charset="0"/>
                <a:cs typeface="Arimo" charset="0"/>
              </a:rPr>
              <a:t> River, </a:t>
            </a:r>
            <a:r>
              <a:rPr lang="en-US" sz="2800" dirty="0" smtClean="0">
                <a:solidFill>
                  <a:schemeClr val="tx2">
                    <a:lumMod val="50000"/>
                  </a:schemeClr>
                </a:solidFill>
                <a:latin typeface="Arimo" charset="0"/>
                <a:ea typeface="Arimo" charset="0"/>
                <a:cs typeface="Arimo" charset="0"/>
              </a:rPr>
              <a:t>Nigeria. </a:t>
            </a:r>
            <a:r>
              <a:rPr lang="en-US" sz="2800" i="1" dirty="0" smtClean="0">
                <a:solidFill>
                  <a:schemeClr val="tx2">
                    <a:lumMod val="50000"/>
                  </a:schemeClr>
                </a:solidFill>
                <a:latin typeface="Arimo" charset="0"/>
                <a:ea typeface="Arimo" charset="0"/>
                <a:cs typeface="Arimo" charset="0"/>
              </a:rPr>
              <a:t>Journal </a:t>
            </a:r>
            <a:r>
              <a:rPr lang="en-US" sz="2800" i="1" dirty="0">
                <a:solidFill>
                  <a:schemeClr val="tx2">
                    <a:lumMod val="50000"/>
                  </a:schemeClr>
                </a:solidFill>
                <a:latin typeface="Arimo" charset="0"/>
                <a:ea typeface="Arimo" charset="0"/>
                <a:cs typeface="Arimo" charset="0"/>
              </a:rPr>
              <a:t>of Hazardous Material Advances. </a:t>
            </a:r>
            <a:r>
              <a:rPr lang="en-US" sz="2800" dirty="0" err="1">
                <a:solidFill>
                  <a:schemeClr val="tx2">
                    <a:lumMod val="50000"/>
                  </a:schemeClr>
                </a:solidFill>
                <a:latin typeface="Arimo" charset="0"/>
                <a:ea typeface="Arimo" charset="0"/>
                <a:cs typeface="Arimo" charset="0"/>
              </a:rPr>
              <a:t>Vol</a:t>
            </a:r>
            <a:r>
              <a:rPr lang="en-US" sz="2800" dirty="0">
                <a:solidFill>
                  <a:schemeClr val="tx2">
                    <a:lumMod val="50000"/>
                  </a:schemeClr>
                </a:solidFill>
                <a:latin typeface="Arimo" charset="0"/>
                <a:ea typeface="Arimo" charset="0"/>
                <a:cs typeface="Arimo" charset="0"/>
              </a:rPr>
              <a:t> </a:t>
            </a:r>
            <a:r>
              <a:rPr lang="en-US" sz="2800" dirty="0" smtClean="0">
                <a:solidFill>
                  <a:schemeClr val="tx2">
                    <a:lumMod val="50000"/>
                  </a:schemeClr>
                </a:solidFill>
                <a:latin typeface="Arimo" charset="0"/>
                <a:ea typeface="Arimo" charset="0"/>
                <a:cs typeface="Arimo" charset="0"/>
              </a:rPr>
              <a:t>13. </a:t>
            </a:r>
          </a:p>
          <a:p>
            <a:pPr marL="457200" indent="-457200">
              <a:buFont typeface="Arial" pitchFamily="34" charset="0"/>
              <a:buChar char="•"/>
            </a:pPr>
            <a:r>
              <a:rPr lang="en-US" sz="2800" dirty="0" smtClean="0">
                <a:solidFill>
                  <a:schemeClr val="tx2">
                    <a:lumMod val="50000"/>
                  </a:schemeClr>
                </a:solidFill>
                <a:latin typeface="Arimo" charset="0"/>
                <a:ea typeface="Arimo" charset="0"/>
                <a:cs typeface="Arimo" charset="0"/>
              </a:rPr>
              <a:t>Marn</a:t>
            </a:r>
            <a:r>
              <a:rPr lang="en-US" sz="2800" dirty="0">
                <a:solidFill>
                  <a:schemeClr val="tx2">
                    <a:lumMod val="50000"/>
                  </a:schemeClr>
                </a:solidFill>
                <a:latin typeface="Arimo" charset="0"/>
                <a:ea typeface="Arimo" charset="0"/>
                <a:cs typeface="Arimo" charset="0"/>
              </a:rPr>
              <a:t>,</a:t>
            </a:r>
            <a:r>
              <a:rPr lang="en-US" sz="2800" dirty="0" smtClean="0">
                <a:solidFill>
                  <a:schemeClr val="tx2">
                    <a:lumMod val="50000"/>
                  </a:schemeClr>
                </a:solidFill>
                <a:latin typeface="Arimo" charset="0"/>
                <a:ea typeface="Arimo" charset="0"/>
                <a:cs typeface="Arimo" charset="0"/>
              </a:rPr>
              <a:t> N.,  </a:t>
            </a:r>
            <a:r>
              <a:rPr lang="en-US" sz="2800" dirty="0" err="1" smtClean="0">
                <a:solidFill>
                  <a:schemeClr val="tx2">
                    <a:lumMod val="50000"/>
                  </a:schemeClr>
                </a:solidFill>
                <a:latin typeface="Arimo" charset="0"/>
                <a:ea typeface="Arimo" charset="0"/>
                <a:cs typeface="Arimo" charset="0"/>
              </a:rPr>
              <a:t>Jusup</a:t>
            </a:r>
            <a:r>
              <a:rPr lang="en-US" sz="2800" dirty="0">
                <a:solidFill>
                  <a:schemeClr val="tx2">
                    <a:lumMod val="50000"/>
                  </a:schemeClr>
                </a:solidFill>
                <a:latin typeface="Arimo" charset="0"/>
                <a:ea typeface="Arimo" charset="0"/>
                <a:cs typeface="Arimo" charset="0"/>
              </a:rPr>
              <a:t>,</a:t>
            </a:r>
            <a:r>
              <a:rPr lang="en-US" sz="2800" dirty="0" smtClean="0">
                <a:solidFill>
                  <a:schemeClr val="tx2">
                    <a:lumMod val="50000"/>
                  </a:schemeClr>
                </a:solidFill>
                <a:latin typeface="Arimo" charset="0"/>
                <a:ea typeface="Arimo" charset="0"/>
                <a:cs typeface="Arimo" charset="0"/>
              </a:rPr>
              <a:t> M., </a:t>
            </a:r>
            <a:r>
              <a:rPr lang="en-US" sz="2800" dirty="0" err="1" smtClean="0">
                <a:solidFill>
                  <a:schemeClr val="tx2">
                    <a:lumMod val="50000"/>
                  </a:schemeClr>
                </a:solidFill>
                <a:latin typeface="Arimo" charset="0"/>
                <a:ea typeface="Arimo" charset="0"/>
                <a:cs typeface="Arimo" charset="0"/>
              </a:rPr>
              <a:t>Kooijman</a:t>
            </a:r>
            <a:r>
              <a:rPr lang="en-US" sz="2800" dirty="0">
                <a:solidFill>
                  <a:schemeClr val="tx2">
                    <a:lumMod val="50000"/>
                  </a:schemeClr>
                </a:solidFill>
                <a:latin typeface="Arimo" charset="0"/>
                <a:ea typeface="Arimo" charset="0"/>
                <a:cs typeface="Arimo" charset="0"/>
              </a:rPr>
              <a:t>,</a:t>
            </a:r>
            <a:r>
              <a:rPr lang="en-US" sz="2800" dirty="0" smtClean="0">
                <a:solidFill>
                  <a:schemeClr val="tx2">
                    <a:lumMod val="50000"/>
                  </a:schemeClr>
                </a:solidFill>
                <a:latin typeface="Arimo" charset="0"/>
                <a:ea typeface="Arimo" charset="0"/>
                <a:cs typeface="Arimo" charset="0"/>
              </a:rPr>
              <a:t> S.,  </a:t>
            </a:r>
            <a:r>
              <a:rPr lang="en-US" sz="2800" dirty="0" err="1" smtClean="0">
                <a:solidFill>
                  <a:schemeClr val="tx2">
                    <a:lumMod val="50000"/>
                  </a:schemeClr>
                </a:solidFill>
                <a:latin typeface="Arimo" charset="0"/>
                <a:ea typeface="Arimo" charset="0"/>
                <a:cs typeface="Arimo" charset="0"/>
              </a:rPr>
              <a:t>Klanjscek</a:t>
            </a:r>
            <a:r>
              <a:rPr lang="en-US" sz="2800" dirty="0" smtClean="0">
                <a:solidFill>
                  <a:schemeClr val="tx2">
                    <a:lumMod val="50000"/>
                  </a:schemeClr>
                </a:solidFill>
                <a:latin typeface="Arimo" charset="0"/>
                <a:ea typeface="Arimo" charset="0"/>
                <a:cs typeface="Arimo" charset="0"/>
              </a:rPr>
              <a:t>. T </a:t>
            </a:r>
            <a:r>
              <a:rPr lang="en-US" sz="2800" dirty="0">
                <a:solidFill>
                  <a:schemeClr val="tx2">
                    <a:lumMod val="50000"/>
                  </a:schemeClr>
                </a:solidFill>
                <a:latin typeface="Arimo" charset="0"/>
                <a:ea typeface="Arimo" charset="0"/>
                <a:cs typeface="Arimo" charset="0"/>
              </a:rPr>
              <a:t>(2020). Quantifying impacts of plastic debris on marine wildlife identifies ecological breakpoints. </a:t>
            </a:r>
            <a:r>
              <a:rPr lang="en-US" sz="2800" i="1" dirty="0">
                <a:solidFill>
                  <a:schemeClr val="tx2">
                    <a:lumMod val="50000"/>
                  </a:schemeClr>
                </a:solidFill>
                <a:latin typeface="Arimo" charset="0"/>
                <a:ea typeface="Arimo" charset="0"/>
                <a:cs typeface="Arimo" charset="0"/>
              </a:rPr>
              <a:t>Ecol. </a:t>
            </a:r>
            <a:r>
              <a:rPr lang="en-US" sz="2800" i="1" dirty="0" err="1">
                <a:solidFill>
                  <a:schemeClr val="tx2">
                    <a:lumMod val="50000"/>
                  </a:schemeClr>
                </a:solidFill>
                <a:latin typeface="Arimo" charset="0"/>
                <a:ea typeface="Arimo" charset="0"/>
                <a:cs typeface="Arimo" charset="0"/>
              </a:rPr>
              <a:t>Lett</a:t>
            </a:r>
            <a:r>
              <a:rPr lang="en-US" sz="2800" i="1" dirty="0">
                <a:solidFill>
                  <a:schemeClr val="tx2">
                    <a:lumMod val="50000"/>
                  </a:schemeClr>
                </a:solidFill>
                <a:latin typeface="Arimo" charset="0"/>
                <a:ea typeface="Arimo" charset="0"/>
                <a:cs typeface="Arimo" charset="0"/>
              </a:rPr>
              <a:t>., </a:t>
            </a:r>
            <a:r>
              <a:rPr lang="en-US" sz="2800" dirty="0">
                <a:solidFill>
                  <a:schemeClr val="tx2">
                    <a:lumMod val="50000"/>
                  </a:schemeClr>
                </a:solidFill>
                <a:latin typeface="Arimo" charset="0"/>
                <a:ea typeface="Arimo" charset="0"/>
                <a:cs typeface="Arimo" charset="0"/>
              </a:rPr>
              <a:t>23 : </a:t>
            </a:r>
            <a:r>
              <a:rPr lang="en-US" sz="2800" dirty="0" smtClean="0">
                <a:solidFill>
                  <a:schemeClr val="tx2">
                    <a:lumMod val="50000"/>
                  </a:schemeClr>
                </a:solidFill>
                <a:latin typeface="Arimo" charset="0"/>
                <a:ea typeface="Arimo" charset="0"/>
                <a:cs typeface="Arimo" charset="0"/>
              </a:rPr>
              <a:t>1479-1487.</a:t>
            </a:r>
          </a:p>
          <a:p>
            <a:pPr marL="457200" indent="-457200">
              <a:buFont typeface="Arial" pitchFamily="34" charset="0"/>
              <a:buChar char="•"/>
            </a:pPr>
            <a:r>
              <a:rPr lang="en-US" sz="2800" dirty="0" smtClean="0">
                <a:solidFill>
                  <a:schemeClr val="tx2">
                    <a:lumMod val="50000"/>
                  </a:schemeClr>
                </a:solidFill>
                <a:latin typeface="Arimo" charset="0"/>
                <a:ea typeface="Arimo" charset="0"/>
                <a:cs typeface="Arimo" charset="0"/>
              </a:rPr>
              <a:t>Oluwatosin </a:t>
            </a:r>
            <a:r>
              <a:rPr lang="en-US" sz="2800" dirty="0" err="1">
                <a:solidFill>
                  <a:schemeClr val="tx2">
                    <a:lumMod val="50000"/>
                  </a:schemeClr>
                </a:solidFill>
                <a:latin typeface="Arimo" charset="0"/>
                <a:ea typeface="Arimo" charset="0"/>
                <a:cs typeface="Arimo" charset="0"/>
              </a:rPr>
              <a:t>Modupe</a:t>
            </a:r>
            <a:r>
              <a:rPr lang="en-US" sz="2800" dirty="0">
                <a:solidFill>
                  <a:schemeClr val="tx2">
                    <a:lumMod val="50000"/>
                  </a:schemeClr>
                </a:solidFill>
                <a:latin typeface="Arimo" charset="0"/>
                <a:ea typeface="Arimo" charset="0"/>
                <a:cs typeface="Arimo" charset="0"/>
              </a:rPr>
              <a:t> </a:t>
            </a:r>
            <a:r>
              <a:rPr lang="en-US" sz="2800" dirty="0" err="1">
                <a:solidFill>
                  <a:schemeClr val="tx2">
                    <a:lumMod val="50000"/>
                  </a:schemeClr>
                </a:solidFill>
                <a:latin typeface="Arimo" charset="0"/>
                <a:ea typeface="Arimo" charset="0"/>
                <a:cs typeface="Arimo" charset="0"/>
              </a:rPr>
              <a:t>Olarinmoye</a:t>
            </a:r>
            <a:r>
              <a:rPr lang="en-US" sz="2800" dirty="0">
                <a:solidFill>
                  <a:schemeClr val="tx2">
                    <a:lumMod val="50000"/>
                  </a:schemeClr>
                </a:solidFill>
                <a:latin typeface="Arimo" charset="0"/>
                <a:ea typeface="Arimo" charset="0"/>
                <a:cs typeface="Arimo" charset="0"/>
              </a:rPr>
              <a:t>, </a:t>
            </a:r>
            <a:r>
              <a:rPr lang="en-US" sz="2800" dirty="0" err="1">
                <a:solidFill>
                  <a:schemeClr val="tx2">
                    <a:lumMod val="50000"/>
                  </a:schemeClr>
                </a:solidFill>
                <a:latin typeface="Arimo" charset="0"/>
                <a:ea typeface="Arimo" charset="0"/>
                <a:cs typeface="Arimo" charset="0"/>
              </a:rPr>
              <a:t>Friedika</a:t>
            </a:r>
            <a:r>
              <a:rPr lang="en-US" sz="2800" dirty="0">
                <a:solidFill>
                  <a:schemeClr val="tx2">
                    <a:lumMod val="50000"/>
                  </a:schemeClr>
                </a:solidFill>
                <a:latin typeface="Arimo" charset="0"/>
                <a:ea typeface="Arimo" charset="0"/>
                <a:cs typeface="Arimo" charset="0"/>
              </a:rPr>
              <a:t> Stock, Nadine </a:t>
            </a:r>
            <a:r>
              <a:rPr lang="en-US" sz="2800" dirty="0" err="1">
                <a:solidFill>
                  <a:schemeClr val="tx2">
                    <a:lumMod val="50000"/>
                  </a:schemeClr>
                </a:solidFill>
                <a:latin typeface="Arimo" charset="0"/>
                <a:ea typeface="Arimo" charset="0"/>
                <a:cs typeface="Arimo" charset="0"/>
              </a:rPr>
              <a:t>Scherf</a:t>
            </a:r>
            <a:r>
              <a:rPr lang="en-US" sz="2800" dirty="0">
                <a:solidFill>
                  <a:schemeClr val="tx2">
                    <a:lumMod val="50000"/>
                  </a:schemeClr>
                </a:solidFill>
                <a:latin typeface="Arimo" charset="0"/>
                <a:ea typeface="Arimo" charset="0"/>
                <a:cs typeface="Arimo" charset="0"/>
              </a:rPr>
              <a:t>, </a:t>
            </a:r>
            <a:r>
              <a:rPr lang="en-US" sz="2800" dirty="0" err="1">
                <a:solidFill>
                  <a:schemeClr val="tx2">
                    <a:lumMod val="50000"/>
                  </a:schemeClr>
                </a:solidFill>
                <a:latin typeface="Arimo" charset="0"/>
                <a:ea typeface="Arimo" charset="0"/>
                <a:cs typeface="Arimo" charset="0"/>
              </a:rPr>
              <a:t>Olusegun</a:t>
            </a:r>
            <a:r>
              <a:rPr lang="en-US" sz="2800" dirty="0">
                <a:solidFill>
                  <a:schemeClr val="tx2">
                    <a:lumMod val="50000"/>
                  </a:schemeClr>
                </a:solidFill>
                <a:latin typeface="Arimo" charset="0"/>
                <a:ea typeface="Arimo" charset="0"/>
                <a:cs typeface="Arimo" charset="0"/>
              </a:rPr>
              <a:t> </a:t>
            </a:r>
            <a:r>
              <a:rPr lang="en-US" sz="2800" dirty="0" err="1">
                <a:solidFill>
                  <a:schemeClr val="tx2">
                    <a:lumMod val="50000"/>
                  </a:schemeClr>
                </a:solidFill>
                <a:latin typeface="Arimo" charset="0"/>
                <a:ea typeface="Arimo" charset="0"/>
                <a:cs typeface="Arimo" charset="0"/>
              </a:rPr>
              <a:t>Whenu</a:t>
            </a:r>
            <a:r>
              <a:rPr lang="en-US" sz="2800" dirty="0">
                <a:solidFill>
                  <a:schemeClr val="tx2">
                    <a:lumMod val="50000"/>
                  </a:schemeClr>
                </a:solidFill>
                <a:latin typeface="Arimo" charset="0"/>
                <a:ea typeface="Arimo" charset="0"/>
                <a:cs typeface="Arimo" charset="0"/>
              </a:rPr>
              <a:t>, Charles </a:t>
            </a:r>
            <a:r>
              <a:rPr lang="en-US" sz="2800" dirty="0" err="1">
                <a:solidFill>
                  <a:schemeClr val="tx2">
                    <a:lumMod val="50000"/>
                  </a:schemeClr>
                </a:solidFill>
                <a:latin typeface="Arimo" charset="0"/>
                <a:ea typeface="Arimo" charset="0"/>
                <a:cs typeface="Arimo" charset="0"/>
              </a:rPr>
              <a:t>Asenime</a:t>
            </a:r>
            <a:r>
              <a:rPr lang="en-US" sz="2800" dirty="0">
                <a:solidFill>
                  <a:schemeClr val="tx2">
                    <a:lumMod val="50000"/>
                  </a:schemeClr>
                </a:solidFill>
                <a:latin typeface="Arimo" charset="0"/>
                <a:ea typeface="Arimo" charset="0"/>
                <a:cs typeface="Arimo" charset="0"/>
              </a:rPr>
              <a:t>, Sylvester </a:t>
            </a:r>
            <a:r>
              <a:rPr lang="en-US" sz="2800" dirty="0" err="1">
                <a:solidFill>
                  <a:schemeClr val="tx2">
                    <a:lumMod val="50000"/>
                  </a:schemeClr>
                </a:solidFill>
                <a:latin typeface="Arimo" charset="0"/>
                <a:ea typeface="Arimo" charset="0"/>
                <a:cs typeface="Arimo" charset="0"/>
              </a:rPr>
              <a:t>Ganzallo</a:t>
            </a:r>
            <a:r>
              <a:rPr lang="en-US" sz="2800" dirty="0">
                <a:solidFill>
                  <a:schemeClr val="tx2">
                    <a:lumMod val="50000"/>
                  </a:schemeClr>
                </a:solidFill>
                <a:latin typeface="Arimo" charset="0"/>
                <a:ea typeface="Arimo" charset="0"/>
                <a:cs typeface="Arimo" charset="0"/>
              </a:rPr>
              <a:t>. (2020). Microplastic presence in sediment and water of a Lagoon Bordering the urban agglomeration of Lagos, Southwest, Nigeria. </a:t>
            </a:r>
            <a:r>
              <a:rPr lang="en-US" sz="2800" i="1" dirty="0">
                <a:solidFill>
                  <a:schemeClr val="tx2">
                    <a:lumMod val="50000"/>
                  </a:schemeClr>
                </a:solidFill>
                <a:latin typeface="Arimo" charset="0"/>
                <a:ea typeface="Arimo" charset="0"/>
                <a:cs typeface="Arimo" charset="0"/>
              </a:rPr>
              <a:t>Geosciences. </a:t>
            </a:r>
            <a:r>
              <a:rPr lang="en-US" sz="2800" dirty="0">
                <a:solidFill>
                  <a:schemeClr val="tx2">
                    <a:lumMod val="50000"/>
                  </a:schemeClr>
                </a:solidFill>
                <a:latin typeface="Arimo" charset="0"/>
                <a:ea typeface="Arimo" charset="0"/>
                <a:cs typeface="Arimo" charset="0"/>
              </a:rPr>
              <a:t>10: 494</a:t>
            </a:r>
            <a:r>
              <a:rPr lang="en-US" sz="2800" dirty="0" smtClean="0">
                <a:solidFill>
                  <a:schemeClr val="tx2">
                    <a:lumMod val="50000"/>
                  </a:schemeClr>
                </a:solidFill>
                <a:latin typeface="Arimo" charset="0"/>
                <a:ea typeface="Arimo" charset="0"/>
                <a:cs typeface="Arimo" charset="0"/>
              </a:rPr>
              <a:t>.</a:t>
            </a:r>
          </a:p>
          <a:p>
            <a:pPr marL="457200" indent="-457200">
              <a:buFont typeface="Arial" pitchFamily="34" charset="0"/>
              <a:buChar char="•"/>
            </a:pPr>
            <a:r>
              <a:rPr lang="en-US" sz="2800" dirty="0" smtClean="0">
                <a:solidFill>
                  <a:schemeClr val="tx2">
                    <a:lumMod val="50000"/>
                  </a:schemeClr>
                </a:solidFill>
                <a:latin typeface="Arimo" charset="0"/>
                <a:ea typeface="Arimo" charset="0"/>
                <a:cs typeface="Arimo" charset="0"/>
              </a:rPr>
              <a:t>Emeka Dumbill and Lesley Henderson (2020). The challenge of plastic pollution in Nigeria. </a:t>
            </a:r>
            <a:r>
              <a:rPr lang="en-US" sz="2800" i="1" dirty="0" smtClean="0">
                <a:solidFill>
                  <a:schemeClr val="tx2">
                    <a:lumMod val="50000"/>
                  </a:schemeClr>
                </a:solidFill>
                <a:latin typeface="Arimo" charset="0"/>
                <a:ea typeface="Arimo" charset="0"/>
                <a:cs typeface="Arimo" charset="0"/>
              </a:rPr>
              <a:t> Environmental Impact, Societal Issues, Prevention and Solution. </a:t>
            </a:r>
            <a:r>
              <a:rPr lang="en-US" sz="2800" dirty="0" smtClean="0">
                <a:solidFill>
                  <a:schemeClr val="tx2">
                    <a:lumMod val="50000"/>
                  </a:schemeClr>
                </a:solidFill>
                <a:latin typeface="Arimo" charset="0"/>
                <a:ea typeface="Arimo" charset="0"/>
                <a:cs typeface="Arimo" charset="0"/>
              </a:rPr>
              <a:t>22:569-583.</a:t>
            </a:r>
          </a:p>
          <a:p>
            <a:pPr marL="457200" indent="-457200">
              <a:buFont typeface="Arial" pitchFamily="34" charset="0"/>
              <a:buChar char="•"/>
            </a:pPr>
            <a:r>
              <a:rPr lang="en-US" sz="2800" dirty="0" smtClean="0">
                <a:solidFill>
                  <a:schemeClr val="tx2">
                    <a:lumMod val="50000"/>
                  </a:schemeClr>
                </a:solidFill>
                <a:latin typeface="Arimo" charset="0"/>
                <a:ea typeface="Arimo" charset="0"/>
                <a:cs typeface="Arimo" charset="0"/>
              </a:rPr>
              <a:t>Nweke, N.D., </a:t>
            </a:r>
            <a:r>
              <a:rPr lang="en-US" sz="2800" dirty="0" err="1" smtClean="0">
                <a:solidFill>
                  <a:schemeClr val="tx2">
                    <a:lumMod val="50000"/>
                  </a:schemeClr>
                </a:solidFill>
                <a:latin typeface="Arimo" charset="0"/>
                <a:ea typeface="Arimo" charset="0"/>
                <a:cs typeface="Arimo" charset="0"/>
              </a:rPr>
              <a:t>Agbasi</a:t>
            </a:r>
            <a:r>
              <a:rPr lang="en-US" sz="2800" dirty="0" smtClean="0">
                <a:solidFill>
                  <a:schemeClr val="tx2">
                    <a:lumMod val="50000"/>
                  </a:schemeClr>
                </a:solidFill>
                <a:latin typeface="Arimo" charset="0"/>
                <a:ea typeface="Arimo" charset="0"/>
                <a:cs typeface="Arimo" charset="0"/>
              </a:rPr>
              <a:t>, J.C., </a:t>
            </a:r>
            <a:r>
              <a:rPr lang="en-US" sz="2800" dirty="0" err="1" smtClean="0">
                <a:solidFill>
                  <a:schemeClr val="tx2">
                    <a:lumMod val="50000"/>
                  </a:schemeClr>
                </a:solidFill>
                <a:latin typeface="Arimo" charset="0"/>
                <a:ea typeface="Arimo" charset="0"/>
                <a:cs typeface="Arimo" charset="0"/>
              </a:rPr>
              <a:t>Aiyejoto</a:t>
            </a:r>
            <a:r>
              <a:rPr lang="en-US" sz="2800" dirty="0" smtClean="0">
                <a:solidFill>
                  <a:schemeClr val="tx2">
                    <a:lumMod val="50000"/>
                  </a:schemeClr>
                </a:solidFill>
                <a:latin typeface="Arimo" charset="0"/>
                <a:ea typeface="Arimo" charset="0"/>
                <a:cs typeface="Arimo" charset="0"/>
              </a:rPr>
              <a:t>, D.A., </a:t>
            </a:r>
            <a:r>
              <a:rPr lang="en-US" sz="2800" dirty="0" err="1" smtClean="0">
                <a:solidFill>
                  <a:schemeClr val="tx2">
                    <a:lumMod val="50000"/>
                  </a:schemeClr>
                </a:solidFill>
                <a:latin typeface="Arimo" charset="0"/>
                <a:ea typeface="Arimo" charset="0"/>
                <a:cs typeface="Arimo" charset="0"/>
              </a:rPr>
              <a:t>Onuba</a:t>
            </a:r>
            <a:r>
              <a:rPr lang="en-US" sz="2800" dirty="0" smtClean="0">
                <a:solidFill>
                  <a:schemeClr val="tx2">
                    <a:lumMod val="50000"/>
                  </a:schemeClr>
                </a:solidFill>
                <a:latin typeface="Arimo" charset="0"/>
                <a:ea typeface="Arimo" charset="0"/>
                <a:cs typeface="Arimo" charset="0"/>
              </a:rPr>
              <a:t>, L.N., </a:t>
            </a:r>
            <a:r>
              <a:rPr lang="en-US" sz="2800" dirty="0" err="1" smtClean="0">
                <a:solidFill>
                  <a:schemeClr val="tx2">
                    <a:lumMod val="50000"/>
                  </a:schemeClr>
                </a:solidFill>
                <a:latin typeface="Arimo" charset="0"/>
                <a:ea typeface="Arimo" charset="0"/>
                <a:cs typeface="Arimo" charset="0"/>
              </a:rPr>
              <a:t>Egbueri</a:t>
            </a:r>
            <a:r>
              <a:rPr lang="en-US" sz="2800" dirty="0" smtClean="0">
                <a:solidFill>
                  <a:schemeClr val="tx2">
                    <a:lumMod val="50000"/>
                  </a:schemeClr>
                </a:solidFill>
                <a:latin typeface="Arimo" charset="0"/>
                <a:ea typeface="Arimo" charset="0"/>
                <a:cs typeface="Arimo" charset="0"/>
              </a:rPr>
              <a:t>, J.C. (20140. Sources and environmental distribution of microplastics in Nigeria. In: </a:t>
            </a:r>
            <a:r>
              <a:rPr lang="en-US" sz="2800" dirty="0" err="1" smtClean="0">
                <a:solidFill>
                  <a:schemeClr val="tx2">
                    <a:lumMod val="50000"/>
                  </a:schemeClr>
                </a:solidFill>
                <a:latin typeface="Arimo" charset="0"/>
                <a:ea typeface="Arimo" charset="0"/>
                <a:cs typeface="Arimo" charset="0"/>
              </a:rPr>
              <a:t>Egbueri</a:t>
            </a:r>
            <a:r>
              <a:rPr lang="en-US" sz="2800" dirty="0" smtClean="0">
                <a:solidFill>
                  <a:schemeClr val="tx2">
                    <a:lumMod val="50000"/>
                  </a:schemeClr>
                </a:solidFill>
                <a:latin typeface="Arimo" charset="0"/>
                <a:ea typeface="Arimo" charset="0"/>
                <a:cs typeface="Arimo" charset="0"/>
              </a:rPr>
              <a:t>, J.C., </a:t>
            </a:r>
            <a:r>
              <a:rPr lang="en-US" sz="2800" dirty="0" err="1" smtClean="0">
                <a:solidFill>
                  <a:schemeClr val="tx2">
                    <a:lumMod val="50000"/>
                  </a:schemeClr>
                </a:solidFill>
                <a:latin typeface="Arimo" charset="0"/>
                <a:ea typeface="Arimo" charset="0"/>
                <a:cs typeface="Arimo" charset="0"/>
              </a:rPr>
              <a:t>Ighala</a:t>
            </a:r>
            <a:r>
              <a:rPr lang="en-US" sz="2800" dirty="0" smtClean="0">
                <a:solidFill>
                  <a:schemeClr val="tx2">
                    <a:lumMod val="50000"/>
                  </a:schemeClr>
                </a:solidFill>
                <a:latin typeface="Arimo" charset="0"/>
                <a:ea typeface="Arimo" charset="0"/>
                <a:cs typeface="Arimo" charset="0"/>
              </a:rPr>
              <a:t>, J.O, </a:t>
            </a:r>
            <a:r>
              <a:rPr lang="en-US" sz="2800" dirty="0" err="1" smtClean="0">
                <a:solidFill>
                  <a:schemeClr val="tx2">
                    <a:lumMod val="50000"/>
                  </a:schemeClr>
                </a:solidFill>
                <a:latin typeface="Arimo" charset="0"/>
                <a:ea typeface="Arimo" charset="0"/>
                <a:cs typeface="Arimo" charset="0"/>
              </a:rPr>
              <a:t>Pande</a:t>
            </a:r>
            <a:r>
              <a:rPr lang="en-US" sz="2800" dirty="0" smtClean="0">
                <a:solidFill>
                  <a:schemeClr val="tx2">
                    <a:lumMod val="50000"/>
                  </a:schemeClr>
                </a:solidFill>
                <a:latin typeface="Arimo" charset="0"/>
                <a:ea typeface="Arimo" charset="0"/>
                <a:cs typeface="Arimo" charset="0"/>
              </a:rPr>
              <a:t>, C.B. (</a:t>
            </a:r>
            <a:r>
              <a:rPr lang="en-US" sz="2800" dirty="0" err="1" smtClean="0">
                <a:solidFill>
                  <a:schemeClr val="tx2">
                    <a:lumMod val="50000"/>
                  </a:schemeClr>
                </a:solidFill>
                <a:latin typeface="Arimo" charset="0"/>
                <a:ea typeface="Arimo" charset="0"/>
                <a:cs typeface="Arimo" charset="0"/>
              </a:rPr>
              <a:t>eds</a:t>
            </a:r>
            <a:r>
              <a:rPr lang="en-US" sz="2800" dirty="0" smtClean="0">
                <a:solidFill>
                  <a:schemeClr val="tx2">
                    <a:lumMod val="50000"/>
                  </a:schemeClr>
                </a:solidFill>
                <a:latin typeface="Arimo" charset="0"/>
                <a:ea typeface="Arimo" charset="0"/>
                <a:cs typeface="Arimo" charset="0"/>
              </a:rPr>
              <a:t>). </a:t>
            </a:r>
            <a:r>
              <a:rPr lang="en-US" sz="2800" i="1" dirty="0" smtClean="0">
                <a:solidFill>
                  <a:schemeClr val="tx2">
                    <a:lumMod val="50000"/>
                  </a:schemeClr>
                </a:solidFill>
                <a:latin typeface="Arimo" charset="0"/>
                <a:ea typeface="Arimo" charset="0"/>
                <a:cs typeface="Arimo" charset="0"/>
              </a:rPr>
              <a:t>Microplastics in African and Asian Environments.:</a:t>
            </a:r>
            <a:r>
              <a:rPr lang="en-US" sz="2800" dirty="0" smtClean="0">
                <a:solidFill>
                  <a:schemeClr val="tx2">
                    <a:lumMod val="50000"/>
                  </a:schemeClr>
                </a:solidFill>
                <a:latin typeface="Arimo" charset="0"/>
                <a:ea typeface="Arimo" charset="0"/>
                <a:cs typeface="Arimo" charset="0"/>
              </a:rPr>
              <a:t> </a:t>
            </a:r>
            <a:r>
              <a:rPr lang="en-US" sz="2800" i="1" dirty="0" smtClean="0">
                <a:solidFill>
                  <a:schemeClr val="tx2">
                    <a:lumMod val="50000"/>
                  </a:schemeClr>
                </a:solidFill>
                <a:latin typeface="Arimo" charset="0"/>
                <a:ea typeface="Arimo" charset="0"/>
                <a:cs typeface="Arimo" charset="0"/>
              </a:rPr>
              <a:t> Emerging Contaminants and </a:t>
            </a:r>
            <a:r>
              <a:rPr lang="en-US" sz="2800" i="1" dirty="0" err="1" smtClean="0">
                <a:solidFill>
                  <a:schemeClr val="tx2">
                    <a:lumMod val="50000"/>
                  </a:schemeClr>
                </a:solidFill>
                <a:latin typeface="Arimo" charset="0"/>
                <a:ea typeface="Arimo" charset="0"/>
                <a:cs typeface="Arimo" charset="0"/>
              </a:rPr>
              <a:t>Assiociated</a:t>
            </a:r>
            <a:r>
              <a:rPr lang="en-US" sz="2800" i="1" dirty="0" smtClean="0">
                <a:solidFill>
                  <a:schemeClr val="tx2">
                    <a:lumMod val="50000"/>
                  </a:schemeClr>
                </a:solidFill>
                <a:latin typeface="Arimo" charset="0"/>
                <a:ea typeface="Arimo" charset="0"/>
                <a:cs typeface="Arimo" charset="0"/>
              </a:rPr>
              <a:t> Treatment Technologies.. </a:t>
            </a:r>
            <a:r>
              <a:rPr lang="en-US" sz="2800" dirty="0" err="1" smtClean="0">
                <a:solidFill>
                  <a:schemeClr val="tx2">
                    <a:lumMod val="50000"/>
                  </a:schemeClr>
                </a:solidFill>
                <a:latin typeface="Arimo" charset="0"/>
                <a:ea typeface="Arimo" charset="0"/>
                <a:cs typeface="Arimo" charset="0"/>
              </a:rPr>
              <a:t>Pp</a:t>
            </a:r>
            <a:r>
              <a:rPr lang="en-US" sz="2800" dirty="0" smtClean="0">
                <a:solidFill>
                  <a:schemeClr val="tx2">
                    <a:lumMod val="50000"/>
                  </a:schemeClr>
                </a:solidFill>
                <a:latin typeface="Arimo" charset="0"/>
                <a:ea typeface="Arimo" charset="0"/>
                <a:cs typeface="Arimo" charset="0"/>
              </a:rPr>
              <a:t> 107-130.</a:t>
            </a:r>
          </a:p>
          <a:p>
            <a:pPr marL="457200" indent="-457200">
              <a:buFont typeface="Arial" pitchFamily="34" charset="0"/>
              <a:buChar char="•"/>
            </a:pPr>
            <a:endParaRPr lang="en-US" sz="2800" dirty="0" smtClean="0">
              <a:solidFill>
                <a:schemeClr val="tx2">
                  <a:lumMod val="50000"/>
                </a:schemeClr>
              </a:solidFill>
              <a:latin typeface="Arimo" charset="0"/>
              <a:ea typeface="Arimo" charset="0"/>
              <a:cs typeface="Arimo" charset="0"/>
            </a:endParaRPr>
          </a:p>
          <a:p>
            <a:pPr marL="457200" indent="-457200">
              <a:buFont typeface="Arial" pitchFamily="34" charset="0"/>
              <a:buChar char="•"/>
            </a:pPr>
            <a:endParaRPr lang="en-US" sz="2800" dirty="0">
              <a:solidFill>
                <a:schemeClr val="tx2">
                  <a:lumMod val="50000"/>
                </a:schemeClr>
              </a:solidFill>
              <a:latin typeface="Arimo" charset="0"/>
              <a:ea typeface="Arimo" charset="0"/>
              <a:cs typeface="Arimo" charset="0"/>
            </a:endParaRPr>
          </a:p>
          <a:p>
            <a:pPr marL="457200" indent="-457200">
              <a:buFont typeface="Arial" pitchFamily="34" charset="0"/>
              <a:buChar char="•"/>
            </a:pPr>
            <a:endParaRPr lang="en-US" sz="2800" dirty="0" smtClean="0">
              <a:solidFill>
                <a:schemeClr val="tx2">
                  <a:lumMod val="50000"/>
                </a:schemeClr>
              </a:solidFill>
              <a:latin typeface="Arimo" charset="0"/>
              <a:ea typeface="Arimo" charset="0"/>
              <a:cs typeface="Arimo" charset="0"/>
            </a:endParaRPr>
          </a:p>
          <a:p>
            <a:endParaRPr lang="en-US" sz="2800" dirty="0">
              <a:solidFill>
                <a:schemeClr val="tx2">
                  <a:lumMod val="50000"/>
                </a:schemeClr>
              </a:solidFill>
              <a:latin typeface="Arimo" charset="0"/>
              <a:ea typeface="Arimo" charset="0"/>
              <a:cs typeface="Arimo" charset="0"/>
            </a:endParaRPr>
          </a:p>
          <a:p>
            <a:r>
              <a:rPr lang="en-US" sz="2800" dirty="0">
                <a:solidFill>
                  <a:schemeClr val="tx2">
                    <a:lumMod val="50000"/>
                  </a:schemeClr>
                </a:solidFill>
                <a:latin typeface="Arimo" charset="0"/>
                <a:ea typeface="Arimo" charset="0"/>
                <a:cs typeface="Arimo" charset="0"/>
              </a:rPr>
              <a:t/>
            </a:r>
            <a:br>
              <a:rPr lang="en-US" sz="2800" dirty="0">
                <a:solidFill>
                  <a:schemeClr val="tx2">
                    <a:lumMod val="50000"/>
                  </a:schemeClr>
                </a:solidFill>
                <a:latin typeface="Arimo" charset="0"/>
                <a:ea typeface="Arimo" charset="0"/>
                <a:cs typeface="Arimo" charset="0"/>
              </a:rPr>
            </a:br>
            <a:endParaRPr lang="en-US" sz="2800" spc="39" dirty="0">
              <a:solidFill>
                <a:schemeClr val="tx2">
                  <a:lumMod val="50000"/>
                </a:schemeClr>
              </a:solidFill>
              <a:latin typeface="Arimo" charset="0"/>
              <a:ea typeface="Arimo" charset="0"/>
              <a:cs typeface="Arimo" charset="0"/>
              <a:sym typeface="Assistant"/>
            </a:endParaRPr>
          </a:p>
        </p:txBody>
      </p:sp>
      <p:sp>
        <p:nvSpPr>
          <p:cNvPr id="12" name="TextBox 12"/>
          <p:cNvSpPr txBox="1"/>
          <p:nvPr/>
        </p:nvSpPr>
        <p:spPr>
          <a:xfrm>
            <a:off x="4380120" y="1181100"/>
            <a:ext cx="7888080" cy="732316"/>
          </a:xfrm>
          <a:prstGeom prst="rect">
            <a:avLst/>
          </a:prstGeom>
        </p:spPr>
        <p:txBody>
          <a:bodyPr lIns="0" tIns="0" rIns="0" bIns="0" rtlCol="0" anchor="t">
            <a:spAutoFit/>
          </a:bodyPr>
          <a:lstStyle/>
          <a:p>
            <a:pPr algn="ctr">
              <a:lnSpc>
                <a:spcPts val="6400"/>
              </a:lnSpc>
            </a:pPr>
            <a:r>
              <a:rPr lang="en-US" sz="4000" dirty="0" smtClean="0">
                <a:solidFill>
                  <a:schemeClr val="tx2">
                    <a:lumMod val="50000"/>
                  </a:schemeClr>
                </a:solidFill>
                <a:latin typeface="Arimo"/>
                <a:ea typeface="Arimo"/>
                <a:cs typeface="Arimo"/>
                <a:sym typeface="Arimo"/>
              </a:rPr>
              <a:t>REFERENCES</a:t>
            </a:r>
            <a:endParaRPr lang="en-US" sz="4000" dirty="0">
              <a:solidFill>
                <a:schemeClr val="tx2">
                  <a:lumMod val="50000"/>
                </a:schemeClr>
              </a:solidFill>
              <a:latin typeface="Arimo"/>
              <a:ea typeface="Arimo"/>
              <a:cs typeface="Arimo"/>
              <a:sym typeface="Arimo"/>
            </a:endParaRPr>
          </a:p>
        </p:txBody>
      </p:sp>
      <p:sp>
        <p:nvSpPr>
          <p:cNvPr id="13" name="TextBox 13"/>
          <p:cNvSpPr txBox="1"/>
          <p:nvPr/>
        </p:nvSpPr>
        <p:spPr>
          <a:xfrm>
            <a:off x="7848600" y="9727271"/>
            <a:ext cx="3765669" cy="293029"/>
          </a:xfrm>
          <a:prstGeom prst="rect">
            <a:avLst/>
          </a:prstGeom>
        </p:spPr>
        <p:txBody>
          <a:bodyPr lIns="0" tIns="0" rIns="0" bIns="0" rtlCol="0" anchor="t">
            <a:spAutoFit/>
          </a:bodyPr>
          <a:lstStyle/>
          <a:p>
            <a:pPr algn="ctr">
              <a:lnSpc>
                <a:spcPts val="2541"/>
              </a:lnSpc>
            </a:pPr>
            <a:r>
              <a:rPr lang="en-US" spc="38" dirty="0" smtClean="0">
                <a:solidFill>
                  <a:srgbClr val="0D1C38"/>
                </a:solidFill>
                <a:latin typeface="Arimo" charset="0"/>
                <a:ea typeface="Arimo" charset="0"/>
                <a:cs typeface="Arimo" charset="0"/>
                <a:sym typeface="Assistant"/>
              </a:rPr>
              <a:t>14</a:t>
            </a:r>
            <a:endParaRPr lang="en-US" spc="38" dirty="0">
              <a:solidFill>
                <a:srgbClr val="0D1C38"/>
              </a:solidFill>
              <a:latin typeface="Arimo" charset="0"/>
              <a:ea typeface="Arimo" charset="0"/>
              <a:cs typeface="Arimo" charset="0"/>
              <a:sym typeface="Assistant"/>
            </a:endParaRPr>
          </a:p>
        </p:txBody>
      </p:sp>
      <p:sp>
        <p:nvSpPr>
          <p:cNvPr id="14" name="TextBox 14"/>
          <p:cNvSpPr txBox="1"/>
          <p:nvPr/>
        </p:nvSpPr>
        <p:spPr>
          <a:xfrm>
            <a:off x="13055743" y="9623499"/>
            <a:ext cx="4927457" cy="320601"/>
          </a:xfrm>
          <a:prstGeom prst="rect">
            <a:avLst/>
          </a:prstGeom>
        </p:spPr>
        <p:txBody>
          <a:bodyPr lIns="0" tIns="0" rIns="0" bIns="0" rtlCol="0" anchor="t">
            <a:spAutoFit/>
          </a:bodyPr>
          <a:lstStyle/>
          <a:p>
            <a:pPr algn="r">
              <a:lnSpc>
                <a:spcPts val="2481"/>
              </a:lnSpc>
            </a:pPr>
            <a:r>
              <a:rPr lang="en-US" spc="37" dirty="0">
                <a:solidFill>
                  <a:srgbClr val="0D1C38"/>
                </a:solidFill>
                <a:latin typeface="Arimo" charset="0"/>
                <a:ea typeface="Arimo" charset="0"/>
                <a:cs typeface="Arimo" charset="0"/>
                <a:sym typeface="Assistant"/>
              </a:rPr>
              <a:t>Presented by: </a:t>
            </a:r>
            <a:r>
              <a:rPr lang="en-US" spc="37" dirty="0" smtClean="0">
                <a:solidFill>
                  <a:srgbClr val="0D1C38"/>
                </a:solidFill>
                <a:latin typeface="Arimo" charset="0"/>
                <a:ea typeface="Arimo" charset="0"/>
                <a:cs typeface="Arimo" charset="0"/>
                <a:sym typeface="Assistant"/>
              </a:rPr>
              <a:t>Damilola Arokoyu</a:t>
            </a:r>
            <a:endParaRPr lang="en-US" spc="37" dirty="0">
              <a:solidFill>
                <a:srgbClr val="0D1C38"/>
              </a:solidFill>
              <a:latin typeface="Arimo" charset="0"/>
              <a:ea typeface="Arimo" charset="0"/>
              <a:cs typeface="Arimo" charset="0"/>
              <a:sym typeface="Assistant"/>
            </a:endParaRPr>
          </a:p>
        </p:txBody>
      </p:sp>
      <p:sp>
        <p:nvSpPr>
          <p:cNvPr id="17" name="Slide Number Placeholder 16"/>
          <p:cNvSpPr>
            <a:spLocks noGrp="1"/>
          </p:cNvSpPr>
          <p:nvPr>
            <p:ph type="sldNum" sz="quarter" idx="12"/>
          </p:nvPr>
        </p:nvSpPr>
        <p:spPr/>
        <p:txBody>
          <a:bodyPr/>
          <a:lstStyle/>
          <a:p>
            <a:fld id="{B6F15528-21DE-4FAA-801E-634DDDAF4B2B}" type="slidenum">
              <a:rPr lang="en-US" smtClean="0"/>
              <a:pPr/>
              <a:t>15</a:t>
            </a:fld>
            <a:endParaRPr lang="en-US"/>
          </a:p>
        </p:txBody>
      </p:sp>
      <p:sp>
        <p:nvSpPr>
          <p:cNvPr id="18" name="TextBox 51"/>
          <p:cNvSpPr txBox="1"/>
          <p:nvPr/>
        </p:nvSpPr>
        <p:spPr>
          <a:xfrm>
            <a:off x="1236515" y="9410700"/>
            <a:ext cx="5880313" cy="641201"/>
          </a:xfrm>
          <a:prstGeom prst="rect">
            <a:avLst/>
          </a:prstGeom>
        </p:spPr>
        <p:txBody>
          <a:bodyPr wrap="square" lIns="0" tIns="0" rIns="0" bIns="0" rtlCol="0" anchor="t">
            <a:spAutoFit/>
          </a:bodyPr>
          <a:lstStyle/>
          <a:p>
            <a:pPr algn="l">
              <a:lnSpc>
                <a:spcPts val="2481"/>
              </a:lnSpc>
            </a:pPr>
            <a:r>
              <a:rPr lang="en-US" sz="1600" spc="37" dirty="0" smtClean="0">
                <a:solidFill>
                  <a:srgbClr val="0D1C38"/>
                </a:solidFill>
                <a:latin typeface="Arimo" charset="0"/>
                <a:ea typeface="Arimo" charset="0"/>
                <a:cs typeface="Arimo" charset="0"/>
                <a:sym typeface="Assistant"/>
              </a:rPr>
              <a:t>Assessment of Microplastics in Commercial Fisheries procured from six Coastal states in Nigeria</a:t>
            </a:r>
            <a:endParaRPr lang="en-US" sz="1600" spc="37" dirty="0">
              <a:solidFill>
                <a:srgbClr val="0D1C38"/>
              </a:solidFill>
              <a:latin typeface="Arimo" charset="0"/>
              <a:ea typeface="Arimo" charset="0"/>
              <a:cs typeface="Arimo" charset="0"/>
              <a:sym typeface="Assistant"/>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52400" y="342900"/>
            <a:ext cx="18288000" cy="8763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p:cNvGrpSpPr/>
          <p:nvPr/>
        </p:nvGrpSpPr>
        <p:grpSpPr>
          <a:xfrm>
            <a:off x="1029443" y="1028700"/>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8" name="Freeform 8"/>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1" name="TextBox 11"/>
          <p:cNvSpPr txBox="1"/>
          <p:nvPr/>
        </p:nvSpPr>
        <p:spPr>
          <a:xfrm>
            <a:off x="1250424" y="2217182"/>
            <a:ext cx="15810752" cy="4985980"/>
          </a:xfrm>
          <a:prstGeom prst="rect">
            <a:avLst/>
          </a:prstGeom>
        </p:spPr>
        <p:txBody>
          <a:bodyPr wrap="square" lIns="0" tIns="0" rIns="0" bIns="0" rtlCol="0" anchor="t">
            <a:spAutoFit/>
          </a:bodyPr>
          <a:lstStyle/>
          <a:p>
            <a:pPr marL="457200" indent="-457200">
              <a:buFont typeface="Arial" pitchFamily="34" charset="0"/>
              <a:buChar char="•"/>
            </a:pPr>
            <a:r>
              <a:rPr lang="en-US" sz="3600" dirty="0" smtClean="0">
                <a:solidFill>
                  <a:schemeClr val="tx2">
                    <a:lumMod val="50000"/>
                  </a:schemeClr>
                </a:solidFill>
                <a:latin typeface="Arimo" charset="0"/>
                <a:ea typeface="Arimo" charset="0"/>
                <a:cs typeface="Arimo" charset="0"/>
                <a:sym typeface="Assistant"/>
              </a:rPr>
              <a:t>Research partners, </a:t>
            </a:r>
            <a:r>
              <a:rPr lang="en-US" sz="3600" dirty="0" err="1" smtClean="0">
                <a:solidFill>
                  <a:schemeClr val="tx2">
                    <a:lumMod val="50000"/>
                  </a:schemeClr>
                </a:solidFill>
                <a:latin typeface="Arimo" charset="0"/>
                <a:ea typeface="Arimo" charset="0"/>
                <a:cs typeface="Arimo" charset="0"/>
                <a:sym typeface="Assistant"/>
              </a:rPr>
              <a:t>Dr</a:t>
            </a:r>
            <a:r>
              <a:rPr lang="en-US" sz="3600" dirty="0" smtClean="0">
                <a:solidFill>
                  <a:schemeClr val="tx2">
                    <a:lumMod val="50000"/>
                  </a:schemeClr>
                </a:solidFill>
                <a:latin typeface="Arimo" charset="0"/>
                <a:ea typeface="Arimo" charset="0"/>
                <a:cs typeface="Arimo" charset="0"/>
                <a:sym typeface="Assistant"/>
              </a:rPr>
              <a:t> </a:t>
            </a:r>
            <a:r>
              <a:rPr lang="en-US" sz="3600" dirty="0" err="1" smtClean="0">
                <a:solidFill>
                  <a:schemeClr val="tx2">
                    <a:lumMod val="50000"/>
                  </a:schemeClr>
                </a:solidFill>
                <a:latin typeface="Arimo" charset="0"/>
                <a:ea typeface="Arimo" charset="0"/>
                <a:cs typeface="Arimo" charset="0"/>
                <a:sym typeface="Assistant"/>
              </a:rPr>
              <a:t>Sogbanmu</a:t>
            </a:r>
            <a:r>
              <a:rPr lang="en-US" sz="3600" dirty="0" smtClean="0">
                <a:solidFill>
                  <a:schemeClr val="tx2">
                    <a:lumMod val="50000"/>
                  </a:schemeClr>
                </a:solidFill>
                <a:latin typeface="Arimo" charset="0"/>
                <a:ea typeface="Arimo" charset="0"/>
                <a:cs typeface="Arimo" charset="0"/>
                <a:sym typeface="Assistant"/>
              </a:rPr>
              <a:t> </a:t>
            </a:r>
            <a:r>
              <a:rPr lang="en-US" sz="3600" dirty="0" err="1" smtClean="0">
                <a:solidFill>
                  <a:schemeClr val="tx2">
                    <a:lumMod val="50000"/>
                  </a:schemeClr>
                </a:solidFill>
                <a:latin typeface="Arimo" charset="0"/>
                <a:ea typeface="Arimo" charset="0"/>
                <a:cs typeface="Arimo" charset="0"/>
                <a:sym typeface="Assistant"/>
              </a:rPr>
              <a:t>Temitope</a:t>
            </a:r>
            <a:r>
              <a:rPr lang="en-US" sz="3600" dirty="0" smtClean="0">
                <a:solidFill>
                  <a:schemeClr val="tx2">
                    <a:lumMod val="50000"/>
                  </a:schemeClr>
                </a:solidFill>
                <a:latin typeface="Arimo" charset="0"/>
                <a:ea typeface="Arimo" charset="0"/>
                <a:cs typeface="Arimo" charset="0"/>
                <a:sym typeface="Assistant"/>
              </a:rPr>
              <a:t> (Supervisor), </a:t>
            </a:r>
            <a:r>
              <a:rPr lang="en-US" sz="3600" dirty="0" err="1" smtClean="0">
                <a:solidFill>
                  <a:schemeClr val="tx2">
                    <a:lumMod val="50000"/>
                  </a:schemeClr>
                </a:solidFill>
                <a:latin typeface="Arimo" charset="0"/>
                <a:ea typeface="Arimo" charset="0"/>
                <a:cs typeface="Arimo" charset="0"/>
                <a:sym typeface="Assistant"/>
              </a:rPr>
              <a:t>Mr</a:t>
            </a:r>
            <a:r>
              <a:rPr lang="en-US" sz="3600" dirty="0" smtClean="0">
                <a:solidFill>
                  <a:schemeClr val="tx2">
                    <a:lumMod val="50000"/>
                  </a:schemeClr>
                </a:solidFill>
                <a:latin typeface="Arimo" charset="0"/>
                <a:ea typeface="Arimo" charset="0"/>
                <a:cs typeface="Arimo" charset="0"/>
                <a:sym typeface="Assistant"/>
              </a:rPr>
              <a:t> Sola </a:t>
            </a:r>
            <a:r>
              <a:rPr lang="en-US" sz="3600" dirty="0" err="1" smtClean="0">
                <a:solidFill>
                  <a:schemeClr val="tx2">
                    <a:lumMod val="50000"/>
                  </a:schemeClr>
                </a:solidFill>
                <a:latin typeface="Arimo" charset="0"/>
                <a:ea typeface="Arimo" charset="0"/>
                <a:cs typeface="Arimo" charset="0"/>
                <a:sym typeface="Assistant"/>
              </a:rPr>
              <a:t>Ogunfeitimi</a:t>
            </a:r>
            <a:r>
              <a:rPr lang="en-US" sz="3600" dirty="0" smtClean="0">
                <a:solidFill>
                  <a:schemeClr val="tx2">
                    <a:lumMod val="50000"/>
                  </a:schemeClr>
                </a:solidFill>
                <a:latin typeface="Arimo" charset="0"/>
                <a:ea typeface="Arimo" charset="0"/>
                <a:cs typeface="Arimo" charset="0"/>
                <a:sym typeface="Assistant"/>
              </a:rPr>
              <a:t>, </a:t>
            </a:r>
            <a:r>
              <a:rPr lang="en-US" sz="3600" dirty="0" err="1" smtClean="0">
                <a:solidFill>
                  <a:schemeClr val="tx2">
                    <a:lumMod val="50000"/>
                  </a:schemeClr>
                </a:solidFill>
                <a:latin typeface="Arimo" charset="0"/>
                <a:ea typeface="Arimo" charset="0"/>
                <a:cs typeface="Arimo" charset="0"/>
                <a:sym typeface="Assistant"/>
              </a:rPr>
              <a:t>Mz</a:t>
            </a:r>
            <a:r>
              <a:rPr lang="en-US" sz="3600" dirty="0" smtClean="0">
                <a:solidFill>
                  <a:schemeClr val="tx2">
                    <a:lumMod val="50000"/>
                  </a:schemeClr>
                </a:solidFill>
                <a:latin typeface="Arimo" charset="0"/>
                <a:ea typeface="Arimo" charset="0"/>
                <a:cs typeface="Arimo" charset="0"/>
                <a:sym typeface="Assistant"/>
              </a:rPr>
              <a:t> Esther </a:t>
            </a:r>
            <a:r>
              <a:rPr lang="en-US" sz="3600" dirty="0" err="1" smtClean="0">
                <a:solidFill>
                  <a:schemeClr val="tx2">
                    <a:lumMod val="50000"/>
                  </a:schemeClr>
                </a:solidFill>
                <a:latin typeface="Arimo" charset="0"/>
                <a:ea typeface="Arimo" charset="0"/>
                <a:cs typeface="Arimo" charset="0"/>
                <a:sym typeface="Assistant"/>
              </a:rPr>
              <a:t>Akilo</a:t>
            </a:r>
            <a:endParaRPr lang="en-US" sz="3600" dirty="0" smtClean="0">
              <a:solidFill>
                <a:schemeClr val="tx2">
                  <a:lumMod val="50000"/>
                </a:schemeClr>
              </a:solidFill>
              <a:latin typeface="Arimo" charset="0"/>
              <a:ea typeface="Arimo" charset="0"/>
              <a:cs typeface="Arimo" charset="0"/>
              <a:sym typeface="Assistant"/>
            </a:endParaRPr>
          </a:p>
          <a:p>
            <a:pPr algn="just"/>
            <a:r>
              <a:rPr lang="en-US" sz="3600" dirty="0">
                <a:solidFill>
                  <a:schemeClr val="tx2">
                    <a:lumMod val="50000"/>
                  </a:schemeClr>
                </a:solidFill>
                <a:latin typeface="Arimo" charset="0"/>
                <a:ea typeface="Arimo" charset="0"/>
                <a:cs typeface="Arimo" charset="0"/>
                <a:sym typeface="Assistant"/>
              </a:rPr>
              <a:t> </a:t>
            </a:r>
            <a:r>
              <a:rPr lang="en-US" sz="3600" dirty="0" smtClean="0">
                <a:solidFill>
                  <a:schemeClr val="tx2">
                    <a:lumMod val="50000"/>
                  </a:schemeClr>
                </a:solidFill>
                <a:latin typeface="Arimo" charset="0"/>
                <a:ea typeface="Arimo" charset="0"/>
                <a:cs typeface="Arimo" charset="0"/>
                <a:sym typeface="Assistant"/>
              </a:rPr>
              <a:t>and coastal community representatives</a:t>
            </a:r>
          </a:p>
          <a:p>
            <a:pPr marL="457200" indent="-457200">
              <a:buFont typeface="Arial" pitchFamily="34" charset="0"/>
              <a:buChar char="•"/>
            </a:pPr>
            <a:r>
              <a:rPr lang="en-US" sz="3600" dirty="0" smtClean="0">
                <a:solidFill>
                  <a:schemeClr val="tx2">
                    <a:lumMod val="50000"/>
                  </a:schemeClr>
                </a:solidFill>
                <a:latin typeface="Arimo" charset="0"/>
                <a:ea typeface="Arimo" charset="0"/>
                <a:cs typeface="Arimo" charset="0"/>
                <a:sym typeface="Assistant"/>
              </a:rPr>
              <a:t>Funders- Social Sciences and Humanities Research Council (SSHRC) of Canada within the Solving Sustainability Challenges at the Food-Climate-Biodiversity Nexus (Solving FCB) West Africa Case Study (UNILAG Team) led </a:t>
            </a:r>
            <a:r>
              <a:rPr lang="en-US" sz="3600" dirty="0">
                <a:solidFill>
                  <a:schemeClr val="tx2">
                    <a:lumMod val="50000"/>
                  </a:schemeClr>
                </a:solidFill>
                <a:latin typeface="Arimo" charset="0"/>
                <a:ea typeface="Arimo" charset="0"/>
                <a:cs typeface="Arimo" charset="0"/>
                <a:sym typeface="Assistant"/>
              </a:rPr>
              <a:t>by </a:t>
            </a:r>
            <a:r>
              <a:rPr lang="en-US" sz="3600" dirty="0" err="1">
                <a:solidFill>
                  <a:schemeClr val="tx2">
                    <a:lumMod val="50000"/>
                  </a:schemeClr>
                </a:solidFill>
                <a:latin typeface="Arimo" charset="0"/>
                <a:ea typeface="Arimo" charset="0"/>
                <a:cs typeface="Arimo" charset="0"/>
                <a:sym typeface="Assistant"/>
              </a:rPr>
              <a:t>Dr</a:t>
            </a:r>
            <a:r>
              <a:rPr lang="en-US" sz="3600" dirty="0">
                <a:solidFill>
                  <a:schemeClr val="tx2">
                    <a:lumMod val="50000"/>
                  </a:schemeClr>
                </a:solidFill>
                <a:latin typeface="Arimo" charset="0"/>
                <a:ea typeface="Arimo" charset="0"/>
                <a:cs typeface="Arimo" charset="0"/>
                <a:sym typeface="Assistant"/>
              </a:rPr>
              <a:t> </a:t>
            </a:r>
            <a:r>
              <a:rPr lang="en-US" sz="3600" dirty="0" err="1">
                <a:solidFill>
                  <a:schemeClr val="tx2">
                    <a:lumMod val="50000"/>
                  </a:schemeClr>
                </a:solidFill>
                <a:latin typeface="Arimo" charset="0"/>
                <a:ea typeface="Arimo" charset="0"/>
                <a:cs typeface="Arimo" charset="0"/>
                <a:sym typeface="Assistant"/>
              </a:rPr>
              <a:t>Sogbanmu</a:t>
            </a:r>
            <a:r>
              <a:rPr lang="en-US" sz="3600" dirty="0">
                <a:solidFill>
                  <a:schemeClr val="tx2">
                    <a:lumMod val="50000"/>
                  </a:schemeClr>
                </a:solidFill>
                <a:latin typeface="Arimo" charset="0"/>
                <a:ea typeface="Arimo" charset="0"/>
                <a:cs typeface="Arimo" charset="0"/>
                <a:sym typeface="Assistant"/>
              </a:rPr>
              <a:t> </a:t>
            </a:r>
            <a:r>
              <a:rPr lang="en-US" sz="3600" dirty="0" err="1">
                <a:solidFill>
                  <a:schemeClr val="tx2">
                    <a:lumMod val="50000"/>
                  </a:schemeClr>
                </a:solidFill>
                <a:latin typeface="Arimo" charset="0"/>
                <a:ea typeface="Arimo" charset="0"/>
                <a:cs typeface="Arimo" charset="0"/>
                <a:sym typeface="Assistant"/>
              </a:rPr>
              <a:t>Temitope</a:t>
            </a:r>
            <a:r>
              <a:rPr lang="en-US" sz="3600" dirty="0">
                <a:solidFill>
                  <a:schemeClr val="tx2">
                    <a:lumMod val="50000"/>
                  </a:schemeClr>
                </a:solidFill>
                <a:latin typeface="Arimo" charset="0"/>
                <a:ea typeface="Arimo" charset="0"/>
                <a:cs typeface="Arimo" charset="0"/>
                <a:sym typeface="Assistant"/>
              </a:rPr>
              <a:t> </a:t>
            </a:r>
            <a:r>
              <a:rPr lang="en-US" sz="3600" dirty="0" smtClean="0">
                <a:solidFill>
                  <a:schemeClr val="tx2">
                    <a:lumMod val="50000"/>
                  </a:schemeClr>
                </a:solidFill>
                <a:latin typeface="Arimo" charset="0"/>
                <a:ea typeface="Arimo" charset="0"/>
                <a:cs typeface="Arimo" charset="0"/>
                <a:sym typeface="Assistant"/>
              </a:rPr>
              <a:t>.</a:t>
            </a:r>
          </a:p>
          <a:p>
            <a:pPr marL="457200" indent="-457200">
              <a:buFont typeface="Arial" pitchFamily="34" charset="0"/>
              <a:buChar char="•"/>
            </a:pPr>
            <a:r>
              <a:rPr lang="en-US" sz="3600" spc="39" dirty="0" smtClean="0">
                <a:solidFill>
                  <a:schemeClr val="tx2">
                    <a:lumMod val="50000"/>
                  </a:schemeClr>
                </a:solidFill>
                <a:latin typeface="Arimo" charset="0"/>
                <a:ea typeface="Arimo" charset="0"/>
                <a:cs typeface="Arimo" charset="0"/>
                <a:sym typeface="Assistant"/>
              </a:rPr>
              <a:t>University of Lagos Research Ethics Committee</a:t>
            </a:r>
          </a:p>
          <a:p>
            <a:endParaRPr lang="en-US" sz="3600" spc="39" dirty="0">
              <a:solidFill>
                <a:schemeClr val="tx2">
                  <a:lumMod val="50000"/>
                </a:schemeClr>
              </a:solidFill>
              <a:latin typeface="Arimo" charset="0"/>
              <a:ea typeface="Arimo" charset="0"/>
              <a:cs typeface="Arimo" charset="0"/>
              <a:sym typeface="Assistant"/>
            </a:endParaRPr>
          </a:p>
        </p:txBody>
      </p:sp>
      <p:sp>
        <p:nvSpPr>
          <p:cNvPr id="12" name="TextBox 12"/>
          <p:cNvSpPr txBox="1"/>
          <p:nvPr/>
        </p:nvSpPr>
        <p:spPr>
          <a:xfrm>
            <a:off x="4380120" y="1181100"/>
            <a:ext cx="7888080" cy="743986"/>
          </a:xfrm>
          <a:prstGeom prst="rect">
            <a:avLst/>
          </a:prstGeom>
        </p:spPr>
        <p:txBody>
          <a:bodyPr lIns="0" tIns="0" rIns="0" bIns="0" rtlCol="0" anchor="t">
            <a:spAutoFit/>
          </a:bodyPr>
          <a:lstStyle/>
          <a:p>
            <a:pPr algn="ctr">
              <a:lnSpc>
                <a:spcPts val="6400"/>
              </a:lnSpc>
            </a:pPr>
            <a:r>
              <a:rPr lang="en-US" sz="4400" dirty="0" smtClean="0">
                <a:solidFill>
                  <a:schemeClr val="tx2">
                    <a:lumMod val="50000"/>
                  </a:schemeClr>
                </a:solidFill>
                <a:latin typeface="Arimo"/>
                <a:ea typeface="Arimo"/>
                <a:cs typeface="Arimo"/>
                <a:sym typeface="Arimo"/>
              </a:rPr>
              <a:t>ACKNOWLEDGEMENT</a:t>
            </a:r>
            <a:endParaRPr lang="en-US" sz="4400" dirty="0">
              <a:solidFill>
                <a:schemeClr val="tx2">
                  <a:lumMod val="50000"/>
                </a:schemeClr>
              </a:solidFill>
              <a:latin typeface="Arimo"/>
              <a:ea typeface="Arimo"/>
              <a:cs typeface="Arimo"/>
              <a:sym typeface="Arimo"/>
            </a:endParaRPr>
          </a:p>
        </p:txBody>
      </p:sp>
      <p:sp>
        <p:nvSpPr>
          <p:cNvPr id="13" name="TextBox 13"/>
          <p:cNvSpPr txBox="1"/>
          <p:nvPr/>
        </p:nvSpPr>
        <p:spPr>
          <a:xfrm>
            <a:off x="7848600" y="9727271"/>
            <a:ext cx="3765669" cy="293029"/>
          </a:xfrm>
          <a:prstGeom prst="rect">
            <a:avLst/>
          </a:prstGeom>
        </p:spPr>
        <p:txBody>
          <a:bodyPr lIns="0" tIns="0" rIns="0" bIns="0" rtlCol="0" anchor="t">
            <a:spAutoFit/>
          </a:bodyPr>
          <a:lstStyle/>
          <a:p>
            <a:pPr algn="ctr">
              <a:lnSpc>
                <a:spcPts val="2541"/>
              </a:lnSpc>
            </a:pPr>
            <a:r>
              <a:rPr lang="en-US" spc="38" dirty="0" smtClean="0">
                <a:solidFill>
                  <a:srgbClr val="0D1C38"/>
                </a:solidFill>
                <a:latin typeface="Arimo" charset="0"/>
                <a:ea typeface="Arimo" charset="0"/>
                <a:cs typeface="Arimo" charset="0"/>
                <a:sym typeface="Assistant"/>
              </a:rPr>
              <a:t>15</a:t>
            </a:r>
            <a:endParaRPr lang="en-US" spc="38" dirty="0">
              <a:solidFill>
                <a:srgbClr val="0D1C38"/>
              </a:solidFill>
              <a:latin typeface="Arimo" charset="0"/>
              <a:ea typeface="Arimo" charset="0"/>
              <a:cs typeface="Arimo" charset="0"/>
              <a:sym typeface="Assistant"/>
            </a:endParaRPr>
          </a:p>
        </p:txBody>
      </p:sp>
      <p:sp>
        <p:nvSpPr>
          <p:cNvPr id="14" name="TextBox 14"/>
          <p:cNvSpPr txBox="1"/>
          <p:nvPr/>
        </p:nvSpPr>
        <p:spPr>
          <a:xfrm>
            <a:off x="13055743" y="9623499"/>
            <a:ext cx="4927457" cy="320601"/>
          </a:xfrm>
          <a:prstGeom prst="rect">
            <a:avLst/>
          </a:prstGeom>
        </p:spPr>
        <p:txBody>
          <a:bodyPr lIns="0" tIns="0" rIns="0" bIns="0" rtlCol="0" anchor="t">
            <a:spAutoFit/>
          </a:bodyPr>
          <a:lstStyle/>
          <a:p>
            <a:pPr algn="r">
              <a:lnSpc>
                <a:spcPts val="2481"/>
              </a:lnSpc>
            </a:pPr>
            <a:r>
              <a:rPr lang="en-US" spc="37" dirty="0">
                <a:solidFill>
                  <a:srgbClr val="0D1C38"/>
                </a:solidFill>
                <a:latin typeface="Arimo" charset="0"/>
                <a:ea typeface="Arimo" charset="0"/>
                <a:cs typeface="Arimo" charset="0"/>
                <a:sym typeface="Assistant"/>
              </a:rPr>
              <a:t>Presented by: </a:t>
            </a:r>
            <a:r>
              <a:rPr lang="en-US" spc="37" dirty="0" smtClean="0">
                <a:solidFill>
                  <a:srgbClr val="0D1C38"/>
                </a:solidFill>
                <a:latin typeface="Arimo" charset="0"/>
                <a:ea typeface="Arimo" charset="0"/>
                <a:cs typeface="Arimo" charset="0"/>
                <a:sym typeface="Assistant"/>
              </a:rPr>
              <a:t>Damilola Arokoyu</a:t>
            </a:r>
            <a:endParaRPr lang="en-US" spc="37" dirty="0">
              <a:solidFill>
                <a:srgbClr val="0D1C38"/>
              </a:solidFill>
              <a:latin typeface="Arimo" charset="0"/>
              <a:ea typeface="Arimo" charset="0"/>
              <a:cs typeface="Arimo" charset="0"/>
              <a:sym typeface="Assistant"/>
            </a:endParaRPr>
          </a:p>
        </p:txBody>
      </p:sp>
      <p:sp>
        <p:nvSpPr>
          <p:cNvPr id="17" name="Slide Number Placeholder 16"/>
          <p:cNvSpPr>
            <a:spLocks noGrp="1"/>
          </p:cNvSpPr>
          <p:nvPr>
            <p:ph type="sldNum" sz="quarter" idx="12"/>
          </p:nvPr>
        </p:nvSpPr>
        <p:spPr/>
        <p:txBody>
          <a:bodyPr/>
          <a:lstStyle/>
          <a:p>
            <a:fld id="{B6F15528-21DE-4FAA-801E-634DDDAF4B2B}" type="slidenum">
              <a:rPr lang="en-US" smtClean="0"/>
              <a:pPr/>
              <a:t>16</a:t>
            </a:fld>
            <a:endParaRPr lang="en-US"/>
          </a:p>
        </p:txBody>
      </p:sp>
      <p:sp>
        <p:nvSpPr>
          <p:cNvPr id="18" name="TextBox 51"/>
          <p:cNvSpPr txBox="1"/>
          <p:nvPr/>
        </p:nvSpPr>
        <p:spPr>
          <a:xfrm>
            <a:off x="1236515" y="9410700"/>
            <a:ext cx="5880313" cy="641201"/>
          </a:xfrm>
          <a:prstGeom prst="rect">
            <a:avLst/>
          </a:prstGeom>
        </p:spPr>
        <p:txBody>
          <a:bodyPr wrap="square" lIns="0" tIns="0" rIns="0" bIns="0" rtlCol="0" anchor="t">
            <a:spAutoFit/>
          </a:bodyPr>
          <a:lstStyle/>
          <a:p>
            <a:pPr algn="l">
              <a:lnSpc>
                <a:spcPts val="2481"/>
              </a:lnSpc>
            </a:pPr>
            <a:r>
              <a:rPr lang="en-US" sz="1600" spc="37" dirty="0" smtClean="0">
                <a:solidFill>
                  <a:srgbClr val="0D1C38"/>
                </a:solidFill>
                <a:latin typeface="Arimo" charset="0"/>
                <a:ea typeface="Arimo" charset="0"/>
                <a:cs typeface="Arimo" charset="0"/>
                <a:sym typeface="Assistant"/>
              </a:rPr>
              <a:t>Assessment of Microplastics in Commercial Fisheries procured from six Coastal states in Nigeria</a:t>
            </a:r>
            <a:endParaRPr lang="en-US" sz="1600" spc="37" dirty="0">
              <a:solidFill>
                <a:srgbClr val="0D1C38"/>
              </a:solidFill>
              <a:latin typeface="Arimo" charset="0"/>
              <a:ea typeface="Arimo" charset="0"/>
              <a:cs typeface="Arimo" charset="0"/>
              <a:sym typeface="Assistant"/>
            </a:endParaRPr>
          </a:p>
        </p:txBody>
      </p:sp>
    </p:spTree>
    <p:extLst>
      <p:ext uri="{BB962C8B-B14F-4D97-AF65-F5344CB8AC3E}">
        <p14:creationId xmlns:p14="http://schemas.microsoft.com/office/powerpoint/2010/main" val="34654012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5597" r="-15597"/>
            </a:stretch>
          </a:blipFill>
        </p:spPr>
      </p:sp>
      <p:grpSp>
        <p:nvGrpSpPr>
          <p:cNvPr id="3" name="Group 3"/>
          <p:cNvGrpSpPr/>
          <p:nvPr/>
        </p:nvGrpSpPr>
        <p:grpSpPr>
          <a:xfrm>
            <a:off x="-235271" y="4565874"/>
            <a:ext cx="5902101" cy="7974702"/>
            <a:chOff x="0" y="0"/>
            <a:chExt cx="7869467" cy="10632936"/>
          </a:xfrm>
        </p:grpSpPr>
        <p:sp>
          <p:nvSpPr>
            <p:cNvPr id="4" name="Freeform 4"/>
            <p:cNvSpPr/>
            <p:nvPr/>
          </p:nvSpPr>
          <p:spPr>
            <a:xfrm>
              <a:off x="0" y="0"/>
              <a:ext cx="7869467" cy="7869467"/>
            </a:xfrm>
            <a:custGeom>
              <a:avLst/>
              <a:gdLst/>
              <a:ahLst/>
              <a:cxnLst/>
              <a:rect l="l" t="t" r="r" b="b"/>
              <a:pathLst>
                <a:path w="7869467" h="7869467">
                  <a:moveTo>
                    <a:pt x="0" y="0"/>
                  </a:moveTo>
                  <a:lnTo>
                    <a:pt x="7869467" y="0"/>
                  </a:lnTo>
                  <a:lnTo>
                    <a:pt x="7869467" y="7869467"/>
                  </a:lnTo>
                  <a:lnTo>
                    <a:pt x="0" y="7869467"/>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5" name="Freeform 5"/>
            <p:cNvSpPr/>
            <p:nvPr/>
          </p:nvSpPr>
          <p:spPr>
            <a:xfrm>
              <a:off x="313695" y="6497867"/>
              <a:ext cx="7555772" cy="4135068"/>
            </a:xfrm>
            <a:custGeom>
              <a:avLst/>
              <a:gdLst/>
              <a:ahLst/>
              <a:cxnLst/>
              <a:rect l="l" t="t" r="r" b="b"/>
              <a:pathLst>
                <a:path w="7555772" h="4135068">
                  <a:moveTo>
                    <a:pt x="0" y="0"/>
                  </a:moveTo>
                  <a:lnTo>
                    <a:pt x="7555772" y="0"/>
                  </a:lnTo>
                  <a:lnTo>
                    <a:pt x="7555772" y="4135069"/>
                  </a:lnTo>
                  <a:lnTo>
                    <a:pt x="0" y="4135069"/>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grpSp>
      <p:grpSp>
        <p:nvGrpSpPr>
          <p:cNvPr id="6" name="Group 6"/>
          <p:cNvGrpSpPr/>
          <p:nvPr/>
        </p:nvGrpSpPr>
        <p:grpSpPr>
          <a:xfrm rot="-10800000">
            <a:off x="12385899" y="-2268953"/>
            <a:ext cx="5902101" cy="7974702"/>
            <a:chOff x="0" y="0"/>
            <a:chExt cx="7869467" cy="10632936"/>
          </a:xfrm>
        </p:grpSpPr>
        <p:sp>
          <p:nvSpPr>
            <p:cNvPr id="7" name="Freeform 7"/>
            <p:cNvSpPr/>
            <p:nvPr/>
          </p:nvSpPr>
          <p:spPr>
            <a:xfrm>
              <a:off x="0" y="0"/>
              <a:ext cx="7869467" cy="7869467"/>
            </a:xfrm>
            <a:custGeom>
              <a:avLst/>
              <a:gdLst/>
              <a:ahLst/>
              <a:cxnLst/>
              <a:rect l="l" t="t" r="r" b="b"/>
              <a:pathLst>
                <a:path w="7869467" h="7869467">
                  <a:moveTo>
                    <a:pt x="0" y="0"/>
                  </a:moveTo>
                  <a:lnTo>
                    <a:pt x="7869467" y="0"/>
                  </a:lnTo>
                  <a:lnTo>
                    <a:pt x="7869467" y="7869467"/>
                  </a:lnTo>
                  <a:lnTo>
                    <a:pt x="0" y="7869467"/>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8" name="Freeform 8"/>
            <p:cNvSpPr/>
            <p:nvPr/>
          </p:nvSpPr>
          <p:spPr>
            <a:xfrm>
              <a:off x="313695" y="6497867"/>
              <a:ext cx="7555772" cy="4135068"/>
            </a:xfrm>
            <a:custGeom>
              <a:avLst/>
              <a:gdLst/>
              <a:ahLst/>
              <a:cxnLst/>
              <a:rect l="l" t="t" r="r" b="b"/>
              <a:pathLst>
                <a:path w="7555772" h="4135068">
                  <a:moveTo>
                    <a:pt x="0" y="0"/>
                  </a:moveTo>
                  <a:lnTo>
                    <a:pt x="7555772" y="0"/>
                  </a:lnTo>
                  <a:lnTo>
                    <a:pt x="7555772" y="4135069"/>
                  </a:lnTo>
                  <a:lnTo>
                    <a:pt x="0" y="4135069"/>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grpSp>
      <p:sp>
        <p:nvSpPr>
          <p:cNvPr id="9" name="Freeform 9"/>
          <p:cNvSpPr/>
          <p:nvPr/>
        </p:nvSpPr>
        <p:spPr>
          <a:xfrm>
            <a:off x="-2672315" y="-776716"/>
            <a:ext cx="4054948" cy="4114800"/>
          </a:xfrm>
          <a:custGeom>
            <a:avLst/>
            <a:gdLst/>
            <a:ahLst/>
            <a:cxnLst/>
            <a:rect l="l" t="t" r="r" b="b"/>
            <a:pathLst>
              <a:path w="4054948" h="4114800">
                <a:moveTo>
                  <a:pt x="0" y="0"/>
                </a:moveTo>
                <a:lnTo>
                  <a:pt x="4054948" y="0"/>
                </a:lnTo>
                <a:lnTo>
                  <a:pt x="4054948" y="4114800"/>
                </a:lnTo>
                <a:lnTo>
                  <a:pt x="0" y="4114800"/>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10" name="Freeform 10"/>
          <p:cNvSpPr/>
          <p:nvPr/>
        </p:nvSpPr>
        <p:spPr>
          <a:xfrm flipH="1" flipV="1">
            <a:off x="16884370" y="7044598"/>
            <a:ext cx="4054948" cy="4114800"/>
          </a:xfrm>
          <a:custGeom>
            <a:avLst/>
            <a:gdLst/>
            <a:ahLst/>
            <a:cxnLst/>
            <a:rect l="l" t="t" r="r" b="b"/>
            <a:pathLst>
              <a:path w="4054948" h="4114800">
                <a:moveTo>
                  <a:pt x="4054949" y="4114800"/>
                </a:moveTo>
                <a:lnTo>
                  <a:pt x="0" y="4114800"/>
                </a:lnTo>
                <a:lnTo>
                  <a:pt x="0" y="0"/>
                </a:lnTo>
                <a:lnTo>
                  <a:pt x="4054949" y="0"/>
                </a:lnTo>
                <a:lnTo>
                  <a:pt x="4054949" y="4114800"/>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11" name="TextBox 11"/>
          <p:cNvSpPr txBox="1"/>
          <p:nvPr/>
        </p:nvSpPr>
        <p:spPr>
          <a:xfrm>
            <a:off x="8680216" y="7886700"/>
            <a:ext cx="8204154" cy="1154162"/>
          </a:xfrm>
          <a:prstGeom prst="rect">
            <a:avLst/>
          </a:prstGeom>
        </p:spPr>
        <p:txBody>
          <a:bodyPr wrap="square" lIns="0" tIns="0" rIns="0" bIns="0" rtlCol="0" anchor="t">
            <a:spAutoFit/>
          </a:bodyPr>
          <a:lstStyle/>
          <a:p>
            <a:pPr algn="ctr">
              <a:lnSpc>
                <a:spcPts val="4481"/>
              </a:lnSpc>
            </a:pPr>
            <a:r>
              <a:rPr lang="en-US" sz="4481" spc="67" dirty="0">
                <a:solidFill>
                  <a:srgbClr val="0D1C38"/>
                </a:solidFill>
                <a:latin typeface="Arimo" charset="0"/>
                <a:ea typeface="Arimo" charset="0"/>
                <a:cs typeface="Arimo" charset="0"/>
                <a:sym typeface="Assistant"/>
              </a:rPr>
              <a:t>Presented by: </a:t>
            </a:r>
            <a:endParaRPr lang="en-US" sz="4481" spc="67" dirty="0" smtClean="0">
              <a:solidFill>
                <a:srgbClr val="0D1C38"/>
              </a:solidFill>
              <a:latin typeface="Arimo" charset="0"/>
              <a:ea typeface="Arimo" charset="0"/>
              <a:cs typeface="Arimo" charset="0"/>
              <a:sym typeface="Assistant"/>
            </a:endParaRPr>
          </a:p>
          <a:p>
            <a:pPr algn="ctr">
              <a:lnSpc>
                <a:spcPts val="4481"/>
              </a:lnSpc>
            </a:pPr>
            <a:r>
              <a:rPr lang="en-US" sz="4481" spc="67" dirty="0" smtClean="0">
                <a:solidFill>
                  <a:srgbClr val="0D1C38"/>
                </a:solidFill>
                <a:latin typeface="Arimo" charset="0"/>
                <a:ea typeface="Arimo" charset="0"/>
                <a:cs typeface="Arimo" charset="0"/>
                <a:sym typeface="Assistant"/>
              </a:rPr>
              <a:t>Damilola Arokoyu</a:t>
            </a:r>
            <a:endParaRPr lang="en-US" sz="4481" spc="67" dirty="0">
              <a:solidFill>
                <a:srgbClr val="0D1C38"/>
              </a:solidFill>
              <a:latin typeface="Arimo" charset="0"/>
              <a:ea typeface="Arimo" charset="0"/>
              <a:cs typeface="Arimo" charset="0"/>
              <a:sym typeface="Assistant"/>
            </a:endParaRPr>
          </a:p>
        </p:txBody>
      </p:sp>
      <p:sp>
        <p:nvSpPr>
          <p:cNvPr id="12" name="TextBox 12"/>
          <p:cNvSpPr txBox="1"/>
          <p:nvPr/>
        </p:nvSpPr>
        <p:spPr>
          <a:xfrm>
            <a:off x="2833415" y="2756944"/>
            <a:ext cx="12025585" cy="2346796"/>
          </a:xfrm>
          <a:prstGeom prst="rect">
            <a:avLst/>
          </a:prstGeom>
        </p:spPr>
        <p:txBody>
          <a:bodyPr wrap="square" lIns="0" tIns="0" rIns="0" bIns="0" rtlCol="0" anchor="t">
            <a:spAutoFit/>
          </a:bodyPr>
          <a:lstStyle/>
          <a:p>
            <a:pPr algn="ctr">
              <a:lnSpc>
                <a:spcPts val="18328"/>
              </a:lnSpc>
            </a:pPr>
            <a:r>
              <a:rPr lang="en-US" sz="16219" dirty="0">
                <a:solidFill>
                  <a:srgbClr val="0D1C38"/>
                </a:solidFill>
                <a:latin typeface="Arimo"/>
                <a:ea typeface="Arimo"/>
                <a:cs typeface="Arimo"/>
                <a:sym typeface="Arimo"/>
              </a:rPr>
              <a:t>THANK </a:t>
            </a:r>
            <a:r>
              <a:rPr lang="en-US" sz="16219" dirty="0" smtClean="0">
                <a:solidFill>
                  <a:srgbClr val="0D1C38"/>
                </a:solidFill>
                <a:latin typeface="Arimo"/>
                <a:ea typeface="Arimo"/>
                <a:cs typeface="Arimo"/>
                <a:sym typeface="Arimo"/>
              </a:rPr>
              <a:t>YOU</a:t>
            </a:r>
            <a:endParaRPr lang="en-US" sz="16219" dirty="0">
              <a:solidFill>
                <a:srgbClr val="0D1C38"/>
              </a:solidFill>
              <a:latin typeface="Arimo"/>
              <a:ea typeface="Arimo"/>
              <a:cs typeface="Arimo"/>
              <a:sym typeface="Arimo"/>
            </a:endParaRPr>
          </a:p>
        </p:txBody>
      </p:sp>
      <p:sp>
        <p:nvSpPr>
          <p:cNvPr id="13" name="TextBox 13"/>
          <p:cNvSpPr txBox="1"/>
          <p:nvPr/>
        </p:nvSpPr>
        <p:spPr>
          <a:xfrm>
            <a:off x="6352077" y="9726527"/>
            <a:ext cx="5077923" cy="369973"/>
          </a:xfrm>
          <a:prstGeom prst="rect">
            <a:avLst/>
          </a:prstGeom>
        </p:spPr>
        <p:txBody>
          <a:bodyPr lIns="0" tIns="0" rIns="0" bIns="0" rtlCol="0" anchor="t">
            <a:spAutoFit/>
          </a:bodyPr>
          <a:lstStyle/>
          <a:p>
            <a:pPr algn="ctr">
              <a:lnSpc>
                <a:spcPts val="3341"/>
              </a:lnSpc>
            </a:pPr>
            <a:r>
              <a:rPr lang="en-US" spc="50" dirty="0" smtClean="0">
                <a:solidFill>
                  <a:srgbClr val="0D1C38"/>
                </a:solidFill>
                <a:latin typeface="Arimo" charset="0"/>
                <a:ea typeface="Arimo" charset="0"/>
                <a:cs typeface="Arimo" charset="0"/>
                <a:sym typeface="Assistant"/>
              </a:rPr>
              <a:t>15</a:t>
            </a:r>
            <a:endParaRPr lang="en-US" spc="50" dirty="0">
              <a:solidFill>
                <a:srgbClr val="0D1C38"/>
              </a:solidFill>
              <a:latin typeface="Arimo" charset="0"/>
              <a:ea typeface="Arimo" charset="0"/>
              <a:cs typeface="Arimo" charset="0"/>
              <a:sym typeface="Assistant"/>
            </a:endParaRPr>
          </a:p>
        </p:txBody>
      </p:sp>
      <p:sp>
        <p:nvSpPr>
          <p:cNvPr id="16" name="Slide Number Placeholder 15"/>
          <p:cNvSpPr>
            <a:spLocks noGrp="1"/>
          </p:cNvSpPr>
          <p:nvPr>
            <p:ph type="sldNum" sz="quarter" idx="12"/>
          </p:nvPr>
        </p:nvSpPr>
        <p:spPr/>
        <p:txBody>
          <a:bodyPr/>
          <a:lstStyle/>
          <a:p>
            <a:fld id="{B6F15528-21DE-4FAA-801E-634DDDAF4B2B}" type="slidenum">
              <a:rPr lang="en-US" smtClean="0"/>
              <a:pPr/>
              <a:t>17</a:t>
            </a:fld>
            <a:endParaRPr lang="en-US"/>
          </a:p>
        </p:txBody>
      </p:sp>
      <p:sp>
        <p:nvSpPr>
          <p:cNvPr id="17" name="TextBox 51"/>
          <p:cNvSpPr txBox="1"/>
          <p:nvPr/>
        </p:nvSpPr>
        <p:spPr>
          <a:xfrm>
            <a:off x="1236515" y="9410700"/>
            <a:ext cx="5880313" cy="641201"/>
          </a:xfrm>
          <a:prstGeom prst="rect">
            <a:avLst/>
          </a:prstGeom>
        </p:spPr>
        <p:txBody>
          <a:bodyPr wrap="square" lIns="0" tIns="0" rIns="0" bIns="0" rtlCol="0" anchor="t">
            <a:spAutoFit/>
          </a:bodyPr>
          <a:lstStyle/>
          <a:p>
            <a:pPr algn="l">
              <a:lnSpc>
                <a:spcPts val="2481"/>
              </a:lnSpc>
            </a:pPr>
            <a:r>
              <a:rPr lang="en-US" sz="1600" spc="37" dirty="0" smtClean="0">
                <a:solidFill>
                  <a:srgbClr val="0D1C38"/>
                </a:solidFill>
                <a:latin typeface="Arimo" charset="0"/>
                <a:ea typeface="Arimo" charset="0"/>
                <a:cs typeface="Arimo" charset="0"/>
                <a:sym typeface="Assistant"/>
              </a:rPr>
              <a:t>Assessment of Microplastics in Commercial Fisheries procured from six Coastal states in Nigeria</a:t>
            </a:r>
            <a:endParaRPr lang="en-US" sz="1600" spc="37" dirty="0">
              <a:solidFill>
                <a:srgbClr val="0D1C38"/>
              </a:solidFill>
              <a:latin typeface="Arimo" charset="0"/>
              <a:ea typeface="Arimo" charset="0"/>
              <a:cs typeface="Arimo" charset="0"/>
              <a:sym typeface="Assistant"/>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2968</TotalTime>
  <Words>2281</Words>
  <Application>Microsoft Office PowerPoint</Application>
  <PresentationFormat>Custom</PresentationFormat>
  <Paragraphs>521</Paragraphs>
  <Slides>17</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25" baseType="lpstr">
      <vt:lpstr>Arial</vt:lpstr>
      <vt:lpstr>Assistant Bold</vt:lpstr>
      <vt:lpstr>Wingdings</vt:lpstr>
      <vt:lpstr>Arimo</vt:lpstr>
      <vt:lpstr>Assistant</vt:lpstr>
      <vt:lpstr>Calibri</vt:lpstr>
      <vt:lpstr>Office Theme</vt:lpstr>
      <vt:lpstr>Worksheet</vt:lpstr>
      <vt:lpstr>PowerPoint Presentation</vt:lpstr>
      <vt:lpstr>PowerPoint Presentation</vt:lpstr>
      <vt:lpstr>PowerPoint Presentation</vt:lpstr>
      <vt:lpstr>PowerPoint Presentation</vt:lpstr>
      <vt:lpstr>STUDY AREA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White Minimalist Modern Geometric Thesis Defense Presentation</dc:title>
  <cp:lastModifiedBy>pc1</cp:lastModifiedBy>
  <cp:revision>87</cp:revision>
  <dcterms:created xsi:type="dcterms:W3CDTF">2006-08-16T00:00:00Z</dcterms:created>
  <dcterms:modified xsi:type="dcterms:W3CDTF">2025-10-30T07:28:00Z</dcterms:modified>
  <dc:identifier>DAG0jORtt6k</dc:identifier>
</cp:coreProperties>
</file>